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o.org/standard/27001" TargetMode="External"/><Relationship Id="rId2" Type="http://schemas.openxmlformats.org/officeDocument/2006/relationships/hyperlink" Target="https://www.aicpa-cima.com/resources/landing/system-and-organization-controls-soc-suite-of-services" TargetMode="External"/><Relationship Id="rId3" Type="http://schemas.openxmlformats.org/officeDocument/2006/relationships/hyperlink" Target="https://www.cisecurity.org/controls" TargetMode="External"/><Relationship Id="rId4" Type="http://schemas.openxmlformats.org/officeDocument/2006/relationships/hyperlink" Target="https://www.iaasb.org/publications/2025-handbook-international-quality-management-auditing-review-other-assurance-and-related-service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8097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286000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Expectations of Audit &amp; Compliance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314325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· Sampling · ISO 27001 in Practice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0005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compliance is, what audit is, and how ISO 27001 / SOC 2 / CIS Controls each answer the same question differently.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Title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 OF THIS LECTURE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vs. Compliance, in One Screen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809750"/>
            <a:ext cx="5143500" cy="2476500"/>
          </a:xfrm>
          <a:prstGeom prst="roundRect">
            <a:avLst>
              <a:gd name="adj" fmla="val 2954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7750" y="20574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47750" y="24384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Either you meet a standard — a law, a regulator’s rule, a contract, a framework you chose to adopt — or you don’t.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3238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(law, regulator) or voluntary (adopted for market trust). Either way: the target.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6500" y="1809750"/>
            <a:ext cx="5143500" cy="2476500"/>
          </a:xfrm>
          <a:prstGeom prst="roundRect">
            <a:avLst>
              <a:gd name="adj" fmla="val 2954"/>
            </a:avLst>
          </a:prstGeom>
          <a:solidFill>
            <a:srgbClr val="F2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72250" y="20574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72250" y="24384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the compliant state is real.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72250" y="2952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words carry the definition: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10668000" cy="1047750"/>
          </a:xfrm>
          <a:prstGeom prst="roundRect">
            <a:avLst>
              <a:gd name="adj" fmla="val 6982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0600" y="4781550"/>
            <a:ext cx="10210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can be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correctly — would it work, on paper — without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correctly: did it actually work, in practice, over time. Every framework in this lecture tests both halves.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Audit vs Compliance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285750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23850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Tour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27001, SOC 2, CIS Controls — what each one actually is, and how it’s assessed.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Framework Tour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VERY DIFFERENT ANIMALS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· SOC 2 · CIS Controls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219200"/>
            <a:ext cx="1066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= International Organization for Standardization / International Electrotechnical Commission · AICPA = American Institute of Certified Public Accountants · CIS = Center for Internet Security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62000" y="1638300"/>
            <a:ext cx="3333750" cy="4191000"/>
          </a:xfrm>
          <a:prstGeom prst="roundRect">
            <a:avLst>
              <a:gd name="adj" fmla="val 2194"/>
            </a:avLst>
          </a:prstGeom>
          <a:solidFill>
            <a:srgbClr val="F2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0600" y="18288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 Standard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057400"/>
            <a:ext cx="2876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27432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29146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Annex A controls, 4 themes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0600" y="34099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90600" y="35814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certification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40767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90600" y="42481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47434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49149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surveillance, 3-yr recert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9125" y="1638300"/>
            <a:ext cx="3333750" cy="4191000"/>
          </a:xfrm>
          <a:prstGeom prst="roundRect">
            <a:avLst>
              <a:gd name="adj" fmla="val 2194"/>
            </a:avLst>
          </a:prstGeom>
          <a:solidFill>
            <a:srgbClr val="F2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57725" y="18288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57725" y="2057400"/>
            <a:ext cx="2876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57725" y="27432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57725" y="29146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AICPA Trust Services Criteria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57725" y="34099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57725" y="35814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firm audit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57725" y="40767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57725" y="42481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/ opinion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57725" y="47434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 vs II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57725" y="49149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vs +operating, 6-12mo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96250" y="1638300"/>
            <a:ext cx="3333750" cy="4191000"/>
          </a:xfrm>
          <a:prstGeom prst="roundRect">
            <a:avLst>
              <a:gd name="adj" fmla="val 2194"/>
            </a:avLst>
          </a:prstGeom>
          <a:solidFill>
            <a:srgbClr val="F2F3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24850" y="18288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 Benchmark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24850" y="2057400"/>
            <a:ext cx="2876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 v8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24850" y="27432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24850" y="29146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controls, 153 safeguards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24850" y="34099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24850" y="35814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/ tooling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4850" y="407670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24850" y="424815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score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324850" y="4743450"/>
            <a:ext cx="287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324850" y="4914900"/>
            <a:ext cx="2876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you run it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Framework Tour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DEEP DIVE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2382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3906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6192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back to a 1998 British Standard (BS 7799) written by the UK’s BSI. Adopted internationally as ISO/IEC 27001 in 2005, revised in 2013 to align with ISO’s common management-system structure, and revised again in 2022 — the current edition, which reduced Annex A from 114 to 93 controls and reorganized them into four themes.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304800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327660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Information Security Management System (ISMS) — the people, processes, and technology an organization uses to manage information-security risk, not just a technical checklist. The 93 Annex A controls span four themes: Organizational, People, Physical, and Technological.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5529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47053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typically pursues 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49339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that need to prove security to customers, regulators, or partners internationally — especially outside the US, where it’s often a bid requirement or contractual expectation. Over 70,000 certificates have been issued worldwide across 150+ countries.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ISO 27001 — Deep Dive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DEEP DIVE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2382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3906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6192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by the AICPA (American Institute of Certified Public Accountants) in 2010, under auditing standard SSAE 16, as a successor to SAS 70, which had focused narrowly on financial-reporting controls. SOC originally stood for “Service Organization Controls”; in 2017 (SSAE 18) the AICPA renamed it “System and Organization Controls,” keeping the same abbreviation.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304800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327660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Trust Services Criteria: security, availability, processing integrity, confidentiality, and privacy. A CPA firm tests against whichever criteria the org selects (security is mandatory). Type I reports on control design at a point in time; Type II adds operating effectiveness over 6–12 months.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5529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47053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typically pursues 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49339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Overwhelmingly US-based technology, SaaS, and cloud-hosting companies. It’s not a legal requirement — it’s contractual, driven by enterprise customers who won’t sign a vendor contract without seeing a current report.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SOC 2 — Deep Dive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DEEP DIVE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 v8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2382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3906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6192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Began in 2008 as the SANS Top 20 / Critical Security Controls, built by a grassroots, international consortium of practitioners. Ownership transferred to the Center for Internet Security (CIS) in 2015. Version 8, released May 2021, consolidated 20 controls into 18 and shifted focus from device-centric to data-centric security.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89560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304800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327660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controls broken into 153 specific Safeguards, organized into three Implementation Groups (IG1, IG2, IG3) so an organization can prioritize by size and resources — IG1 is defined as essential cyber hygiene, the minimum baseline for every enterprise.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552950"/>
            <a:ext cx="10668000" cy="1524000"/>
          </a:xfrm>
          <a:prstGeom prst="roundRect">
            <a:avLst>
              <a:gd name="adj" fmla="val 4800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47053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typically pursues 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4933950"/>
            <a:ext cx="10210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wanting a free, practical, prioritized starting point without commissioning a formal paid audit — often smaller or mid-sized companies, or larger ones using it as a maturity roadmap. Frequently mapped into other regulatory and contractual frameworks rather than pursued as a standalone credential.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CIS Controls — Deep Dive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CORRECTING IN CLASS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Certified, Not Accredited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809750"/>
            <a:ext cx="10668000" cy="1905000"/>
          </a:xfrm>
          <a:prstGeom prst="roundRect">
            <a:avLst>
              <a:gd name="adj" fmla="val 3840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201930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2247900"/>
            <a:ext cx="1021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national body — Hong Kong’s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Accreditation Service (HKAS)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 instance —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certification bodies. Those accredited certification bodies then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organization against ISO 27001.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857500"/>
            <a:ext cx="10210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precise phrase is “ISO 27001‑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,” not “accredited” — though “accredited” is common enough informal usage that it’s worth naming the mix-up out loud rather than silently using the right word yourself.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4000500"/>
            <a:ext cx="10668000" cy="1238250"/>
          </a:xfrm>
          <a:prstGeom prst="roundRect">
            <a:avLst>
              <a:gd name="adj" fmla="val 5908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0600" y="42100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mix-up worth flagging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90600" y="4438650"/>
            <a:ext cx="1021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doesn’t use either word — it’s a CPA opinion, not a certificate. “SOC 2 certified” is a common but technically incorrect phrase — you’ll hear it from vendors who should know better.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Framework Tour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285750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23850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All Three Need Sampling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certification auditor, a SOC 2 CPA, and a CIS self-assessment are all testing the same thing: design and operating effectiveness.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Why Sampling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THREAD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Them Test Every Transaction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23825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certification auditor, a CPA doing SOC 2 Type II, and an org scoring itself against CIS are doing the same underlying thing — testing whether controls are designed </a:t>
            </a:r>
            <a:pPr algn="l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operating effectively. All three need a defensible way to sample.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0668000" cy="1714500"/>
          </a:xfrm>
          <a:prstGeom prst="roundRect">
            <a:avLst>
              <a:gd name="adj" fmla="val 4267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600" y="251460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nuance worth naming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762250"/>
            <a:ext cx="1021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level drives sample size.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238500"/>
            <a:ext cx="10210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certification surveillance audit, a SOC 2 Type II, and an internal CIS self-check don’t need the same depth of evidence — even for the identical control.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381500"/>
            <a:ext cx="1066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follows is the practical toolkit: how items get picked, two reference tables for how much to pick, and four ways to gather the evidence itself.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Why Sampling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ITEMS GET PICKED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Selection Methods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9750"/>
          <a:ext cx="10668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6096000"/>
                <a:gridCol w="2667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SUPPORTS A STATISTICAL CONCLUSION?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item has an equal, known chance of selection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Systematic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start, then every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 item after it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if no hidden cyclical pattern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Haphazard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picks “without conscious bias,” no formal tool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judgmental only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contiguous run of items (e.g. one week’s transactions)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risks missing seasonality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Selection Methods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TABLE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by Control Frequency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9750"/>
          <a:ext cx="10668000" cy="914400"/>
        </p:xfrm>
        <a:graphic>
          <a:graphicData uri="http://schemas.openxmlformats.org/drawingml/2006/table">
            <a:tbl>
              <a:tblPr/>
              <a:tblGrid>
                <a:gridCol w="4191000"/>
                <a:gridCol w="3238500"/>
                <a:gridCol w="32385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FREQUENCY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/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HIGH-ASSURANCE SAMPLE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(100%)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30–40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times a day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250+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45–60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5638800"/>
            <a:ext cx="1028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Cross-corroborated across independent practitioner sources — a widely used starting point, not a mandated figure. Full methodology: see Further Reading at the end of this deck.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Frequency Table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TABLE 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by Confidence &amp; Tolerance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9750"/>
          <a:ext cx="10668000" cy="914400"/>
        </p:xfrm>
        <a:graphic>
          <a:graphicData uri="http://schemas.openxmlformats.org/drawingml/2006/table">
            <a:tbl>
              <a:tblPr/>
              <a:tblGrid>
                <a:gridCol w="3238500"/>
                <a:gridCol w="2476500"/>
                <a:gridCol w="2476500"/>
                <a:gridCol w="24765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IMPORTANCE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TOLERABLE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SAMPLE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4114800"/>
            <a:ext cx="1028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takeaway, without deriving it live: tighter confidence + tighter tolerance = roughly triple the sample. Full methodology: see Further Reading at the end of this deck.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Confidence &amp; Tolerance Table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THE EVIDENCE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Techniques, Rising Assurance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10668000" cy="723900"/>
          </a:xfrm>
          <a:prstGeom prst="roundRect">
            <a:avLst>
              <a:gd name="adj" fmla="val 10105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6800" y="21145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10000" y="21336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control owner how it works. Necessary, never sufficient alone.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25000" y="21907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9677400" y="21907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9" name="Shape 7"/>
          <p:cNvSpPr/>
          <p:nvPr/>
        </p:nvSpPr>
        <p:spPr>
          <a:xfrm>
            <a:off x="9829800" y="21907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10" name="Shape 8"/>
          <p:cNvSpPr/>
          <p:nvPr/>
        </p:nvSpPr>
        <p:spPr>
          <a:xfrm>
            <a:off x="9982200" y="21907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781300"/>
            <a:ext cx="10668000" cy="723900"/>
          </a:xfrm>
          <a:prstGeom prst="roundRect">
            <a:avLst>
              <a:gd name="adj" fmla="val 10105"/>
            </a:avLst>
          </a:prstGeom>
          <a:solidFill>
            <a:srgbClr val="F2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6800" y="29908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10000" y="30099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control being performed, once, in real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25000" y="30670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9677400" y="30670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9829800" y="30670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982200" y="30670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657600"/>
            <a:ext cx="10668000" cy="723900"/>
          </a:xfrm>
          <a:prstGeom prst="roundRect">
            <a:avLst>
              <a:gd name="adj" fmla="val 10105"/>
            </a:avLst>
          </a:prstGeom>
          <a:solidFill>
            <a:srgbClr val="F2F3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66800" y="38671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10000" y="38862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documents or system records the control produced.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525000" y="39433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Shape 20"/>
          <p:cNvSpPr/>
          <p:nvPr/>
        </p:nvSpPr>
        <p:spPr>
          <a:xfrm>
            <a:off x="9677400" y="39433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9829800" y="39433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9982200" y="3943350"/>
            <a:ext cx="95250" cy="95250"/>
          </a:xfrm>
          <a:prstGeom prst="ellipse">
            <a:avLst/>
          </a:prstGeom>
          <a:solidFill>
            <a:srgbClr val="E4E6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4533900"/>
            <a:ext cx="10668000" cy="723900"/>
          </a:xfrm>
          <a:prstGeom prst="roundRect">
            <a:avLst>
              <a:gd name="adj" fmla="val 10105"/>
            </a:avLst>
          </a:prstGeom>
          <a:solidFill>
            <a:srgbClr val="F2F3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6800" y="47434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Re-performance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810000" y="4762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redo the control yourself and compare the outcome.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25000" y="48196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7400" y="48196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9800" y="48196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9982200" y="4819650"/>
            <a:ext cx="95250" cy="952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2000" y="548640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Inquiry/observation mostly establish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inspection/re-performance over a period prove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effectiveness — the SOC 2 Type I / Type II split is exactly this line, drawn in one framework.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Evidence Techniques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285750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23850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in Practice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4000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controls, chosen because they’re the ones auditors and regulators come back to most often in practice — not picked arbitrarily.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ISO 27001 in Practice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PICKED ARBITRARILY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Controls, Selected From Real-World Practice</a:t>
            </a:r>
            <a:endParaRPr lang="en-US" sz="4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9750"/>
          <a:ext cx="10668000" cy="914400"/>
        </p:xfrm>
        <a:graphic>
          <a:graphicData uri="http://schemas.openxmlformats.org/drawingml/2006/table">
            <a:tbl>
              <a:tblPr/>
              <a:tblGrid>
                <a:gridCol w="4953000"/>
                <a:gridCol w="1238250"/>
                <a:gridCol w="447675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REAL-WORLD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Unpatched, internet-facing vulnerabilities — the most repeated technical root cause behind breaches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 of Technical Vulnerabilities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MFA (Multi-Factor Authentication) on remote access or admin accounts — the single most-cited finding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Authentication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Weak, stale, un-tiered privileged credentials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Privileged Access Rights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Audits skipped for years, or scoped to exclude network infrastructure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A.5.35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Review of Information Security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Inadequate detection/alerting, log-retention gaps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A.8.16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 Activities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4629150"/>
            <a:ext cx="1028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pattern across real security-incident investigations and audit findings — not any single case.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Five Controls, From Practice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A, 2022 EDITION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A.8.8 — Management of Technical Vulnerabilities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114550"/>
            <a:ext cx="1066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identification and remediation of technical vulnerabilities — the standard’s own guidance names vendor alerts, automated scanners,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penetration tests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valid identification methods under this one control.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990850"/>
            <a:ext cx="10668000" cy="952500"/>
          </a:xfrm>
          <a:prstGeom prst="roundRect">
            <a:avLst>
              <a:gd name="adj" fmla="val 768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600" y="3162300"/>
            <a:ext cx="1021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on this list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71850"/>
            <a:ext cx="10210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repeated technical root cause behind real breaches: known, internet-facing vulnerabilities left unpatched for months to years despite vendor advisories.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957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recommend requesting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24350"/>
            <a:ext cx="1028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Credentialed vulnerability scan reports for the sampled period, scope reconciled against the asset inventory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Patch deployment tickets showing remediation timeliness against the org’s own Service Level Agreement (SLA)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most recent penetration test / red team report — full scope, findings, and retest evidence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Risk-acceptance documentation for anything still open past SLA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5734050"/>
            <a:ext cx="1028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scales with cadence: quarterly scans → 2 of 4; monthly patch cycle → 3–5 of 12; annual pentest → 1 (the full engagement).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A.8.8 — Vulnerability Mgmt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A, 2022 EDITION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A.8.5 — Secure Authentication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114550"/>
            <a:ext cx="1066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proportionate to risk. ISO doesn’t name Multi-Factor Authentication (MFA) by number, but contemporary audits treat it as de facto required for remote/VPN access and privileged or admin accounts.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990850"/>
            <a:ext cx="10668000" cy="952500"/>
          </a:xfrm>
          <a:prstGeom prst="roundRect">
            <a:avLst>
              <a:gd name="adj" fmla="val 768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600" y="3162300"/>
            <a:ext cx="1021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on this list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71850"/>
            <a:ext cx="10210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most-cited technical finding in real-world security audits: no multi-factor authentication on remote access or administrative accounts.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957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recommend requesting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24350"/>
            <a:ext cx="1028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Identity Provider (IdP) / VPN policy export showing MFA is enforced, not merely available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 can change that policy, plus change-management approval records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live test: a non-MFA login attempt must be rejected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5734050"/>
            <a:ext cx="1028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System-enforced control — sample 1. The IT General Control (ITGC) around the policy (who can change it, and whether they did) is what widens the test, not the volume of logins.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A.8.5 — Secure Authentication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A, 2022 EDITION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A.8.2 — Privileged Access Rights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114550"/>
            <a:ext cx="1066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Admin/root access kept separate from everyday accounts, individually attributable (no shared logins), granted on least privilege, and formally requested and approved.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990850"/>
            <a:ext cx="10668000" cy="952500"/>
          </a:xfrm>
          <a:prstGeom prst="roundRect">
            <a:avLst>
              <a:gd name="adj" fmla="val 768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600" y="3162300"/>
            <a:ext cx="1021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on this list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71850"/>
            <a:ext cx="10210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root cause in real incidents: dormant privileged accounts left active for years, credentials unrotated, no tiering between remote-login and domain-wide privileges.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957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recommend requesting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24350"/>
            <a:ext cx="1028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inventory of every account holding admin/domain-admin/root rights, with business justification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Access-request and approval tickets for a sampled set of grants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most recent periodic privileged-access review, with evidence stale accounts were actually removed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Privileged-activity logs tying specific actions to a named individual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5734050"/>
            <a:ext cx="1028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the most recent review cycle (1), plus a haphazard pull of 3–5 individual privileged accounts to trace back to an approval.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A.8.2 — Privileged Access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A, 2022 EDITION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A.5.35 — Independent Review of Information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114550"/>
            <a:ext cx="1066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periodic, independent check that the ISMS itself — not just one control — is working as intended. ISO requires “planned intervals or when significant changes occur,” not a fixed cadence; the reviewer must be independent of the area under review.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990850"/>
            <a:ext cx="10668000" cy="952500"/>
          </a:xfrm>
          <a:prstGeom prst="roundRect">
            <a:avLst>
              <a:gd name="adj" fmla="val 768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600" y="3162300"/>
            <a:ext cx="1021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on this list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71850"/>
            <a:ext cx="10210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finding in practice: audits skipped for years, or scoped to exclude network infrastructure entirely — a governance failure, distinct from any one technical control not working.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957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recommend requesting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24350"/>
            <a:ext cx="1028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audit programme document: scope, frequency, methodology — confirm network infrastructure is explicitly in scope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reviewer-independence declaration for whoever performed it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most recent review report and its full finding list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corrective-action log, with re-test evidence that fixes actually closed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5734050"/>
            <a:ext cx="1028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the most recent cycle (1). The test is as much about what was in scope as what was found.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A.5.35 — Independent Review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A, 2022 EDITION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A.8.16 — Monitoring Activities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9050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requires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114550"/>
            <a:ext cx="1066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detective control: anomalous-behaviour monitoring against a defined baseline, with alerts reviewed and acted on. ISO doesn’t mandate 24/7 coverage or a named Security Information and Event Management (SIEM) tool — it mandates a process proportionate to risk.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2000" y="2990850"/>
            <a:ext cx="10668000" cy="952500"/>
          </a:xfrm>
          <a:prstGeom prst="roundRect">
            <a:avLst>
              <a:gd name="adj" fmla="val 768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600" y="3162300"/>
            <a:ext cx="10210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on this list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71850"/>
            <a:ext cx="10210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pattern across real incident write-ups: inadequate detection and alerting, and log-retention gaps that limited how much investigators could later reconstruct.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957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recommend requesting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4324350"/>
            <a:ext cx="1028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Shift/triage logs across the period claimed, if 24/7 coverage is claimed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Escalation timestamps — time from alert raised to analyst action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 a sample of alerts was actually reviewed, not auto-closed by volume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2000" y="5734050"/>
            <a:ext cx="1028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Frequency-scaled like a daily control: for a continuous-monitoring claim, sample roughly 30–40 days across shifts.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A.8.16 — Monitoring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-171450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-28575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571500"/>
            <a:ext cx="914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BREAK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952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Into the Group Task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62000" y="207645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600" y="196215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the target; audit is the verification.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228600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control you test has a design half and an operating half.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302895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0600" y="291465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certifies; SOC 2 attests; CIS benchmarks.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90600" y="323850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mechanisms answering the same underlying question.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398145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0600" y="386715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 follows assurance level, not habit.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419100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and confidence/tolerance both give you a defensible starting point.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493395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0600" y="481965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A.8.8, A.8.5, A.8.2, A.5.35, A.8.16 aren’t abstractions.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90600" y="514350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maps to a control failure that shows up again and again in real security incidents — know these five, and you know what an auditor will ask about first.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Recap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16205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straight through from this file — each link opens the source itself, not a summary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676400"/>
            <a:ext cx="10668000" cy="1047750"/>
          </a:xfrm>
          <a:prstGeom prst="roundRect">
            <a:avLst>
              <a:gd name="adj" fmla="val 6982"/>
            </a:avLst>
          </a:prstGeom>
          <a:solidFill>
            <a:srgbClr val="F2F3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0600" y="1809750"/>
            <a:ext cx="1021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 — Official Standard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095500"/>
            <a:ext cx="1021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ISO’s own listing for the current edition — scope, structure, and how certification works.</a:t>
            </a:r>
            <a:endParaRPr lang="en-US" sz="11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990600" y="2419350"/>
            <a:ext cx="10210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iso.org/standard/27001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2000" y="2838450"/>
            <a:ext cx="10668000" cy="1047750"/>
          </a:xfrm>
          <a:prstGeom prst="roundRect">
            <a:avLst>
              <a:gd name="adj" fmla="val 6982"/>
            </a:avLst>
          </a:prstGeom>
          <a:solidFill>
            <a:srgbClr val="F2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0600" y="2971800"/>
            <a:ext cx="1021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— AICPA &amp; CIMA Resource Hub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90600" y="3257550"/>
            <a:ext cx="1021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System and Organization Controls (SOC) suite of services, published by the AICPA.</a:t>
            </a:r>
            <a:endParaRPr lang="en-US" sz="1100" dirty="0"/>
          </a:p>
        </p:txBody>
      </p:sp>
      <p:sp>
        <p:nvSpPr>
          <p:cNvPr id="12" name="Text 10">
            <a:hlinkClick r:id="rId2" tooltip=""/>
          </p:cNvPr>
          <p:cNvSpPr txBox="1"/>
          <p:nvPr/>
        </p:nvSpPr>
        <p:spPr>
          <a:xfrm>
            <a:off x="990600" y="3581400"/>
            <a:ext cx="10210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aicpa-cima.com — SOC Suite of 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2000" y="4000500"/>
            <a:ext cx="10668000" cy="1047750"/>
          </a:xfrm>
          <a:prstGeom prst="roundRect">
            <a:avLst>
              <a:gd name="adj" fmla="val 6982"/>
            </a:avLst>
          </a:prstGeom>
          <a:solidFill>
            <a:srgbClr val="F2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0600" y="4133850"/>
            <a:ext cx="1021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 v8 — Official Page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4419600"/>
            <a:ext cx="1021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Center for Internet Security’s own home for the Controls, Safeguards, and Implementation Groups.</a:t>
            </a:r>
            <a:endParaRPr lang="en-US" sz="1100" dirty="0"/>
          </a:p>
        </p:txBody>
      </p:sp>
      <p:sp>
        <p:nvSpPr>
          <p:cNvPr id="16" name="Text 14">
            <a:hlinkClick r:id="rId3" tooltip=""/>
          </p:cNvPr>
          <p:cNvSpPr txBox="1"/>
          <p:nvPr/>
        </p:nvSpPr>
        <p:spPr>
          <a:xfrm>
            <a:off x="990600" y="4743450"/>
            <a:ext cx="10210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cisecurity.org/controls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000" y="5162550"/>
            <a:ext cx="10668000" cy="1047750"/>
          </a:xfrm>
          <a:prstGeom prst="roundRect">
            <a:avLst>
              <a:gd name="adj" fmla="val 6982"/>
            </a:avLst>
          </a:prstGeom>
          <a:solidFill>
            <a:srgbClr val="F2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0600" y="5295900"/>
            <a:ext cx="1021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Sampling Methodology — IAASB Handbook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90600" y="5581650"/>
            <a:ext cx="1021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Handbook of International Standards on Auditing, including ISA 530 (Audit Sampling) — the basis for both reference tables in this deck.</a:t>
            </a:r>
            <a:endParaRPr lang="en-US" sz="1100" dirty="0"/>
          </a:p>
        </p:txBody>
      </p:sp>
      <p:sp>
        <p:nvSpPr>
          <p:cNvPr id="20" name="Text 18">
            <a:hlinkClick r:id="rId4" tooltip=""/>
          </p:cNvPr>
          <p:cNvSpPr txBox="1"/>
          <p:nvPr/>
        </p:nvSpPr>
        <p:spPr>
          <a:xfrm>
            <a:off x="990600" y="5905500"/>
            <a:ext cx="10210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iaasb.org — current Handbook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Further Reading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809750"/>
            <a:ext cx="914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CLOSING CASE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28600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Breach, 2013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31432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40 Million Stolen Card Numbers Teach Us About Compliance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0005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breach, a real compliance certificate, and the gap between them — today’s case, ending in an individual RFI-drafting homework.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Title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START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— and Still Breached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23825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December 2013, Target Corporation disclosed the theft of roughly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million payment-card records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million additional customer records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at the time, one of the largest retail breaches in US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0668000" cy="1428750"/>
          </a:xfrm>
          <a:prstGeom prst="roundRect">
            <a:avLst>
              <a:gd name="adj" fmla="val 5120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600" y="24955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 that makes this a compliance case, not just a security case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762250"/>
            <a:ext cx="10210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recently as September 2013, our systems were certified as compliant with the Payment Card Industry data-security standards.”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90600" y="33337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Target CFO John Mulligan, public Congressional testimony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400050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months before the breach, Target passed a PCI DSS audit. So the question for today isn’t just “what went wrong” — it’s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passed audit was, and wasn’t, actually testing.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The Hook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TIMELINE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Breach Unfolded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238250"/>
            <a:ext cx="1066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Senate “Kill Chain Analysis,” March 2014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62000" y="16764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9650" y="16097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2013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43150" y="16097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emails deliver Citadel malware to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Fazio Mechanical Services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(Target’s HVAC vendor). Credentials stolen — at least 2 months before the Nov 12 intrusion.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2479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9650" y="21812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2013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43150" y="21812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window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Target’s own systems pass their PCI DSS compliance assessment.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28194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9650" y="27527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Nov 2013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43150" y="27527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Fazio credentials used to reach Target’s network — first access, via a vendor billing portal.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3390900"/>
            <a:ext cx="85725" cy="85725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9650" y="33242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15–28 Nov 2013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43150" y="33242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first installed on a small number of POS terminals — lateral movement into more sensitive zones. A vendor-facing system should never have reached the cardholder-data environment.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39624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9650" y="38957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28–30 Nov 2013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43150" y="38957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Symantec flags malicious behaviour (28th); by the 30th, the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Target’s POS systems are infected and exfiltration malware is installed.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000" y="4533900"/>
            <a:ext cx="85725" cy="85725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9650" y="44672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Dec 2013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43150" y="44672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starts sending stolen data to an external FTP server.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FireEye fires its first urgent alerts the same day — nobody acts.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2000" y="51054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9650" y="50387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Dec 2013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43150" y="50387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Department of Justice notifies Target of the breach — the first Target itself learns of 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2000" y="5676900"/>
            <a:ext cx="85725" cy="85725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9650" y="56102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18–19 Dec 2013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343150" y="5610225"/>
            <a:ext cx="8515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Krebs on Security breaks the story (18th); Target publicly confirms ~40M card accounts exposed (19th). A further 70M personal records disclosed 10 Jan 2014.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Timeline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SENATE REPORT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Named Root Causes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238250"/>
            <a:ext cx="5143500" cy="1809750"/>
          </a:xfrm>
          <a:prstGeom prst="roundRect">
            <a:avLst>
              <a:gd name="adj" fmla="val 4042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447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Weak third-party security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809750"/>
            <a:ext cx="468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Fazio was inadequately secured, and Target had no separate trust tier for vendor network access.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86500" y="1238250"/>
            <a:ext cx="5143500" cy="1809750"/>
          </a:xfrm>
          <a:prstGeom prst="roundRect">
            <a:avLst>
              <a:gd name="adj" fmla="val 4042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5100" y="14478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Ignored detection alerts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15100" y="1809750"/>
            <a:ext cx="468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FireEye and Symantec both flagged the intrusion in real time. The report frames this as an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and procedural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failure — not a technology gap.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3295650"/>
            <a:ext cx="5143500" cy="1809750"/>
          </a:xfrm>
          <a:prstGeom prst="roundRect">
            <a:avLst>
              <a:gd name="adj" fmla="val 4042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35052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Inadequate network segmentation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3867150"/>
            <a:ext cx="468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billing portal had a reachable path into the cardholder-data environment.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86500" y="3295650"/>
            <a:ext cx="5143500" cy="1809750"/>
          </a:xfrm>
          <a:prstGeom prst="roundRect">
            <a:avLst>
              <a:gd name="adj" fmla="val 4042"/>
            </a:avLst>
          </a:prstGeom>
          <a:solidFill>
            <a:srgbClr val="F2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5100" y="35052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Missed exfiltration detection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3867150"/>
            <a:ext cx="46863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leaving the network over two-plus weeks was also visible, and also not acted 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Root Causes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ROOT CAUSE TO CONTROL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ISO 27001 Controls Would Have Applied</a:t>
            </a:r>
            <a:endParaRPr lang="en-US" sz="4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00250"/>
          <a:ext cx="10668000" cy="914400"/>
        </p:xfrm>
        <a:graphic>
          <a:graphicData uri="http://schemas.openxmlformats.org/drawingml/2006/table">
            <a:tbl>
              <a:tblPr/>
              <a:tblGrid>
                <a:gridCol w="4381500"/>
                <a:gridCol w="62865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ISO/IEC 27001:2022 CONTROL(S)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third-party (Fazio) security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A.5.19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Information Security in Supplier Relationships ·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A.5.20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Addressing Security Within Supplier Agreements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Ignored detection alerts (FireEye, Symantec)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A.8.16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Monitoring Activities ·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A.5.26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Response to Information Security Incidents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Inadequate network segmentation + generic account used for lateral movement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A.8.20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Network Security ·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A.8.22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Segregation of Networks ·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A.8.2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Privileged Access Rights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Missed exfiltration detection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A.8.12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Data Leakage Prevention ·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A.8.16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Monitoring Activities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539115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what each of these controls actually requires, in the standard’s own terms — then a template for the RFI itself.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Controls Mapping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CONTROL ACTUALLY REQUIRES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Descriptions (1/2)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1620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3335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A.5.19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5240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in Supplier Relationships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1907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and procedures shall be defined and implemented to manage the information security risks associated with the use of a supplier’s products or services.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6500" y="11620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5100" y="13335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A.5.20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15100" y="15240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Security Within Supplier Agreements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5100" y="21907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information security requirements shall be established and agreed with each supplier, based on the type of supplier relationship.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2000" y="34099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0600" y="35814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A.8.16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37719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Activities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44386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Networks, systems, and applications shall be monitored for anomalous behaviour, and appropriate actions taken to evaluate potential information security incidents.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6500" y="34099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5100" y="35814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A.5.26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37719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to Information Security Incidents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44386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incidents shall be responded to in accordance with documented procedures.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5562600"/>
            <a:ext cx="1066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Paraphrased from ISO/IEC 27002:2022 implementation guidance for teaching purposes — verify exact wording against a licensed copy of the standard before citing it formally.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Control Text (1/2)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CONTROL ACTUALLY REQUIRES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Descriptions (2/2)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1620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600" y="13335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90600" y="15240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1907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and network devices shall be secured, managed, and controlled to protect information in systems and applications.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6500" y="11620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5100" y="13335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A.8.22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15100" y="15240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Segregation of Networks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5100" y="21907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information services, users, and information systems shall be segregated on the organization’s networks.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2000" y="34099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0600" y="35814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37719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Rights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44386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allocation and use of privileged access rights shall be restricted and managed.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6500" y="3409950"/>
            <a:ext cx="5143500" cy="2057400"/>
          </a:xfrm>
          <a:prstGeom prst="roundRect">
            <a:avLst>
              <a:gd name="adj" fmla="val 3556"/>
            </a:avLst>
          </a:prstGeom>
          <a:solidFill>
            <a:srgbClr val="F2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5100" y="3581400"/>
            <a:ext cx="468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A.8.12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5100" y="3771900"/>
            <a:ext cx="468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Prevention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15100" y="4438650"/>
            <a:ext cx="4686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prevention measures shall be applied to systems, networks, and any other devices that process, store, or transmit sensitive information.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62000" y="5562600"/>
            <a:ext cx="1066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Paraphrased from ISO/IEC 27002:2022 implementation guidance for teaching purposes — verify exact wording against a licensed copy of the standard before citing it formally.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Control Text (2/2)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8100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TEMPLATE FOR YOUR HOMEWORK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666750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RFI Template</a:t>
            </a:r>
            <a:endParaRPr lang="en-US" sz="4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57375"/>
          <a:ext cx="10668000" cy="914400"/>
        </p:xfrm>
        <a:graphic>
          <a:graphicData uri="http://schemas.openxmlformats.org/drawingml/2006/table">
            <a:tbl>
              <a:tblPr/>
              <a:tblGrid>
                <a:gridCol w="1333500"/>
                <a:gridCol w="2667000"/>
                <a:gridCol w="1619250"/>
                <a:gridCol w="2857500"/>
                <a:gridCol w="1047750"/>
                <a:gridCol w="1143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 REQUESTED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0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Security (A.8.20)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Networks and network devices are secured, managed, and controlled.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/ Network Security Lead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segmentation diagram; firewall rule review for vendor-facing segments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MMM YYYY]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2000" y="4667250"/>
            <a:ext cx="1066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row is illustrative — a worked example so you can see the format. Use one row per control from your list, and fill in the rest yourself.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2000" y="5010150"/>
            <a:ext cx="10668000" cy="1238250"/>
          </a:xfrm>
          <a:prstGeom prst="roundRect">
            <a:avLst>
              <a:gd name="adj" fmla="val 5908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90600" y="51625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guide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90600" y="5391150"/>
            <a:ext cx="10210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domain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control number and name ·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description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it requires, in your own words ·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owner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role you’d expect to answer for it, not a named individual ·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requested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split into design evidence and effectiveness/sample evidence if you can · 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open, closed, or clarification required, as the auditor would track it.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RFI Template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-171450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-28575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666750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TO YOU — HOMEWORK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047750"/>
            <a:ext cx="1028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 RFI Against the Controls We Just Covered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00025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control: what would you ask Target to produce, before the breach, to know whether the control was really in place and really working?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93370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281940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Control design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3143250"/>
            <a:ext cx="933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policy, standard, or documentation would prove the control was set up correctly — on paper — before you test anything?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076700"/>
            <a:ext cx="76200" cy="76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0600" y="396240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Operating effectiveness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4286250"/>
            <a:ext cx="933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actually sample — and how much — to prove the control operated as designed, in practice, over time?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5143500"/>
            <a:ext cx="10668000" cy="914400"/>
          </a:xfrm>
          <a:prstGeom prst="roundRect">
            <a:avLst>
              <a:gd name="adj" fmla="val 8000"/>
            </a:avLst>
          </a:prstGeom>
          <a:solidFill>
            <a:srgbClr val="2A33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0600" y="5314950"/>
            <a:ext cx="1021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C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5543550"/>
            <a:ext cx="1021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homework before next class — use today’s group discussion to shape your thinking, but each student submits their own RFI.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Homework: Draft the RFI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440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600" y="5577840"/>
            <a:ext cx="2377440" cy="237744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2381250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— CLOSING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276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3619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been a content-heavy session — if there are no questions right now, feel free to head off for today.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4286250"/>
            <a:ext cx="9525000" cy="1047750"/>
          </a:xfrm>
          <a:prstGeom prst="roundRect">
            <a:avLst>
              <a:gd name="adj" fmla="val 6982"/>
            </a:avLst>
          </a:prstGeom>
          <a:solidFill>
            <a:srgbClr val="2A33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600" y="4476750"/>
            <a:ext cx="906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C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after class?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4724400"/>
            <a:ext cx="9067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jasonlee@cityu.edu.hk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happy to receive questions offline, will reply as soon as possible.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2400" y="65913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Questions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34000" y="6591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6591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CS5292 Week 1 — Frameworks &amp; Control Testing + The Target Breach, 2013</dc:title>
  <dc:subject>PptxGenJS Presentation</dc:subject>
  <dc:creator>Prof. Jason Lee</dc:creator>
  <cp:lastModifiedBy>Prof. Jason Lee</cp:lastModifiedBy>
  <cp:revision>1</cp:revision>
  <dcterms:created xsi:type="dcterms:W3CDTF">2026-09-02T22:28:52Z</dcterms:created>
  <dcterms:modified xsi:type="dcterms:W3CDTF">2026-09-02T22:28:52Z</dcterms:modified>
</cp:coreProperties>
</file>