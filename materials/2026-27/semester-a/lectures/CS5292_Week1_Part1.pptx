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8C1D2C"/>
              </a:solidFill>
              <a:effectLst/>
            </c:spPr>
          </c:dPt>
          <c:dPt>
            <c:idx val="3"/>
            <c:bubble3D val="0"/>
            <c:spPr>
              <a:solidFill>
                <a:srgbClr val="16213E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Weekly Group Task Portfolio</c:v>
                </c:pt>
                <c:pt idx="1">
                  <c:v>Mid-term Quiz (Wk 7)</c:v>
                </c:pt>
                <c:pt idx="2">
                  <c:v>Group Case Study (Wk 13)</c:v>
                </c:pt>
                <c:pt idx="3">
                  <c:v>Exam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</c:v>
                </c:pt>
                <c:pt idx="1">
                  <c:v>25</c:v>
                </c:pt>
                <c:pt idx="2">
                  <c:v>20</c:v>
                </c:pt>
                <c:pt idx="3">
                  <c:v>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3749040"/>
            <a:ext cx="4937760" cy="493776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1277295" y="5577840"/>
            <a:ext cx="2377440" cy="2377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CITYU MSC CYBERSECURITY  ·  CS5292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Audits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Compliance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— INTRODUCTION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1248" y="49377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20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   |   Wednesdays 19:00–22:00   |   2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 · 19:00–20:50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Tonight's Session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339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339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19:00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— settling 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" y="26197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6197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19:05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5146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About 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3055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055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19:10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2004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Objectives &amp; Structure — and why this course leans on industry voices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" y="39913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9913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19:50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8862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3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112" y="46771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" y="46771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5720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Tour: the Frameworks That Shape This Field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" y="5362956"/>
            <a:ext cx="475488" cy="47548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" y="53629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20:50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5257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Break, then Group Task — Target Breach RFI vs. ISO 27001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21:50–22:00 optional Q&amp;A for anyone who can stay — formal class end per the timetable.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Tonight's Session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Am I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talk about the course, a word on why I'm the one teaching it.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Who Am 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YOUR INSTRUCTOR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Jason Lee</a:t>
            </a:r>
            <a:endParaRPr lang="en-US" sz="4000" dirty="0"/>
          </a:p>
        </p:txBody>
      </p:sp>
      <p:pic>
        <p:nvPicPr>
          <p:cNvPr id="4" name="Image 0" descr="/home/claude/cs5292-week1/media/jason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1920240" cy="192024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" y="39136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Manager, PwC Hong Kong · Dark Lab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Instructor · CS5292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0" y="1810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31920" y="1609344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years leading cybersecurity, technology risk, and regulatory-compliance engagements for top MNCs and Hong Kong clients, inside PwC's Dark Lab practice.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27523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31920" y="2551176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Manager developing and advising on Hong Kong's own frameworks — HKMA's CFI / C-RAF 2.0, HKAB's Secure Tertiary Data Backup Guideline, HKIA's GL20, and the Digital Policy Office's S17/G3 guidelines.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0" y="36941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31920" y="3493008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of Dark Lab Academy and lead on HKIRC's Cybersec Training Hub (cyberhub.hk) — building cyber literacy across Hong Kong, not just inside client walls.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0" y="463600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0" y="443484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translating frameworks into real audit findings and Requests for Information — the same discipline this course is built around.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CRTIA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Registered Threat Intelligence Analyst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2412492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412492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OSCP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467356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Security Certified Professional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4276344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76344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GCTI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331208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GIAC Cyber Threat Intelligence (SANS)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6140196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6213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40196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CISSP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195060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Information Systems Security Professional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8004048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6213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004048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CISA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058912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Information Systems Auditor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9867900" y="5532120"/>
            <a:ext cx="1744980" cy="822960"/>
          </a:xfrm>
          <a:prstGeom prst="roundRect">
            <a:avLst>
              <a:gd name="adj" fmla="val 7778"/>
            </a:avLst>
          </a:prstGeom>
          <a:solidFill>
            <a:srgbClr val="16213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867900" y="5605272"/>
            <a:ext cx="1744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FRM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922764" y="5897880"/>
            <a:ext cx="1635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 Manager (GARP)</a:t>
            </a:r>
            <a:endParaRPr lang="en-US" sz="68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Who Am I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COMPASS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Objectives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2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973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and Work Like an Auditor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8152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frameworks into real audit findings — draft RFIs, evaluate evidence, judge control design vs. operating effectiveness.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2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4767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45973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HK's Regulatory Terrain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308152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PDPO, Cap. 653, GL20, C-RAF 2.0 — and place it against the global frameworks that inform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2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94767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45973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in GRC and Technical Worlds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08152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fluently between governance/compliance thinking and the technical detail beneath it — one skill, not two.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411480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2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437083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5176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488289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Frontier, Not Just the Established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615184" y="550468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same audit judgment to AI governance, crypto-asset regulation, and cloud compliance-as-code.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11480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F2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37083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488289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Portfolio, Not Just Sit an Exam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550468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a semester's worth of applied deliverables — workpapers, control mappings, a capstone case study.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Who Am I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PRACTICE TO CLASSROOM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How I'll Teach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30352" cy="5303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Engagement Scars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textbook theory — findings, evidence gaps, and RFIs drawn from actual assessments I've run.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03120"/>
            <a:ext cx="530352" cy="5303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RFI Skill, Every Week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7947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request-for-information discipline a working practitioner uses, practiced in almost every session.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2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103120"/>
            <a:ext cx="530352" cy="530352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Voices, Not Just Mine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947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every week hands the floor to someone doing this work right now, so you hear more than one perspective.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Who Am 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Structure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semester is built, and why it leans so heavily on people outside this room.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Course Structure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RELEVANCE OF INDUSTRY VIEWS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 Leans on Industry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compliance is a practiced craft, not a memorized one. Theory tells you what a control should look like; a practitioner tells you what actually happens when it doesn't.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week this semester hands the floor to someone doing this work right now — CISOs, regulators, SOC leads, Big Four advisors — alongside structured lecture content.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82880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52360" y="233172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8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379476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13 weeks bring an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guest speaker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this room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Course Structure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SEMESTER AT A GLANCE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13-Week Arc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556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755648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 Audit &amp; Compliance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188720" cy="1051560"/>
          </a:xfrm>
          <a:prstGeom prst="roundRect">
            <a:avLst>
              <a:gd name="adj" fmla="val 5217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05456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W2–6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52374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Hong Kong Scope Funnel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523744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Cap.653 (newest, narrowest law) → PDPO (oldest, broadest) → S17/G3 (public sector) → GL20/C-RAF 2.0 (regulated) → NIST CSF (no law at all)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6674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85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685032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of Weeks 1–6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W8–12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4531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Practice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4453128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testing, crypto-asset compliance, AI auditing AI, cloud &amp; compliance-as-code, accreditation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8C1D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02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22122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5221224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Group Case Study Workshop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Course Structure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YOU'LL BE ASSESSED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204825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185623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individual take-home homework — you're assessed through in-class group work, examinations, and a capstone case study.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34655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0" y="327355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portfolio is one aggregate 5% grade across all in-class group tasks, not 5% per week.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488289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0" y="469087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Case Study (Week 13) sits alongside the Exam — it does not replace it.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Course Structure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TEMPLATE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Rhythm (Guest Weeks)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rot="5400000">
            <a:off x="1787652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8" name="Shape 6"/>
          <p:cNvSpPr/>
          <p:nvPr/>
        </p:nvSpPr>
        <p:spPr>
          <a:xfrm>
            <a:off x="1952244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52244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79676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91256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F2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55848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594860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9452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F2F3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9452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86884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5400000">
            <a:off x="5998464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20" name="Shape 18"/>
          <p:cNvSpPr/>
          <p:nvPr/>
        </p:nvSpPr>
        <p:spPr>
          <a:xfrm>
            <a:off x="6163056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63056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190488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402068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24" name="Shape 22"/>
          <p:cNvSpPr/>
          <p:nvPr/>
        </p:nvSpPr>
        <p:spPr>
          <a:xfrm>
            <a:off x="7566660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F2F3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66660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94092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8805672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28" name="Shape 26"/>
          <p:cNvSpPr/>
          <p:nvPr/>
        </p:nvSpPr>
        <p:spPr>
          <a:xfrm>
            <a:off x="8970264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70264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35–50m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997696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Task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 rot="5400000">
            <a:off x="10209276" y="2999232"/>
            <a:ext cx="164592" cy="164592"/>
          </a:xfrm>
          <a:prstGeom prst="triangle">
            <a:avLst/>
          </a:prstGeom>
          <a:solidFill>
            <a:srgbClr val="5D607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73868" y="2286000"/>
            <a:ext cx="1239012" cy="1600200"/>
          </a:xfrm>
          <a:prstGeom prst="roundRect">
            <a:avLst>
              <a:gd name="adj" fmla="val 5904"/>
            </a:avLst>
          </a:prstGeom>
          <a:solidFill>
            <a:srgbClr val="F2F3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373868" y="2468880"/>
            <a:ext cx="12390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401300" y="3063240"/>
            <a:ext cx="11841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Q&amp;A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1, 3, and 13 replace the speaker block with a second lecture or activity block — no outside guest that week.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Course Structure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Frameworks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reactive. Every framework on the next tour was some regulator's response to an incident that came first.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Before the Frameworks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CAUSE, THEN EFFECT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Incidents That Forced the Issue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8900" cy="4251960"/>
          </a:xfrm>
          <a:prstGeom prst="roundRect">
            <a:avLst>
              <a:gd name="adj" fmla="val 3130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2628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CardSystems Solutions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383280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million card numbers exposed — six months after PCI DSS v1.0 shipped.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208026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581144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FRAMEWORK RESPONSE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818888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 PCI DSS was needed on day one, not a paperwork exercise.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0420" y="1691640"/>
            <a:ext cx="2628900" cy="4251960"/>
          </a:xfrm>
          <a:prstGeom prst="roundRect">
            <a:avLst>
              <a:gd name="adj" fmla="val 3130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60420" y="1856232"/>
            <a:ext cx="2628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60420" y="2075688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97580" y="26517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Corporation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383280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million card numbers and 70 million customer records exposed in-store.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34740" y="4480560"/>
            <a:ext cx="208026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5012" y="4581144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FRAMEWORK RESPONSE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25012" y="4818888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Sharpened the US executive order that becomes NIST CSF 1.0 three months later.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2628900" cy="4251960"/>
          </a:xfrm>
          <a:prstGeom prst="roundRect">
            <a:avLst>
              <a:gd name="adj" fmla="val 3130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856232"/>
            <a:ext cx="2628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075688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6517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Bank / SWIFT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36792" y="3383280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US$81 million stolen via forged SWIFT transfers (Lazarus Group).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46520" y="4480560"/>
            <a:ext cx="208026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36792" y="4581144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FRAMEWORK RESPONSE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4818888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launches CFI / C-RAF 1.0 just ten months later.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83980" y="1691640"/>
            <a:ext cx="2628900" cy="4251960"/>
          </a:xfrm>
          <a:prstGeom prst="roundRect">
            <a:avLst>
              <a:gd name="adj" fmla="val 3130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83980" y="1856232"/>
            <a:ext cx="26289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FA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983980" y="2075688"/>
            <a:ext cx="2628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121140" y="2651760"/>
            <a:ext cx="2354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48572" y="3383280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Trojanized software update reaches ~18,000 organizations worldwide.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258300" y="4480560"/>
            <a:ext cx="2080260" cy="0"/>
          </a:xfrm>
          <a:prstGeom prst="line">
            <a:avLst/>
          </a:prstGeom>
          <a:noFill/>
          <a:ln w="12700">
            <a:solidFill>
              <a:srgbClr val="3A4A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8572" y="4581144"/>
            <a:ext cx="2299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FRAMEWORK RESPONSE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48572" y="4818888"/>
            <a:ext cx="22997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EU focus on third-party ICT risk — feeds directly into DORA.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deliberately small sample, not a complete list — each has a clean, well-documented line to a framework already on this tour.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Tour of Frameworks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 → 2020s. Not exhaustive — a practitioner's map of the terrain.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A Global Tour of Frameworks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 YEARS, ONE DISCIPLINE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Decades of Audit &amp; Compliance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3749040"/>
            <a:ext cx="11064240" cy="0"/>
          </a:xfrm>
          <a:prstGeom prst="line">
            <a:avLst/>
          </a:prstGeom>
          <a:noFill/>
          <a:ln w="25400">
            <a:solidFill>
              <a:srgbClr val="C7CB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1988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Privacy Act enacted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04316" y="3698748"/>
            <a:ext cx="100584" cy="100584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9" name="Shape 7"/>
          <p:cNvSpPr/>
          <p:nvPr/>
        </p:nvSpPr>
        <p:spPr>
          <a:xfrm>
            <a:off x="1054608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8828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8C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MLPS 1.0 concept introduced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1373124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3416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636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PDPO enacted (Cap. 486)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1741932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792224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66444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v1 published (ISACA)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110740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61032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35252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BS7799-2 published (UK)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479548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29840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04060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 enacted + HKMA e-banking security guidance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2848356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8648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2868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SA-2 (Outsourcing)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217164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67456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1676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TM-G-1 (Technology Risk)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585972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3636264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10484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TM-E-1 (E-banking)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954780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4005072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9292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v1.0 published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4323588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4373880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810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 published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4692396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4742688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16908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 launched (SANS Top 20)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061204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5111496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85716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 PDPA enacted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5430012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0304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54524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/ SSAE 16 replaces SAS 70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798820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Shape 46"/>
          <p:cNvSpPr/>
          <p:nvPr/>
        </p:nvSpPr>
        <p:spPr>
          <a:xfrm>
            <a:off x="5849112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23332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PDPA enacted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6167628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6217920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92140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2013–24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MAS TRM Guidelines &amp; ABS AASE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6536436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4" name="Shape 52"/>
          <p:cNvSpPr/>
          <p:nvPr/>
        </p:nvSpPr>
        <p:spPr>
          <a:xfrm>
            <a:off x="6586728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60948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1.0 + FFIEC CAT tool released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6905244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6955536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29756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Cyber Essentials + BoE CBEST launched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7274052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0" name="Shape 58"/>
          <p:cNvSpPr/>
          <p:nvPr/>
        </p:nvSpPr>
        <p:spPr>
          <a:xfrm>
            <a:off x="7324344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98564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CFI / C-RAF 1.0 launched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7642860" y="3698748"/>
            <a:ext cx="100584" cy="100584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63" name="Shape 61"/>
          <p:cNvSpPr/>
          <p:nvPr/>
        </p:nvSpPr>
        <p:spPr>
          <a:xfrm>
            <a:off x="7693152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167372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8C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Cybersecurity Law effective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011668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" name="Shape 64"/>
          <p:cNvSpPr/>
          <p:nvPr/>
        </p:nvSpPr>
        <p:spPr>
          <a:xfrm>
            <a:off x="8061960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536180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Data Protection Act, GDPR &amp; NIS Regs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8380476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8430768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904988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2018–22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NDB scheme &amp; ASD Essential Eight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8749284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8799576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73796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APRA CPS 234 effective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9118092" y="3698748"/>
            <a:ext cx="100584" cy="100584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75" name="Shape 73"/>
          <p:cNvSpPr/>
          <p:nvPr/>
        </p:nvSpPr>
        <p:spPr>
          <a:xfrm>
            <a:off x="9168384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642604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8C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MLPS 2.0 effective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9486900" y="3698748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8" name="Shape 76"/>
          <p:cNvSpPr/>
          <p:nvPr/>
        </p:nvSpPr>
        <p:spPr>
          <a:xfrm>
            <a:off x="9537192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011412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2019–24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 BNM RMiT (+ cloud update)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9855708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81" name="Shape 79"/>
          <p:cNvSpPr/>
          <p:nvPr/>
        </p:nvSpPr>
        <p:spPr>
          <a:xfrm>
            <a:off x="9906000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380220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C-RAF 2.0 / iCAST launched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10224516" y="3698748"/>
            <a:ext cx="100584" cy="100584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84" name="Shape 82"/>
          <p:cNvSpPr/>
          <p:nvPr/>
        </p:nvSpPr>
        <p:spPr>
          <a:xfrm>
            <a:off x="10274808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749028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8C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DSL + PIPL enacted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10593324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7" name="Shape 85"/>
          <p:cNvSpPr/>
          <p:nvPr/>
        </p:nvSpPr>
        <p:spPr>
          <a:xfrm>
            <a:off x="10643616" y="3767328"/>
            <a:ext cx="0" cy="12161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117836" y="498348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27001:2022 revision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10962132" y="3698748"/>
            <a:ext cx="100584" cy="10058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0" name="Shape 88"/>
          <p:cNvSpPr/>
          <p:nvPr/>
        </p:nvSpPr>
        <p:spPr>
          <a:xfrm>
            <a:off x="11012424" y="2514600"/>
            <a:ext cx="0" cy="123444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486644" y="20939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Cap.653 enacted — effective 1 Jan 2026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11330940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3" name="Shape 91"/>
          <p:cNvSpPr/>
          <p:nvPr/>
        </p:nvSpPr>
        <p:spPr>
          <a:xfrm>
            <a:off x="11381232" y="3218688"/>
            <a:ext cx="0" cy="530352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855452" y="27980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 released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11699748" y="36987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6" name="Shape 94"/>
          <p:cNvSpPr/>
          <p:nvPr/>
        </p:nvSpPr>
        <p:spPr>
          <a:xfrm>
            <a:off x="11750040" y="3767328"/>
            <a:ext cx="0" cy="512064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122426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0"/>
              </a:lnSpc>
              <a:buNone/>
            </a:pPr>
            <a:r>
              <a:rPr lang="en-US" sz="68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— </a:t>
            </a:r>
            <a:pPr algn="ctr" indent="0" marL="0">
              <a:lnSpc>
                <a:spcPts val="820"/>
              </a:lnSpc>
              <a:buNone/>
            </a:pPr>
            <a:r>
              <a:rPr lang="en-US" sz="6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DORA effective (adopted 2022)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685800" y="15179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14400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/ International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3291840" y="1517904"/>
            <a:ext cx="146304" cy="14630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3520440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5897880" y="1517904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6126480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8503920" y="1517904"/>
            <a:ext cx="146304" cy="146304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8732520" y="1408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548640" y="5632704"/>
            <a:ext cx="1106424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48640" y="5715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PDPO = Personal Data (Privacy) Ordinance · ETO = Electronic Transactions Ordinance · SA-2 / TM-G-1 / TM-E-1 = HKMA Supervisory Policy Manual modules · CFI = Cybersecurity Fortification Initiative · C-RAF = Cyber Resilience Assessment Framework · iCAST = intelligence-led Cyber-Attack Simulation Testing · PCI DSS = Payment Card Industry Data Security Standard · CIS = Center for Internet Security · COBIT = Control Objectives for Information and Related Technologies (ISACA) · FFIEC CAT = Federal Financial Institutions Examination Council Cybersecurity Assessment Tool · SSAE = Statement on Standards for Attestation Engagements · DORA = Digital Operational Resilience Act (EU) · PDPA = Personal Data Protection Act (SG / MY) · MAS = Monetary Authority of Singapore · ABS AASE = Assoc. of Banks in Singapore Adversarial Attack Simulation Exercises · BNM RMiT = Bank Negara Malaysia Risk Management in Technology · NDB = Notifiable Data Breaches (Australia) · ASD = Australian Signals Directorate · MLPS = Multi-Level Protection Scheme (China) · DSL = Data Security Law (China) · PIPL = Personal Information Protection Law (China) · CPS 234 = APRA's Prudential Standard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109" name="Text 10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Reference Points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849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5" name="Shape 3"/>
          <p:cNvSpPr/>
          <p:nvPr/>
        </p:nvSpPr>
        <p:spPr>
          <a:xfrm>
            <a:off x="8940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6" name="Shape 4"/>
          <p:cNvSpPr/>
          <p:nvPr/>
        </p:nvSpPr>
        <p:spPr>
          <a:xfrm>
            <a:off x="9031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7" name="Shape 5"/>
          <p:cNvSpPr/>
          <p:nvPr/>
        </p:nvSpPr>
        <p:spPr>
          <a:xfrm>
            <a:off x="910285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9214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9" name="Shape 7"/>
          <p:cNvSpPr/>
          <p:nvPr/>
        </p:nvSpPr>
        <p:spPr>
          <a:xfrm>
            <a:off x="9306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0" name="Shape 8"/>
          <p:cNvSpPr/>
          <p:nvPr/>
        </p:nvSpPr>
        <p:spPr>
          <a:xfrm>
            <a:off x="93977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4891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06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5149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Shape 12"/>
          <p:cNvSpPr/>
          <p:nvPr/>
        </p:nvSpPr>
        <p:spPr>
          <a:xfrm>
            <a:off x="974293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983437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63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1725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292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207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9157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035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50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864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779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693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607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522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436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35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26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9741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09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8029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71732" y="32461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512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/ INTL.  ·  9/31 ON THE TIMELINE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&amp; Steward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2240280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566160" y="2240280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ISO, via UK's BS7799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2240280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 BS7799-2 → 2005 ISO 27001 → 2013 rev. → 2022 rev.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2770632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2F3F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48640" y="2770632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3566160" y="2770632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0" y="2770632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 v1 → 2012 COBIT 5 → 2019 COBIT 2019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3300984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3566160" y="3300984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NIST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0" y="3300984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CSF 1.0 → 2018 CSF 1.1 → 2024 CSF 2.0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3831336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2F3F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48640" y="3831336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3566160" y="3831336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for Internet Security, via SANS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0" y="3831336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 SANS Top 20 → 2015 owned by CIS → 2021 v8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361688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Reports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3566160" y="4361688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AICPA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0" y="4361688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 70 → 2011 SSAE 16 (SOC 1/2/3) → 2017 SSAE 18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48640" y="4892040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2F3F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48640" y="4892040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3566160" y="4892040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Security Standards Council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400800" y="4892040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v1.0 — global card-data security standard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422392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FFIEC CAT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3566160" y="5422392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FFIEC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0" y="5422392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tool → 2025 sunset — echoes in HKMA's C-RAF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48640" y="5952744"/>
            <a:ext cx="11064240" cy="530352"/>
          </a:xfrm>
          <a:prstGeom prst="roundRect">
            <a:avLst>
              <a:gd name="adj" fmla="val 8621"/>
            </a:avLst>
          </a:prstGeom>
          <a:solidFill>
            <a:srgbClr val="F2F3F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48640" y="5952744"/>
            <a:ext cx="2926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DORA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3566160" y="5952744"/>
            <a:ext cx="27432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Commission / ESAs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6400800" y="5952744"/>
            <a:ext cx="52120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 2022 → effective 17 Jan 2025 — ICT risk, 3rd-party oversight, TLPT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HONG KONG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Kong's Own Arc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849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5" name="Shape 3"/>
          <p:cNvSpPr/>
          <p:nvPr/>
        </p:nvSpPr>
        <p:spPr>
          <a:xfrm>
            <a:off x="8940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6" name="Shape 4"/>
          <p:cNvSpPr/>
          <p:nvPr/>
        </p:nvSpPr>
        <p:spPr>
          <a:xfrm>
            <a:off x="901141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9123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8" name="Shape 6"/>
          <p:cNvSpPr/>
          <p:nvPr/>
        </p:nvSpPr>
        <p:spPr>
          <a:xfrm>
            <a:off x="9214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9" name="Shape 7"/>
          <p:cNvSpPr/>
          <p:nvPr/>
        </p:nvSpPr>
        <p:spPr>
          <a:xfrm>
            <a:off x="928573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937717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946861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956005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720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35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8549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63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378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292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207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121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035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445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864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779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693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607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522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436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1453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26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17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88852" y="32461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00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92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512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" kern="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 ·  8/31 ON THE TIMELINE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16916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17739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19842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1995–96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22951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PDPO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21792" y="277063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(Privacy) Ordinance (Cap. 486)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98064" y="16916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798064" y="17739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798064" y="19842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2843784" y="22951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2871216" y="277063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Transactions Ordinance (Cap. 553) — legal recognition for e-signatures and records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47488" y="16916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47488" y="17739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47488" y="19842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093208" y="22951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Guidance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277063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HKMA's first formal e-banking security-risk guidance — 4 years ahead of TM-E-1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296912" y="16916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96912" y="17739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296912" y="19842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42632" y="22951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SA-2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7370064" y="277063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(HKMA Supervisory Policy Manual)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546336" y="169164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546336" y="177393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546336" y="19842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592056" y="22951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TM-G-1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9619488" y="277063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Principles for Technology Risk Management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645920" y="379476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645920" y="387705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1645920" y="40873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1691640" y="43982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TM-E-1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1719072" y="487375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of e-Banking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895344" y="379476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95344" y="387705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3895344" y="40873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3941064" y="43982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 / C-RAF 1.0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3968496" y="487375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Fortification Initiative — Cyber Resilience Assessment Framework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144768" y="379476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144768" y="387705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8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6144768" y="40873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6190488" y="43982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C-RAF 2.0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6217920" y="487375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Resilience Assessment Framework 2.0, incl. iCAST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8394192" y="3794760"/>
            <a:ext cx="2121408" cy="192024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394192" y="387705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" kern="0" dirty="0">
                <a:solidFill>
                  <a:srgbClr val="E4C7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STATUTE · EFF. 2026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8394192" y="40873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8439912" y="43982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Cap.653</a:t>
            </a:r>
            <a:endParaRPr lang="en-US" sz="1600" dirty="0"/>
          </a:p>
        </p:txBody>
      </p:sp>
      <p:sp>
        <p:nvSpPr>
          <p:cNvPr id="80" name="Text 78"/>
          <p:cNvSpPr txBox="1"/>
          <p:nvPr/>
        </p:nvSpPr>
        <p:spPr>
          <a:xfrm>
            <a:off x="8467344" y="4873752"/>
            <a:ext cx="1975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of Critical Infrastructures (Computer Systems) Ordinance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548640" y="5897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isn't as thin as PDPO-then-silence-then-SA-2 — it runs quieter in the middle: the 2000 Electronic Transactions Ordinance gave e-signatures legal standing, and HKMA's first e-banking security guidance beat TM-E-1 by four years.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THE TIMELINE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Isn't Just Theory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4526280"/>
          </a:xfrm>
          <a:prstGeom prst="roundRect">
            <a:avLst>
              <a:gd name="adj" fmla="val 2791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records on a lost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flash drive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94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MAY 2008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15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of Wales Hospital,</a:t>
            </a:r>
            <a:endParaRPr lang="en-US" sz="14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Authority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95681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1737360"/>
            <a:ext cx="6355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staff member lost a USB flash drive holding working documents with patients' names, HKID numbers, and laboratory test items — and couldn't confirm the data had been deleted per protocol.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34655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3246120"/>
            <a:ext cx="6355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of Wales Hospital notified the police and the Privacy Commissioner immediately; no evidence of actual misuse was found at the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4974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66360" y="4754880"/>
            <a:ext cx="6355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PDPO had already existed for over a decade by 2008 — this is the kind of ordinary, low-tech incident that turned data protection into a practitioner's discipline in Hong Kong.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5806440"/>
            <a:ext cx="6720840" cy="502920"/>
          </a:xfrm>
          <a:prstGeom prst="roundRect">
            <a:avLst>
              <a:gd name="adj" fmla="val 14545"/>
            </a:avLst>
          </a:prstGeom>
          <a:solidFill>
            <a:srgbClr val="F2F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58064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go deeper on PCPD's approach — and a full case study — in Week 3.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COMMONWEALTH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Neighbors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82853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940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6" name="Shape 4"/>
          <p:cNvSpPr/>
          <p:nvPr/>
        </p:nvSpPr>
        <p:spPr>
          <a:xfrm>
            <a:off x="9031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7" name="Shape 5"/>
          <p:cNvSpPr/>
          <p:nvPr/>
        </p:nvSpPr>
        <p:spPr>
          <a:xfrm>
            <a:off x="9123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8" name="Shape 6"/>
          <p:cNvSpPr/>
          <p:nvPr/>
        </p:nvSpPr>
        <p:spPr>
          <a:xfrm>
            <a:off x="919429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306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0" name="Shape 8"/>
          <p:cNvSpPr/>
          <p:nvPr/>
        </p:nvSpPr>
        <p:spPr>
          <a:xfrm>
            <a:off x="93977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4891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06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720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35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8549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2581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378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0869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0013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121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8301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50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864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5733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4877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4021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522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23092" y="3246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35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265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17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09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00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92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512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COMMONWEALTH  ·  10/31 ON THE TIMELINE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17373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2F3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1883664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Kingdom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256032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  BS7799-2 — origin of ISO 27001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340156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 Cyber Essentials scheme launched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" y="424281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 Bank of England CBEST launched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" y="5084064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 Data Protection Act · NIS Regs · GDPR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383280" y="17373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2F3F7"/>
          </a:solidFill>
          <a:ln/>
        </p:spPr>
      </p:sp>
      <p:sp>
        <p:nvSpPr>
          <p:cNvPr id="44" name="Shape 42"/>
          <p:cNvSpPr/>
          <p:nvPr/>
        </p:nvSpPr>
        <p:spPr>
          <a:xfrm>
            <a:off x="3520440" y="1883664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520440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547872" y="256032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 Personal Data Protection Act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3547872" y="340156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  MAS Technology Risk Mgmt Guidelines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3547872" y="424281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 MAS TRM Guidelines revised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3547872" y="5084064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ABS AASE — Adversarial Attack Sim.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17920" y="17373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2F3F7"/>
          </a:solidFill>
          <a:ln/>
        </p:spPr>
      </p:sp>
      <p:sp>
        <p:nvSpPr>
          <p:cNvPr id="51" name="Shape 49"/>
          <p:cNvSpPr/>
          <p:nvPr/>
        </p:nvSpPr>
        <p:spPr>
          <a:xfrm>
            <a:off x="6355080" y="1883664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5080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6382512" y="256032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 Personal Data Protection Act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382512" y="340156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 BNM RMiT — Risk Mgmt in Technology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382512" y="424281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RMiT updated — cloud guidance added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052560" y="17373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2F3F7"/>
          </a:solidFill>
          <a:ln/>
        </p:spPr>
      </p:sp>
      <p:sp>
        <p:nvSpPr>
          <p:cNvPr id="57" name="Shape 55"/>
          <p:cNvSpPr/>
          <p:nvPr/>
        </p:nvSpPr>
        <p:spPr>
          <a:xfrm>
            <a:off x="9189720" y="1883664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189720" y="188366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217152" y="256032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1988  Privacy Act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217152" y="3401568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 Notifiable Data Breaches scheme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9217152" y="424281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 APRA CPS 234 takes effect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9217152" y="5084064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 ASD Essential Eight mandated (govt)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MAINLAND LAYER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Parallel Track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849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5" name="Shape 3"/>
          <p:cNvSpPr/>
          <p:nvPr/>
        </p:nvSpPr>
        <p:spPr>
          <a:xfrm>
            <a:off x="8919972" y="324612"/>
            <a:ext cx="82296" cy="82296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6" name="Shape 4"/>
          <p:cNvSpPr/>
          <p:nvPr/>
        </p:nvSpPr>
        <p:spPr>
          <a:xfrm>
            <a:off x="9031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7" name="Shape 5"/>
          <p:cNvSpPr/>
          <p:nvPr/>
        </p:nvSpPr>
        <p:spPr>
          <a:xfrm>
            <a:off x="9123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8" name="Shape 6"/>
          <p:cNvSpPr/>
          <p:nvPr/>
        </p:nvSpPr>
        <p:spPr>
          <a:xfrm>
            <a:off x="9214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9" name="Shape 7"/>
          <p:cNvSpPr/>
          <p:nvPr/>
        </p:nvSpPr>
        <p:spPr>
          <a:xfrm>
            <a:off x="9306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0" name="Shape 8"/>
          <p:cNvSpPr/>
          <p:nvPr/>
        </p:nvSpPr>
        <p:spPr>
          <a:xfrm>
            <a:off x="93977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1" name="Shape 9"/>
          <p:cNvSpPr/>
          <p:nvPr/>
        </p:nvSpPr>
        <p:spPr>
          <a:xfrm>
            <a:off x="94891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95806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720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97635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8549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63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378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292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207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121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035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50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65892" y="324612"/>
            <a:ext cx="82296" cy="82296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779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6934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607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1652" y="324612"/>
            <a:ext cx="82296" cy="82296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436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351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05972" y="324612"/>
            <a:ext cx="82296" cy="82296"/>
          </a:xfrm>
          <a:prstGeom prst="ellipse">
            <a:avLst/>
          </a:prstGeom>
          <a:solidFill>
            <a:srgbClr val="8C1D2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1798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0942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50086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4" name="Shape 32"/>
          <p:cNvSpPr/>
          <p:nvPr/>
        </p:nvSpPr>
        <p:spPr>
          <a:xfrm>
            <a:off x="11592306" y="345186"/>
            <a:ext cx="41148" cy="41148"/>
          </a:xfrm>
          <a:prstGeom prst="ellipse">
            <a:avLst/>
          </a:prstGeom>
          <a:solidFill>
            <a:srgbClr val="DADDE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512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" kern="0" dirty="0">
                <a:solidFill>
                  <a:srgbClr val="8C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 ·  4/31 ON THE TIMELINE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210312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8C1D2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2286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MLPS 1.0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Protection Scheme concept introduced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rot="5400000">
            <a:off x="2624328" y="3163824"/>
            <a:ext cx="164592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798064" y="210312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8C1D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798064" y="2286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2871216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Law (CSL)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2889504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PRC's foundational cyber statute takes effect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 rot="5400000">
            <a:off x="4873752" y="3163824"/>
            <a:ext cx="164592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047488" y="210312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8C1D2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47488" y="2286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120640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MLPS 2.0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138928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GB/T 22239-2019 baseline takes effect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 rot="5400000">
            <a:off x="7123176" y="3163824"/>
            <a:ext cx="164592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7296912" y="210312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8C1D2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96912" y="2286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370064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Law (DSL)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8835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and governs data by risk tier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 rot="5400000">
            <a:off x="9372600" y="3163824"/>
            <a:ext cx="164592" cy="16459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9546336" y="2103120"/>
            <a:ext cx="2066544" cy="2377440"/>
          </a:xfrm>
          <a:prstGeom prst="roundRect">
            <a:avLst>
              <a:gd name="adj" fmla="val 3540"/>
            </a:avLst>
          </a:prstGeom>
          <a:solidFill>
            <a:srgbClr val="8C1D2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546336" y="2286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619488" y="2816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PIPL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9637776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Information Protection Law — China's GDPR-equivalent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SYLLABUS, AT A GLANCE (1/2)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Framework This Course Touches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 · CIS Controls · SOC 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6829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68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Cyber Law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36829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653 — Protection of Critical Infrastructures (Computer Systems) Ordinance (effective 1 Jan 2026)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5351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535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 &amp; Privacy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5351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PDPO (Cap. 486)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3872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387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53872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DPO's S17 / G3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2394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12394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Sector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1239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IA's GL20 · HKMA C-RAF 2.0 · EU DORA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0916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091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Law At All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0916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94376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29437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9437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529437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of Weeks 1–6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SYLLABUS, AT A GLANCE (2/2)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Framework This Course Touches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Testing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78308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· HKMA iCAST · BoE CBEST · Singapore AASE · EU TIBER-EU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6829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68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Crypto-Assets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36829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MiCA (Markets in Crypto-Assets Regulation)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5351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535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Auditing 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5351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Risk Management Framework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3872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53872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Compliance-as-Code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53872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Guidance on Cloud Computing · Practice Guide on Cloud Adoption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2F3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23944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12394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&amp; CISO Function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1239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(CISA, CRISC, CGEIT, CDPSE) · ISC2 (CISSP, CCSP, CGRC, SSCP, CC)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0916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7091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0916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D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of Weeks 1–12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097280"/>
            <a:ext cx="4114800" cy="41148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 SELECTION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These, and Why Non-Exhaustive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09397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874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Tonight's deep tour was curated, not the whole map — the table you just saw is the fuller picture, and we'll meet nearly every row on it before Week 13.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3697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17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selection reflects two things: what I actually saw and worked on inside a Big Four practice, and what Hong Kong organizations are being measured against today.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7997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160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Week 2 onward, this course pivots to a Hong Kong-specific lens — everything global tonight was the map; next week we start walking the terrain.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52297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3035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terrain keeps shifting: DORA went live in Jan 2025 alongside MiCA and TIBER-EU, and NIS2 is expanding the same discipline across 18 critical sectors.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Global Tour of Frameworks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Fundamentals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this course assumes — cyberspace, the CIA triad, and why any of this matters.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Cybersecurity Fundamentals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s5292-week1/media/fy27_cyber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s5292-week1/media/fy27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s5292-week1/media/fy27_ciatri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s5292-week1/media/fy27_closeto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s5292-week1/media/fy27_data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5943600" cy="594360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840480" cy="38404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 + Technical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 refuses to pick a side.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GRC + Technical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RIVALRY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Familiar?</a:t>
            </a:r>
            <a:endParaRPr lang="en-US" sz="4000" dirty="0"/>
          </a:p>
        </p:txBody>
      </p:sp>
      <p:pic>
        <p:nvPicPr>
          <p:cNvPr id="4" name="Image 0" descr="/root/.claude/uploads/3f014e5a-dfd4-57d7-9b25-b034da8a2bd0/b6d8c91d-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074920" cy="4617720"/>
          </a:xfrm>
          <a:prstGeom prst="rect">
            <a:avLst/>
          </a:prstGeom>
        </p:spPr>
      </p:pic>
      <p:pic>
        <p:nvPicPr>
          <p:cNvPr id="5" name="Image 1" descr="/root/.claude/uploads/3f014e5a-dfd4-57d7-9b25-b034da8a2bd0/d71f46ae-im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148840"/>
            <a:ext cx="5349240" cy="3794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GRC + Technical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 PHILOSOPHY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Is Not GRC vs. Technical. It's Both.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3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974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31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can't move between both worlds at a functional level, you're not ready to operate independently.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3F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65760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832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is labeled “Audit and Compliance” — but it's really about the integration of both.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6177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434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technical material woven in throughout. When it goes beyond our class time, you're expected to research, read, or ask.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5778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303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framework we study this semester exists to answer one question a technical control alone can't: how do you prove it's working?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GRC + Technical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4572000"/>
            <a:ext cx="4754880" cy="4754880"/>
          </a:xfrm>
          <a:prstGeom prst="ellipse">
            <a:avLst/>
          </a:prstGeom>
          <a:solidFill>
            <a:srgbClr val="0F18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Break, then: Group Task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Breach RFI vs. ISO 27001 — groups of 3–4 draft and submit, then we review the expected approach together.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1 · See you after the break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Jason Lee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2026-09-02T00:14:02Z</dcterms:created>
  <dcterms:modified xsi:type="dcterms:W3CDTF">2026-09-02T00:14:02Z</dcterms:modified>
</cp:coreProperties>
</file>