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49" r:id="rId82"/>
    <p:sldId id="350" r:id="rId83"/>
    <p:sldId id="344" r:id="rId84"/>
    <p:sldId id="343" r:id="rId85"/>
    <p:sldId id="342" r:id="rId86"/>
    <p:sldId id="340" r:id="rId87"/>
    <p:sldId id="351" r:id="rId8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5322"/>
  </p:normalViewPr>
  <p:slideViewPr>
    <p:cSldViewPr snapToGrid="0" snapToObjects="1">
      <p:cViewPr varScale="1">
        <p:scale>
          <a:sx n="85" d="100"/>
          <a:sy n="85" d="100"/>
        </p:scale>
        <p:origin x="204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07397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Cap. 653   —   10 sec</a:t>
            </a:r>
          </a:p>
          <a:p>
            <a:r>
              <a:rPr dirty="0"/>
              <a:t>------------------------------------------------------</a:t>
            </a:r>
          </a:p>
          <a:p>
            <a:r>
              <a:rPr dirty="0"/>
              <a:t>This is the whole of tonight in one line. Cap. 653 — the Protection of Critical Infrastructures (Computer Systems) Ordinance. It came into force on the first of January this year, and it is the first cybersecurity statute Hong Kong has ever had. Everything we do for the next two hours sits underneath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Part 1 — The Law Itself   —   20 sec</a:t>
            </a:r>
          </a:p>
          <a:p>
            <a:r>
              <a:rPr dirty="0"/>
              <a:t>------------------------------------------------------</a:t>
            </a:r>
          </a:p>
          <a:p>
            <a:r>
              <a:rPr dirty="0"/>
              <a:t>Twenty-five minutes on the law itself, then I will give you a break. I am going to move quickly through this part, because it is the part you can read for yourselves afterwards — every slide has its source on it, and the reading pack is on the course page. What I want you to leave this block with is not the detail. It is the shape: where the law came from, who it binds, what it demands, and where to find every word of it when you need 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Four Years, One Statute   —   90 sec</a:t>
            </a:r>
          </a:p>
          <a:p>
            <a:r>
              <a:rPr dirty="0"/>
              <a:t>------------------------------------------------------</a:t>
            </a:r>
          </a:p>
          <a:p>
            <a:r>
              <a:rPr dirty="0"/>
              <a:t>Four years from a line in a policy speech to a statute in force. October 2022, the Chief Executive commits to legislating. 2023 is quiet from the outside — that is stakeholder engagement, and some of you will have been in those rooms without </a:t>
            </a:r>
            <a:r>
              <a:rPr dirty="0" err="1"/>
              <a:t>realising</a:t>
            </a:r>
            <a:r>
              <a:rPr dirty="0"/>
              <a:t> that is what they were. Then July to August 2024 is the public consultation: fifty-three submissions came back, and fifty-two of them were supportive. That number matters, and I will come back to it. December 2024 the Bill is </a:t>
            </a:r>
            <a:r>
              <a:rPr dirty="0" err="1"/>
              <a:t>gazetted</a:t>
            </a:r>
            <a:r>
              <a:rPr dirty="0"/>
              <a:t>, March 2025 it passes, and it commences on the first of January 2026 with the Code of Practice issued at the same time.</a:t>
            </a:r>
          </a:p>
          <a:p>
            <a:endParaRPr dirty="0"/>
          </a:p>
          <a:p>
            <a:r>
              <a:rPr dirty="0"/>
              <a:t>The thing I want you to notice is how fast the back half was. Fifteen months from consultation to commencement. If you are advising an </a:t>
            </a:r>
            <a:r>
              <a:rPr dirty="0" err="1"/>
              <a:t>organisation</a:t>
            </a:r>
            <a:r>
              <a:rPr dirty="0"/>
              <a:t> and you assume you will get years of warning on legislation like this, look at that timeline again.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What the Government Argued   —   2 min</a:t>
            </a:r>
          </a:p>
          <a:p>
            <a:r>
              <a:rPr dirty="0"/>
              <a:t>------------------------------------------------------</a:t>
            </a:r>
          </a:p>
          <a:p>
            <a:r>
              <a:rPr dirty="0"/>
              <a:t>This is the Government's own case for the law, in its own paper to the Legislative Council. Four incidents. A fuel pipeline in the United States in 2021, where ransomware took out roughly half the fuel supply on the east coast. A medical insurer in the US in 2024. A data </a:t>
            </a:r>
            <a:r>
              <a:rPr dirty="0" err="1"/>
              <a:t>centre</a:t>
            </a:r>
            <a:r>
              <a:rPr dirty="0"/>
              <a:t> in Sweden the same year that disrupted both government and business services. And a private hospital here in Hong Kong, also 2024, where medical services were affected.</a:t>
            </a:r>
          </a:p>
          <a:p>
            <a:endParaRPr dirty="0"/>
          </a:p>
          <a:p>
            <a:r>
              <a:rPr dirty="0"/>
              <a:t>Now look at what those four have in common. Every single one is a service stopping. Not one of them is a data-privacy case. That is deliberate. This law is not about your personal data — we do that next week with the PCPD. This law is about whether the lights stay on, whether the trains run, whether you can pay for things. The Security Bureau's own words were that an incident like this can have, and I am quoting, "a rippling effect affecting the entire society."</a:t>
            </a:r>
          </a:p>
          <a:p>
            <a:endParaRPr dirty="0"/>
          </a:p>
          <a:p>
            <a:r>
              <a:rPr dirty="0"/>
              <a:t>If you only remember one thing about the purpose of Cap. 653, remember that it protects continuity of service, not confidentiality of information.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Who Regulates What   —   90 sec</a:t>
            </a:r>
          </a:p>
          <a:p>
            <a:r>
              <a:rPr dirty="0"/>
              <a:t>------------------------------------------------------</a:t>
            </a:r>
          </a:p>
          <a:p>
            <a:r>
              <a:rPr dirty="0"/>
              <a:t>Three things sit in the architecture and people mix them up constantly. The Ordinance itself is the statute — obligations, offences, penalties. The Commissioner is the regulator: designates operators and systems, issues the Code, investigates. And the Code of Practice is guidance on how to comply — it is not subsidiary legislation, which means you cannot be prosecuted for breaching the Code as such, but a court can look at it when deciding whether you met the statutory obligation. Practically, treat it as binding.</a:t>
            </a:r>
          </a:p>
          <a:p>
            <a:endParaRPr dirty="0"/>
          </a:p>
          <a:p>
            <a:r>
              <a:rPr dirty="0"/>
              <a:t>Then look at the table, because this is the bit people get wrong in interviews. The Monetary Authority takes categories one and two for authorized institutions, payment system operators and stored-value facility licensees. The Communications Authority takes them for telecoms and broadcasting. Everybody else answers to the Commissioner for everything. But look at the right-hand column — category three, incident reporting, never leaves the Commissioner. No matter who your sectoral regulator is, when something breaks, you are calling the same office.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Eight Sectors   —   60 sec</a:t>
            </a:r>
          </a:p>
          <a:p>
            <a:r>
              <a:rPr dirty="0"/>
              <a:t>------------------------------------------------------</a:t>
            </a:r>
          </a:p>
          <a:p>
            <a:r>
              <a:rPr dirty="0"/>
              <a:t>Eight sectors are named in Schedule 1 as delivering essential services. Energy, information technology, banking and finance, land transport, air transport, maritime, healthcare, and communications and broadcasting. That is category one.</a:t>
            </a:r>
          </a:p>
          <a:p>
            <a:endParaRPr dirty="0"/>
          </a:p>
          <a:p>
            <a:r>
              <a:rPr dirty="0"/>
              <a:t>Category two is the interesting one, because it is open-ended: other infrastructure for maintaining important societal and economic activities. The Government has pointed at major sports and performance venues and research and development parks. And note the line at the bottom — the Government itself is out of scope. We will come back to that in a second because it surprises people.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What It Does Not Cover   —   60 sec</a:t>
            </a:r>
          </a:p>
          <a:p>
            <a:r>
              <a:rPr dirty="0"/>
              <a:t>------------------------------------------------------</a:t>
            </a:r>
          </a:p>
          <a:p>
            <a:r>
              <a:rPr dirty="0"/>
              <a:t>This is the call-out I want you to write down. Cap. 653 governs the private sector. The Government is not designated, there is no Commissioner over </a:t>
            </a:r>
            <a:r>
              <a:rPr dirty="0" err="1"/>
              <a:t>bureaux</a:t>
            </a:r>
            <a:r>
              <a:rPr dirty="0"/>
              <a:t> and departments, and there is no twelve-hour clock for them.</a:t>
            </a:r>
          </a:p>
          <a:p>
            <a:endParaRPr dirty="0"/>
          </a:p>
          <a:p>
            <a:r>
              <a:rPr dirty="0"/>
              <a:t>That does not mean government departments have no obligations — it means they have different ones. Baseline IT Security Policy S17, and IT Security Guidelines G3, both under the Digital Policy Office. We come back to those properly in Week 4, and I want you to be able to compare the two regimes by then.</a:t>
            </a:r>
          </a:p>
          <a:p>
            <a:endParaRPr dirty="0"/>
          </a:p>
          <a:p>
            <a:r>
              <a:rPr dirty="0"/>
              <a:t>One caveat on the wording, though: "private sector" is close but it is not exact. Statutory bodies can be designated. So do not use "private sector" as your test — use the definition in the Ordinance.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Which Could Be Designated?   —   3 min</a:t>
            </a:r>
          </a:p>
          <a:p>
            <a:r>
              <a:rPr dirty="0"/>
              <a:t>------------------------------------------------------</a:t>
            </a:r>
          </a:p>
          <a:p>
            <a:r>
              <a:rPr dirty="0"/>
              <a:t>Hands up. I am going to read these out one at a time and I want you to commit — in or out.</a:t>
            </a:r>
          </a:p>
          <a:p>
            <a:endParaRPr dirty="0"/>
          </a:p>
          <a:p>
            <a:r>
              <a:rPr dirty="0"/>
              <a:t>A Hong Kong retail bank. A company operating a rail line. A private hospital. A vendor selling to the airport. A university. A cloud provider hosting somebody's critical computer system. Kai Tak Sports Park. The Immigration Department.</a:t>
            </a:r>
          </a:p>
          <a:p>
            <a:endParaRPr dirty="0"/>
          </a:p>
          <a:p>
            <a:r>
              <a:rPr dirty="0"/>
              <a:t>[Take the votes. Do not correct anyone yet — the point is the disagreement.]</a:t>
            </a:r>
          </a:p>
          <a:p>
            <a:endParaRPr dirty="0"/>
          </a:p>
          <a:p>
            <a:r>
              <a:rPr dirty="0"/>
              <a:t>Notice how confident the room is on some of these and how split it is on others. Hold that.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You Cannot Know. Neither Can I.   —   2 min</a:t>
            </a:r>
          </a:p>
          <a:p>
            <a:r>
              <a:rPr dirty="0"/>
              <a:t>------------------------------------------------------</a:t>
            </a:r>
          </a:p>
          <a:p>
            <a:r>
              <a:rPr dirty="0"/>
              <a:t>Here is the honest answer to that exercise: you cannot know. And neither can I.</a:t>
            </a:r>
          </a:p>
          <a:p>
            <a:endParaRPr dirty="0"/>
          </a:p>
          <a:p>
            <a:r>
              <a:rPr dirty="0"/>
              <a:t>The list of designated operators is not published, and it is not going to be. The reasoning is straightforward — publishing a list of the </a:t>
            </a:r>
            <a:r>
              <a:rPr dirty="0" err="1"/>
              <a:t>organisations</a:t>
            </a:r>
            <a:r>
              <a:rPr dirty="0"/>
              <a:t> the law considers critical is publishing a target list. Operators are also not permitted to disclose their own designation. So the exercise you just did was not a recall test. It was you applying the test in sections 11, 12 and 13, which is the only thing anyone can actually do.</a:t>
            </a:r>
          </a:p>
          <a:p>
            <a:endParaRPr dirty="0"/>
          </a:p>
          <a:p>
            <a:r>
              <a:rPr dirty="0"/>
              <a:t>Two consequences for practice. First, designation happens by written notice — a letter arrives, you do not self-identify and you do not opt in. Second, and this is the one that costs people money: every statutory clock runs from the designation date, not from the first of January 2026. So the first question in any engagement — before scope, before fee, before anything — is: when were you designated? If they cannot tell you, that is your first finding.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But You Can Infer   —   90 sec</a:t>
            </a:r>
          </a:p>
          <a:p>
            <a:r>
              <a:rPr dirty="0"/>
              <a:t>------------------------------------------------------</a:t>
            </a:r>
          </a:p>
          <a:p>
            <a:r>
              <a:rPr dirty="0"/>
              <a:t>You cannot know, but you are not helpless either, and reading a regulatory landscape is a skill I want you to develop.</a:t>
            </a:r>
          </a:p>
          <a:p>
            <a:endParaRPr dirty="0"/>
          </a:p>
          <a:p>
            <a:r>
              <a:rPr dirty="0"/>
              <a:t>Almost certainly not: the Immigration Department, and every other bureau or department, because the Ordinance does not designate the Government. Very likely yes: an institution licensed by the Monetary Authority — because a regulator does not sit down and write a sectoral Code of Practice for nobody. And genuinely uncertain: the rail operator. Plausible, entirely plausible, but only the authority knows.</a:t>
            </a:r>
          </a:p>
          <a:p>
            <a:endParaRPr dirty="0"/>
          </a:p>
          <a:p>
            <a:r>
              <a:rPr dirty="0"/>
              <a:t>And in practice? The industry finds out who has been designated when those operators start asking for quotes. That is not a joke — that is genuinely how the market learns.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And It Will Be Phased   —   60 sec</a:t>
            </a:r>
          </a:p>
          <a:p>
            <a:r>
              <a:rPr dirty="0"/>
              <a:t>------------------------------------------------------</a:t>
            </a:r>
          </a:p>
          <a:p>
            <a:r>
              <a:rPr dirty="0"/>
              <a:t>The other thing that is not published is the sequence. Nobody has said how designation will be rolled out, but phasing is close to certain for two reasons. One, the sheer volume makes a big-bang designation impractical. Two, we have local precedent — the Monetary Authority phased C-RAF 2.0 across authorized institutions in tranches, and that worked.</a:t>
            </a:r>
          </a:p>
          <a:p>
            <a:endParaRPr dirty="0"/>
          </a:p>
          <a:p>
            <a:r>
              <a:rPr dirty="0"/>
              <a:t>Why does an adviser care? Because two operators in the same sector can be at completely different points in the same regime and neither of them is late. If you walk into a client and tell them they are behind because their competitor already has a plan, you may simply be wrong.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Three Categories of Obligation   —   90 sec</a:t>
            </a:r>
          </a:p>
          <a:p>
            <a:r>
              <a:rPr dirty="0"/>
              <a:t>------------------------------------------------------</a:t>
            </a:r>
          </a:p>
          <a:p>
            <a:r>
              <a:rPr dirty="0"/>
              <a:t>The obligations come in three categories, and I want to be precise here because I have been asked whether the "category one, two, three" language is mine. It is not. It is section 2 of the Ordinance: "category 1 obligation means an obligation imposed by Division 1 of Part 4." The statute really does use the word.</a:t>
            </a:r>
          </a:p>
          <a:p>
            <a:endParaRPr dirty="0"/>
          </a:p>
          <a:p>
            <a:r>
              <a:rPr dirty="0"/>
              <a:t>Category one is </a:t>
            </a:r>
            <a:r>
              <a:rPr dirty="0" err="1"/>
              <a:t>organisational</a:t>
            </a:r>
            <a:r>
              <a:rPr dirty="0"/>
              <a:t> — Chapter 5 of the Code. The office, changes of operator, and the security management unit. Category two is preventive — Chapter 6. Material changes, the management plan, risk assessments and audits. Category three is incident response — Chapter 7. Drills, the response plan, and notification.</a:t>
            </a:r>
          </a:p>
          <a:p>
            <a:endParaRPr dirty="0"/>
          </a:p>
          <a:p>
            <a:r>
              <a:rPr dirty="0"/>
              <a:t>Those three map onto the three parts of the block after the break. And notice that the Code's chapter numbers line up with the divisions. That is not an accident and it makes the Code much easier to navigate once you see it.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a:t>
            </a:r>
            <a:r>
              <a:rPr dirty="0" err="1"/>
              <a:t>Organisational</a:t>
            </a:r>
            <a:r>
              <a:rPr dirty="0"/>
              <a:t> Obligations   —   90 sec</a:t>
            </a:r>
          </a:p>
          <a:p>
            <a:r>
              <a:rPr dirty="0"/>
              <a:t>------------------------------------------------------</a:t>
            </a:r>
          </a:p>
          <a:p>
            <a:r>
              <a:rPr dirty="0"/>
              <a:t>Category one is small. It is only ever three things, and that is worth knowing because people over-fill this bucket.</a:t>
            </a:r>
          </a:p>
          <a:p>
            <a:endParaRPr dirty="0"/>
          </a:p>
          <a:p>
            <a:r>
              <a:rPr dirty="0"/>
              <a:t>You maintain an office in Hong Kong — and the Code says where business is actually conducted, so a registered address at your company secretary's office does not do it. You notify changes of operator, which means merger, acquisition, or ceasing to exist. And you set up a computer-system security management unit.</a:t>
            </a:r>
          </a:p>
          <a:p>
            <a:endParaRPr dirty="0"/>
          </a:p>
          <a:p>
            <a:r>
              <a:rPr dirty="0"/>
              <a:t>Each of the three has a form. Annex A is CICS001, Annex B is CICS002, Annex C is CICS003. And in an engagement, filing those three forms is the fastest visible win you can give a client in the first month.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Outsource the Unit. Not the Supervisor.   —   2 min</a:t>
            </a:r>
          </a:p>
          <a:p>
            <a:r>
              <a:rPr dirty="0"/>
              <a:t>------------------------------------------------------</a:t>
            </a:r>
          </a:p>
          <a:p>
            <a:r>
              <a:rPr dirty="0"/>
              <a:t>This slide surprises people, so let me be exact, because both halves matter commercially.</a:t>
            </a:r>
          </a:p>
          <a:p>
            <a:endParaRPr dirty="0"/>
          </a:p>
          <a:p>
            <a:r>
              <a:rPr dirty="0"/>
              <a:t>The unit itself can be outsourced. The regulator's own FAQ says so in terms: "The Ordinance does not prohibit CI operators from engaging overseas or outsourced computer-system security management units." So a managed security service provider, sitting anywhere in the world, is a legitimate answer to this obligation.</a:t>
            </a:r>
          </a:p>
          <a:p>
            <a:endParaRPr dirty="0"/>
          </a:p>
          <a:p>
            <a:r>
              <a:rPr dirty="0"/>
              <a:t>But the person supervising it cannot be. Same FAQ: "The head responsible for supervising the unit must be an employee appointed by the operator." Section 21(4) uses the word employee, and the Code assumes it too — clause 5.3.3 talks about notifying the regulator once the contract of employment is signed.</a:t>
            </a:r>
          </a:p>
          <a:p>
            <a:endParaRPr dirty="0"/>
          </a:p>
          <a:p>
            <a:r>
              <a:rPr dirty="0"/>
              <a:t>This was raised in the consultation. People asked whether the whole function, supervisor included, could be handed to a provider. The answer was no. You can buy the capability. You cannot buy the accountability.</a:t>
            </a:r>
          </a:p>
          <a:p>
            <a:endParaRPr dirty="0"/>
          </a:p>
          <a:p>
            <a:r>
              <a:rPr dirty="0"/>
              <a:t>The qualifications named are CISP, CISA, CISM and CISSP, and note that CISP is the mainland certification sitting alongside three international ones. You notify the appointment on Annex C, form CICS003.</a:t>
            </a:r>
          </a:p>
          <a:p>
            <a:endParaRPr dirty="0"/>
          </a:p>
          <a:p>
            <a:r>
              <a:rPr dirty="0"/>
              <a:t>And separately, in a different chapter, clause 7.2.3(d) wants at least two contact points for out-of-hours emergencies. That one is silent on who they are — so on the face of it they could be outsourced. I would not advise it, but the Code does not stop you.</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The Annexes and the Six Forms   —   60 sec</a:t>
            </a:r>
          </a:p>
          <a:p>
            <a:r>
              <a:rPr dirty="0"/>
              <a:t>------------------------------------------------------</a:t>
            </a:r>
          </a:p>
          <a:p>
            <a:r>
              <a:rPr dirty="0"/>
              <a:t>Eight annexes to the Code, six of which are actual forms you file. I have put the obligation category against each one because that mapping is what gets tested and what gets confused.</a:t>
            </a:r>
          </a:p>
          <a:p>
            <a:endParaRPr dirty="0"/>
          </a:p>
          <a:p>
            <a:r>
              <a:rPr dirty="0"/>
              <a:t>A, B and C are </a:t>
            </a:r>
            <a:r>
              <a:rPr dirty="0" err="1"/>
              <a:t>organisational</a:t>
            </a:r>
            <a:r>
              <a:rPr dirty="0"/>
              <a:t> — address, change of operator, supervising employee. D is material changes, and D is preventive. E and F are incident response — notification, then the written report. G and H are not forms at all.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The Lettering Is Not Sequential   —   60 sec</a:t>
            </a:r>
          </a:p>
          <a:p>
            <a:r>
              <a:rPr dirty="0"/>
              <a:t>------------------------------------------------------</a:t>
            </a:r>
          </a:p>
          <a:p>
            <a:r>
              <a:rPr dirty="0"/>
              <a:t>And here is the trap. The lettering does not run in obligation order. A to C are </a:t>
            </a:r>
            <a:r>
              <a:rPr dirty="0" err="1"/>
              <a:t>organisational</a:t>
            </a:r>
            <a:r>
              <a:rPr dirty="0"/>
              <a:t>, then D jumps to preventive, then E and F go to incident response, and then G and H come back to preventive. If you </a:t>
            </a:r>
            <a:r>
              <a:rPr dirty="0" err="1"/>
              <a:t>memorise</a:t>
            </a:r>
            <a:r>
              <a:rPr dirty="0"/>
              <a:t> "the first half is </a:t>
            </a:r>
            <a:r>
              <a:rPr dirty="0" err="1"/>
              <a:t>organisational</a:t>
            </a:r>
            <a:r>
              <a:rPr dirty="0"/>
              <a:t>" you will get it wrong.</a:t>
            </a:r>
          </a:p>
          <a:p>
            <a:endParaRPr dirty="0"/>
          </a:p>
          <a:p>
            <a:r>
              <a:rPr dirty="0"/>
              <a:t>Only A through F are statutory forms. G is the outline audit methodology — we will use it later tonight. H is sample contract clauses for external service providers, which is the supply-chain piece. Both are guidance. Neither is a form you file.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Every Clock, in One Place   —   2 min</a:t>
            </a:r>
          </a:p>
          <a:p>
            <a:r>
              <a:rPr dirty="0"/>
              <a:t>------------------------------------------------------</a:t>
            </a:r>
          </a:p>
          <a:p>
            <a:r>
              <a:rPr dirty="0"/>
              <a:t>This is the single most useful slide in the deck. Photograph it.</a:t>
            </a:r>
          </a:p>
          <a:p>
            <a:endParaRPr dirty="0"/>
          </a:p>
          <a:p>
            <a:r>
              <a:rPr dirty="0"/>
              <a:t>Every deadline on this page runs from the designation date. Not from the first of January. One month for the office and the security management unit. Three months for the computer-system security management plan, and three months for the emergency response plan — both board-endorsed, and both reviewed at least every two years after that.</a:t>
            </a:r>
          </a:p>
          <a:p>
            <a:endParaRPr dirty="0"/>
          </a:p>
          <a:p>
            <a:r>
              <a:rPr dirty="0"/>
              <a:t>Twelve months for the first security risk assessment, then every twelve. Twenty-four months for the first audit, then every twenty-four. And for both of those, the report goes to the Commissioner within three months of the assessment or the audit period.</a:t>
            </a:r>
          </a:p>
          <a:p>
            <a:endParaRPr dirty="0"/>
          </a:p>
          <a:p>
            <a:r>
              <a:rPr dirty="0"/>
              <a:t>I have deliberately left incident reporting off this table, because it does not work like the others. It is not a periodic obligation, it does not run from designation, and it turns on a question the rest of these do not ask. That is the next slide.</a:t>
            </a:r>
          </a:p>
          <a:p>
            <a:endParaRPr dirty="0"/>
          </a:p>
          <a:p>
            <a:r>
              <a:rPr dirty="0"/>
              <a:t>The practical exercise: take this table, put your client's actual designation date at the top, and calculate every date out. I have never once walked into an operator who had already done that for themselves.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And Two Clocks That Are Not   —   90 sec</a:t>
            </a:r>
          </a:p>
          <a:p>
            <a:r>
              <a:rPr dirty="0"/>
              <a:t>------------------------------------------------------</a:t>
            </a:r>
          </a:p>
          <a:p>
            <a:r>
              <a:rPr dirty="0"/>
              <a:t>Two clocks for incidents. Twelve hours for a serious computer-system security incident, forty-eight hours for any other one, and a written report within fourteen days either way.</a:t>
            </a:r>
          </a:p>
          <a:p>
            <a:endParaRPr dirty="0"/>
          </a:p>
          <a:p>
            <a:r>
              <a:rPr dirty="0"/>
              <a:t>But look at the box underneath, because the clocks are the second question, not the first. Before any of this you have to ask whether what happened is an incident at all.</a:t>
            </a:r>
          </a:p>
          <a:p>
            <a:endParaRPr dirty="0"/>
          </a:p>
          <a:p>
            <a:r>
              <a:rPr dirty="0"/>
              <a:t>The test has two limbs, and both are required. An act without lawful authority, and an actual adverse effect on a critical computer system. If there is no critical computer system involved, it is not reportable under this law — however unpleasant your day has been. A server falling over, a typhoon, a phishing email you caught, somebody fat-fingering an email address: none of those is a reportable incident here.</a:t>
            </a:r>
          </a:p>
          <a:p>
            <a:endParaRPr dirty="0"/>
          </a:p>
          <a:p>
            <a:r>
              <a:rPr dirty="0"/>
              <a:t>Which means your reporting obligation is only as wide as your critical computer system list. That is the fourth time tonight that list has decided something, and we have not even got to it yet.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[19:35 – 20:00]  Where to Find All of This   —   60 sec</a:t>
            </a:r>
          </a:p>
          <a:p>
            <a:r>
              <a:rPr dirty="0"/>
              <a:t>------------------------------------------------------</a:t>
            </a:r>
          </a:p>
          <a:p>
            <a:r>
              <a:rPr dirty="0"/>
              <a:t>I said at the start that I would do the finding for you, so here it is. The Ordinance is on e-Legislation at cap653. The Code of Practice version one point zero is on the OCCICS site. The six forms and the operator FAQ are both there. The consultation trail — every submission, the Government's responses — is on the Security Bureau site, and that is genuinely worth reading if you ever want to know why a clause says what it says. And S17 and G3 are on </a:t>
            </a:r>
            <a:r>
              <a:rPr dirty="0" err="1"/>
              <a:t>GovCERT</a:t>
            </a:r>
            <a:r>
              <a:rPr dirty="0"/>
              <a:t> for Week 4.</a:t>
            </a:r>
          </a:p>
          <a:p>
            <a:endParaRPr dirty="0"/>
          </a:p>
          <a:p>
            <a:r>
              <a:rPr dirty="0"/>
              <a:t>All of those links were checked this month. The annotated reading pack is on the course page. You are not going to research this. You are going to read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[20:00 – 20:15]  Break   —   15 min</a:t>
            </a:r>
          </a:p>
          <a:p>
            <a:r>
              <a:rPr dirty="0"/>
              <a:t>------------------------------------------------------</a:t>
            </a:r>
          </a:p>
          <a:p>
            <a:r>
              <a:rPr dirty="0"/>
              <a:t>That is the instrument.</a:t>
            </a:r>
          </a:p>
          <a:p>
            <a:endParaRPr dirty="0"/>
          </a:p>
          <a:p>
            <a:r>
              <a:rPr dirty="0"/>
              <a:t>When you come back, we stop looking at the law and start looking at the paperwork it makes you produce. Four documents, forty-five minutes, and the fourth one is the reason this course exists. Fifteen minutes.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Part 2 — The Four Documents   —   30 sec</a:t>
            </a:r>
          </a:p>
          <a:p>
            <a:r>
              <a:rPr dirty="0"/>
              <a:t>------------------------------------------------------</a:t>
            </a:r>
          </a:p>
          <a:p>
            <a:r>
              <a:rPr dirty="0"/>
              <a:t>Here is how the next forty-five minutes runs. Four documents, and I am giving each of them a hard slot, because the temptation is always to spend all night on the first one.</a:t>
            </a:r>
          </a:p>
          <a:p>
            <a:endParaRPr dirty="0"/>
          </a:p>
          <a:p>
            <a:r>
              <a:rPr dirty="0"/>
              <a:t>Ten minutes on the critical computer system list. Ten on the security management plan. Ten on the emergency response plan. And fifteen on the risk assessment and audit — which gets the biggest slot because it is the one this whole course is named after.</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&gt;&gt;&gt; Document 1 of 4 — Defining the critical computer system  (20:15 – 20:25)</a:t>
            </a:r>
          </a:p>
          <a:p>
            <a:r>
              <a:rPr dirty="0"/>
              <a:t>[20:15 – 21:00]  Defining the Critical Computer System   —   20 sec</a:t>
            </a:r>
          </a:p>
          <a:p>
            <a:r>
              <a:rPr dirty="0"/>
              <a:t>------------------------------------------------------</a:t>
            </a:r>
          </a:p>
          <a:p>
            <a:r>
              <a:rPr dirty="0"/>
              <a:t>Document one. The critical computer system list.</a:t>
            </a:r>
          </a:p>
          <a:p>
            <a:endParaRPr dirty="0"/>
          </a:p>
          <a:p>
            <a:r>
              <a:rPr dirty="0"/>
              <a:t>This is the first deliverable in any engagement, and it is the one that decides the size of every other one. Get it wrong and everything downstream — the plan, the assessment, the audit, the fee — is scoped wrong.</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Counts as a CCS   —   90 sec</a:t>
            </a:r>
          </a:p>
          <a:p>
            <a:r>
              <a:rPr dirty="0"/>
              <a:t>------------------------------------------------------</a:t>
            </a:r>
          </a:p>
          <a:p>
            <a:r>
              <a:rPr dirty="0"/>
              <a:t>This is section 13(1), verbatim. A regulating authority may designate a computer system that is accessible by the operator in or from Hong Kong and is essential to the core function of a critical infrastructure.</a:t>
            </a:r>
          </a:p>
          <a:p>
            <a:endParaRPr dirty="0"/>
          </a:p>
          <a:p>
            <a:r>
              <a:rPr dirty="0"/>
              <a:t>Two phrases do all the work. "Essential to the core function" — that is the test, and it is narrower than "important to the business". Your HR system can be very important and still not be essential to the core function.</a:t>
            </a:r>
          </a:p>
          <a:p>
            <a:endParaRPr dirty="0"/>
          </a:p>
          <a:p>
            <a:r>
              <a:rPr dirty="0"/>
              <a:t>And then the phrase I want you to underline: "whether under the control of the operator or not." That is how third-party systems and cloud services come into scope. Your critical system can be running in somebody else's data </a:t>
            </a:r>
            <a:r>
              <a:rPr dirty="0" err="1"/>
              <a:t>centre</a:t>
            </a:r>
            <a:r>
              <a:rPr dirty="0"/>
              <a:t>, on somebody else's </a:t>
            </a:r>
            <a:r>
              <a:rPr dirty="0" err="1"/>
              <a:t>licence</a:t>
            </a:r>
            <a:r>
              <a:rPr dirty="0"/>
              <a:t>, and it is still yours for the purposes of this law.</a:t>
            </a:r>
          </a:p>
          <a:p>
            <a:endParaRPr dirty="0"/>
          </a:p>
          <a:p>
            <a:r>
              <a:rPr dirty="0"/>
              <a:t>One more thing — designation is by written notice, and it stands until it is revoked. Section 13(2). It does not lapse.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Six Statutory Factors   —   90 sec</a:t>
            </a:r>
          </a:p>
          <a:p>
            <a:r>
              <a:rPr dirty="0"/>
              <a:t>------------------------------------------------------</a:t>
            </a:r>
          </a:p>
          <a:p>
            <a:r>
              <a:rPr dirty="0"/>
              <a:t>Section 13(3) gives the authority six factors, and I have mapped each one to the clause of the Code that expands it, because that mapping is how you build the scoring sheet.</a:t>
            </a:r>
          </a:p>
          <a:p>
            <a:endParaRPr dirty="0"/>
          </a:p>
          <a:p>
            <a:r>
              <a:rPr dirty="0"/>
              <a:t>The role of the system in the core function. The impact if it is disrupted or destroyed. How far it relates to the operator's other systems. How far it relates to other operators' systems — and that is the interdependency limb, which matters enormously in sectors like finance and telecoms. Information provided under Part 3, Division 2. And then (f), the catch-all: any other matter the authority considers relevant.</a:t>
            </a:r>
          </a:p>
          <a:p>
            <a:endParaRPr dirty="0"/>
          </a:p>
          <a:p>
            <a:r>
              <a:rPr dirty="0"/>
              <a:t>Notice what these are not. They are not a test you can pass or fail. They are factors an authority weighs. That is why the deliverable is a reasoned document, not a checklist.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A System Is Not the Application   —   90 sec</a:t>
            </a:r>
          </a:p>
          <a:p>
            <a:r>
              <a:rPr dirty="0"/>
              <a:t>------------------------------------------------------</a:t>
            </a:r>
          </a:p>
          <a:p>
            <a:r>
              <a:rPr dirty="0"/>
              <a:t>This is where clients get it wrong, and it is an expensive mistake in both directions.</a:t>
            </a:r>
          </a:p>
          <a:p>
            <a:endParaRPr dirty="0"/>
          </a:p>
          <a:p>
            <a:r>
              <a:rPr dirty="0"/>
              <a:t>The Code, §3.1.8: underlying IT infrastructures — network components, operating platform and middleware — are also regarded as computer systems. So when you ask a client to name their critical systems and they say "the customer portal", that is not the answer. That is the top of the answer.</a:t>
            </a:r>
          </a:p>
          <a:p>
            <a:endParaRPr dirty="0"/>
          </a:p>
          <a:p>
            <a:r>
              <a:rPr dirty="0"/>
              <a:t>Underneath the portal is a server, an operating system, a database, middleware, and a network. All of it comes in. And §3.1.7 puts operational technology in as well: SCADA, distributed control systems, PLCs — they are computer systems for the purposes of this law, and if you are working in energy or transport, that is most of your scope.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Security Estate Comes Too   —   90 sec</a:t>
            </a:r>
          </a:p>
          <a:p>
            <a:r>
              <a:rPr dirty="0"/>
              <a:t>------------------------------------------------------</a:t>
            </a:r>
          </a:p>
          <a:p>
            <a:r>
              <a:rPr dirty="0"/>
              <a:t>And then there is the layer people forget entirely, which is the security estate itself.</a:t>
            </a:r>
          </a:p>
          <a:p>
            <a:endParaRPr dirty="0"/>
          </a:p>
          <a:p>
            <a:r>
              <a:rPr dirty="0"/>
              <a:t>Section 3.1.6(a) says systems directly protecting the security of the critical computer systems are themselves candidates for designation. So think about it in four questions. What lets people in — directory, single sign-on, MFA infrastructure. What watches it — SIEM, EDR, web application firewall. What holds the keys — privileged access management, secrets, certificates. And what keeps it running — provisioning, monitoring, ticketing.</a:t>
            </a:r>
          </a:p>
          <a:p>
            <a:endParaRPr dirty="0"/>
          </a:p>
          <a:p>
            <a:r>
              <a:rPr dirty="0"/>
              <a:t>Here is why this matters commercially. If an attacker owns your identity provider, they own everything it authenticates. So the tooling you bought to protect the critical system is now a critical system. Clients hate this slide and it is almost always right.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Three Things to Note   —   90 sec</a:t>
            </a:r>
          </a:p>
          <a:p>
            <a:r>
              <a:rPr dirty="0"/>
              <a:t>------------------------------------------------------</a:t>
            </a:r>
          </a:p>
          <a:p>
            <a:r>
              <a:rPr dirty="0"/>
              <a:t>Three things to have ready before somebody in the room tries to argue a system out of scope.</a:t>
            </a:r>
          </a:p>
          <a:p>
            <a:endParaRPr dirty="0"/>
          </a:p>
          <a:p>
            <a:r>
              <a:rPr dirty="0"/>
              <a:t>The first two are sentences from the Code, and they close the two arguments operators reach for first. Clause 3.1.2: whether a computer system is isolated from the Internet is irrelevant. So "it's air-gapped" is not an exclusion. Clause 3.1.3: whether the core function could be switched to manual processing as a failover is irrelevant. So "we could run it on paper" is not one either.</a:t>
            </a:r>
          </a:p>
          <a:p>
            <a:endParaRPr dirty="0"/>
          </a:p>
          <a:p>
            <a:r>
              <a:rPr dirty="0"/>
              <a:t>And then the third, which is the one people forget. The regulating authority has the final say. Designation is its act under section 13(1) — not yours, and not your client's. Everything you are about to see me build, the scoring, the weighting, the thresholds, is an argument. It is a well-constructed, defensible, professional argument. It is not a decision.</a:t>
            </a:r>
          </a:p>
          <a:p>
            <a:endParaRPr dirty="0"/>
          </a:p>
          <a:p>
            <a:r>
              <a:rPr dirty="0"/>
              <a:t>Say that to a client early. It changes how they behave in the meeting with the Security Bureau, and it protects you when the answer comes back different from the one you scored.</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Nine Questions, One Score   —   2 min</a:t>
            </a:r>
          </a:p>
          <a:p>
            <a:r>
              <a:rPr dirty="0"/>
              <a:t>------------------------------------------------------</a:t>
            </a:r>
          </a:p>
          <a:p>
            <a:r>
              <a:rPr dirty="0"/>
              <a:t>So here is a real assessment instrument. Not an illustration — this is the questionnaire, </a:t>
            </a:r>
            <a:r>
              <a:rPr dirty="0" err="1"/>
              <a:t>sanitised</a:t>
            </a:r>
            <a:r>
              <a:rPr dirty="0"/>
              <a:t>, from an actual engagement.</a:t>
            </a:r>
          </a:p>
          <a:p>
            <a:endParaRPr dirty="0"/>
          </a:p>
          <a:p>
            <a:r>
              <a:rPr dirty="0"/>
              <a:t>Nine questions. And notice the last column: every single one carries the clause of the Code that it comes from. That is not decoration. When the regulator asks why you scored a system the way you did, you point at the clause, not at your judgement.</a:t>
            </a:r>
          </a:p>
          <a:p>
            <a:endParaRPr dirty="0"/>
          </a:p>
          <a:p>
            <a:r>
              <a:rPr dirty="0"/>
              <a:t>Two questions on operational resilience — material role in the core function, and impact if disrupted. One on data sensitivity. Two on interdependency, which is the limb people forget: does your failure hurt another critical infrastructure operator, and do you depend on one. Two on whether the system supports another critical computer system — protects its security, or strengthens its resilience. And then two catch-</a:t>
            </a:r>
            <a:r>
              <a:rPr dirty="0" err="1"/>
              <a:t>alls</a:t>
            </a:r>
            <a:r>
              <a:rPr dirty="0"/>
              <a:t>: is it operational technology, and is it underlying infrastructure.</a:t>
            </a:r>
          </a:p>
          <a:p>
            <a:endParaRPr dirty="0"/>
          </a:p>
          <a:p>
            <a:r>
              <a:rPr dirty="0"/>
              <a:t>Building this took sixteen hours. I will show you that number again at half past nine. Sixteen hours to write the questions, before a single system was scored.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Four of the Nine Are Yes / No   —   90 sec</a:t>
            </a:r>
          </a:p>
          <a:p>
            <a:r>
              <a:rPr dirty="0"/>
              <a:t>------------------------------------------------------</a:t>
            </a:r>
          </a:p>
          <a:p>
            <a:r>
              <a:rPr dirty="0"/>
              <a:t>Look at the answer column, because the questions do not all work the same way.</a:t>
            </a:r>
          </a:p>
          <a:p>
            <a:endParaRPr dirty="0"/>
          </a:p>
          <a:p>
            <a:r>
              <a:rPr dirty="0"/>
              <a:t>Five of them are rated one to four — low, moderate, high, critical. And each of those levels has a written illustration attached, specific to the sector. Not "high impact", but a paragraph describing what high impact actually looks like for this kind of business. That is what stops two engineers scoring the same box differently.</a:t>
            </a:r>
          </a:p>
          <a:p>
            <a:endParaRPr dirty="0"/>
          </a:p>
          <a:p>
            <a:r>
              <a:rPr dirty="0"/>
              <a:t>The other four are yes or no. And those four are weighted: each "yes" adds half a point on top of the average.</a:t>
            </a:r>
          </a:p>
          <a:p>
            <a:endParaRPr dirty="0"/>
          </a:p>
          <a:p>
            <a:r>
              <a:rPr dirty="0"/>
              <a:t>The formula is on the slide. Score equals the minimum of four, and the average of the nine, plus half a point for each yes on the interdependency and infrastructure questions. Three and a half or above, it is a critical computer system. Two or below, it is not. In between, it is unresolved and you take it to the meeting.</a:t>
            </a:r>
          </a:p>
          <a:p>
            <a:endParaRPr dirty="0"/>
          </a:p>
          <a:p>
            <a:r>
              <a:rPr dirty="0"/>
              <a:t>One thing to say plainly: those thresholds are the operator's, not the regulator's. There is no published cut-off. Somebody chose three point five, and they had to be able to defend choosing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Same Workbook, Filled In   —   2 min</a:t>
            </a:r>
          </a:p>
          <a:p>
            <a:r>
              <a:rPr dirty="0"/>
              <a:t>------------------------------------------------------</a:t>
            </a:r>
          </a:p>
          <a:p>
            <a:r>
              <a:rPr dirty="0"/>
              <a:t>And here it is filled in. Same workbook, real scores, </a:t>
            </a:r>
            <a:r>
              <a:rPr dirty="0" err="1"/>
              <a:t>sanitised</a:t>
            </a:r>
            <a:r>
              <a:rPr dirty="0"/>
              <a:t>.</a:t>
            </a:r>
          </a:p>
          <a:p>
            <a:endParaRPr dirty="0"/>
          </a:p>
          <a:p>
            <a:r>
              <a:rPr dirty="0"/>
              <a:t>Route servers and the switching fabric: four, four, four. Straight to Priority 1. Nobody argues about those.</a:t>
            </a:r>
          </a:p>
          <a:p>
            <a:endParaRPr dirty="0"/>
          </a:p>
          <a:p>
            <a:r>
              <a:rPr dirty="0"/>
              <a:t>Now run your eye down to the two firewalls, because they are the interesting rows and I want to come back to them properly on the next slide.</a:t>
            </a:r>
          </a:p>
          <a:p>
            <a:endParaRPr dirty="0"/>
          </a:p>
          <a:p>
            <a:r>
              <a:rPr dirty="0"/>
              <a:t>Endpoint detection scores two. Corporate email scores two. Both out. And notice that endpoint detection scores four on "does it protect another critical computer system" — it genuinely does — but scores one on operational resilience and one on impact, so it averages out below the line. That is the weighting doing its job, and it is also where you would expect a regulator to push back.</a:t>
            </a:r>
          </a:p>
          <a:p>
            <a:endParaRPr dirty="0"/>
          </a:p>
          <a:p>
            <a:r>
              <a:rPr dirty="0"/>
              <a:t>Virtual desktop infrastructure comes in at three point seven, because the administrators reach the network through it. Most clients do not expect that one.</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Look at the Two Firewalls   —   90 sec</a:t>
            </a:r>
          </a:p>
          <a:p>
            <a:r>
              <a:rPr dirty="0"/>
              <a:t>------------------------------------------------------</a:t>
            </a:r>
          </a:p>
          <a:p>
            <a:r>
              <a:rPr dirty="0"/>
              <a:t>Two firewalls. Same device class, probably the same vendor, quite possibly bought on the same purchase order. One is in scope and one is not.</a:t>
            </a:r>
          </a:p>
          <a:p>
            <a:endParaRPr dirty="0"/>
          </a:p>
          <a:p>
            <a:r>
              <a:rPr dirty="0"/>
              <a:t>The external firewall sits between the Internet and the office network. It does not carry participant traffic and it does not protect a critical computer system. It scores two point zero. Out.</a:t>
            </a:r>
          </a:p>
          <a:p>
            <a:endParaRPr dirty="0"/>
          </a:p>
          <a:p>
            <a:r>
              <a:rPr dirty="0"/>
              <a:t>The internal firewall separates the internal zones from the switching fabric. It protects a critical computer system, and it is underlying infrastructure for one. Three point five. In.</a:t>
            </a:r>
          </a:p>
          <a:p>
            <a:endParaRPr dirty="0"/>
          </a:p>
          <a:p>
            <a:r>
              <a:rPr dirty="0"/>
              <a:t>A point and a half of difference — and what turns on it is a two-yearly independent audit obligation, an annual risk assessment, and twenty-three control domains that now have to be evidenced for that device.</a:t>
            </a:r>
          </a:p>
          <a:p>
            <a:endParaRPr dirty="0"/>
          </a:p>
          <a:p>
            <a:r>
              <a:rPr dirty="0"/>
              <a:t>Which is exactly why the "why" column exists. The number sorts the list. The sentence is what you defend when the authority asks you why the box on the left is out.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You Propose. They Designate.   —   60 sec</a:t>
            </a:r>
          </a:p>
          <a:p>
            <a:r>
              <a:rPr dirty="0"/>
              <a:t>------------------------------------------------------</a:t>
            </a:r>
          </a:p>
          <a:p>
            <a:r>
              <a:rPr dirty="0"/>
              <a:t>And then the process, in four steps. You build the list, scored against 13(3). You justify each row in a sentence — including the exclusions, and I want to stress the exclusions, because that is the half that gets challenged. You meet the authority; the Code contemplates the Commissioner consulting operators. And if there is no objection, what survives is your scope.</a:t>
            </a:r>
          </a:p>
          <a:p>
            <a:endParaRPr dirty="0"/>
          </a:p>
          <a:p>
            <a:r>
              <a:rPr dirty="0"/>
              <a:t>But note who holds the pen. Designation is the authority's act, under section 13(1). You are not designating anything. What you are doing is making it as easy as possible for them to agree with you.</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&gt;&gt;&gt; Document 2 of 4 — The computer-system security management plan  (20:25 – 20:35)</a:t>
            </a:r>
          </a:p>
          <a:p>
            <a:r>
              <a:rPr dirty="0"/>
              <a:t>[20:15 – 21:00]  The Computer-System Security Management Plan   —   20 sec</a:t>
            </a:r>
          </a:p>
          <a:p>
            <a:r>
              <a:rPr dirty="0"/>
              <a:t>------------------------------------------------------</a:t>
            </a:r>
          </a:p>
          <a:p>
            <a:r>
              <a:rPr dirty="0"/>
              <a:t>Document two. The computer-system security management plan.</a:t>
            </a:r>
          </a:p>
          <a:p>
            <a:endParaRPr dirty="0"/>
          </a:p>
          <a:p>
            <a:r>
              <a:rPr dirty="0"/>
              <a:t>Everything the preventive obligations require, in a single document, that the board has to sign. Ten minutes.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Preventive Obligations   —   60 sec</a:t>
            </a:r>
          </a:p>
          <a:p>
            <a:r>
              <a:rPr dirty="0"/>
              <a:t>------------------------------------------------------</a:t>
            </a:r>
          </a:p>
          <a:p>
            <a:r>
              <a:rPr dirty="0"/>
              <a:t>Four preventive obligations, sections 22 to 25 of the Ordinance. Notify material changes within one month. Submit the security management plan within three months. Conduct a risk assessment at twelve months, then annually. Arrange an audit at twenty-four months, then every twenty-four.</a:t>
            </a:r>
          </a:p>
          <a:p>
            <a:endParaRPr dirty="0"/>
          </a:p>
          <a:p>
            <a:r>
              <a:rPr dirty="0"/>
              <a:t>But look at the note at the bottom, because it tells you where your time is going to go. Section 6.2 is the big one. Twenty-three control domains live inside it, and every one of them needs to be evidenced in the plan.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None of This Was Invented Here   —   90 sec</a:t>
            </a:r>
          </a:p>
          <a:p>
            <a:r>
              <a:rPr dirty="0"/>
              <a:t>------------------------------------------------------</a:t>
            </a:r>
          </a:p>
          <a:p>
            <a:r>
              <a:rPr dirty="0"/>
              <a:t>Before I run you through twenty-three control domains, one orienting point, because otherwise this reads as an arbitrary list somebody in a bureau made up.</a:t>
            </a:r>
          </a:p>
          <a:p>
            <a:endParaRPr dirty="0"/>
          </a:p>
          <a:p>
            <a:r>
              <a:rPr dirty="0"/>
              <a:t>It is not. Map section 6.2 onto the NIST Cybersecurity Framework and it lands almost cleanly. Govern gives you the security unit, the policies and the risk management approach. Identify gives you asset management and security by design. Protect takes thirteen of the twenty-three on its own — access, privilege, cryptography, passwords, physical, hardening, change, patching, remote access, media, backup, network, application. Detect gives you log management and monitoring. Respond and Recover are not in Chapter 6 at all; they are Chapter 7, which is the next block.</a:t>
            </a:r>
          </a:p>
          <a:p>
            <a:endParaRPr dirty="0"/>
          </a:p>
          <a:p>
            <a:r>
              <a:rPr dirty="0"/>
              <a:t>Then three that the Code pulls out and names separately, because they are where modern failure actually happens: cloud, supply chain, and training.</a:t>
            </a:r>
          </a:p>
          <a:p>
            <a:endParaRPr dirty="0"/>
          </a:p>
          <a:p>
            <a:r>
              <a:rPr dirty="0"/>
              <a:t>We do NIST properly in Week 6. For tonight, the point is only this: if you already know a control framework, you already know most of Chapter 6. You are learning a mapping, not a new discipline.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§6.2 Requires — Governance   —   45 sec</a:t>
            </a:r>
          </a:p>
          <a:p>
            <a:r>
              <a:rPr dirty="0"/>
              <a:t>------------------------------------------------------</a:t>
            </a:r>
          </a:p>
          <a:p>
            <a:r>
              <a:rPr dirty="0"/>
              <a:t>I am going to run through all twenty-three in five slides. I am not asking you to </a:t>
            </a:r>
            <a:r>
              <a:rPr dirty="0" err="1"/>
              <a:t>memorise</a:t>
            </a:r>
            <a:r>
              <a:rPr dirty="0"/>
              <a:t> them. I am asking you to see the shape, because that shape is your workpaper.</a:t>
            </a:r>
          </a:p>
          <a:p>
            <a:endParaRPr dirty="0"/>
          </a:p>
          <a:p>
            <a:r>
              <a:rPr dirty="0"/>
              <a:t>First group, governance. The security management unit — who owns security, with real authority, not a name on an org chart. Policies and standards — written rules, and staff who have actually seen them. A risk management approach — a named methodology, not ad hoc judgement. Security by design — built in from initiation through to disposal. And asset management, which is an inventory you can actually trust, and I will tell you now that most clients do not have one.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§6.2 Requires — Identity and Secrets   —   45 sec</a:t>
            </a:r>
          </a:p>
          <a:p>
            <a:r>
              <a:rPr dirty="0"/>
              <a:t>------------------------------------------------------</a:t>
            </a:r>
          </a:p>
          <a:p>
            <a:r>
              <a:rPr dirty="0"/>
              <a:t>Second group, identity and secrets. Access control — least privilege, reviewed annually. Privileged access — separate admin identities, or just-in-time elevation. Cryptography — keys managed across their whole life cycle, which is the part people skip. Password management — length, complexity, expiry, lockout. And physical security, which comes down to who can walk into the room.</a:t>
            </a:r>
          </a:p>
          <a:p>
            <a:endParaRPr dirty="0"/>
          </a:p>
          <a:p>
            <a:r>
              <a:rPr dirty="0"/>
              <a:t>That last one sounds old-fashioned until you remember the finding I will show you later where the mitigating control for a device weakness was literally a locked cage.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§6.2 Requires — Change and Resilience   —   45 sec</a:t>
            </a:r>
          </a:p>
          <a:p>
            <a:r>
              <a:rPr dirty="0"/>
              <a:t>------------------------------------------------------</a:t>
            </a:r>
          </a:p>
          <a:p>
            <a:r>
              <a:rPr dirty="0"/>
              <a:t>Third group, change and resilience. Configuration and hardening — a baseline that is reviewed and enforced, not written once. Change management — assessed, tested, approved, and reversible. Patch management — risk-based, with the testing documented. Remote connection — encrypted, multi-factor, logged. And storage media — USB control, encryption, destruction.</a:t>
            </a:r>
          </a:p>
          <a:p>
            <a:endParaRPr dirty="0"/>
          </a:p>
          <a:p>
            <a:r>
              <a:rPr dirty="0"/>
              <a:t>Patch management is the one to watch. Later tonight you are going to see an estate where this single clause explains about eighty per cent of the findings.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§6.2 Requires — Networks and Code   —   45 sec</a:t>
            </a:r>
          </a:p>
          <a:p>
            <a:r>
              <a:rPr dirty="0"/>
              <a:t>------------------------------------------------------</a:t>
            </a:r>
          </a:p>
          <a:p>
            <a:r>
              <a:rPr dirty="0"/>
              <a:t>Fourth group. Backup and recovery — off-site, immutable, and restore-tested, and I want to stress restore-tested, because a backup nobody has restored is a hypothesis. Network security — segmented by trust, with detection. Application security — secure coding, tested before release. And log management, which carries a six-month retention floor and must be tamper-protected.</a:t>
            </a:r>
          </a:p>
          <a:p>
            <a:endParaRPr dirty="0"/>
          </a:p>
          <a:p>
            <a:r>
              <a:rPr dirty="0"/>
              <a:t>Six months is a specific number. Write it down. It is one of the very few hard technical figures in the Code.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§6.2 Requires — Depending on Others   —   45 sec</a:t>
            </a:r>
          </a:p>
          <a:p>
            <a:r>
              <a:rPr dirty="0"/>
              <a:t>------------------------------------------------------</a:t>
            </a:r>
          </a:p>
          <a:p>
            <a:r>
              <a:rPr dirty="0"/>
              <a:t>Last group, and it is the modern one. Cloud security — shared responsibility, written down, because "the cloud provider handles that" is not a control. Supply chain — audit rights, or third-party assurance reports. Monitoring and detection — twenty-four by seven, against a known-good baseline. And security training — role-specific, with effectiveness measured.</a:t>
            </a:r>
          </a:p>
          <a:p>
            <a:endParaRPr dirty="0"/>
          </a:p>
          <a:p>
            <a:r>
              <a:rPr dirty="0"/>
              <a:t>Notice that three of these four are about people and </a:t>
            </a:r>
            <a:r>
              <a:rPr dirty="0" err="1"/>
              <a:t>organisations</a:t>
            </a:r>
            <a:r>
              <a:rPr dirty="0"/>
              <a:t> you do not control. That is where this law is heading.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the Code Points At   —   90 sec</a:t>
            </a:r>
          </a:p>
          <a:p>
            <a:r>
              <a:rPr dirty="0"/>
              <a:t>------------------------------------------------------</a:t>
            </a:r>
          </a:p>
          <a:p>
            <a:r>
              <a:rPr dirty="0"/>
              <a:t>And the Code does not just gesture at good practice — it names its sources. This slide is your reading list, and I have put the clause against each one so you can see where it bites.</a:t>
            </a:r>
          </a:p>
          <a:p>
            <a:endParaRPr dirty="0"/>
          </a:p>
          <a:p>
            <a:r>
              <a:rPr dirty="0"/>
              <a:t>Risk management, clause 6.2.7: ISO 27005, GB/T 31722, IEC 62443-3-2, and the Hong Kong government's own Practice Guide for IT Security Risk Management. Security by design, 6.2.8: there is a practice guide for that too.</a:t>
            </a:r>
          </a:p>
          <a:p>
            <a:endParaRPr dirty="0"/>
          </a:p>
          <a:p>
            <a:r>
              <a:rPr dirty="0"/>
              <a:t>Risk assessment, clause 6.3.1: ISO 27001, GB/T 22080, NIST 800-30, ISO 42001 — which is the AI management systems standard, and its presence here is worth noticing — plus ISPG-SM01. Audit, 6.4.4: ISO 19011, ISO 27007, and the two GB/T equivalents. And supplier assurance, 6.2.25: HKSAE 3000 or a SOC 2 Type 2 report.</a:t>
            </a:r>
          </a:p>
          <a:p>
            <a:endParaRPr dirty="0"/>
          </a:p>
          <a:p>
            <a:r>
              <a:rPr dirty="0"/>
              <a:t>One practical note. The government practice guides are free and downloadable tonight. The ISO and GB/T standards are not — they are several hundred dollars each. If you are building a home library on a student budget, start with ISPG-SM01, because it is the one the Hong Kong government itself uses for security risk assessment and audit, and it is the closest free thing to what this Ordinance is asking for.</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And If You Cannot Meet One?   —   60 sec</a:t>
            </a:r>
          </a:p>
          <a:p>
            <a:r>
              <a:rPr dirty="0"/>
              <a:t>------------------------------------------------------</a:t>
            </a:r>
          </a:p>
          <a:p>
            <a:r>
              <a:rPr dirty="0"/>
              <a:t>So what happens when a client cannot meet one of the twenty-three? This is the most commercially useful clause in the Code and most people have not read it.</a:t>
            </a:r>
          </a:p>
          <a:p>
            <a:endParaRPr dirty="0"/>
          </a:p>
          <a:p>
            <a:r>
              <a:rPr dirty="0"/>
              <a:t>Section 6.2.4 expressly allows alternative security controls that achieve comparable results. You are not obliged to implement the Code's control. You are obliged to achieve its outcome.</a:t>
            </a:r>
          </a:p>
          <a:p>
            <a:endParaRPr dirty="0"/>
          </a:p>
          <a:p>
            <a:r>
              <a:rPr dirty="0"/>
              <a:t>But — and this is the whole thing — it must be documented in the security management plan, with a detailed description showing how it effectively mitigates the relevant risks. So the flexibility is real, and the price of the flexibility is writing. An alternative control that nobody wrote down is just a gap.</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An Exception Is Not a Decision   —   2 min</a:t>
            </a:r>
          </a:p>
          <a:p>
            <a:r>
              <a:rPr dirty="0"/>
              <a:t>------------------------------------------------------</a:t>
            </a:r>
          </a:p>
          <a:p>
            <a:r>
              <a:rPr dirty="0"/>
              <a:t>So somebody says: we cannot meet clause 6.2.11, we are not doing just-in-time privileged access this year. What happens next?</a:t>
            </a:r>
          </a:p>
          <a:p>
            <a:endParaRPr dirty="0"/>
          </a:p>
          <a:p>
            <a:r>
              <a:rPr dirty="0"/>
              <a:t>What must not happen is that it goes in a spreadsheet marked "risk accepted" and everyone moves on. An exception is not a decision. It is an entry into the risk management process that the security management plan already commits the </a:t>
            </a:r>
            <a:r>
              <a:rPr dirty="0" err="1"/>
              <a:t>organisation</a:t>
            </a:r>
            <a:r>
              <a:rPr dirty="0"/>
              <a:t> to — clause 6.2.7. And yes, to answer the question directly: 6.2.7 is a Code of Practice clause, not an Ordinance section. The Ordinance sections are the ones in the twenties.</a:t>
            </a:r>
          </a:p>
          <a:p>
            <a:endParaRPr dirty="0"/>
          </a:p>
          <a:p>
            <a:r>
              <a:rPr dirty="0"/>
              <a:t>Five things have to exist. A written request naming the clause, why it cannot be met, and what risk is being left on the table. The compensating control, and how it achieves a comparable result — that is the 6.2.4 language. A named owner at a level entitled to accept it, which is not the engineer who raised it. A target date for moving from alternative control to full compliance, because an exception with no end date is just a policy you have quietly rewritten. And a review point, so it comes back round.</a:t>
            </a:r>
          </a:p>
          <a:p>
            <a:endParaRPr dirty="0"/>
          </a:p>
          <a:p>
            <a:r>
              <a:rPr dirty="0"/>
              <a:t>When you audit this, you are not testing whether the control is missing. You already know it is. You are testing whether the process ran.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It All Lands in One Document   —   60 sec</a:t>
            </a:r>
          </a:p>
          <a:p>
            <a:r>
              <a:rPr dirty="0"/>
              <a:t>------------------------------------------------------</a:t>
            </a:r>
          </a:p>
          <a:p>
            <a:r>
              <a:rPr dirty="0"/>
              <a:t>And all of it lands in one place. Section 6.2.1 says the plan must cover all of the matters necessary in accordance with Schedule 3 of the Ordinance — so go and read Schedule 3, it is short.</a:t>
            </a:r>
          </a:p>
          <a:p>
            <a:endParaRPr dirty="0"/>
          </a:p>
          <a:p>
            <a:r>
              <a:rPr dirty="0"/>
              <a:t>But here is the clause that makes this practical. Section 6.2.3 says if your plan is actually a collection of documents — which it will be, because no </a:t>
            </a:r>
            <a:r>
              <a:rPr dirty="0" err="1"/>
              <a:t>organisation</a:t>
            </a:r>
            <a:r>
              <a:rPr dirty="0"/>
              <a:t> writes one document from scratch — you provide a clear cross-reference that maps each applicable requirement to the relevant sections of your plan, against clauses 6.2.5 to 6.2.27, 6.3, 6.4 and 6.5.</a:t>
            </a:r>
          </a:p>
          <a:p>
            <a:endParaRPr dirty="0"/>
          </a:p>
          <a:p>
            <a:r>
              <a:rPr dirty="0"/>
              <a:t>In other words: you may use what you already have. You just have to prove it covers the ground.</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A Real Table of Contents   —   60 sec</a:t>
            </a:r>
          </a:p>
          <a:p>
            <a:r>
              <a:rPr dirty="0"/>
              <a:t>------------------------------------------------------</a:t>
            </a:r>
          </a:p>
          <a:p>
            <a:r>
              <a:rPr dirty="0"/>
              <a:t>Which is exactly what this client did. This is </a:t>
            </a:r>
            <a:r>
              <a:rPr dirty="0" err="1"/>
              <a:t>sanitised</a:t>
            </a:r>
            <a:r>
              <a:rPr dirty="0"/>
              <a:t>, but it is real.</a:t>
            </a:r>
          </a:p>
          <a:p>
            <a:endParaRPr dirty="0"/>
          </a:p>
          <a:p>
            <a:r>
              <a:rPr dirty="0"/>
              <a:t>A designated operator that was already certified to ISO 27001, with an existing information security management system manual. Rather than write a second document, they uplifted the one they had so that it carries both — ISO on one side, Cap. 653 on the other.</a:t>
            </a:r>
          </a:p>
          <a:p>
            <a:endParaRPr dirty="0"/>
          </a:p>
          <a:p>
            <a:r>
              <a:rPr dirty="0"/>
              <a:t>Our understanding is that this is acceptable, and §6.2.3 expressly contemplates it. What it costs you is the cross-reference map: every clause pointed at a section that genuinely covers it. Not a section that mentions the topic — a section that covers it. That distinction is where the argument happens.</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Manual — All 24 Sections   —   60 sec</a:t>
            </a:r>
          </a:p>
          <a:p>
            <a:r>
              <a:rPr dirty="0"/>
              <a:t>------------------------------------------------------</a:t>
            </a:r>
          </a:p>
          <a:p>
            <a:r>
              <a:rPr dirty="0"/>
              <a:t>And here are the twenty-four sections, as issued. I have kept the client's own numbering.</a:t>
            </a:r>
          </a:p>
          <a:p>
            <a:endParaRPr dirty="0"/>
          </a:p>
          <a:p>
            <a:r>
              <a:rPr dirty="0"/>
              <a:t>Read down it and you will </a:t>
            </a:r>
            <a:r>
              <a:rPr dirty="0" err="1"/>
              <a:t>recognise</a:t>
            </a:r>
            <a:r>
              <a:rPr dirty="0"/>
              <a:t> it, because it is mostly the ISO 27001 shape. Purpose, scope, context, leadership, risk management, asset management, access control, cryptography, physical, operations, supplier relationships, incident management, business continuity, compliance.</a:t>
            </a:r>
          </a:p>
          <a:p>
            <a:endParaRPr dirty="0"/>
          </a:p>
          <a:p>
            <a:r>
              <a:rPr dirty="0"/>
              <a:t>So the honest answer to "how much extra work is Cap. 653 for a mature </a:t>
            </a:r>
            <a:r>
              <a:rPr dirty="0" err="1"/>
              <a:t>organisation</a:t>
            </a:r>
            <a:r>
              <a:rPr dirty="0"/>
              <a:t>" is: the gaps are where Cap. 653 asks for more than ISO does. And there are fewer of those than clients fear and more than they hope.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&gt;&gt;&gt; Document 3 of 4 — The emergency response plan  (20:35 – 20:45)</a:t>
            </a:r>
          </a:p>
          <a:p>
            <a:r>
              <a:rPr dirty="0"/>
              <a:t>[20:15 – 21:00]  The Emergency Response Plan   —   20 sec</a:t>
            </a:r>
          </a:p>
          <a:p>
            <a:r>
              <a:rPr dirty="0"/>
              <a:t>------------------------------------------------------</a:t>
            </a:r>
          </a:p>
          <a:p>
            <a:r>
              <a:rPr dirty="0"/>
              <a:t>Document three. The emergency response plan.</a:t>
            </a:r>
          </a:p>
          <a:p>
            <a:endParaRPr dirty="0"/>
          </a:p>
          <a:p>
            <a:r>
              <a:rPr dirty="0"/>
              <a:t>This is what happens when everything in Chapter 6 has already failed — and the drill that proves somebody actually read it. Ten minutes.</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Incident Response Obligations   —   60 sec</a:t>
            </a:r>
          </a:p>
          <a:p>
            <a:r>
              <a:rPr dirty="0"/>
              <a:t>------------------------------------------------------</a:t>
            </a:r>
          </a:p>
          <a:p>
            <a:r>
              <a:rPr dirty="0"/>
              <a:t>Three obligations in category three. Participate in a security drill, which the Ordinance caps at a maximum of once every two years. Submit and implement an emergency response plan within three months. And notify incidents — twelve hours, forty-eight hours, and a written report at fourteen days.</a:t>
            </a:r>
          </a:p>
          <a:p>
            <a:endParaRPr dirty="0"/>
          </a:p>
          <a:p>
            <a:r>
              <a:rPr dirty="0"/>
              <a:t>And the plan's scope is defined in §7.2.1 as two things: incident management, and business continuity and disaster recovery. Both. That second half gets forgotten, and then you have a beautiful incident response plan with nothing in it about how the business keeps running.</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an Emergency Response Plan Contains   —   60 sec</a:t>
            </a:r>
          </a:p>
          <a:p>
            <a:r>
              <a:rPr dirty="0"/>
              <a:t>------------------------------------------------------</a:t>
            </a:r>
          </a:p>
          <a:p>
            <a:r>
              <a:rPr dirty="0"/>
              <a:t>This is a real one, </a:t>
            </a:r>
            <a:r>
              <a:rPr dirty="0" err="1"/>
              <a:t>sanitised</a:t>
            </a:r>
            <a:r>
              <a:rPr dirty="0"/>
              <a:t>. Roughly thirty-one pages, and I want you to see how short that is, because people imagine these documents are enormous.</a:t>
            </a:r>
          </a:p>
          <a:p>
            <a:endParaRPr dirty="0"/>
          </a:p>
          <a:p>
            <a:r>
              <a:rPr dirty="0"/>
              <a:t>The body is four sections. Introduction, scope and purpose. Structure, roles and responsibilities — including the incident response team structure. Incident severity classification. And reporting and response procedures, with a flowchart and the detailed steps.</a:t>
            </a:r>
          </a:p>
          <a:p>
            <a:endParaRPr dirty="0"/>
          </a:p>
          <a:p>
            <a:r>
              <a:rPr dirty="0"/>
              <a:t>Then four appendices: the incident handling form, the team charter, the post-incident evaluation, and the criteria that trigger the team. That last appendix is the one that actually gets used at two in the morning.</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Structure, As Drawn   —   60 sec</a:t>
            </a:r>
          </a:p>
          <a:p>
            <a:r>
              <a:rPr dirty="0"/>
              <a:t>------------------------------------------------------</a:t>
            </a:r>
          </a:p>
          <a:p>
            <a:r>
              <a:rPr dirty="0"/>
              <a:t>This is the actual diagram out of the plan, </a:t>
            </a:r>
            <a:r>
              <a:rPr dirty="0" err="1"/>
              <a:t>sanitised</a:t>
            </a:r>
            <a:r>
              <a:rPr dirty="0"/>
              <a:t>.</a:t>
            </a:r>
          </a:p>
          <a:p>
            <a:endParaRPr dirty="0"/>
          </a:p>
          <a:p>
            <a:r>
              <a:rPr dirty="0"/>
              <a:t>Three tiers. A steering committee at the top, chaired by the chief executive with the chief operations officer as incident technical lead. An incident response manager in the middle. And the technical response team at the bottom.</a:t>
            </a:r>
          </a:p>
          <a:p>
            <a:endParaRPr dirty="0"/>
          </a:p>
          <a:p>
            <a:r>
              <a:rPr dirty="0"/>
              <a:t>But the thing I want you to notice is how many boxes say "outsourced". The provision team is outsourced. The security operations </a:t>
            </a:r>
            <a:r>
              <a:rPr dirty="0" err="1"/>
              <a:t>centre</a:t>
            </a:r>
            <a:r>
              <a:rPr dirty="0"/>
              <a:t> is outsourced. Legal is outsourced. On a Sunday morning, a meaningful fraction of the people who have to act are not employees of this </a:t>
            </a:r>
            <a:r>
              <a:rPr dirty="0" err="1"/>
              <a:t>organisation</a:t>
            </a:r>
            <a:r>
              <a:rPr dirty="0"/>
              <a:t>, and their availability is a contractual question rather than a management one.</a:t>
            </a:r>
          </a:p>
          <a:p>
            <a:endParaRPr dirty="0"/>
          </a:p>
          <a:p>
            <a:r>
              <a:rPr dirty="0"/>
              <a:t>That is an audit finding waiting to happen, and it is visible from the org chart before you have read a single procedure.</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Who Actually Responds   —   60 sec</a:t>
            </a:r>
          </a:p>
          <a:p>
            <a:r>
              <a:rPr dirty="0"/>
              <a:t>------------------------------------------------------</a:t>
            </a:r>
          </a:p>
          <a:p>
            <a:r>
              <a:rPr dirty="0"/>
              <a:t>And this is the part clients find hardest, because it is not technical — it is about authority.</a:t>
            </a:r>
          </a:p>
          <a:p>
            <a:endParaRPr dirty="0"/>
          </a:p>
          <a:p>
            <a:r>
              <a:rPr dirty="0"/>
              <a:t>Three layers. A steering committee that owns the investigation and leads communication, internally and externally; the requirement on them is that they can assess business impact and make decisions. An incident response manager who is the conduit between that committee and the technical teams; the requirement is deep knowledge of the business, not of the technology. And the technical response team, who have the platform access and do the hands-on work.</a:t>
            </a:r>
          </a:p>
          <a:p>
            <a:endParaRPr dirty="0"/>
          </a:p>
          <a:p>
            <a:r>
              <a:rPr dirty="0"/>
              <a:t>Notice that only the bottom layer is a technical requirement. The two above it are about judgement and authority. If you cannot name the person who can tell the business to stop taking orders, you do not have a response plan.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Same Table, In the Document   —   45 sec</a:t>
            </a:r>
          </a:p>
          <a:p>
            <a:r>
              <a:rPr dirty="0"/>
              <a:t>------------------------------------------------------</a:t>
            </a:r>
          </a:p>
          <a:p>
            <a:r>
              <a:rPr dirty="0"/>
              <a:t>And here is one role as it is actually written — role, responsibility, requirement.</a:t>
            </a:r>
          </a:p>
          <a:p>
            <a:endParaRPr dirty="0"/>
          </a:p>
          <a:p>
            <a:r>
              <a:rPr dirty="0"/>
              <a:t>The third column is the one auditors test. Anyone can write a responsibility. The requirement is the falsifiable bit: can this person actually assess business impact and make a management-level decision? You test that by asking who filled the seat last time, and what they decided.</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Severity, As the Client Wrote It   —   90 sec</a:t>
            </a:r>
          </a:p>
          <a:p>
            <a:r>
              <a:rPr dirty="0"/>
              <a:t>------------------------------------------------------</a:t>
            </a:r>
          </a:p>
          <a:p>
            <a:r>
              <a:rPr dirty="0"/>
              <a:t>This is the real severity matrix. Critical and High are on screen; Medium and Low continue on the next page of the plan.</a:t>
            </a:r>
          </a:p>
          <a:p>
            <a:endParaRPr dirty="0"/>
          </a:p>
          <a:p>
            <a:r>
              <a:rPr dirty="0"/>
              <a:t>Look at the shape of it. Severity, then a column mapping to the reporting classification, then the MITRE ATT&amp;CK tactic, then the thresholds, then the escalation protocol. Five columns, and the whole thing is </a:t>
            </a:r>
            <a:r>
              <a:rPr dirty="0" err="1"/>
              <a:t>colour</a:t>
            </a:r>
            <a:r>
              <a:rPr dirty="0"/>
              <a:t>-coded so that somebody woken at three in the morning can find their row.</a:t>
            </a:r>
          </a:p>
          <a:p>
            <a:endParaRPr dirty="0"/>
          </a:p>
          <a:p>
            <a:r>
              <a:rPr dirty="0"/>
              <a:t>The classification is built on MITRE ATT&amp;CK, which is a deliberate choice: it means the security operations </a:t>
            </a:r>
            <a:r>
              <a:rPr dirty="0" err="1"/>
              <a:t>centre</a:t>
            </a:r>
            <a:r>
              <a:rPr dirty="0"/>
              <a:t> and the response plan are speaking the same language, rather than the analyst having to translate from tactics into a severity scheme somebody wrote in a workshop.</a:t>
            </a:r>
          </a:p>
          <a:p>
            <a:endParaRPr dirty="0"/>
          </a:p>
          <a:p>
            <a:r>
              <a:rPr dirty="0"/>
              <a:t>Read the thresholds column and notice what is in it — route servers, peering, participant portals, the network management VLAN. This is not a template.</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Read the Second Column   —   90 sec</a:t>
            </a:r>
          </a:p>
          <a:p>
            <a:r>
              <a:rPr dirty="0"/>
              <a:t>------------------------------------------------------</a:t>
            </a:r>
          </a:p>
          <a:p>
            <a:r>
              <a:rPr dirty="0"/>
              <a:t>Second column is where the statute enters the document, and this is the bit I want you to take away.</a:t>
            </a:r>
          </a:p>
          <a:p>
            <a:endParaRPr dirty="0"/>
          </a:p>
          <a:p>
            <a:r>
              <a:rPr dirty="0"/>
              <a:t>Critical maps to Serious. Availability of a critical computer system disrupted. Twelve hours. High maps to non-serious but a critical computer system is affected — confidentiality, </a:t>
            </a:r>
            <a:r>
              <a:rPr dirty="0" err="1"/>
              <a:t>unauthorised</a:t>
            </a:r>
            <a:r>
              <a:rPr dirty="0"/>
              <a:t> access, command and control, exfiltration. Forty-eight hours. And Medium and Low map to not applicable. No critical computer system involved, so nothing to report.</a:t>
            </a:r>
          </a:p>
          <a:p>
            <a:endParaRPr dirty="0"/>
          </a:p>
          <a:p>
            <a:r>
              <a:rPr dirty="0"/>
              <a:t>That is the whole reporting obligation, wired into a table the operations team already uses. Nobody has to remember the Ordinance at three in the morning. They have to find their row.</a:t>
            </a:r>
          </a:p>
          <a:p>
            <a:endParaRPr dirty="0"/>
          </a:p>
          <a:p>
            <a:r>
              <a:rPr dirty="0"/>
              <a:t>And every threshold in that table is written in the operator's own language — their systems, their customers, their service levels. You cannot lift this from a template and you cannot lift it from another client. If your severity definitions do not name specific systems, nobody can apply them under pressure, and the twelve-hour clock will be running while they argue about it.</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Playbook, End to End   —   60 sec</a:t>
            </a:r>
          </a:p>
          <a:p>
            <a:r>
              <a:rPr dirty="0"/>
              <a:t>------------------------------------------------------</a:t>
            </a:r>
          </a:p>
          <a:p>
            <a:r>
              <a:rPr dirty="0"/>
              <a:t>Underneath the plan sits the playbook. This one had forty-seven discrete tasks across seven sections.</a:t>
            </a:r>
          </a:p>
          <a:p>
            <a:endParaRPr dirty="0"/>
          </a:p>
          <a:p>
            <a:r>
              <a:rPr dirty="0"/>
              <a:t>Preparation — structure, roles, resources. Detection — twenty-four by seven monitoring and alerts. Investigation — escalate or stand down, and activate. Containment — stop it spreading. Eradication — plan it, then do it, and the sequencing matters. Recovery — restore, report, review. And ongoing improvement — update </a:t>
            </a:r>
            <a:r>
              <a:rPr dirty="0" err="1"/>
              <a:t>defences</a:t>
            </a:r>
            <a:r>
              <a:rPr dirty="0"/>
              <a:t>, train and drill, document.</a:t>
            </a:r>
          </a:p>
          <a:p>
            <a:endParaRPr dirty="0"/>
          </a:p>
          <a:p>
            <a:r>
              <a:rPr dirty="0"/>
              <a:t>The detail I would point you at is that each of those forty-seven tasks carries an "obligation" column mapping it back to Cap. 653. That is what makes it auditable rather than merely sensible.</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And the Flowchart It Hangs On   —   45 sec</a:t>
            </a:r>
          </a:p>
          <a:p>
            <a:r>
              <a:rPr dirty="0"/>
              <a:t>------------------------------------------------------</a:t>
            </a:r>
          </a:p>
          <a:p>
            <a:r>
              <a:rPr dirty="0"/>
              <a:t>And underneath all of that, one page: detect, assess severity, contain and eradicate, recover and report.</a:t>
            </a:r>
          </a:p>
          <a:p>
            <a:endParaRPr dirty="0"/>
          </a:p>
          <a:p>
            <a:r>
              <a:rPr dirty="0"/>
              <a:t>The detail worth pointing at is that the statutory clocks are drawn into the swim lanes. Twelve hours and forty-eight hours are not a footnote somewhere in the text — they are on the diagram, at the point in the process where somebody has to act on them.</a:t>
            </a:r>
          </a:p>
          <a:p>
            <a:endParaRPr dirty="0"/>
          </a:p>
          <a:p>
            <a:r>
              <a:rPr dirty="0"/>
              <a:t>That is what "implementing" a plan looks like, as opposed to writing one.</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Is, and Is Not, an Incident   —   90 sec</a:t>
            </a:r>
          </a:p>
          <a:p>
            <a:r>
              <a:rPr dirty="0"/>
              <a:t>------------------------------------------------------</a:t>
            </a:r>
          </a:p>
          <a:p>
            <a:r>
              <a:rPr dirty="0"/>
              <a:t>Now the definition, because most of the reporting confusion lives here.</a:t>
            </a:r>
          </a:p>
          <a:p>
            <a:endParaRPr dirty="0"/>
          </a:p>
          <a:p>
            <a:r>
              <a:rPr dirty="0"/>
              <a:t>An incident, for the purposes of this law, requires an act without lawful authority that has an actual adverse effect on a critical computer system. Two limbs. Unlawful act, and actual adverse effect.</a:t>
            </a:r>
          </a:p>
          <a:p>
            <a:endParaRPr dirty="0"/>
          </a:p>
          <a:p>
            <a:r>
              <a:rPr dirty="0"/>
              <a:t>So what is not an incident? A technical failure. A natural disaster. A threat you caught in time. Human error. None of those involves an act without lawful authority, so none of them is reportable — however bad the day was.</a:t>
            </a:r>
          </a:p>
          <a:p>
            <a:endParaRPr dirty="0"/>
          </a:p>
          <a:p>
            <a:r>
              <a:rPr dirty="0"/>
              <a:t>And then the clocks. Twelve hours for a serious incident, forty-eight for anything else, written report at fourteen days. There is an exercise on this in the appendix and if we have time I would like to run it, because people get it wrong in an instructive way.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Board Endorsement, Before You Submit   —   60 sec</a:t>
            </a:r>
          </a:p>
          <a:p>
            <a:r>
              <a:rPr dirty="0"/>
              <a:t>------------------------------------------------------</a:t>
            </a:r>
          </a:p>
          <a:p>
            <a:r>
              <a:rPr dirty="0"/>
              <a:t>Two documents need board endorsement before they go anywhere. Section 6.2.2 — the security management plan — endorsed by the board, a delegated sub-committee, or at CEO or COO level. And section 7.2.2 — the emergency response plan — identical wording, identical review rule.</a:t>
            </a:r>
          </a:p>
          <a:p>
            <a:endParaRPr dirty="0"/>
          </a:p>
          <a:p>
            <a:r>
              <a:rPr dirty="0"/>
              <a:t>Those two are what you submit. But be careful how you say that to a client, because far more documents can be requested during the audit, which happens every two years, and there is no published list of what will be asked for. So "we only have to submit two documents" is true and dangerously misleading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A Drill Runs in Three Phases   —   2 min</a:t>
            </a:r>
          </a:p>
          <a:p>
            <a:r>
              <a:rPr dirty="0"/>
              <a:t>------------------------------------------------------</a:t>
            </a:r>
          </a:p>
          <a:p>
            <a:r>
              <a:rPr dirty="0"/>
              <a:t>Let me spend a few minutes on drills, because section 26 requires participation and almost nobody teaches what one actually looks like.</a:t>
            </a:r>
          </a:p>
          <a:p>
            <a:endParaRPr dirty="0"/>
          </a:p>
          <a:p>
            <a:r>
              <a:rPr dirty="0"/>
              <a:t>A drill runs in three phases, and each phase tests something different.</a:t>
            </a:r>
          </a:p>
          <a:p>
            <a:endParaRPr dirty="0"/>
          </a:p>
          <a:p>
            <a:r>
              <a:rPr dirty="0"/>
              <a:t>Phase one is triage. Do they know how to classify what has landed? Is it serious or not serious? Which form do they complete? Do they trigger the response team, or do they not? That sounds basic. It is the phase most rooms fail.</a:t>
            </a:r>
          </a:p>
          <a:p>
            <a:endParaRPr dirty="0"/>
          </a:p>
          <a:p>
            <a:r>
              <a:rPr dirty="0"/>
              <a:t>Phase two is the known knowns and known unknowns. This is where you test what they actually wrote in their emergency response plan. Do they have muscle memory for their own procedure, or are they reading it for the first time in the room? You already know the answer they should give, because it is in their document. You are finding out whether the document is real.</a:t>
            </a:r>
          </a:p>
          <a:p>
            <a:endParaRPr dirty="0"/>
          </a:p>
          <a:p>
            <a:r>
              <a:rPr dirty="0"/>
              <a:t>Phase three is the unknown unknowns. The curveball. Something the plan does not cover at all — because the regulator will eventually throw one, and you would rather they met it here first.</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Phase Three Is the Point   —   2 min</a:t>
            </a:r>
          </a:p>
          <a:p>
            <a:r>
              <a:rPr dirty="0"/>
              <a:t>------------------------------------------------------</a:t>
            </a:r>
          </a:p>
          <a:p>
            <a:r>
              <a:rPr dirty="0"/>
              <a:t>Phase three is the point of the whole exercise, so let me make it concrete.</a:t>
            </a:r>
          </a:p>
          <a:p>
            <a:endParaRPr dirty="0"/>
          </a:p>
          <a:p>
            <a:r>
              <a:rPr dirty="0"/>
              <a:t>Say the scenario is ransomware. You read their emergency response plan and it says nothing at all about negotiation. Nothing about engaging a professional negotiator. Nothing about who is </a:t>
            </a:r>
            <a:r>
              <a:rPr dirty="0" err="1"/>
              <a:t>authorised</a:t>
            </a:r>
            <a:r>
              <a:rPr dirty="0"/>
              <a:t> to decide whether to engage one. And nothing about what happens if a payment were ever contemplated — who procures cryptocurrency, under what approval, at what hour of the night.</a:t>
            </a:r>
          </a:p>
          <a:p>
            <a:endParaRPr dirty="0"/>
          </a:p>
          <a:p>
            <a:r>
              <a:rPr dirty="0"/>
              <a:t>So that becomes the phase three move. Not because you expect them to have an answer. Because you want to see what they do when they discover they do not.</a:t>
            </a:r>
          </a:p>
          <a:p>
            <a:endParaRPr dirty="0"/>
          </a:p>
          <a:p>
            <a:r>
              <a:rPr dirty="0"/>
              <a:t>And what you are watching for is not whether they get it right. It is whether they stay calm, escalate cleanly, and are willing to say out loud that they do not know. That is the difference between a team that will survive a real incident and one that will not, and you cannot see it in a document review.</a:t>
            </a:r>
          </a:p>
          <a:p>
            <a:endParaRPr dirty="0"/>
          </a:p>
          <a:p>
            <a:r>
              <a:rPr dirty="0"/>
              <a:t>What you write up is a gap — against people, process and technology — with a recommendation for each. Section 7.2.1 requires the plan to cover incident management and business continuity. A hole in either is a finding, and this is how you find it.</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Four Steps to Build One   —   45 sec</a:t>
            </a:r>
          </a:p>
          <a:p>
            <a:r>
              <a:rPr dirty="0"/>
              <a:t>------------------------------------------------------</a:t>
            </a:r>
          </a:p>
          <a:p>
            <a:r>
              <a:rPr dirty="0"/>
              <a:t>Building one takes about six weeks. Four steps.</a:t>
            </a:r>
          </a:p>
          <a:p>
            <a:endParaRPr dirty="0"/>
          </a:p>
          <a:p>
            <a:r>
              <a:rPr dirty="0"/>
              <a:t>Understand the </a:t>
            </a:r>
            <a:r>
              <a:rPr dirty="0" err="1"/>
              <a:t>organisation</a:t>
            </a:r>
            <a:r>
              <a:rPr dirty="0"/>
              <a:t> — interview the stakeholders, read the response and continuity documents. Design the scenario from the </a:t>
            </a:r>
            <a:r>
              <a:rPr dirty="0" err="1"/>
              <a:t>organisation's</a:t>
            </a:r>
            <a:r>
              <a:rPr dirty="0"/>
              <a:t> own threat landscape, so that it is </a:t>
            </a:r>
            <a:r>
              <a:rPr dirty="0" err="1"/>
              <a:t>recognisable</a:t>
            </a:r>
            <a:r>
              <a:rPr dirty="0"/>
              <a:t> to the people in the room. Run three injects as a facilitated discussion, not a test — you are observing decisions, escalation and communication. Then report and share: observations, leading practice, </a:t>
            </a:r>
            <a:r>
              <a:rPr dirty="0" err="1"/>
              <a:t>prioritised</a:t>
            </a:r>
            <a:r>
              <a:rPr dirty="0"/>
              <a:t> actions.</a:t>
            </a:r>
          </a:p>
          <a:p>
            <a:endParaRPr dirty="0"/>
          </a:p>
          <a:p>
            <a:r>
              <a:rPr dirty="0"/>
              <a:t>One design principle I will defend strongly. This is advocacy, not "gotcha". An exercise that humiliates its participants produces exactly one honest answer, and then silence for the rest of the day.</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Build Each Scenario From a Clause   —   90 sec</a:t>
            </a:r>
          </a:p>
          <a:p>
            <a:r>
              <a:rPr dirty="0"/>
              <a:t>------------------------------------------------------</a:t>
            </a:r>
          </a:p>
          <a:p>
            <a:r>
              <a:rPr dirty="0"/>
              <a:t>And here is the technique that turns drill design from creative writing into engineering.</a:t>
            </a:r>
          </a:p>
          <a:p>
            <a:endParaRPr dirty="0"/>
          </a:p>
          <a:p>
            <a:r>
              <a:rPr dirty="0"/>
              <a:t>Do not invent a scenario and hope it tests something. Read the plan, take a clause, and build the scenario as an attack on that clause.</a:t>
            </a:r>
          </a:p>
          <a:p>
            <a:endParaRPr dirty="0"/>
          </a:p>
          <a:p>
            <a:r>
              <a:rPr dirty="0"/>
              <a:t>The plan says activation is decided by a named role. So the scenario is: 5:41 on a Sunday morning, and that person is unreachable. Is deputation written down anywhere, or does everyone just assume?</a:t>
            </a:r>
          </a:p>
          <a:p>
            <a:endParaRPr dirty="0"/>
          </a:p>
          <a:p>
            <a:r>
              <a:rPr dirty="0"/>
              <a:t>The plan says maximum tolerable downtime is eight hours. So the scenario is: the restore estimate comes back at eighteen to twenty-six hours, with Monday peak approaching. Does anybody in the room notice that the number they wrote down has just been blown?</a:t>
            </a:r>
          </a:p>
          <a:p>
            <a:endParaRPr dirty="0"/>
          </a:p>
          <a:p>
            <a:r>
              <a:rPr dirty="0"/>
              <a:t>The plan says public statements come from pre-approved lines. So the scenario is: a journalist has the story before anything has been filed with the regulator. Does the sequence hold, or does somebody start improvising to the press?</a:t>
            </a:r>
          </a:p>
          <a:p>
            <a:endParaRPr dirty="0"/>
          </a:p>
          <a:p>
            <a:r>
              <a:rPr dirty="0"/>
              <a:t>The Code says the drill tests the validity and effectiveness of the emergency response plan. So the plan's own clauses are your target list. It has been written for you.</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&gt;&gt;&gt; Document 4 of 4 — Security risk assessment and audit  (20:45 – 21:00)</a:t>
            </a:r>
          </a:p>
          <a:p>
            <a:r>
              <a:rPr dirty="0"/>
              <a:t>[20:15 – 21:00]  Security Risk Assessment and Audit   —   30 sec</a:t>
            </a:r>
          </a:p>
          <a:p>
            <a:r>
              <a:rPr dirty="0"/>
              <a:t>------------------------------------------------------</a:t>
            </a:r>
          </a:p>
          <a:p>
            <a:r>
              <a:rPr dirty="0"/>
              <a:t>Document four. And this is the one.</a:t>
            </a:r>
          </a:p>
          <a:p>
            <a:endParaRPr dirty="0"/>
          </a:p>
          <a:p>
            <a:r>
              <a:rPr dirty="0"/>
              <a:t>It is the only obligation in Cap. 653 that requires somebody from outside the </a:t>
            </a:r>
            <a:r>
              <a:rPr dirty="0" err="1"/>
              <a:t>organisation</a:t>
            </a:r>
            <a:r>
              <a:rPr dirty="0"/>
              <a:t>. It is the largest single line in most engagements. And it is the thing this course is named after — audits and compliance. Fifteen minutes, and everything I show you in this block comes from a real engagement rather than from the statute alone.</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One Acronym, Two Obligations   —   90 sec</a:t>
            </a:r>
          </a:p>
          <a:p>
            <a:r>
              <a:rPr dirty="0"/>
              <a:t>------------------------------------------------------</a:t>
            </a:r>
          </a:p>
          <a:p>
            <a:r>
              <a:rPr dirty="0"/>
              <a:t>You will hear people say "SRAA" as though it is one thing. It is not. It is two obligations, two sections, two clocks, and — this is the part that matters commercially — two different people.</a:t>
            </a:r>
          </a:p>
          <a:p>
            <a:endParaRPr dirty="0"/>
          </a:p>
          <a:p>
            <a:r>
              <a:rPr dirty="0"/>
              <a:t>Section 24 is the risk assessment. Twelve months from designation, then every twelve. Section 25 is the audit. Twenty-four months from designation, then every twenty-four. Both reports go to the Commissioner within three months.</a:t>
            </a:r>
          </a:p>
          <a:p>
            <a:endParaRPr dirty="0"/>
          </a:p>
          <a:p>
            <a:r>
              <a:rPr dirty="0"/>
              <a:t>Now look at the bottom row, because it is the whole business model. The risk assessment can be done by a qualified professional — that can be you, and it can even be internal. The audit needs an independent auditor. Hold on to that. It comes back at the end of this block, and it comes back again at half past nine when you are pricing work.</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Not a Sample. All of Them.   —   60 sec</a:t>
            </a:r>
          </a:p>
          <a:p>
            <a:r>
              <a:rPr dirty="0"/>
              <a:t>------------------------------------------------------</a:t>
            </a:r>
          </a:p>
          <a:p>
            <a:r>
              <a:rPr dirty="0"/>
              <a:t>Scope. And the Code is unusually blunt here — the risk assessment covers, and I am quoting, "all applications, hosts, and network devices of the CCSs."</a:t>
            </a:r>
          </a:p>
          <a:p>
            <a:endParaRPr dirty="0"/>
          </a:p>
          <a:p>
            <a:r>
              <a:rPr dirty="0"/>
              <a:t>Not the crown jewels. You do not get to assess the three systems that really matter and stop. Not a sample either — and I want you to notice that word, because sampling is a legitimate audit technique and this obligation deliberately does not use it. It names the population.</a:t>
            </a:r>
          </a:p>
          <a:p>
            <a:endParaRPr dirty="0"/>
          </a:p>
          <a:p>
            <a:r>
              <a:rPr dirty="0"/>
              <a:t>Which brings us straight back to twenty past eight. The CCS list you drew in document one is what decides the size of this bill. Score too broadly and you have signed your client up to test everything, every year, forever.</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Code Names Its Standards   —   60 sec</a:t>
            </a:r>
          </a:p>
          <a:p>
            <a:r>
              <a:rPr dirty="0"/>
              <a:t>------------------------------------------------------</a:t>
            </a:r>
          </a:p>
          <a:p>
            <a:r>
              <a:rPr dirty="0"/>
              <a:t>You also do not get to invent a method. Section 6.3 names the acceptable ones.</a:t>
            </a:r>
          </a:p>
          <a:p>
            <a:endParaRPr dirty="0"/>
          </a:p>
          <a:p>
            <a:r>
              <a:rPr dirty="0"/>
              <a:t>Management systems: ISO 27001, and GB/T 22080. Risk management: ISO 27005, GB/T 31722, and NIST 800-30. Industrial control: IEC 62443-3-2. AI management systems: ISO 42001, which is a genuinely forward-looking inclusion. And the Hong Kong government's own practice guide, ISPG-SM01, on security risk assessment and audit.</a:t>
            </a:r>
          </a:p>
          <a:p>
            <a:endParaRPr dirty="0"/>
          </a:p>
          <a:p>
            <a:r>
              <a:rPr dirty="0"/>
              <a:t>Notice that both mainland GB/T standards and international ISO standards are named as acceptable. That duality runs through this whole document — it was there in the certifications on the CISO slide too. It is deliberate, and it is worth noticing.</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Two Activities, Not One   —   60 sec</a:t>
            </a:r>
          </a:p>
          <a:p>
            <a:r>
              <a:rPr dirty="0"/>
              <a:t>------------------------------------------------------</a:t>
            </a:r>
          </a:p>
          <a:p>
            <a:r>
              <a:rPr dirty="0"/>
              <a:t>And §6.3 requires two distinct activities, not one.</a:t>
            </a:r>
          </a:p>
          <a:p>
            <a:endParaRPr dirty="0"/>
          </a:p>
          <a:p>
            <a:r>
              <a:rPr dirty="0"/>
              <a:t>Vulnerability assessment: scanning, source-code review, and configuration review — supervised by somebody holding CISP, CISA, CISM or CISSP. And penetration testing: network, system software, client-side application and server-side application, by a tester qualified under §6.3.6.</a:t>
            </a:r>
          </a:p>
          <a:p>
            <a:endParaRPr dirty="0"/>
          </a:p>
          <a:p>
            <a:r>
              <a:rPr dirty="0"/>
              <a:t>Say this to clients slowly, because they conflate all three. A scan is not a penetration test. And a penetration test of the internet-facing perimeter is not an assessment of the critical computer systems, most of which are not internet-facing at all.</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the Scope Table Looks Like   —   90 sec</a:t>
            </a:r>
          </a:p>
          <a:p>
            <a:r>
              <a:rPr dirty="0"/>
              <a:t>------------------------------------------------------</a:t>
            </a:r>
          </a:p>
          <a:p>
            <a:r>
              <a:rPr dirty="0"/>
              <a:t>Right. This is a real scope table, </a:t>
            </a:r>
            <a:r>
              <a:rPr dirty="0" err="1"/>
              <a:t>sanitised</a:t>
            </a:r>
            <a:r>
              <a:rPr dirty="0"/>
              <a:t>. An internet exchange, one hundred and seventy-nine assets.</a:t>
            </a:r>
          </a:p>
          <a:p>
            <a:endParaRPr dirty="0"/>
          </a:p>
          <a:p>
            <a:r>
              <a:rPr dirty="0"/>
              <a:t>Every asset type, the count, a criticality rating from one to three, and the status. Route servers and switches are criticality one. DNS, Active Directory, RADIUS — that is the authentication and naming layer — criticality two, along with the </a:t>
            </a:r>
            <a:r>
              <a:rPr dirty="0" err="1"/>
              <a:t>virtualisation</a:t>
            </a:r>
            <a:r>
              <a:rPr dirty="0"/>
              <a:t> hosts and the network management system. Virtual desktop infrastructure and the endpoints that can configure the network are three.</a:t>
            </a:r>
          </a:p>
          <a:p>
            <a:endParaRPr dirty="0"/>
          </a:p>
          <a:p>
            <a:r>
              <a:rPr dirty="0"/>
              <a:t>Two things to take from this. First, notice that virtual desktops and network-capable laptops are in scope at all — because from those machines you can change the network. Second, look at the bottom row: twenty endpoints, and the status is "in discussion". Nine months in. Scope negotiation does not end at kick-off.</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Scan. Fix. Validate.   —   60 sec</a:t>
            </a:r>
          </a:p>
          <a:p>
            <a:r>
              <a:rPr dirty="0"/>
              <a:t>------------------------------------------------------</a:t>
            </a:r>
          </a:p>
          <a:p>
            <a:r>
              <a:rPr dirty="0"/>
              <a:t>And here is the discipline that separates a real assessment from a report.</a:t>
            </a:r>
          </a:p>
          <a:p>
            <a:endParaRPr dirty="0"/>
          </a:p>
          <a:p>
            <a:r>
              <a:rPr dirty="0"/>
              <a:t>Scan is ours — dated, with the tool named, and credentialed wherever we can get credentials, because an uncredentialed scan tells you what an outsider sees, not what is actually installed. Fix is theirs — with an owner and a date, or it does not happen. Validate is ours again, because a finding is not closed just because somebody says it is.</a:t>
            </a:r>
          </a:p>
          <a:p>
            <a:endParaRPr dirty="0"/>
          </a:p>
          <a:p>
            <a:r>
              <a:rPr dirty="0"/>
              <a:t>Now look at the honest bit. In the engagement on the previous slide, exactly one asset class had all three columns green. Nine months after the first scan. That is the real pace of remediation on a live production network, and if you promise a client faster than that in a proposal, you are going to be having an uncomfortable conversation in the spring.</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Comes Back   —   90 sec</a:t>
            </a:r>
          </a:p>
          <a:p>
            <a:r>
              <a:rPr dirty="0"/>
              <a:t>------------------------------------------------------</a:t>
            </a:r>
          </a:p>
          <a:p>
            <a:r>
              <a:rPr dirty="0"/>
              <a:t>This is what one scan cycle across those one hundred and seventy-nine assets produced. One thousand eight hundred and seven findings. Three hundred and forty-seven critical. One thousand and thirty-six high.</a:t>
            </a:r>
          </a:p>
          <a:p>
            <a:endParaRPr dirty="0"/>
          </a:p>
          <a:p>
            <a:r>
              <a:rPr dirty="0"/>
              <a:t>Windows and Microsoft components account for a thousand of them on their own. Red Hat Enterprise Linux, another five hundred and eleven. Then the tail — SSH, TLS, Cisco, VMware, Apache — a few hundred between them, and mostly medium and low.</a:t>
            </a:r>
          </a:p>
          <a:p>
            <a:endParaRPr dirty="0"/>
          </a:p>
          <a:p>
            <a:r>
              <a:rPr dirty="0"/>
              <a:t>Do not read this as "this </a:t>
            </a:r>
            <a:r>
              <a:rPr dirty="0" err="1"/>
              <a:t>organisation</a:t>
            </a:r>
            <a:r>
              <a:rPr dirty="0"/>
              <a:t> is a disaster". Read it as: two operating system families produce eighty-five per cent of everything, and both are patching problems rather than architecture problems. That is a much more useful sentence to put in front of a board.</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Number Is Not the Finding   —   90 sec</a:t>
            </a:r>
          </a:p>
          <a:p>
            <a:r>
              <a:rPr dirty="0"/>
              <a:t>------------------------------------------------------</a:t>
            </a:r>
          </a:p>
          <a:p>
            <a:r>
              <a:rPr dirty="0"/>
              <a:t>And this is the slide I would like you to remember from tonight.</a:t>
            </a:r>
          </a:p>
          <a:p>
            <a:endParaRPr dirty="0"/>
          </a:p>
          <a:p>
            <a:r>
              <a:rPr dirty="0"/>
              <a:t>Three hosts. Two domain controllers and one legacy authentication server. Between them, four thousand two hundred and seventy-five findings — roughly seventy-five per cent of everything found across the entire estate. Ten more hosts account for most of the rest.</a:t>
            </a:r>
          </a:p>
          <a:p>
            <a:endParaRPr dirty="0"/>
          </a:p>
          <a:p>
            <a:r>
              <a:rPr dirty="0"/>
              <a:t>A board sees one thousand eight hundred and seven and panics. An auditor sees three machines and a patching process that stopped running.</a:t>
            </a:r>
          </a:p>
          <a:p>
            <a:endParaRPr dirty="0"/>
          </a:p>
          <a:p>
            <a:r>
              <a:rPr dirty="0"/>
              <a:t>That is the difference between counting and assessing, and it is most of what you are being paid for. Anyone can run the scanner. The skill is in the sentence you write underneath the number.</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[20:15 – 21:00]  What the Criticals Actually Were   —   90 sec</a:t>
            </a:r>
          </a:p>
          <a:p>
            <a:r>
              <a:t>------------------------------------------------------</a:t>
            </a:r>
          </a:p>
          <a:p>
            <a:r>
              <a:t>So what were they actually? Three findings, not three hundred and forty-seven.</a:t>
            </a:r>
          </a:p>
          <a:p>
            <a:endParaRPr/>
          </a:p>
          <a:p>
            <a:r>
              <a:t>One: an end-of-life authentication server. Red Hat Enterprise Linux 6. No vendor support, no patches, and one thousand three hundred and forty-five findings on a single box. And here is the nuance — a replacement was already being built. So the finding is not "you are running EOL software". The finding is the delay, and the compensating controls during the migration.</a:t>
            </a:r>
          </a:p>
          <a:p>
            <a:endParaRPr/>
          </a:p>
          <a:p>
            <a:r>
              <a:t>Two: the domain controllers were carrying unapplied security updates going back to 2021, including for a browser that is installed on every domain-joined machine in the estate. Nobody owned it.</a:t>
            </a:r>
          </a:p>
          <a:p>
            <a:endParaRPr/>
          </a:p>
          <a:p>
            <a:r>
              <a:t>Three: ten Linux hosts, all missing the same updates. That is not ten problems. That is one process that is not running. And you write it up as one finding with ten instances, not ten findings — because the fix is one fix.</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What a Scanner Cannot Find   —   90 sec</a:t>
            </a:r>
          </a:p>
          <a:p>
            <a:r>
              <a:rPr dirty="0"/>
              <a:t>------------------------------------------------------</a:t>
            </a:r>
          </a:p>
          <a:p>
            <a:r>
              <a:rPr dirty="0"/>
              <a:t>Scanning is only half of it. This is the credentialed and manual configuration review — the firewalls and network devices — and every one of these is something a scanner will not tell you.</a:t>
            </a:r>
          </a:p>
          <a:p>
            <a:endParaRPr dirty="0"/>
          </a:p>
          <a:p>
            <a:r>
              <a:rPr dirty="0"/>
              <a:t>A high-availability monitor interface configured wrongly, so failover may not actually work during an outage. That is not a vulnerability; that is a resilience failure that only shows up on the worst day. No zone protection profile, so crafted packets get through. Authentication accounting switched off, so there is no audit trail of administrative commands. SNMP version two still in use. NTP with no authentication, which quietly undermines the integrity of every log timestamp you have. And password recovery left on by default.</a:t>
            </a:r>
          </a:p>
          <a:p>
            <a:endParaRPr dirty="0"/>
          </a:p>
          <a:p>
            <a:r>
              <a:rPr dirty="0"/>
              <a:t>Look at the outcome column, because it has four different answers in it, and that is the honest shape of remediation.</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“Risk Accepted” Is a Real Answer   —   2 min</a:t>
            </a:r>
          </a:p>
          <a:p>
            <a:r>
              <a:rPr dirty="0"/>
              <a:t>------------------------------------------------------</a:t>
            </a:r>
          </a:p>
          <a:p>
            <a:r>
              <a:rPr dirty="0"/>
              <a:t>Take that last row. Password recovery stays enabled, because the devices sit in a locked cage with controlled physical access.</a:t>
            </a:r>
          </a:p>
          <a:p>
            <a:endParaRPr dirty="0"/>
          </a:p>
          <a:p>
            <a:r>
              <a:rPr dirty="0"/>
              <a:t>The wrong response is to insist on the original control. The right response has two halves. First, go and test whether that cage actually exists — look at it, check the access log, find out who holds the key. Second, and this is the half people skip, check that the acceptance actually went through the </a:t>
            </a:r>
            <a:r>
              <a:rPr dirty="0" err="1"/>
              <a:t>organisation's</a:t>
            </a:r>
            <a:r>
              <a:rPr dirty="0"/>
              <a:t> own risk management process.</a:t>
            </a:r>
          </a:p>
          <a:p>
            <a:endParaRPr dirty="0"/>
          </a:p>
          <a:p>
            <a:r>
              <a:rPr dirty="0"/>
              <a:t>Because "risk accepted" is only a real answer if it ran the process the security management plan commits them to. Four things have to be there. It went through the risk process in the plan — that is clause 6.2.7. It has a named owner at a level entitled to accept it. There is a description of how the compensating control achieves a comparable result — 6.2.4. And it has a review date.</a:t>
            </a:r>
          </a:p>
          <a:p>
            <a:endParaRPr dirty="0"/>
          </a:p>
          <a:p>
            <a:r>
              <a:rPr dirty="0"/>
              <a:t>That last one matters most. Acceptance is not closure. It is a decision to carry a risk for a period, and it has to come back round — at review, and at every plan revision — with somebody asking whether it can now be mitigated further. A risk accepted once and never looked at again has quietly become an unmanaged risk, and that is a finding.</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 Report Is Specified   —   60 sec</a:t>
            </a:r>
          </a:p>
          <a:p>
            <a:r>
              <a:rPr dirty="0"/>
              <a:t>------------------------------------------------------</a:t>
            </a:r>
          </a:p>
          <a:p>
            <a:r>
              <a:rPr dirty="0"/>
              <a:t>And the report itself is specified. You do not get to decide what goes in it.</a:t>
            </a:r>
          </a:p>
          <a:p>
            <a:endParaRPr dirty="0"/>
          </a:p>
          <a:p>
            <a:r>
              <a:rPr dirty="0"/>
              <a:t>Executive summary. Scope and methodology. A description of the environment, with network diagrams. Security requirements, and the personnel involved. Findings, with a risk analysis that names the assets, the threats, the vulnerabilities, and then impact, likelihood and risk level. Recommended safeguards — with a cost-benefit analysis. And annexes: the vulnerability assessment report, the penetration test report, and the asset inventory.</a:t>
            </a:r>
          </a:p>
          <a:p>
            <a:endParaRPr dirty="0"/>
          </a:p>
          <a:p>
            <a:r>
              <a:rPr dirty="0"/>
              <a:t>If your report does not have those sections, it does not satisfy §6.3, however good the testing was.</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Weigh It, Govern It, Evidence It   —   2 min</a:t>
            </a:r>
          </a:p>
          <a:p>
            <a:r>
              <a:rPr dirty="0"/>
              <a:t>------------------------------------------------------</a:t>
            </a:r>
          </a:p>
          <a:p>
            <a:r>
              <a:rPr dirty="0"/>
              <a:t>One line in that report specification does more work than any other, and most people read straight past it. Recommended safeguards must come with a cost-benefit analysis.</a:t>
            </a:r>
          </a:p>
          <a:p>
            <a:endParaRPr dirty="0"/>
          </a:p>
          <a:p>
            <a:r>
              <a:rPr dirty="0"/>
              <a:t>Notice the words. Cost-benefit — not "price". You are not being asked to produce a quote. You are being asked to weigh: what does this safeguard cost, and what risk does it actually retire? A control costing more than the exposure it addresses is itself a finding, and saying so is part of the job.</a:t>
            </a:r>
          </a:p>
          <a:p>
            <a:endParaRPr dirty="0"/>
          </a:p>
          <a:p>
            <a:r>
              <a:rPr dirty="0"/>
              <a:t>Second, it has to be governed. The weighing has to happen somewhere with a name — the risk process, a committee, a decision with an owner and a date. A number in a consultant's appendix that nobody ever considered is not a cost-benefit analysis.</a:t>
            </a:r>
          </a:p>
          <a:p>
            <a:endParaRPr dirty="0"/>
          </a:p>
          <a:p>
            <a:r>
              <a:rPr dirty="0"/>
              <a:t>Third, it has to be evidenced. Because at the audit you will be asked to show that it happened. And a decision nobody recorded did not happen, as far as an auditor is concerned.</a:t>
            </a:r>
          </a:p>
          <a:p>
            <a:endParaRPr dirty="0"/>
          </a:p>
          <a:p>
            <a:r>
              <a:rPr dirty="0"/>
              <a:t>Which brings us back to Week 1. Design effectiveness is whether the control was well chosen. Operating effectiveness is whether it actually ran, and left a trail. This clause is asking for both, about your own recommendations.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Then the Audit — and It Is Someone Else   —   2 min</a:t>
            </a:r>
          </a:p>
          <a:p>
            <a:r>
              <a:rPr dirty="0"/>
              <a:t>------------------------------------------------------</a:t>
            </a:r>
          </a:p>
          <a:p>
            <a:r>
              <a:rPr dirty="0"/>
              <a:t>Now, this next slide corrects something I have heard said in industry more than once, including by me, so let me be careful.</a:t>
            </a:r>
          </a:p>
          <a:p>
            <a:endParaRPr dirty="0"/>
          </a:p>
          <a:p>
            <a:r>
              <a:rPr dirty="0"/>
              <a:t>The risk assessment under section 24 has no independence requirement at all. The regulator's FAQ says it in terms: the Codes of Practice do not impose requirements on the independence of the personnel conducting risk assessments. What they impose is qualification — a qualified person supervises the vulnerability assessment, and a qualified tester does the penetration test. So it can be done entirely in-house.</a:t>
            </a:r>
          </a:p>
          <a:p>
            <a:endParaRPr dirty="0"/>
          </a:p>
          <a:p>
            <a:r>
              <a:rPr dirty="0"/>
              <a:t>The audit under section 25 does require independence. But independence does not mean external. The same FAQ says operators may engage independent auditors, or have the audit performed by an internal audit department not involved in the operation or maintenance of the critical computer system concerned.</a:t>
            </a:r>
          </a:p>
          <a:p>
            <a:endParaRPr dirty="0"/>
          </a:p>
          <a:p>
            <a:r>
              <a:rPr dirty="0"/>
              <a:t>So the test is not internal versus external. The test is whether you built or run the thing you are auditing.</a:t>
            </a:r>
          </a:p>
          <a:p>
            <a:endParaRPr dirty="0"/>
          </a:p>
          <a:p>
            <a:r>
              <a:rPr dirty="0"/>
              <a:t>Which is worse news for consultants than the external-only reading would be. It means a client with a real internal audit function may not need you for the audit at all — and it means the firm that wrote their management plan is disqualified whether it is internal or external. Independence is about the work, not the letterhead.</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[20:15 – 21:00]  Annex G Gives You the Method   —   60 sec</a:t>
            </a:r>
          </a:p>
          <a:p>
            <a:r>
              <a:rPr dirty="0"/>
              <a:t>------------------------------------------------------</a:t>
            </a:r>
          </a:p>
          <a:p>
            <a:r>
              <a:rPr dirty="0"/>
              <a:t>And you are not left to invent the method either. Annex G sets out the outline methodology in four stages.</a:t>
            </a:r>
          </a:p>
          <a:p>
            <a:endParaRPr dirty="0"/>
          </a:p>
          <a:p>
            <a:r>
              <a:rPr dirty="0"/>
              <a:t>Planning — scope, objectives, criteria, and the evidence you are going to need. Fieldwork — walkthroughs, sampling, testing against those criteria. Findings compilation — rated, with the operator's own response recorded alongside each one, which is a detail worth noticing because it means the audited party gets to put its case in your report. And reporting — executive summary, background, objectives, assumptions, limitations, methodology, scope, findings, stakeholders.</a:t>
            </a:r>
          </a:p>
          <a:p>
            <a:endParaRPr dirty="0"/>
          </a:p>
          <a:p>
            <a:r>
              <a:rPr dirty="0"/>
              <a:t>If you have done any ISO work or internal audit, that will look extremely familiar. Which is the point. This is not a new discipline invented for Cap. 653. It is an established discipline pointed at a new statute.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[21:00 – 21:15]  Break   —   15 min</a:t>
            </a:r>
          </a:p>
          <a:p>
            <a:r>
              <a:rPr dirty="0"/>
              <a:t>------------------------------------------------------</a:t>
            </a:r>
          </a:p>
          <a:p>
            <a:r>
              <a:rPr dirty="0"/>
              <a:t>Fifteen minutes.</a:t>
            </a:r>
          </a:p>
          <a:p>
            <a:endParaRPr dirty="0"/>
          </a:p>
          <a:p>
            <a:r>
              <a:rPr dirty="0"/>
              <a:t>When you come back you are not students. You are the firm pitching for the work.</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[21:15 – 21:30]  Your Turn   —   20 sec</a:t>
            </a:r>
          </a:p>
          <a:p>
            <a:r>
              <a:rPr dirty="0"/>
              <a:t>------------------------------------------------------</a:t>
            </a:r>
          </a:p>
          <a:p>
            <a:r>
              <a:rPr dirty="0"/>
              <a:t>Right. Part three, and this is yours.</a:t>
            </a:r>
          </a:p>
          <a:p>
            <a:endParaRPr dirty="0"/>
          </a:p>
          <a:p>
            <a:r>
              <a:rPr dirty="0"/>
              <a:t>You are submitting a proposal to a critical infrastructure operator. They have just been designated. What scope of work can you actually do?</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[21:30 – 21:40]  This Week   —   15 sec</a:t>
            </a:r>
          </a:p>
          <a:p>
            <a:r>
              <a:rPr dirty="0"/>
              <a:t>------------------------------------------------------</a:t>
            </a:r>
          </a:p>
          <a:p>
            <a:r>
              <a:rPr dirty="0"/>
              <a:t>One artefact this week, due before Week 3.</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[21:30 – 21:40]  Two Artefacts, Due Before Week 3   —   2 min</a:t>
            </a:r>
          </a:p>
          <a:p>
            <a:r>
              <a:rPr dirty="0"/>
              <a:t>------------------------------------------------------</a:t>
            </a:r>
          </a:p>
          <a:p>
            <a:r>
              <a:rPr dirty="0"/>
              <a:t>Two artefacts this week, and they build on each other.</a:t>
            </a:r>
          </a:p>
          <a:p>
            <a:endParaRPr dirty="0"/>
          </a:p>
          <a:p>
            <a:r>
              <a:rPr dirty="0"/>
              <a:t>The first is a scope of work for the railway operator. Phases, deliverables, and a timeline. Every line carries the section or clause that makes it necessary. And say plainly, in the document, which lines are audit work and which are consulting — because you now know that you cannot have both.</a:t>
            </a:r>
          </a:p>
          <a:p>
            <a:endParaRPr dirty="0"/>
          </a:p>
          <a:p>
            <a:r>
              <a:rPr dirty="0"/>
              <a:t>The second is the request for information you would send in week one. Fifteen to twenty-five numbered requests, grouped by obligation category — </a:t>
            </a:r>
            <a:r>
              <a:rPr dirty="0" err="1"/>
              <a:t>organisational</a:t>
            </a:r>
            <a:r>
              <a:rPr dirty="0"/>
              <a:t>, preventive, incident response. A clause reference and a stated purpose on every line: one sentence saying what you will test with it.</a:t>
            </a:r>
          </a:p>
          <a:p>
            <a:endParaRPr dirty="0"/>
          </a:p>
          <a:p>
            <a:r>
              <a:rPr dirty="0"/>
              <a:t>And then the part I care most about. A note on what you expect not to receive, and what you will do instead. Because half of real audit work is deciding how to proceed when the evidence does not exist — and a graduate who has thought about that in advance is worth considerably more than one who has not.</a:t>
            </a:r>
          </a:p>
          <a:p>
            <a:endParaRPr dirty="0"/>
          </a:p>
          <a:p>
            <a:r>
              <a:rPr dirty="0"/>
              <a:t>Submit as a single PDF or spreadsheet. And a warning: if you write this the night before, it will read like a generic checklist. I will be able to tell, and so will any client you ever send one to.</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[21:15 – 21:30]  Four Things a Client Buys   —   60 sec</a:t>
            </a:r>
          </a:p>
          <a:p>
            <a:r>
              <a:rPr dirty="0"/>
              <a:t>------------------------------------------------------</a:t>
            </a:r>
          </a:p>
          <a:p>
            <a:r>
              <a:rPr dirty="0"/>
              <a:t>Underneath the sequencing, there are only four things a client actually buys.</a:t>
            </a:r>
          </a:p>
          <a:p>
            <a:endParaRPr dirty="0"/>
          </a:p>
          <a:p>
            <a:r>
              <a:rPr dirty="0"/>
              <a:t>Define — which systems are critical, and on what reasoning. Review — what do the policies actually say. Assess — clause by clause against the Code. And remediate, which splits into documentation and technology, and those are two completely different budgets, timelines and departments.</a:t>
            </a:r>
          </a:p>
          <a:p>
            <a:endParaRPr dirty="0"/>
          </a:p>
          <a:p>
            <a:r>
              <a:rPr dirty="0"/>
              <a:t>But almost nobody buys all four the same way, which is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[21:15 – 21:30]  One Sentence Defines the Whole Engagement   —   2 min</a:t>
            </a:r>
          </a:p>
          <a:p>
            <a:r>
              <a:rPr dirty="0"/>
              <a:t>------------------------------------------------------</a:t>
            </a:r>
          </a:p>
          <a:p>
            <a:r>
              <a:rPr dirty="0"/>
              <a:t>And then one sentence, buried in the middle of that scope, that defines the entire engagement. I have put it up verbatim.</a:t>
            </a:r>
          </a:p>
          <a:p>
            <a:endParaRPr dirty="0"/>
          </a:p>
          <a:p>
            <a:r>
              <a:rPr dirty="0"/>
              <a:t>"This review is not an operational effectiveness assessment as no sampling or control testing will be conducted."</a:t>
            </a:r>
          </a:p>
          <a:p>
            <a:endParaRPr dirty="0"/>
          </a:p>
          <a:p>
            <a:r>
              <a:rPr dirty="0"/>
              <a:t>Stop and think about what has just been excluded. No sampling. No control testing. Nobody is pulling thirty change records to see whether the change process actually ran. The focus, as the next line says, is on identifying documentation gaps and control design weaknesses.</a:t>
            </a:r>
          </a:p>
          <a:p>
            <a:endParaRPr dirty="0"/>
          </a:p>
          <a:p>
            <a:r>
              <a:rPr dirty="0"/>
              <a:t>That is Week 1 all over again, and now you can see why we started there. Design effectiveness is whether the control is the right one and properly written down. Operating effectiveness is whether it actually ran, consistently, and left evidence behind.</a:t>
            </a:r>
          </a:p>
          <a:p>
            <a:endParaRPr dirty="0"/>
          </a:p>
          <a:p>
            <a:r>
              <a:rPr dirty="0"/>
              <a:t>And commercially, this single sentence sets the fee. Design-only is a fraction of the effort of a testing engagement — and it delivers a fraction of the assurance. If a client thinks they have bought comfort that their controls work, and you have sold them a documentation review, somebody is going to be very unhappy in two years' time. Say which one you are selling, in writing, in the scope.</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[21:15 – 21:30]  And the Work Steps Underneath   —   90 sec</a:t>
            </a:r>
          </a:p>
          <a:p>
            <a:r>
              <a:rPr dirty="0"/>
              <a:t>------------------------------------------------------</a:t>
            </a:r>
          </a:p>
          <a:p>
            <a:r>
              <a:rPr dirty="0"/>
              <a:t>And underneath those two sentences, the work steps. These are as written.</a:t>
            </a:r>
          </a:p>
          <a:p>
            <a:endParaRPr dirty="0"/>
          </a:p>
          <a:p>
            <a:r>
              <a:rPr dirty="0"/>
              <a:t>Review the existing documentation, focused on the two documents that need board endorsement. Request the policies, procedures, playbooks, continuity and recovery plans, and risk processes. Request architecture and network diagrams of the critical computer systems and their supporting ecosystem — and note "ecosystem", because that is the security estate we talked about at twenty past eight.</a:t>
            </a:r>
          </a:p>
          <a:p>
            <a:endParaRPr dirty="0"/>
          </a:p>
          <a:p>
            <a:r>
              <a:rPr dirty="0"/>
              <a:t>Interview key personnel, to validate the documents and to surface the practice that is not written down anywhere. Map the documentation against the requirements, and review the client's own cross-reference — that is the 6.2.3 mapping.</a:t>
            </a:r>
          </a:p>
          <a:p>
            <a:endParaRPr dirty="0"/>
          </a:p>
          <a:p>
            <a:r>
              <a:rPr dirty="0"/>
              <a:t>Then identify control design gaps, rated critical, high, medium or low. And recommend remediation split into quick fixes, medium-term fixes and long-term initiatives.</a:t>
            </a:r>
          </a:p>
          <a:p>
            <a:endParaRPr dirty="0"/>
          </a:p>
          <a:p>
            <a:r>
              <a:rPr dirty="0"/>
              <a:t>That last split is worth stealing. Three months, four to twelve months, over twelve months. It maps onto how budgets actually work, and it lets a client say yes to something this quarter.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[21:15 – 21:30]  Listen to Your Own Verbs   —   2 min</a:t>
            </a:r>
          </a:p>
          <a:p>
            <a:r>
              <a:rPr dirty="0"/>
              <a:t>------------------------------------------------------</a:t>
            </a:r>
          </a:p>
          <a:p>
            <a:r>
              <a:rPr dirty="0"/>
              <a:t>Now the debrief question I actually care about. Look at what you wrote and listen to your own verbs.</a:t>
            </a:r>
          </a:p>
          <a:p>
            <a:endParaRPr dirty="0"/>
          </a:p>
          <a:p>
            <a:r>
              <a:rPr dirty="0"/>
              <a:t>If you wrote assess, review, validate, test, verify, report — you proposed audit work. It is narrower, it is shorter, it is worth less per engagement, and it keeps your independence intact. The biennial audit stays open to you.</a:t>
            </a:r>
          </a:p>
          <a:p>
            <a:endParaRPr dirty="0"/>
          </a:p>
          <a:p>
            <a:r>
              <a:rPr dirty="0"/>
              <a:t>If you wrote design, implement, build, configure, operate, run — you proposed consulting. It is bigger, it lasts longer, it is worth considerably more. And clause 6.4.2 has just shut you out of the audit for those systems.</a:t>
            </a:r>
          </a:p>
          <a:p>
            <a:endParaRPr dirty="0"/>
          </a:p>
          <a:p>
            <a:r>
              <a:rPr dirty="0"/>
              <a:t>Both are honest work. Neither is better than the other, and I want to be clear that I am not making a moral point. Plenty of excellent firms do only one; plenty do both, for different clients.</a:t>
            </a:r>
          </a:p>
          <a:p>
            <a:endParaRPr dirty="0"/>
          </a:p>
          <a:p>
            <a:r>
              <a:rPr dirty="0"/>
              <a:t>What you cannot do is sell both to the same client for the same systems. And the mistake I see people make is not choosing wrongly — it is not noticing that they chose at all. They write a proposal with "assist with implementation" in the middle of it, win the work, and discover two years later that they have disqualified themselves from the audit they were counting on.</a:t>
            </a:r>
          </a:p>
          <a:p>
            <a:endParaRPr dirty="0"/>
          </a:p>
          <a:p>
            <a:r>
              <a:rPr dirty="0"/>
              <a:t>Decide at proposal stage. Say it out loud to the client.</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298465717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[21:30 – 21:40]  Next Week   —   45 sec</a:t>
            </a:r>
          </a:p>
          <a:p>
            <a:r>
              <a:rPr dirty="0"/>
              <a:t>------------------------------------------------------</a:t>
            </a:r>
          </a:p>
          <a:p>
            <a:r>
              <a:rPr dirty="0"/>
              <a:t>I will leave you with this.</a:t>
            </a:r>
          </a:p>
          <a:p>
            <a:endParaRPr dirty="0"/>
          </a:p>
          <a:p>
            <a:r>
              <a:rPr dirty="0"/>
              <a:t>The law tells you what must be true. It does not tell you how to know whether it is. That gap — between the requirement and the evidence — is the entire job, and it is the reason this course exists.</a:t>
            </a:r>
          </a:p>
          <a:p>
            <a:endParaRPr dirty="0"/>
          </a:p>
          <a:p>
            <a:r>
              <a:rPr dirty="0"/>
              <a:t>Next week we change regulator completely. Personal data, the Privacy Commissioner, and what happens when the regulator publishes your investigation report with your </a:t>
            </a:r>
            <a:r>
              <a:rPr dirty="0" err="1"/>
              <a:t>organisation's</a:t>
            </a:r>
            <a:r>
              <a:rPr dirty="0"/>
              <a:t> name on it. Different statute, different philosophy, and a very different kind of exposure.</a:t>
            </a:r>
          </a:p>
          <a:p>
            <a:endParaRPr dirty="0"/>
          </a:p>
          <a:p>
            <a:r>
              <a:rPr dirty="0"/>
              <a:t>Thank you. I will stay for questions.</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1809750"/>
            <a:ext cx="7239000" cy="2667000"/>
          </a:xfrm>
          <a:prstGeom prst="rect">
            <a:avLst/>
          </a:prstGeom>
          <a:noFill/>
          <a:ln/>
        </p:spPr>
        <p:txBody>
          <a:bodyPr wrap="square" rtlCol="0" anchor="t"/>
          <a:lstStyle/>
          <a:p>
            <a:pPr marL="0" indent="0">
              <a:lnSpc>
                <a:spcPct val="112000"/>
              </a:lnSpc>
              <a:buNone/>
            </a:pPr>
            <a:r>
              <a:rPr lang="en-US" sz="5000" dirty="0">
                <a:solidFill>
                  <a:srgbClr val="1A1A1A"/>
                </a:solidFill>
                <a:latin typeface="Georgia" pitchFamily="34" charset="0"/>
                <a:ea typeface="Georgia" pitchFamily="34" charset="-122"/>
                <a:cs typeface="Georgia" pitchFamily="34" charset="-120"/>
              </a:rPr>
              <a:t>Cap. 653</a:t>
            </a:r>
            <a:endParaRPr lang="en-US" sz="5000" dirty="0"/>
          </a:p>
        </p:txBody>
      </p:sp>
      <p:sp>
        <p:nvSpPr>
          <p:cNvPr id="3" name="Shape 1"/>
          <p:cNvSpPr/>
          <p:nvPr/>
        </p:nvSpPr>
        <p:spPr>
          <a:xfrm>
            <a:off x="533400" y="4305300"/>
            <a:ext cx="1143000" cy="28575"/>
          </a:xfrm>
          <a:prstGeom prst="rect">
            <a:avLst/>
          </a:prstGeom>
          <a:solidFill>
            <a:srgbClr val="D04A02"/>
          </a:solidFill>
          <a:ln/>
        </p:spPr>
        <p:txBody>
          <a:bodyPr/>
          <a:lstStyle/>
          <a:p>
            <a:endParaRPr lang="en-US"/>
          </a:p>
        </p:txBody>
      </p:sp>
      <p:sp>
        <p:nvSpPr>
          <p:cNvPr id="4" name="Text 2"/>
          <p:cNvSpPr/>
          <p:nvPr/>
        </p:nvSpPr>
        <p:spPr>
          <a:xfrm>
            <a:off x="533400" y="4533900"/>
            <a:ext cx="8572500" cy="857250"/>
          </a:xfrm>
          <a:prstGeom prst="rect">
            <a:avLst/>
          </a:prstGeom>
          <a:noFill/>
          <a:ln/>
        </p:spPr>
        <p:txBody>
          <a:bodyPr wrap="square" rtlCol="0" anchor="t"/>
          <a:lstStyle/>
          <a:p>
            <a:pPr marL="0" indent="0">
              <a:lnSpc>
                <a:spcPct val="125000"/>
              </a:lnSpc>
              <a:buNone/>
            </a:pPr>
            <a:r>
              <a:rPr lang="en-US" sz="2000" b="1" dirty="0">
                <a:solidFill>
                  <a:srgbClr val="3D3D3D"/>
                </a:solidFill>
                <a:latin typeface="Arial" pitchFamily="34" charset="0"/>
                <a:ea typeface="Arial" pitchFamily="34" charset="-122"/>
                <a:cs typeface="Arial" pitchFamily="34" charset="-120"/>
              </a:rPr>
              <a:t>Protection of Critical Infrastructures (Computer Systems) Ordinance</a:t>
            </a:r>
            <a:endParaRPr lang="en-US" sz="2000" dirty="0"/>
          </a:p>
        </p:txBody>
      </p:sp>
      <p:sp>
        <p:nvSpPr>
          <p:cNvPr id="5" name="Text 3"/>
          <p:cNvSpPr/>
          <p:nvPr/>
        </p:nvSpPr>
        <p:spPr>
          <a:xfrm>
            <a:off x="533400" y="5295900"/>
            <a:ext cx="8572500" cy="800100"/>
          </a:xfrm>
          <a:prstGeom prst="rect">
            <a:avLst/>
          </a:prstGeom>
          <a:noFill/>
          <a:ln/>
        </p:spPr>
        <p:txBody>
          <a:bodyPr wrap="square" rtlCol="0" anchor="t"/>
          <a:lstStyle/>
          <a:p>
            <a:pPr marL="0" indent="0">
              <a:lnSpc>
                <a:spcPct val="130000"/>
              </a:lnSpc>
              <a:buNone/>
            </a:pPr>
            <a:r>
              <a:rPr lang="en-US" sz="2000" dirty="0">
                <a:solidFill>
                  <a:srgbClr val="7A7A7A"/>
                </a:solidFill>
                <a:latin typeface="Arial" pitchFamily="34" charset="0"/>
                <a:ea typeface="Arial" pitchFamily="34" charset="-122"/>
                <a:cs typeface="Arial" pitchFamily="34" charset="-120"/>
              </a:rPr>
              <a:t>In force 1 January 2026 — Hong Kong's first cybersecurity statute</a:t>
            </a:r>
            <a:endParaRPr lang="en-US" sz="2000" dirty="0"/>
          </a:p>
          <a:p>
            <a:pPr marL="0" indent="0">
              <a:lnSpc>
                <a:spcPct val="130000"/>
              </a:lnSpc>
              <a:buNone/>
            </a:pPr>
            <a:r>
              <a:rPr lang="en-US" sz="2000" dirty="0">
                <a:solidFill>
                  <a:srgbClr val="7A7A7A"/>
                </a:solidFill>
                <a:latin typeface="Arial" pitchFamily="34" charset="0"/>
                <a:ea typeface="Arial" pitchFamily="34" charset="-122"/>
                <a:cs typeface="Arial" pitchFamily="34" charset="-120"/>
              </a:rPr>
              <a:t>CS5292 Week 2, Part 2  ·  9 September 2026</a:t>
            </a:r>
            <a:endParaRPr lang="en-US" sz="2000" dirty="0"/>
          </a:p>
        </p:txBody>
      </p:sp>
      <p:sp>
        <p:nvSpPr>
          <p:cNvPr id="6"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marL="0" indent="0">
              <a:buNone/>
            </a:pPr>
            <a:r>
              <a:rPr lang="en-US" sz="1600" b="1" kern="0" spc="140" dirty="0">
                <a:solidFill>
                  <a:srgbClr val="7A7A7A"/>
                </a:solidFill>
                <a:latin typeface="Arial" pitchFamily="34" charset="0"/>
                <a:ea typeface="Arial" pitchFamily="34" charset="-122"/>
                <a:cs typeface="Arial" pitchFamily="34" charset="-120"/>
              </a:rPr>
              <a:t>PART 1  ·  19:35 – 20:00</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The Law Itself</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marL="0" indent="0">
              <a:lnSpc>
                <a:spcPct val="135000"/>
              </a:lnSpc>
              <a:buNone/>
            </a:pPr>
            <a:r>
              <a:rPr lang="en-US" sz="2000" dirty="0">
                <a:solidFill>
                  <a:srgbClr val="7A7A7A"/>
                </a:solidFill>
                <a:latin typeface="Arial" pitchFamily="34" charset="0"/>
                <a:ea typeface="Arial" pitchFamily="34" charset="-122"/>
                <a:cs typeface="Arial" pitchFamily="34" charset="-120"/>
              </a:rPr>
              <a:t>Where it came from, who it binds, what it demands, and where to find every word of it. Twenty-five minutes, then a break.</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HOW WE GOT HERE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Four Years, One Statute</a:t>
            </a:r>
            <a:endParaRPr lang="en-US" sz="3000" dirty="0"/>
          </a:p>
        </p:txBody>
      </p:sp>
      <p:sp>
        <p:nvSpPr>
          <p:cNvPr id="4" name="Shape 2"/>
          <p:cNvSpPr/>
          <p:nvPr/>
        </p:nvSpPr>
        <p:spPr>
          <a:xfrm>
            <a:off x="571500" y="2000250"/>
            <a:ext cx="133350" cy="133350"/>
          </a:xfrm>
          <a:prstGeom prst="ellipse">
            <a:avLst/>
          </a:prstGeom>
          <a:solidFill>
            <a:srgbClr val="7A7A7A"/>
          </a:solidFill>
          <a:ln/>
        </p:spPr>
        <p:txBody>
          <a:bodyPr/>
          <a:lstStyle/>
          <a:p>
            <a:endParaRPr lang="en-US"/>
          </a:p>
        </p:txBody>
      </p:sp>
      <p:sp>
        <p:nvSpPr>
          <p:cNvPr id="5" name="Shape 3"/>
          <p:cNvSpPr/>
          <p:nvPr/>
        </p:nvSpPr>
        <p:spPr>
          <a:xfrm>
            <a:off x="628650" y="2133600"/>
            <a:ext cx="19050" cy="438150"/>
          </a:xfrm>
          <a:prstGeom prst="rect">
            <a:avLst/>
          </a:prstGeom>
          <a:solidFill>
            <a:srgbClr val="D8D8D8"/>
          </a:solidFill>
          <a:ln/>
        </p:spPr>
        <p:txBody>
          <a:bodyPr/>
          <a:lstStyle/>
          <a:p>
            <a:endParaRPr lang="en-US"/>
          </a:p>
        </p:txBody>
      </p:sp>
      <p:sp>
        <p:nvSpPr>
          <p:cNvPr id="6" name="Text 4"/>
          <p:cNvSpPr/>
          <p:nvPr/>
        </p:nvSpPr>
        <p:spPr>
          <a:xfrm>
            <a:off x="876300" y="1905000"/>
            <a:ext cx="2286000" cy="361950"/>
          </a:xfrm>
          <a:prstGeom prst="rect">
            <a:avLst/>
          </a:prstGeom>
          <a:noFill/>
          <a:ln/>
        </p:spPr>
        <p:txBody>
          <a:bodyPr wrap="square" rtlCol="0" anchor="ctr"/>
          <a:lstStyle/>
          <a:p>
            <a:pPr marL="0" indent="0">
              <a:buNone/>
            </a:pPr>
            <a:r>
              <a:rPr lang="en-US" sz="2000" b="1" dirty="0">
                <a:solidFill>
                  <a:srgbClr val="1A1A1A"/>
                </a:solidFill>
                <a:latin typeface="Arial" pitchFamily="34" charset="0"/>
                <a:ea typeface="Arial" pitchFamily="34" charset="-122"/>
                <a:cs typeface="Arial" pitchFamily="34" charset="-120"/>
              </a:rPr>
              <a:t>Oct 2022</a:t>
            </a:r>
            <a:endParaRPr lang="en-US" sz="2000" dirty="0"/>
          </a:p>
        </p:txBody>
      </p:sp>
      <p:sp>
        <p:nvSpPr>
          <p:cNvPr id="7" name="Text 5"/>
          <p:cNvSpPr/>
          <p:nvPr/>
        </p:nvSpPr>
        <p:spPr>
          <a:xfrm>
            <a:off x="3295650" y="1905000"/>
            <a:ext cx="8267395" cy="361950"/>
          </a:xfrm>
          <a:prstGeom prst="rect">
            <a:avLst/>
          </a:prstGeom>
          <a:noFill/>
          <a:ln/>
        </p:spPr>
        <p:txBody>
          <a:bodyPr wrap="square" rtlCol="0" anchor="ctr"/>
          <a:lstStyle/>
          <a:p>
            <a:pPr marL="0" indent="0">
              <a:buNone/>
            </a:pPr>
            <a:r>
              <a:rPr lang="en-US" sz="2000" dirty="0">
                <a:solidFill>
                  <a:srgbClr val="3D3D3D"/>
                </a:solidFill>
                <a:latin typeface="Arial" pitchFamily="34" charset="0"/>
                <a:ea typeface="Arial" pitchFamily="34" charset="-122"/>
                <a:cs typeface="Arial" pitchFamily="34" charset="-120"/>
              </a:rPr>
              <a:t>Policy Address commits to legislating</a:t>
            </a:r>
            <a:endParaRPr lang="en-US" sz="2000" dirty="0"/>
          </a:p>
        </p:txBody>
      </p:sp>
      <p:sp>
        <p:nvSpPr>
          <p:cNvPr id="8" name="Shape 6"/>
          <p:cNvSpPr/>
          <p:nvPr/>
        </p:nvSpPr>
        <p:spPr>
          <a:xfrm>
            <a:off x="571500" y="2571750"/>
            <a:ext cx="133350" cy="133350"/>
          </a:xfrm>
          <a:prstGeom prst="ellipse">
            <a:avLst/>
          </a:prstGeom>
          <a:solidFill>
            <a:srgbClr val="7A7A7A"/>
          </a:solidFill>
          <a:ln/>
        </p:spPr>
        <p:txBody>
          <a:bodyPr/>
          <a:lstStyle/>
          <a:p>
            <a:endParaRPr lang="en-US"/>
          </a:p>
        </p:txBody>
      </p:sp>
      <p:sp>
        <p:nvSpPr>
          <p:cNvPr id="9" name="Shape 7"/>
          <p:cNvSpPr/>
          <p:nvPr/>
        </p:nvSpPr>
        <p:spPr>
          <a:xfrm>
            <a:off x="628650" y="2705100"/>
            <a:ext cx="19050" cy="438150"/>
          </a:xfrm>
          <a:prstGeom prst="rect">
            <a:avLst/>
          </a:prstGeom>
          <a:solidFill>
            <a:srgbClr val="D8D8D8"/>
          </a:solidFill>
          <a:ln/>
        </p:spPr>
        <p:txBody>
          <a:bodyPr/>
          <a:lstStyle/>
          <a:p>
            <a:endParaRPr lang="en-US"/>
          </a:p>
        </p:txBody>
      </p:sp>
      <p:sp>
        <p:nvSpPr>
          <p:cNvPr id="10" name="Text 8"/>
          <p:cNvSpPr/>
          <p:nvPr/>
        </p:nvSpPr>
        <p:spPr>
          <a:xfrm>
            <a:off x="876300" y="2476500"/>
            <a:ext cx="2286000" cy="361950"/>
          </a:xfrm>
          <a:prstGeom prst="rect">
            <a:avLst/>
          </a:prstGeom>
          <a:noFill/>
          <a:ln/>
        </p:spPr>
        <p:txBody>
          <a:bodyPr wrap="square" rtlCol="0" anchor="ctr"/>
          <a:lstStyle/>
          <a:p>
            <a:pPr marL="0" indent="0">
              <a:buNone/>
            </a:pPr>
            <a:r>
              <a:rPr lang="en-US" sz="2000" b="1" dirty="0">
                <a:solidFill>
                  <a:srgbClr val="1A1A1A"/>
                </a:solidFill>
                <a:latin typeface="Arial" pitchFamily="34" charset="0"/>
                <a:ea typeface="Arial" pitchFamily="34" charset="-122"/>
                <a:cs typeface="Arial" pitchFamily="34" charset="-120"/>
              </a:rPr>
              <a:t>2023</a:t>
            </a:r>
            <a:endParaRPr lang="en-US" sz="2000" dirty="0"/>
          </a:p>
        </p:txBody>
      </p:sp>
      <p:sp>
        <p:nvSpPr>
          <p:cNvPr id="11" name="Text 9"/>
          <p:cNvSpPr/>
          <p:nvPr/>
        </p:nvSpPr>
        <p:spPr>
          <a:xfrm>
            <a:off x="3295650" y="2476500"/>
            <a:ext cx="8267395" cy="361950"/>
          </a:xfrm>
          <a:prstGeom prst="rect">
            <a:avLst/>
          </a:prstGeom>
          <a:noFill/>
          <a:ln/>
        </p:spPr>
        <p:txBody>
          <a:bodyPr wrap="square" rtlCol="0" anchor="ctr"/>
          <a:lstStyle/>
          <a:p>
            <a:pPr marL="0" indent="0">
              <a:buNone/>
            </a:pPr>
            <a:r>
              <a:rPr lang="en-US" sz="2000" dirty="0">
                <a:solidFill>
                  <a:srgbClr val="3D3D3D"/>
                </a:solidFill>
                <a:latin typeface="Arial" pitchFamily="34" charset="0"/>
                <a:ea typeface="Arial" pitchFamily="34" charset="-122"/>
                <a:cs typeface="Arial" pitchFamily="34" charset="-120"/>
              </a:rPr>
              <a:t>Stakeholder engagement begins</a:t>
            </a:r>
            <a:endParaRPr lang="en-US" sz="2000" dirty="0"/>
          </a:p>
        </p:txBody>
      </p:sp>
      <p:sp>
        <p:nvSpPr>
          <p:cNvPr id="12" name="Shape 10"/>
          <p:cNvSpPr/>
          <p:nvPr/>
        </p:nvSpPr>
        <p:spPr>
          <a:xfrm>
            <a:off x="571500" y="3143250"/>
            <a:ext cx="133350" cy="133350"/>
          </a:xfrm>
          <a:prstGeom prst="ellipse">
            <a:avLst/>
          </a:prstGeom>
          <a:solidFill>
            <a:srgbClr val="7A7A7A"/>
          </a:solidFill>
          <a:ln/>
        </p:spPr>
        <p:txBody>
          <a:bodyPr/>
          <a:lstStyle/>
          <a:p>
            <a:endParaRPr lang="en-US"/>
          </a:p>
        </p:txBody>
      </p:sp>
      <p:sp>
        <p:nvSpPr>
          <p:cNvPr id="13" name="Shape 11"/>
          <p:cNvSpPr/>
          <p:nvPr/>
        </p:nvSpPr>
        <p:spPr>
          <a:xfrm>
            <a:off x="628650" y="3276600"/>
            <a:ext cx="19050" cy="438150"/>
          </a:xfrm>
          <a:prstGeom prst="rect">
            <a:avLst/>
          </a:prstGeom>
          <a:solidFill>
            <a:srgbClr val="D8D8D8"/>
          </a:solidFill>
          <a:ln/>
        </p:spPr>
        <p:txBody>
          <a:bodyPr/>
          <a:lstStyle/>
          <a:p>
            <a:endParaRPr lang="en-US"/>
          </a:p>
        </p:txBody>
      </p:sp>
      <p:sp>
        <p:nvSpPr>
          <p:cNvPr id="14" name="Text 12"/>
          <p:cNvSpPr/>
          <p:nvPr/>
        </p:nvSpPr>
        <p:spPr>
          <a:xfrm>
            <a:off x="876300" y="3048000"/>
            <a:ext cx="2286000" cy="361950"/>
          </a:xfrm>
          <a:prstGeom prst="rect">
            <a:avLst/>
          </a:prstGeom>
          <a:noFill/>
          <a:ln/>
        </p:spPr>
        <p:txBody>
          <a:bodyPr wrap="square" rtlCol="0" anchor="ctr"/>
          <a:lstStyle/>
          <a:p>
            <a:pPr marL="0" indent="0">
              <a:buNone/>
            </a:pPr>
            <a:r>
              <a:rPr lang="en-US" sz="2000" b="1" dirty="0">
                <a:solidFill>
                  <a:srgbClr val="1A1A1A"/>
                </a:solidFill>
                <a:latin typeface="Arial" pitchFamily="34" charset="0"/>
                <a:ea typeface="Arial" pitchFamily="34" charset="-122"/>
                <a:cs typeface="Arial" pitchFamily="34" charset="-120"/>
              </a:rPr>
              <a:t>Jul – Aug 2024</a:t>
            </a:r>
            <a:endParaRPr lang="en-US" sz="2000" dirty="0"/>
          </a:p>
        </p:txBody>
      </p:sp>
      <p:sp>
        <p:nvSpPr>
          <p:cNvPr id="15" name="Text 13"/>
          <p:cNvSpPr/>
          <p:nvPr/>
        </p:nvSpPr>
        <p:spPr>
          <a:xfrm>
            <a:off x="3295650" y="3048000"/>
            <a:ext cx="8267395" cy="361950"/>
          </a:xfrm>
          <a:prstGeom prst="rect">
            <a:avLst/>
          </a:prstGeom>
          <a:noFill/>
          <a:ln/>
        </p:spPr>
        <p:txBody>
          <a:bodyPr wrap="square" rtlCol="0" anchor="ctr"/>
          <a:lstStyle/>
          <a:p>
            <a:pPr marL="0" indent="0">
              <a:buNone/>
            </a:pPr>
            <a:r>
              <a:rPr lang="en-US" sz="2000" dirty="0">
                <a:solidFill>
                  <a:srgbClr val="3D3D3D"/>
                </a:solidFill>
                <a:latin typeface="Arial" pitchFamily="34" charset="0"/>
                <a:ea typeface="Arial" pitchFamily="34" charset="-122"/>
                <a:cs typeface="Arial" pitchFamily="34" charset="-120"/>
              </a:rPr>
              <a:t>Consultation — 53 submissions, 52 supportive</a:t>
            </a:r>
            <a:endParaRPr lang="en-US" sz="2000" dirty="0"/>
          </a:p>
        </p:txBody>
      </p:sp>
      <p:sp>
        <p:nvSpPr>
          <p:cNvPr id="16" name="Shape 14"/>
          <p:cNvSpPr/>
          <p:nvPr/>
        </p:nvSpPr>
        <p:spPr>
          <a:xfrm>
            <a:off x="571500" y="3714750"/>
            <a:ext cx="133350" cy="133350"/>
          </a:xfrm>
          <a:prstGeom prst="ellipse">
            <a:avLst/>
          </a:prstGeom>
          <a:solidFill>
            <a:srgbClr val="7A7A7A"/>
          </a:solidFill>
          <a:ln/>
        </p:spPr>
        <p:txBody>
          <a:bodyPr/>
          <a:lstStyle/>
          <a:p>
            <a:endParaRPr lang="en-US"/>
          </a:p>
        </p:txBody>
      </p:sp>
      <p:sp>
        <p:nvSpPr>
          <p:cNvPr id="17" name="Shape 15"/>
          <p:cNvSpPr/>
          <p:nvPr/>
        </p:nvSpPr>
        <p:spPr>
          <a:xfrm>
            <a:off x="628650" y="3848100"/>
            <a:ext cx="19050" cy="438150"/>
          </a:xfrm>
          <a:prstGeom prst="rect">
            <a:avLst/>
          </a:prstGeom>
          <a:solidFill>
            <a:srgbClr val="D8D8D8"/>
          </a:solidFill>
          <a:ln/>
        </p:spPr>
        <p:txBody>
          <a:bodyPr/>
          <a:lstStyle/>
          <a:p>
            <a:endParaRPr lang="en-US"/>
          </a:p>
        </p:txBody>
      </p:sp>
      <p:sp>
        <p:nvSpPr>
          <p:cNvPr id="18" name="Text 16"/>
          <p:cNvSpPr/>
          <p:nvPr/>
        </p:nvSpPr>
        <p:spPr>
          <a:xfrm>
            <a:off x="876300" y="3619500"/>
            <a:ext cx="2286000" cy="361950"/>
          </a:xfrm>
          <a:prstGeom prst="rect">
            <a:avLst/>
          </a:prstGeom>
          <a:noFill/>
          <a:ln/>
        </p:spPr>
        <p:txBody>
          <a:bodyPr wrap="square" rtlCol="0" anchor="ctr"/>
          <a:lstStyle/>
          <a:p>
            <a:pPr marL="0" indent="0">
              <a:buNone/>
            </a:pPr>
            <a:r>
              <a:rPr lang="en-US" sz="2000" b="1" dirty="0">
                <a:solidFill>
                  <a:srgbClr val="1A1A1A"/>
                </a:solidFill>
                <a:latin typeface="Arial" pitchFamily="34" charset="0"/>
                <a:ea typeface="Arial" pitchFamily="34" charset="-122"/>
                <a:cs typeface="Arial" pitchFamily="34" charset="-120"/>
              </a:rPr>
              <a:t>Dec 2024</a:t>
            </a:r>
            <a:endParaRPr lang="en-US" sz="2000" dirty="0"/>
          </a:p>
        </p:txBody>
      </p:sp>
      <p:sp>
        <p:nvSpPr>
          <p:cNvPr id="19" name="Text 17"/>
          <p:cNvSpPr/>
          <p:nvPr/>
        </p:nvSpPr>
        <p:spPr>
          <a:xfrm>
            <a:off x="3295650" y="3619500"/>
            <a:ext cx="8267395" cy="361950"/>
          </a:xfrm>
          <a:prstGeom prst="rect">
            <a:avLst/>
          </a:prstGeom>
          <a:noFill/>
          <a:ln/>
        </p:spPr>
        <p:txBody>
          <a:bodyPr wrap="square" rtlCol="0" anchor="ctr"/>
          <a:lstStyle/>
          <a:p>
            <a:pPr marL="0" indent="0">
              <a:buNone/>
            </a:pPr>
            <a:r>
              <a:rPr lang="en-US" sz="2000" dirty="0">
                <a:solidFill>
                  <a:srgbClr val="3D3D3D"/>
                </a:solidFill>
                <a:latin typeface="Arial" pitchFamily="34" charset="0"/>
                <a:ea typeface="Arial" pitchFamily="34" charset="-122"/>
                <a:cs typeface="Arial" pitchFamily="34" charset="-120"/>
              </a:rPr>
              <a:t>Bill gazetted and introduced</a:t>
            </a:r>
            <a:endParaRPr lang="en-US" sz="2000" dirty="0"/>
          </a:p>
        </p:txBody>
      </p:sp>
      <p:sp>
        <p:nvSpPr>
          <p:cNvPr id="20" name="Shape 18"/>
          <p:cNvSpPr/>
          <p:nvPr/>
        </p:nvSpPr>
        <p:spPr>
          <a:xfrm>
            <a:off x="571500" y="4286250"/>
            <a:ext cx="133350" cy="133350"/>
          </a:xfrm>
          <a:prstGeom prst="ellipse">
            <a:avLst/>
          </a:prstGeom>
          <a:solidFill>
            <a:srgbClr val="D04A02"/>
          </a:solidFill>
          <a:ln/>
        </p:spPr>
        <p:txBody>
          <a:bodyPr/>
          <a:lstStyle/>
          <a:p>
            <a:endParaRPr lang="en-US"/>
          </a:p>
        </p:txBody>
      </p:sp>
      <p:sp>
        <p:nvSpPr>
          <p:cNvPr id="21" name="Shape 19"/>
          <p:cNvSpPr/>
          <p:nvPr/>
        </p:nvSpPr>
        <p:spPr>
          <a:xfrm>
            <a:off x="628650" y="4419600"/>
            <a:ext cx="19050" cy="438150"/>
          </a:xfrm>
          <a:prstGeom prst="rect">
            <a:avLst/>
          </a:prstGeom>
          <a:solidFill>
            <a:srgbClr val="D8D8D8"/>
          </a:solidFill>
          <a:ln/>
        </p:spPr>
        <p:txBody>
          <a:bodyPr/>
          <a:lstStyle/>
          <a:p>
            <a:endParaRPr lang="en-US"/>
          </a:p>
        </p:txBody>
      </p:sp>
      <p:sp>
        <p:nvSpPr>
          <p:cNvPr id="22" name="Text 20"/>
          <p:cNvSpPr/>
          <p:nvPr/>
        </p:nvSpPr>
        <p:spPr>
          <a:xfrm>
            <a:off x="876300" y="4191000"/>
            <a:ext cx="2286000" cy="361950"/>
          </a:xfrm>
          <a:prstGeom prst="rect">
            <a:avLst/>
          </a:prstGeom>
          <a:noFill/>
          <a:ln/>
        </p:spPr>
        <p:txBody>
          <a:bodyPr wrap="square" rtlCol="0" anchor="ctr"/>
          <a:lstStyle/>
          <a:p>
            <a:pPr marL="0" indent="0">
              <a:buNone/>
            </a:pPr>
            <a:r>
              <a:rPr lang="en-US" sz="2000" b="1" dirty="0">
                <a:solidFill>
                  <a:srgbClr val="1A1A1A"/>
                </a:solidFill>
                <a:latin typeface="Arial" pitchFamily="34" charset="0"/>
                <a:ea typeface="Arial" pitchFamily="34" charset="-122"/>
                <a:cs typeface="Arial" pitchFamily="34" charset="-120"/>
              </a:rPr>
              <a:t>19 Mar 2025</a:t>
            </a:r>
            <a:endParaRPr lang="en-US" sz="2000" dirty="0"/>
          </a:p>
        </p:txBody>
      </p:sp>
      <p:sp>
        <p:nvSpPr>
          <p:cNvPr id="23" name="Text 21"/>
          <p:cNvSpPr/>
          <p:nvPr/>
        </p:nvSpPr>
        <p:spPr>
          <a:xfrm>
            <a:off x="3295650" y="4191000"/>
            <a:ext cx="8267395" cy="361950"/>
          </a:xfrm>
          <a:prstGeom prst="rect">
            <a:avLst/>
          </a:prstGeom>
          <a:noFill/>
          <a:ln/>
        </p:spPr>
        <p:txBody>
          <a:bodyPr wrap="square" rtlCol="0" anchor="ctr"/>
          <a:lstStyle/>
          <a:p>
            <a:pPr marL="0" indent="0">
              <a:buNone/>
            </a:pPr>
            <a:r>
              <a:rPr lang="en-US" sz="2000" dirty="0">
                <a:solidFill>
                  <a:srgbClr val="3D3D3D"/>
                </a:solidFill>
                <a:latin typeface="Arial" pitchFamily="34" charset="0"/>
                <a:ea typeface="Arial" pitchFamily="34" charset="-122"/>
                <a:cs typeface="Arial" pitchFamily="34" charset="-120"/>
              </a:rPr>
              <a:t>Passed by the Legislative Council</a:t>
            </a:r>
            <a:endParaRPr lang="en-US" sz="2000" dirty="0"/>
          </a:p>
        </p:txBody>
      </p:sp>
      <p:sp>
        <p:nvSpPr>
          <p:cNvPr id="24" name="Shape 22"/>
          <p:cNvSpPr/>
          <p:nvPr/>
        </p:nvSpPr>
        <p:spPr>
          <a:xfrm>
            <a:off x="571500" y="4857750"/>
            <a:ext cx="133350" cy="133350"/>
          </a:xfrm>
          <a:prstGeom prst="ellipse">
            <a:avLst/>
          </a:prstGeom>
          <a:solidFill>
            <a:srgbClr val="D04A02"/>
          </a:solidFill>
          <a:ln/>
        </p:spPr>
        <p:txBody>
          <a:bodyPr/>
          <a:lstStyle/>
          <a:p>
            <a:endParaRPr lang="en-US"/>
          </a:p>
        </p:txBody>
      </p:sp>
      <p:sp>
        <p:nvSpPr>
          <p:cNvPr id="25" name="Shape 23"/>
          <p:cNvSpPr/>
          <p:nvPr/>
        </p:nvSpPr>
        <p:spPr>
          <a:xfrm>
            <a:off x="628650" y="4991100"/>
            <a:ext cx="19050" cy="438150"/>
          </a:xfrm>
          <a:prstGeom prst="rect">
            <a:avLst/>
          </a:prstGeom>
          <a:solidFill>
            <a:srgbClr val="D8D8D8"/>
          </a:solidFill>
          <a:ln/>
        </p:spPr>
        <p:txBody>
          <a:bodyPr/>
          <a:lstStyle/>
          <a:p>
            <a:endParaRPr lang="en-US"/>
          </a:p>
        </p:txBody>
      </p:sp>
      <p:sp>
        <p:nvSpPr>
          <p:cNvPr id="26" name="Text 24"/>
          <p:cNvSpPr/>
          <p:nvPr/>
        </p:nvSpPr>
        <p:spPr>
          <a:xfrm>
            <a:off x="876300" y="4762500"/>
            <a:ext cx="2286000" cy="361950"/>
          </a:xfrm>
          <a:prstGeom prst="rect">
            <a:avLst/>
          </a:prstGeom>
          <a:noFill/>
          <a:ln/>
        </p:spPr>
        <p:txBody>
          <a:bodyPr wrap="square" rtlCol="0" anchor="ctr"/>
          <a:lstStyle/>
          <a:p>
            <a:pPr marL="0" indent="0">
              <a:buNone/>
            </a:pPr>
            <a:r>
              <a:rPr lang="en-US" sz="2000" b="1" dirty="0">
                <a:solidFill>
                  <a:srgbClr val="1A1A1A"/>
                </a:solidFill>
                <a:latin typeface="Arial" pitchFamily="34" charset="0"/>
                <a:ea typeface="Arial" pitchFamily="34" charset="-122"/>
                <a:cs typeface="Arial" pitchFamily="34" charset="-120"/>
              </a:rPr>
              <a:t>28 Mar 2025</a:t>
            </a:r>
            <a:endParaRPr lang="en-US" sz="2000" dirty="0"/>
          </a:p>
        </p:txBody>
      </p:sp>
      <p:sp>
        <p:nvSpPr>
          <p:cNvPr id="27" name="Text 25"/>
          <p:cNvSpPr/>
          <p:nvPr/>
        </p:nvSpPr>
        <p:spPr>
          <a:xfrm>
            <a:off x="3295650" y="4762500"/>
            <a:ext cx="8267395" cy="361950"/>
          </a:xfrm>
          <a:prstGeom prst="rect">
            <a:avLst/>
          </a:prstGeom>
          <a:noFill/>
          <a:ln/>
        </p:spPr>
        <p:txBody>
          <a:bodyPr wrap="square" rtlCol="0" anchor="ctr"/>
          <a:lstStyle/>
          <a:p>
            <a:pPr marL="0" indent="0">
              <a:buNone/>
            </a:pPr>
            <a:r>
              <a:rPr lang="en-US" sz="2000" dirty="0">
                <a:solidFill>
                  <a:srgbClr val="3D3D3D"/>
                </a:solidFill>
                <a:latin typeface="Arial" pitchFamily="34" charset="0"/>
                <a:ea typeface="Arial" pitchFamily="34" charset="-122"/>
                <a:cs typeface="Arial" pitchFamily="34" charset="-120"/>
              </a:rPr>
              <a:t>Gazetted as Ordinance No. 4 of 2025</a:t>
            </a:r>
            <a:endParaRPr lang="en-US" sz="2000" dirty="0"/>
          </a:p>
        </p:txBody>
      </p:sp>
      <p:sp>
        <p:nvSpPr>
          <p:cNvPr id="28" name="Shape 26"/>
          <p:cNvSpPr/>
          <p:nvPr/>
        </p:nvSpPr>
        <p:spPr>
          <a:xfrm>
            <a:off x="571500" y="5429250"/>
            <a:ext cx="133350" cy="133350"/>
          </a:xfrm>
          <a:prstGeom prst="ellipse">
            <a:avLst/>
          </a:prstGeom>
          <a:solidFill>
            <a:srgbClr val="D04A02"/>
          </a:solidFill>
          <a:ln/>
        </p:spPr>
        <p:txBody>
          <a:bodyPr/>
          <a:lstStyle/>
          <a:p>
            <a:endParaRPr lang="en-US"/>
          </a:p>
        </p:txBody>
      </p:sp>
      <p:sp>
        <p:nvSpPr>
          <p:cNvPr id="29" name="Text 27"/>
          <p:cNvSpPr/>
          <p:nvPr/>
        </p:nvSpPr>
        <p:spPr>
          <a:xfrm>
            <a:off x="876300" y="5334000"/>
            <a:ext cx="2286000" cy="361950"/>
          </a:xfrm>
          <a:prstGeom prst="rect">
            <a:avLst/>
          </a:prstGeom>
          <a:noFill/>
          <a:ln/>
        </p:spPr>
        <p:txBody>
          <a:bodyPr wrap="square" rtlCol="0" anchor="ctr"/>
          <a:lstStyle/>
          <a:p>
            <a:pPr marL="0" indent="0">
              <a:buNone/>
            </a:pPr>
            <a:r>
              <a:rPr lang="en-US" sz="2000" b="1" dirty="0">
                <a:solidFill>
                  <a:srgbClr val="1A1A1A"/>
                </a:solidFill>
                <a:latin typeface="Arial" pitchFamily="34" charset="0"/>
                <a:ea typeface="Arial" pitchFamily="34" charset="-122"/>
                <a:cs typeface="Arial" pitchFamily="34" charset="-120"/>
              </a:rPr>
              <a:t>1 Jan 2026</a:t>
            </a:r>
            <a:endParaRPr lang="en-US" sz="2000" dirty="0"/>
          </a:p>
        </p:txBody>
      </p:sp>
      <p:sp>
        <p:nvSpPr>
          <p:cNvPr id="30" name="Text 28"/>
          <p:cNvSpPr/>
          <p:nvPr/>
        </p:nvSpPr>
        <p:spPr>
          <a:xfrm>
            <a:off x="3295650" y="5334000"/>
            <a:ext cx="8267395" cy="361950"/>
          </a:xfrm>
          <a:prstGeom prst="rect">
            <a:avLst/>
          </a:prstGeom>
          <a:noFill/>
          <a:ln/>
        </p:spPr>
        <p:txBody>
          <a:bodyPr wrap="square" rtlCol="0" anchor="ctr"/>
          <a:lstStyle/>
          <a:p>
            <a:pPr marL="0" indent="0">
              <a:buNone/>
            </a:pPr>
            <a:r>
              <a:rPr lang="en-US" sz="2000" dirty="0">
                <a:solidFill>
                  <a:srgbClr val="3D3D3D"/>
                </a:solidFill>
                <a:latin typeface="Arial" pitchFamily="34" charset="0"/>
                <a:ea typeface="Arial" pitchFamily="34" charset="-122"/>
                <a:cs typeface="Arial" pitchFamily="34" charset="-120"/>
              </a:rPr>
              <a:t>In force. Code of Practice issued</a:t>
            </a:r>
            <a:endParaRPr lang="en-US" sz="2000" dirty="0"/>
          </a:p>
        </p:txBody>
      </p:sp>
      <p:sp>
        <p:nvSpPr>
          <p:cNvPr id="31" name="Text 29"/>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Policy Address 2022 ¶13  ·  SB papers to LegCo Panel on Security, 2 Jul and 8 Oct 2024  ·  L.N. 144 of 2025</a:t>
            </a:r>
            <a:endParaRPr lang="en-US" sz="1300" dirty="0"/>
          </a:p>
        </p:txBody>
      </p:sp>
      <p:sp>
        <p:nvSpPr>
          <p:cNvPr id="32" name="Text 30"/>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the Government Argued</a:t>
            </a:r>
            <a:endParaRPr lang="en-US" sz="3000" dirty="0"/>
          </a:p>
        </p:txBody>
      </p:sp>
      <p:sp>
        <p:nvSpPr>
          <p:cNvPr id="3" name="Shape 1"/>
          <p:cNvSpPr/>
          <p:nvPr/>
        </p:nvSpPr>
        <p:spPr>
          <a:xfrm>
            <a:off x="533400" y="1562100"/>
            <a:ext cx="2624061" cy="28575"/>
          </a:xfrm>
          <a:prstGeom prst="rect">
            <a:avLst/>
          </a:prstGeom>
          <a:solidFill>
            <a:srgbClr val="1A1A1A"/>
          </a:solidFill>
          <a:ln/>
        </p:spPr>
        <p:txBody>
          <a:bodyPr/>
          <a:lstStyle/>
          <a:p>
            <a:endParaRPr lang="en-US"/>
          </a:p>
        </p:txBody>
      </p:sp>
      <p:sp>
        <p:nvSpPr>
          <p:cNvPr id="4" name="Shape 2"/>
          <p:cNvSpPr/>
          <p:nvPr/>
        </p:nvSpPr>
        <p:spPr>
          <a:xfrm>
            <a:off x="533400" y="1590675"/>
            <a:ext cx="2624061" cy="2162175"/>
          </a:xfrm>
          <a:prstGeom prst="rect">
            <a:avLst/>
          </a:prstGeom>
          <a:solidFill>
            <a:srgbClr val="F2F2F2"/>
          </a:solidFill>
          <a:ln w="6350">
            <a:solidFill>
              <a:srgbClr val="F2F2F2"/>
            </a:solidFill>
            <a:prstDash val="solid"/>
          </a:ln>
        </p:spPr>
        <p:txBody>
          <a:bodyPr/>
          <a:lstStyle/>
          <a:p>
            <a:endParaRPr lang="en-US"/>
          </a:p>
        </p:txBody>
      </p:sp>
      <p:sp>
        <p:nvSpPr>
          <p:cNvPr id="5" name="Text 3"/>
          <p:cNvSpPr/>
          <p:nvPr/>
        </p:nvSpPr>
        <p:spPr>
          <a:xfrm>
            <a:off x="723900" y="171450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2021 · US</a:t>
            </a:r>
            <a:endParaRPr lang="en-US" sz="2000" dirty="0"/>
          </a:p>
        </p:txBody>
      </p:sp>
      <p:sp>
        <p:nvSpPr>
          <p:cNvPr id="6" name="Text 4"/>
          <p:cNvSpPr/>
          <p:nvPr/>
        </p:nvSpPr>
        <p:spPr>
          <a:xfrm>
            <a:off x="723900" y="2066925"/>
            <a:ext cx="2243061"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fuel pipeline. Ransomware hit half the east-coast supply.</a:t>
            </a:r>
            <a:endParaRPr lang="en-US" sz="2000" dirty="0"/>
          </a:p>
        </p:txBody>
      </p:sp>
      <p:sp>
        <p:nvSpPr>
          <p:cNvPr id="7" name="Shape 5"/>
          <p:cNvSpPr/>
          <p:nvPr/>
        </p:nvSpPr>
        <p:spPr>
          <a:xfrm>
            <a:off x="3367011" y="1562100"/>
            <a:ext cx="2624061" cy="28575"/>
          </a:xfrm>
          <a:prstGeom prst="rect">
            <a:avLst/>
          </a:prstGeom>
          <a:solidFill>
            <a:srgbClr val="1A1A1A"/>
          </a:solidFill>
          <a:ln/>
        </p:spPr>
        <p:txBody>
          <a:bodyPr/>
          <a:lstStyle/>
          <a:p>
            <a:endParaRPr lang="en-US"/>
          </a:p>
        </p:txBody>
      </p:sp>
      <p:sp>
        <p:nvSpPr>
          <p:cNvPr id="8" name="Shape 6"/>
          <p:cNvSpPr/>
          <p:nvPr/>
        </p:nvSpPr>
        <p:spPr>
          <a:xfrm>
            <a:off x="3367011" y="1590675"/>
            <a:ext cx="2624061" cy="216217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3557511" y="171450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2024 · US</a:t>
            </a:r>
            <a:endParaRPr lang="en-US" sz="2000" dirty="0"/>
          </a:p>
        </p:txBody>
      </p:sp>
      <p:sp>
        <p:nvSpPr>
          <p:cNvPr id="10" name="Text 8"/>
          <p:cNvSpPr/>
          <p:nvPr/>
        </p:nvSpPr>
        <p:spPr>
          <a:xfrm>
            <a:off x="3557511" y="2066925"/>
            <a:ext cx="2243061"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medical insurer. Services partly suspended.</a:t>
            </a:r>
            <a:endParaRPr lang="en-US" sz="2000" dirty="0"/>
          </a:p>
        </p:txBody>
      </p:sp>
      <p:sp>
        <p:nvSpPr>
          <p:cNvPr id="11" name="Shape 9"/>
          <p:cNvSpPr/>
          <p:nvPr/>
        </p:nvSpPr>
        <p:spPr>
          <a:xfrm>
            <a:off x="6200623" y="1562100"/>
            <a:ext cx="2624061" cy="28575"/>
          </a:xfrm>
          <a:prstGeom prst="rect">
            <a:avLst/>
          </a:prstGeom>
          <a:solidFill>
            <a:srgbClr val="1A1A1A"/>
          </a:solidFill>
          <a:ln/>
        </p:spPr>
        <p:txBody>
          <a:bodyPr/>
          <a:lstStyle/>
          <a:p>
            <a:endParaRPr lang="en-US"/>
          </a:p>
        </p:txBody>
      </p:sp>
      <p:sp>
        <p:nvSpPr>
          <p:cNvPr id="12" name="Shape 10"/>
          <p:cNvSpPr/>
          <p:nvPr/>
        </p:nvSpPr>
        <p:spPr>
          <a:xfrm>
            <a:off x="6200623" y="1590675"/>
            <a:ext cx="2624061" cy="2162175"/>
          </a:xfrm>
          <a:prstGeom prst="rect">
            <a:avLst/>
          </a:prstGeom>
          <a:solidFill>
            <a:srgbClr val="F2F2F2"/>
          </a:solidFill>
          <a:ln w="6350">
            <a:solidFill>
              <a:srgbClr val="F2F2F2"/>
            </a:solidFill>
            <a:prstDash val="solid"/>
          </a:ln>
        </p:spPr>
        <p:txBody>
          <a:bodyPr/>
          <a:lstStyle/>
          <a:p>
            <a:endParaRPr lang="en-US"/>
          </a:p>
        </p:txBody>
      </p:sp>
      <p:sp>
        <p:nvSpPr>
          <p:cNvPr id="13" name="Text 11"/>
          <p:cNvSpPr/>
          <p:nvPr/>
        </p:nvSpPr>
        <p:spPr>
          <a:xfrm>
            <a:off x="6391123" y="171450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2024 · Sweden</a:t>
            </a:r>
            <a:endParaRPr lang="en-US" sz="2000" dirty="0"/>
          </a:p>
        </p:txBody>
      </p:sp>
      <p:sp>
        <p:nvSpPr>
          <p:cNvPr id="14" name="Text 12"/>
          <p:cNvSpPr/>
          <p:nvPr/>
        </p:nvSpPr>
        <p:spPr>
          <a:xfrm>
            <a:off x="6391123" y="2066925"/>
            <a:ext cx="2243061"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data centre. Government and business disrupted.</a:t>
            </a:r>
            <a:endParaRPr lang="en-US" sz="2000" dirty="0"/>
          </a:p>
        </p:txBody>
      </p:sp>
      <p:sp>
        <p:nvSpPr>
          <p:cNvPr id="15" name="Shape 13"/>
          <p:cNvSpPr/>
          <p:nvPr/>
        </p:nvSpPr>
        <p:spPr>
          <a:xfrm>
            <a:off x="9034234" y="1562100"/>
            <a:ext cx="2624061" cy="28575"/>
          </a:xfrm>
          <a:prstGeom prst="rect">
            <a:avLst/>
          </a:prstGeom>
          <a:solidFill>
            <a:srgbClr val="D04A02"/>
          </a:solidFill>
          <a:ln/>
        </p:spPr>
        <p:txBody>
          <a:bodyPr/>
          <a:lstStyle/>
          <a:p>
            <a:endParaRPr lang="en-US"/>
          </a:p>
        </p:txBody>
      </p:sp>
      <p:sp>
        <p:nvSpPr>
          <p:cNvPr id="16" name="Shape 14"/>
          <p:cNvSpPr/>
          <p:nvPr/>
        </p:nvSpPr>
        <p:spPr>
          <a:xfrm>
            <a:off x="9034234" y="1590675"/>
            <a:ext cx="2624061" cy="2162175"/>
          </a:xfrm>
          <a:prstGeom prst="rect">
            <a:avLst/>
          </a:prstGeom>
          <a:solidFill>
            <a:srgbClr val="FDF0E6"/>
          </a:solidFill>
          <a:ln w="6350">
            <a:solidFill>
              <a:srgbClr val="FDF0E6"/>
            </a:solidFill>
            <a:prstDash val="solid"/>
          </a:ln>
        </p:spPr>
        <p:txBody>
          <a:bodyPr/>
          <a:lstStyle/>
          <a:p>
            <a:endParaRPr lang="en-US"/>
          </a:p>
        </p:txBody>
      </p:sp>
      <p:sp>
        <p:nvSpPr>
          <p:cNvPr id="17" name="Text 15"/>
          <p:cNvSpPr/>
          <p:nvPr/>
        </p:nvSpPr>
        <p:spPr>
          <a:xfrm>
            <a:off x="9224734" y="1714500"/>
            <a:ext cx="2243061"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2024 · Hong Kong</a:t>
            </a:r>
            <a:endParaRPr lang="en-US" sz="2000" dirty="0"/>
          </a:p>
        </p:txBody>
      </p:sp>
      <p:sp>
        <p:nvSpPr>
          <p:cNvPr id="18" name="Text 16"/>
          <p:cNvSpPr/>
          <p:nvPr/>
        </p:nvSpPr>
        <p:spPr>
          <a:xfrm>
            <a:off x="9224734" y="2324100"/>
            <a:ext cx="2243061" cy="13525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private hospital. Medical services affected.</a:t>
            </a:r>
            <a:endParaRPr lang="en-US" sz="2000" dirty="0"/>
          </a:p>
        </p:txBody>
      </p:sp>
      <p:sp>
        <p:nvSpPr>
          <p:cNvPr id="19" name="Shape 17"/>
          <p:cNvSpPr/>
          <p:nvPr/>
        </p:nvSpPr>
        <p:spPr>
          <a:xfrm>
            <a:off x="533400" y="3981450"/>
            <a:ext cx="11124895" cy="1428750"/>
          </a:xfrm>
          <a:prstGeom prst="rect">
            <a:avLst/>
          </a:prstGeom>
          <a:solidFill>
            <a:srgbClr val="F2F2F2"/>
          </a:solidFill>
          <a:ln w="25400">
            <a:solidFill>
              <a:srgbClr val="D04A02"/>
            </a:solidFill>
            <a:prstDash val="solid"/>
          </a:ln>
        </p:spPr>
        <p:txBody>
          <a:bodyPr/>
          <a:lstStyle/>
          <a:p>
            <a:endParaRPr lang="en-US"/>
          </a:p>
        </p:txBody>
      </p:sp>
      <p:sp>
        <p:nvSpPr>
          <p:cNvPr id="20" name="Text 18"/>
          <p:cNvSpPr/>
          <p:nvPr/>
        </p:nvSpPr>
        <p:spPr>
          <a:xfrm>
            <a:off x="800100" y="4095750"/>
            <a:ext cx="10591495" cy="800100"/>
          </a:xfrm>
          <a:prstGeom prst="rect">
            <a:avLst/>
          </a:prstGeom>
          <a:noFill/>
          <a:ln/>
        </p:spPr>
        <p:txBody>
          <a:bodyPr wrap="square" rtlCol="0" anchor="ctr"/>
          <a:lstStyle/>
          <a:p>
            <a:pPr marL="0" indent="0">
              <a:lnSpc>
                <a:spcPct val="115000"/>
              </a:lnSpc>
              <a:buNone/>
            </a:pPr>
            <a:r>
              <a:rPr lang="en-US" sz="2600" b="1" dirty="0">
                <a:solidFill>
                  <a:srgbClr val="1A1A1A"/>
                </a:solidFill>
                <a:latin typeface="Arial" pitchFamily="34" charset="0"/>
                <a:ea typeface="Arial" pitchFamily="34" charset="-122"/>
                <a:cs typeface="Arial" pitchFamily="34" charset="-120"/>
              </a:rPr>
              <a:t>All four are services stopping.</a:t>
            </a:r>
            <a:endParaRPr lang="en-US" sz="2600" dirty="0"/>
          </a:p>
          <a:p>
            <a:pPr marL="0" indent="0">
              <a:lnSpc>
                <a:spcPct val="115000"/>
              </a:lnSpc>
              <a:buNone/>
            </a:pPr>
            <a:r>
              <a:rPr lang="en-US" sz="2600" b="1" dirty="0">
                <a:solidFill>
                  <a:srgbClr val="1A1A1A"/>
                </a:solidFill>
                <a:latin typeface="Arial" pitchFamily="34" charset="0"/>
                <a:ea typeface="Arial" pitchFamily="34" charset="-122"/>
                <a:cs typeface="Arial" pitchFamily="34" charset="-120"/>
              </a:rPr>
              <a:t>Not one is a data-privacy case.</a:t>
            </a:r>
            <a:endParaRPr lang="en-US" sz="2600" dirty="0"/>
          </a:p>
        </p:txBody>
      </p:sp>
      <p:sp>
        <p:nvSpPr>
          <p:cNvPr id="21" name="Text 19"/>
          <p:cNvSpPr/>
          <p:nvPr/>
        </p:nvSpPr>
        <p:spPr>
          <a:xfrm>
            <a:off x="800100" y="4933950"/>
            <a:ext cx="10591495" cy="381000"/>
          </a:xfrm>
          <a:prstGeom prst="rect">
            <a:avLst/>
          </a:prstGeom>
          <a:noFill/>
          <a:ln/>
        </p:spPr>
        <p:txBody>
          <a:bodyPr wrap="square" rtlCol="0" anchor="ctr"/>
          <a:lstStyle/>
          <a:p>
            <a:pPr marL="0" indent="0">
              <a:buNone/>
            </a:pPr>
            <a:r>
              <a:rPr lang="en-US" sz="2000" i="1" dirty="0">
                <a:solidFill>
                  <a:srgbClr val="3D3D3D"/>
                </a:solidFill>
                <a:latin typeface="Arial" pitchFamily="34" charset="0"/>
                <a:ea typeface="Arial" pitchFamily="34" charset="-122"/>
                <a:cs typeface="Arial" pitchFamily="34" charset="-120"/>
              </a:rPr>
              <a:t>"…a rippling effect affecting the entire society."  —  Security Bureau, 2024</a:t>
            </a:r>
            <a:endParaRPr lang="en-US" sz="2000" dirty="0"/>
          </a:p>
        </p:txBody>
      </p:sp>
      <p:sp>
        <p:nvSpPr>
          <p:cNvPr id="22" name="Text 20"/>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SB / OGCIO / HKPF paper to LegCo Panel on Security, 2 Jul 2024  ·  Consultation Report CB(2)1171/2024(01)</a:t>
            </a:r>
            <a:endParaRPr lang="en-US" sz="1300" dirty="0"/>
          </a:p>
        </p:txBody>
      </p:sp>
      <p:sp>
        <p:nvSpPr>
          <p:cNvPr id="23" name="Text 21"/>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THE ARCHITECTURE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Who Regulates What</a:t>
            </a:r>
            <a:endParaRPr lang="en-US" sz="3000" dirty="0"/>
          </a:p>
        </p:txBody>
      </p:sp>
      <p:sp>
        <p:nvSpPr>
          <p:cNvPr id="4" name="Shape 2"/>
          <p:cNvSpPr/>
          <p:nvPr/>
        </p:nvSpPr>
        <p:spPr>
          <a:xfrm>
            <a:off x="533400" y="1847850"/>
            <a:ext cx="3568598" cy="28575"/>
          </a:xfrm>
          <a:prstGeom prst="rect">
            <a:avLst/>
          </a:prstGeom>
          <a:solidFill>
            <a:srgbClr val="D04A02"/>
          </a:solidFill>
          <a:ln/>
        </p:spPr>
        <p:txBody>
          <a:bodyPr/>
          <a:lstStyle/>
          <a:p>
            <a:endParaRPr lang="en-US"/>
          </a:p>
        </p:txBody>
      </p:sp>
      <p:sp>
        <p:nvSpPr>
          <p:cNvPr id="5" name="Shape 3"/>
          <p:cNvSpPr/>
          <p:nvPr/>
        </p:nvSpPr>
        <p:spPr>
          <a:xfrm>
            <a:off x="533400" y="1876425"/>
            <a:ext cx="3568598" cy="17811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Cap. 653</a:t>
            </a:r>
            <a:endParaRPr lang="en-US" sz="2000" dirty="0"/>
          </a:p>
        </p:txBody>
      </p:sp>
      <p:sp>
        <p:nvSpPr>
          <p:cNvPr id="7" name="Text 5"/>
          <p:cNvSpPr/>
          <p:nvPr/>
        </p:nvSpPr>
        <p:spPr>
          <a:xfrm>
            <a:off x="723900" y="2352675"/>
            <a:ext cx="3187598" cy="1228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Ordinance. Obligations, offences, penalties.</a:t>
            </a:r>
            <a:endParaRPr lang="en-US" sz="2000" dirty="0"/>
          </a:p>
        </p:txBody>
      </p:sp>
      <p:sp>
        <p:nvSpPr>
          <p:cNvPr id="8" name="Shape 6"/>
          <p:cNvSpPr/>
          <p:nvPr/>
        </p:nvSpPr>
        <p:spPr>
          <a:xfrm>
            <a:off x="4311548" y="1847850"/>
            <a:ext cx="3568598" cy="28575"/>
          </a:xfrm>
          <a:prstGeom prst="rect">
            <a:avLst/>
          </a:prstGeom>
          <a:solidFill>
            <a:srgbClr val="1A1A1A"/>
          </a:solidFill>
          <a:ln/>
        </p:spPr>
        <p:txBody>
          <a:bodyPr/>
          <a:lstStyle/>
          <a:p>
            <a:endParaRPr lang="en-US"/>
          </a:p>
        </p:txBody>
      </p:sp>
      <p:sp>
        <p:nvSpPr>
          <p:cNvPr id="9" name="Shape 7"/>
          <p:cNvSpPr/>
          <p:nvPr/>
        </p:nvSpPr>
        <p:spPr>
          <a:xfrm>
            <a:off x="4311548" y="1876425"/>
            <a:ext cx="3568598" cy="17811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4502048" y="200025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Commissioner</a:t>
            </a:r>
            <a:endParaRPr lang="en-US" sz="2000" dirty="0"/>
          </a:p>
        </p:txBody>
      </p:sp>
      <p:sp>
        <p:nvSpPr>
          <p:cNvPr id="11" name="Text 9"/>
          <p:cNvSpPr/>
          <p:nvPr/>
        </p:nvSpPr>
        <p:spPr>
          <a:xfrm>
            <a:off x="4502048" y="2352675"/>
            <a:ext cx="3187598" cy="1228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Designates. Issues the Code. Investigates.</a:t>
            </a:r>
            <a:endParaRPr lang="en-US" sz="2000" dirty="0"/>
          </a:p>
        </p:txBody>
      </p:sp>
      <p:sp>
        <p:nvSpPr>
          <p:cNvPr id="12" name="Shape 10"/>
          <p:cNvSpPr/>
          <p:nvPr/>
        </p:nvSpPr>
        <p:spPr>
          <a:xfrm>
            <a:off x="8089697" y="1847850"/>
            <a:ext cx="3568598" cy="28575"/>
          </a:xfrm>
          <a:prstGeom prst="rect">
            <a:avLst/>
          </a:prstGeom>
          <a:solidFill>
            <a:srgbClr val="1A1A1A"/>
          </a:solidFill>
          <a:ln/>
        </p:spPr>
        <p:txBody>
          <a:bodyPr/>
          <a:lstStyle/>
          <a:p>
            <a:endParaRPr lang="en-US"/>
          </a:p>
        </p:txBody>
      </p:sp>
      <p:sp>
        <p:nvSpPr>
          <p:cNvPr id="13" name="Shape 11"/>
          <p:cNvSpPr/>
          <p:nvPr/>
        </p:nvSpPr>
        <p:spPr>
          <a:xfrm>
            <a:off x="8089697" y="1876425"/>
            <a:ext cx="3568598" cy="178117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8280197" y="200025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Code of Practice</a:t>
            </a:r>
            <a:endParaRPr lang="en-US" sz="2000" dirty="0"/>
          </a:p>
        </p:txBody>
      </p:sp>
      <p:sp>
        <p:nvSpPr>
          <p:cNvPr id="15" name="Text 13"/>
          <p:cNvSpPr/>
          <p:nvPr/>
        </p:nvSpPr>
        <p:spPr>
          <a:xfrm>
            <a:off x="8280197" y="2352675"/>
            <a:ext cx="3187598" cy="1228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Not subsidiary legislation. How to comply.</a:t>
            </a:r>
            <a:endParaRPr lang="en-US" sz="2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33400" y="3810000"/>
          <a:ext cx="11049000" cy="2057400"/>
        </p:xfrm>
        <a:graphic>
          <a:graphicData uri="http://schemas.openxmlformats.org/drawingml/2006/table">
            <a:tbl>
              <a:tblPr/>
              <a:tblGrid>
                <a:gridCol w="438150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2667000">
                  <a:extLst>
                    <a:ext uri="{9D8B030D-6E8A-4147-A177-3AD203B41FA5}">
                      <a16:colId xmlns:a16="http://schemas.microsoft.com/office/drawing/2014/main" val="20002"/>
                    </a:ext>
                  </a:extLst>
                </a:gridCol>
              </a:tblGrid>
              <a:tr h="5143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Sector</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Categories 1 and 2</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Category 3</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Banks, payment systems, SVF</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Monetary Authority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D04A02"/>
                          </a:solidFill>
                          <a:latin typeface="Arial" pitchFamily="34" charset="0"/>
                          <a:ea typeface="Arial" pitchFamily="34" charset="-122"/>
                          <a:cs typeface="Arial" pitchFamily="34" charset="-120"/>
                        </a:rPr>
                        <a:t>Commissioner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Telecoms and broadcasting</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Communications Authority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D04A02"/>
                          </a:solidFill>
                          <a:latin typeface="Arial" pitchFamily="34" charset="0"/>
                          <a:ea typeface="Arial" pitchFamily="34" charset="-122"/>
                          <a:cs typeface="Arial" pitchFamily="34" charset="-120"/>
                        </a:rPr>
                        <a:t>Commissioner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Everyone else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Commissioner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D04A02"/>
                          </a:solidFill>
                          <a:latin typeface="Arial" pitchFamily="34" charset="0"/>
                          <a:ea typeface="Arial" pitchFamily="34" charset="-122"/>
                          <a:cs typeface="Arial" pitchFamily="34" charset="-120"/>
                        </a:rPr>
                        <a:t>Commissioner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7" name="Shape 14"/>
          <p:cNvSpPr/>
          <p:nvPr/>
        </p:nvSpPr>
        <p:spPr>
          <a:xfrm>
            <a:off x="533400" y="4314825"/>
            <a:ext cx="11124895" cy="19050"/>
          </a:xfrm>
          <a:prstGeom prst="rect">
            <a:avLst/>
          </a:prstGeom>
          <a:solidFill>
            <a:srgbClr val="1A1A1A"/>
          </a:solidFill>
          <a:ln/>
        </p:spPr>
        <p:txBody>
          <a:bodyPr/>
          <a:lstStyle/>
          <a:p>
            <a:endParaRPr lang="en-US"/>
          </a:p>
        </p:txBody>
      </p:sp>
      <p:sp>
        <p:nvSpPr>
          <p:cNvPr id="18" name="Text 15"/>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s.3(1), s.5, s.8, Part 4 Divisions 1–3. Incident reporting never leaves the Commissioner.</a:t>
            </a:r>
            <a:endParaRPr lang="en-US" sz="1300" dirty="0"/>
          </a:p>
        </p:txBody>
      </p:sp>
      <p:sp>
        <p:nvSpPr>
          <p:cNvPr id="19" name="Text 16"/>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CATEGORY 1 — ESSENTIAL SERVICES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Eight Sectors</a:t>
            </a:r>
            <a:endParaRPr lang="en-US" sz="3000" dirty="0"/>
          </a:p>
        </p:txBody>
      </p:sp>
      <p:sp>
        <p:nvSpPr>
          <p:cNvPr id="4" name="Shape 2"/>
          <p:cNvSpPr/>
          <p:nvPr/>
        </p:nvSpPr>
        <p:spPr>
          <a:xfrm>
            <a:off x="533400" y="1847850"/>
            <a:ext cx="2590800" cy="1104900"/>
          </a:xfrm>
          <a:prstGeom prst="rect">
            <a:avLst/>
          </a:prstGeom>
          <a:solidFill>
            <a:srgbClr val="1A1A1A"/>
          </a:solidFill>
          <a:ln/>
        </p:spPr>
        <p:txBody>
          <a:bodyPr/>
          <a:lstStyle/>
          <a:p>
            <a:endParaRPr lang="en-US"/>
          </a:p>
        </p:txBody>
      </p:sp>
      <p:sp>
        <p:nvSpPr>
          <p:cNvPr id="5" name="Text 3"/>
          <p:cNvSpPr/>
          <p:nvPr/>
        </p:nvSpPr>
        <p:spPr>
          <a:xfrm>
            <a:off x="533400" y="1847850"/>
            <a:ext cx="2590800" cy="110490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Energy</a:t>
            </a:r>
            <a:endParaRPr lang="en-US" sz="2000" dirty="0"/>
          </a:p>
        </p:txBody>
      </p:sp>
      <p:sp>
        <p:nvSpPr>
          <p:cNvPr id="6" name="Shape 4"/>
          <p:cNvSpPr/>
          <p:nvPr/>
        </p:nvSpPr>
        <p:spPr>
          <a:xfrm>
            <a:off x="3352800" y="1847850"/>
            <a:ext cx="2590800" cy="1104900"/>
          </a:xfrm>
          <a:prstGeom prst="rect">
            <a:avLst/>
          </a:prstGeom>
          <a:solidFill>
            <a:srgbClr val="1A1A1A"/>
          </a:solidFill>
          <a:ln/>
        </p:spPr>
        <p:txBody>
          <a:bodyPr/>
          <a:lstStyle/>
          <a:p>
            <a:endParaRPr lang="en-US"/>
          </a:p>
        </p:txBody>
      </p:sp>
      <p:sp>
        <p:nvSpPr>
          <p:cNvPr id="7" name="Text 5"/>
          <p:cNvSpPr/>
          <p:nvPr/>
        </p:nvSpPr>
        <p:spPr>
          <a:xfrm>
            <a:off x="3352800" y="1847850"/>
            <a:ext cx="2590800" cy="110490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Information</a:t>
            </a:r>
            <a:endParaRPr lang="en-US" sz="2000" dirty="0"/>
          </a:p>
          <a:p>
            <a:pPr marL="0" indent="0" algn="ctr">
              <a:buNone/>
            </a:pPr>
            <a:r>
              <a:rPr lang="en-US" sz="2000" b="1" dirty="0">
                <a:solidFill>
                  <a:srgbClr val="FFFFFF"/>
                </a:solidFill>
                <a:latin typeface="Arial" pitchFamily="34" charset="0"/>
                <a:ea typeface="Arial" pitchFamily="34" charset="-122"/>
                <a:cs typeface="Arial" pitchFamily="34" charset="-120"/>
              </a:rPr>
              <a:t>Technology</a:t>
            </a:r>
            <a:endParaRPr lang="en-US" sz="2000" dirty="0"/>
          </a:p>
        </p:txBody>
      </p:sp>
      <p:sp>
        <p:nvSpPr>
          <p:cNvPr id="8" name="Shape 6"/>
          <p:cNvSpPr/>
          <p:nvPr/>
        </p:nvSpPr>
        <p:spPr>
          <a:xfrm>
            <a:off x="6172200" y="1847850"/>
            <a:ext cx="2590800" cy="1104900"/>
          </a:xfrm>
          <a:prstGeom prst="rect">
            <a:avLst/>
          </a:prstGeom>
          <a:solidFill>
            <a:srgbClr val="1A1A1A"/>
          </a:solidFill>
          <a:ln/>
        </p:spPr>
        <p:txBody>
          <a:bodyPr/>
          <a:lstStyle/>
          <a:p>
            <a:endParaRPr lang="en-US"/>
          </a:p>
        </p:txBody>
      </p:sp>
      <p:sp>
        <p:nvSpPr>
          <p:cNvPr id="9" name="Text 7"/>
          <p:cNvSpPr/>
          <p:nvPr/>
        </p:nvSpPr>
        <p:spPr>
          <a:xfrm>
            <a:off x="6172200" y="1847850"/>
            <a:ext cx="2590800" cy="110490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Banking and</a:t>
            </a:r>
            <a:endParaRPr lang="en-US" sz="2000" dirty="0"/>
          </a:p>
          <a:p>
            <a:pPr marL="0" indent="0" algn="ctr">
              <a:buNone/>
            </a:pPr>
            <a:r>
              <a:rPr lang="en-US" sz="2000" b="1" dirty="0">
                <a:solidFill>
                  <a:srgbClr val="FFFFFF"/>
                </a:solidFill>
                <a:latin typeface="Arial" pitchFamily="34" charset="0"/>
                <a:ea typeface="Arial" pitchFamily="34" charset="-122"/>
                <a:cs typeface="Arial" pitchFamily="34" charset="-120"/>
              </a:rPr>
              <a:t>Finance</a:t>
            </a:r>
            <a:endParaRPr lang="en-US" sz="2000" dirty="0"/>
          </a:p>
        </p:txBody>
      </p:sp>
      <p:sp>
        <p:nvSpPr>
          <p:cNvPr id="10" name="Shape 8"/>
          <p:cNvSpPr/>
          <p:nvPr/>
        </p:nvSpPr>
        <p:spPr>
          <a:xfrm>
            <a:off x="8991600" y="1847850"/>
            <a:ext cx="2590800" cy="1104900"/>
          </a:xfrm>
          <a:prstGeom prst="rect">
            <a:avLst/>
          </a:prstGeom>
          <a:solidFill>
            <a:srgbClr val="1A1A1A"/>
          </a:solidFill>
          <a:ln/>
        </p:spPr>
        <p:txBody>
          <a:bodyPr/>
          <a:lstStyle/>
          <a:p>
            <a:endParaRPr lang="en-US"/>
          </a:p>
        </p:txBody>
      </p:sp>
      <p:sp>
        <p:nvSpPr>
          <p:cNvPr id="11" name="Text 9"/>
          <p:cNvSpPr/>
          <p:nvPr/>
        </p:nvSpPr>
        <p:spPr>
          <a:xfrm>
            <a:off x="8991600" y="1847850"/>
            <a:ext cx="2590800" cy="110490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Land Transport</a:t>
            </a:r>
            <a:endParaRPr lang="en-US" sz="2000" dirty="0"/>
          </a:p>
        </p:txBody>
      </p:sp>
      <p:sp>
        <p:nvSpPr>
          <p:cNvPr id="12" name="Shape 10"/>
          <p:cNvSpPr/>
          <p:nvPr/>
        </p:nvSpPr>
        <p:spPr>
          <a:xfrm>
            <a:off x="533400" y="3181350"/>
            <a:ext cx="2590800" cy="1104900"/>
          </a:xfrm>
          <a:prstGeom prst="rect">
            <a:avLst/>
          </a:prstGeom>
          <a:solidFill>
            <a:srgbClr val="1A1A1A"/>
          </a:solidFill>
          <a:ln/>
        </p:spPr>
        <p:txBody>
          <a:bodyPr/>
          <a:lstStyle/>
          <a:p>
            <a:endParaRPr lang="en-US"/>
          </a:p>
        </p:txBody>
      </p:sp>
      <p:sp>
        <p:nvSpPr>
          <p:cNvPr id="13" name="Text 11"/>
          <p:cNvSpPr/>
          <p:nvPr/>
        </p:nvSpPr>
        <p:spPr>
          <a:xfrm>
            <a:off x="533400" y="3181350"/>
            <a:ext cx="2590800" cy="110490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Air Transport</a:t>
            </a:r>
            <a:endParaRPr lang="en-US" sz="2000" dirty="0"/>
          </a:p>
        </p:txBody>
      </p:sp>
      <p:sp>
        <p:nvSpPr>
          <p:cNvPr id="14" name="Shape 12"/>
          <p:cNvSpPr/>
          <p:nvPr/>
        </p:nvSpPr>
        <p:spPr>
          <a:xfrm>
            <a:off x="3352800" y="3181350"/>
            <a:ext cx="2590800" cy="1104900"/>
          </a:xfrm>
          <a:prstGeom prst="rect">
            <a:avLst/>
          </a:prstGeom>
          <a:solidFill>
            <a:srgbClr val="1A1A1A"/>
          </a:solidFill>
          <a:ln/>
        </p:spPr>
        <p:txBody>
          <a:bodyPr/>
          <a:lstStyle/>
          <a:p>
            <a:endParaRPr lang="en-US"/>
          </a:p>
        </p:txBody>
      </p:sp>
      <p:sp>
        <p:nvSpPr>
          <p:cNvPr id="15" name="Text 13"/>
          <p:cNvSpPr/>
          <p:nvPr/>
        </p:nvSpPr>
        <p:spPr>
          <a:xfrm>
            <a:off x="3352800" y="3181350"/>
            <a:ext cx="2590800" cy="110490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Maritime</a:t>
            </a:r>
            <a:endParaRPr lang="en-US" sz="2000" dirty="0"/>
          </a:p>
        </p:txBody>
      </p:sp>
      <p:sp>
        <p:nvSpPr>
          <p:cNvPr id="16" name="Shape 14"/>
          <p:cNvSpPr/>
          <p:nvPr/>
        </p:nvSpPr>
        <p:spPr>
          <a:xfrm>
            <a:off x="6172200" y="3181350"/>
            <a:ext cx="2590800" cy="1104900"/>
          </a:xfrm>
          <a:prstGeom prst="rect">
            <a:avLst/>
          </a:prstGeom>
          <a:solidFill>
            <a:srgbClr val="1A1A1A"/>
          </a:solidFill>
          <a:ln/>
        </p:spPr>
        <p:txBody>
          <a:bodyPr/>
          <a:lstStyle/>
          <a:p>
            <a:endParaRPr lang="en-US"/>
          </a:p>
        </p:txBody>
      </p:sp>
      <p:sp>
        <p:nvSpPr>
          <p:cNvPr id="17" name="Text 15"/>
          <p:cNvSpPr/>
          <p:nvPr/>
        </p:nvSpPr>
        <p:spPr>
          <a:xfrm>
            <a:off x="6172200" y="3181350"/>
            <a:ext cx="2590800" cy="110490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Healthcare</a:t>
            </a:r>
            <a:endParaRPr lang="en-US" sz="2000" dirty="0"/>
          </a:p>
        </p:txBody>
      </p:sp>
      <p:sp>
        <p:nvSpPr>
          <p:cNvPr id="18" name="Shape 16"/>
          <p:cNvSpPr/>
          <p:nvPr/>
        </p:nvSpPr>
        <p:spPr>
          <a:xfrm>
            <a:off x="8991600" y="3181350"/>
            <a:ext cx="2590800" cy="1104900"/>
          </a:xfrm>
          <a:prstGeom prst="rect">
            <a:avLst/>
          </a:prstGeom>
          <a:solidFill>
            <a:srgbClr val="1A1A1A"/>
          </a:solidFill>
          <a:ln/>
        </p:spPr>
        <p:txBody>
          <a:bodyPr/>
          <a:lstStyle/>
          <a:p>
            <a:endParaRPr lang="en-US"/>
          </a:p>
        </p:txBody>
      </p:sp>
      <p:sp>
        <p:nvSpPr>
          <p:cNvPr id="19" name="Text 17"/>
          <p:cNvSpPr/>
          <p:nvPr/>
        </p:nvSpPr>
        <p:spPr>
          <a:xfrm>
            <a:off x="8991600" y="3181350"/>
            <a:ext cx="2590800" cy="1104900"/>
          </a:xfrm>
          <a:prstGeom prst="rect">
            <a:avLst/>
          </a:prstGeom>
          <a:noFill/>
          <a:ln/>
        </p:spPr>
        <p:txBody>
          <a:bodyPr wrap="square" rtlCol="0" anchor="ctr"/>
          <a:lstStyle/>
          <a:p>
            <a:pPr marL="0" indent="0" algn="ctr">
              <a:buNone/>
            </a:pPr>
            <a:r>
              <a:rPr lang="en-US" sz="2000" b="1" dirty="0">
                <a:solidFill>
                  <a:srgbClr val="FFFFFF"/>
                </a:solidFill>
                <a:latin typeface="Arial" pitchFamily="34" charset="0"/>
                <a:ea typeface="Arial" pitchFamily="34" charset="-122"/>
                <a:cs typeface="Arial" pitchFamily="34" charset="-120"/>
              </a:rPr>
              <a:t>Communications</a:t>
            </a:r>
            <a:endParaRPr lang="en-US" sz="2000" dirty="0"/>
          </a:p>
          <a:p>
            <a:pPr marL="0" indent="0" algn="ctr">
              <a:buNone/>
            </a:pPr>
            <a:r>
              <a:rPr lang="en-US" sz="2000" b="1" dirty="0">
                <a:solidFill>
                  <a:srgbClr val="FFFFFF"/>
                </a:solidFill>
                <a:latin typeface="Arial" pitchFamily="34" charset="0"/>
                <a:ea typeface="Arial" pitchFamily="34" charset="-122"/>
                <a:cs typeface="Arial" pitchFamily="34" charset="-120"/>
              </a:rPr>
              <a:t>and Broadcasting</a:t>
            </a:r>
            <a:endParaRPr lang="en-US" sz="2000" dirty="0"/>
          </a:p>
        </p:txBody>
      </p:sp>
      <p:sp>
        <p:nvSpPr>
          <p:cNvPr id="20" name="Shape 18"/>
          <p:cNvSpPr/>
          <p:nvPr/>
        </p:nvSpPr>
        <p:spPr>
          <a:xfrm>
            <a:off x="533400" y="4514850"/>
            <a:ext cx="11124895" cy="28575"/>
          </a:xfrm>
          <a:prstGeom prst="rect">
            <a:avLst/>
          </a:prstGeom>
          <a:solidFill>
            <a:srgbClr val="D04A02"/>
          </a:solidFill>
          <a:ln/>
        </p:spPr>
        <p:txBody>
          <a:bodyPr/>
          <a:lstStyle/>
          <a:p>
            <a:endParaRPr lang="en-US"/>
          </a:p>
        </p:txBody>
      </p:sp>
      <p:sp>
        <p:nvSpPr>
          <p:cNvPr id="21" name="Shape 19"/>
          <p:cNvSpPr/>
          <p:nvPr/>
        </p:nvSpPr>
        <p:spPr>
          <a:xfrm>
            <a:off x="533400" y="4543425"/>
            <a:ext cx="11124895" cy="1400175"/>
          </a:xfrm>
          <a:prstGeom prst="rect">
            <a:avLst/>
          </a:prstGeom>
          <a:solidFill>
            <a:srgbClr val="FDF0E6"/>
          </a:solidFill>
          <a:ln w="6350">
            <a:solidFill>
              <a:srgbClr val="FDF0E6"/>
            </a:solidFill>
            <a:prstDash val="solid"/>
          </a:ln>
        </p:spPr>
        <p:txBody>
          <a:bodyPr/>
          <a:lstStyle/>
          <a:p>
            <a:endParaRPr lang="en-US"/>
          </a:p>
        </p:txBody>
      </p:sp>
      <p:sp>
        <p:nvSpPr>
          <p:cNvPr id="22" name="Text 20"/>
          <p:cNvSpPr/>
          <p:nvPr/>
        </p:nvSpPr>
        <p:spPr>
          <a:xfrm>
            <a:off x="723900" y="46672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Category 2 — other critical infrastructure</a:t>
            </a:r>
            <a:endParaRPr lang="en-US" sz="2000" dirty="0"/>
          </a:p>
        </p:txBody>
      </p:sp>
      <p:sp>
        <p:nvSpPr>
          <p:cNvPr id="23" name="Text 21"/>
          <p:cNvSpPr/>
          <p:nvPr/>
        </p:nvSpPr>
        <p:spPr>
          <a:xfrm>
            <a:off x="723900" y="5019675"/>
            <a:ext cx="10743895" cy="847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Major sports and performance venues, R&amp;D parks.</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Government itself is out of scope.</a:t>
            </a:r>
            <a:endParaRPr lang="en-US" sz="2000" dirty="0"/>
          </a:p>
        </p:txBody>
      </p:sp>
      <p:sp>
        <p:nvSpPr>
          <p:cNvPr id="24" name="Text 22"/>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Schedule 1 and s.2 definition of "critical infrastructure"  ·  SB stakeholder briefing, July 2024</a:t>
            </a:r>
            <a:endParaRPr lang="en-US" sz="1300" dirty="0"/>
          </a:p>
        </p:txBody>
      </p:sp>
      <p:sp>
        <p:nvSpPr>
          <p:cNvPr id="25" name="Text 2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SCOPE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It Does Not Cover</a:t>
            </a:r>
            <a:endParaRPr lang="en-US" sz="3000" dirty="0"/>
          </a:p>
        </p:txBody>
      </p:sp>
      <p:sp>
        <p:nvSpPr>
          <p:cNvPr id="4" name="Shape 2"/>
          <p:cNvSpPr/>
          <p:nvPr/>
        </p:nvSpPr>
        <p:spPr>
          <a:xfrm>
            <a:off x="533400" y="1847850"/>
            <a:ext cx="5457673" cy="28575"/>
          </a:xfrm>
          <a:prstGeom prst="rect">
            <a:avLst/>
          </a:prstGeom>
          <a:solidFill>
            <a:srgbClr val="D04A02"/>
          </a:solidFill>
          <a:ln/>
        </p:spPr>
        <p:txBody>
          <a:bodyPr/>
          <a:lstStyle/>
          <a:p>
            <a:endParaRPr lang="en-US"/>
          </a:p>
        </p:txBody>
      </p:sp>
      <p:sp>
        <p:nvSpPr>
          <p:cNvPr id="5" name="Shape 3"/>
          <p:cNvSpPr/>
          <p:nvPr/>
        </p:nvSpPr>
        <p:spPr>
          <a:xfrm>
            <a:off x="533400" y="1876425"/>
            <a:ext cx="5457673" cy="23526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Government is out of scope</a:t>
            </a:r>
            <a:endParaRPr lang="en-US" sz="2000" dirty="0"/>
          </a:p>
        </p:txBody>
      </p:sp>
      <p:sp>
        <p:nvSpPr>
          <p:cNvPr id="7" name="Text 5"/>
          <p:cNvSpPr/>
          <p:nvPr/>
        </p:nvSpPr>
        <p:spPr>
          <a:xfrm>
            <a:off x="723900" y="2352675"/>
            <a:ext cx="5076673"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No designation. No Commissioner. No 12-hour clock.</a:t>
            </a:r>
            <a:endParaRPr lang="en-US" sz="2000" dirty="0"/>
          </a:p>
        </p:txBody>
      </p:sp>
      <p:sp>
        <p:nvSpPr>
          <p:cNvPr id="8" name="Shape 6"/>
          <p:cNvSpPr/>
          <p:nvPr/>
        </p:nvSpPr>
        <p:spPr>
          <a:xfrm>
            <a:off x="6200623" y="1847850"/>
            <a:ext cx="5457673" cy="28575"/>
          </a:xfrm>
          <a:prstGeom prst="rect">
            <a:avLst/>
          </a:prstGeom>
          <a:solidFill>
            <a:srgbClr val="1A1A1A"/>
          </a:solidFill>
          <a:ln/>
        </p:spPr>
        <p:txBody>
          <a:bodyPr/>
          <a:lstStyle/>
          <a:p>
            <a:endParaRPr lang="en-US"/>
          </a:p>
        </p:txBody>
      </p:sp>
      <p:sp>
        <p:nvSpPr>
          <p:cNvPr id="9" name="Shape 7"/>
          <p:cNvSpPr/>
          <p:nvPr/>
        </p:nvSpPr>
        <p:spPr>
          <a:xfrm>
            <a:off x="6200623" y="1876425"/>
            <a:ext cx="5457673" cy="23526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6391123"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B/Ds are governed separately</a:t>
            </a:r>
            <a:endParaRPr lang="en-US" sz="2000" dirty="0"/>
          </a:p>
        </p:txBody>
      </p:sp>
      <p:sp>
        <p:nvSpPr>
          <p:cNvPr id="11" name="Text 9"/>
          <p:cNvSpPr/>
          <p:nvPr/>
        </p:nvSpPr>
        <p:spPr>
          <a:xfrm>
            <a:off x="6391123" y="2352675"/>
            <a:ext cx="5076673"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Baseline IT Security Policy (S17).</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IT Security Guidelines (G3).</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Under the Digital Policy Office.</a:t>
            </a:r>
            <a:endParaRPr lang="en-US" sz="2000" dirty="0"/>
          </a:p>
        </p:txBody>
      </p:sp>
      <p:sp>
        <p:nvSpPr>
          <p:cNvPr id="12" name="Shape 10"/>
          <p:cNvSpPr/>
          <p:nvPr/>
        </p:nvSpPr>
        <p:spPr>
          <a:xfrm>
            <a:off x="533400" y="4457700"/>
            <a:ext cx="11124895" cy="933450"/>
          </a:xfrm>
          <a:prstGeom prst="rect">
            <a:avLst/>
          </a:prstGeom>
          <a:solidFill>
            <a:srgbClr val="1A1A1A"/>
          </a:solidFill>
          <a:ln/>
        </p:spPr>
        <p:txBody>
          <a:bodyPr/>
          <a:lstStyle/>
          <a:p>
            <a:endParaRPr lang="en-US"/>
          </a:p>
        </p:txBody>
      </p:sp>
      <p:sp>
        <p:nvSpPr>
          <p:cNvPr id="13" name="Text 11"/>
          <p:cNvSpPr/>
          <p:nvPr/>
        </p:nvSpPr>
        <p:spPr>
          <a:xfrm>
            <a:off x="762000" y="4457700"/>
            <a:ext cx="10667695" cy="933450"/>
          </a:xfrm>
          <a:prstGeom prst="rect">
            <a:avLst/>
          </a:prstGeom>
          <a:noFill/>
          <a:ln/>
        </p:spPr>
        <p:txBody>
          <a:bodyPr wrap="square" rtlCol="0" anchor="ctr"/>
          <a:lstStyle/>
          <a:p>
            <a:pPr marL="0" indent="0">
              <a:buNone/>
            </a:pPr>
            <a:r>
              <a:rPr lang="en-US" sz="2000" dirty="0">
                <a:solidFill>
                  <a:srgbClr val="FFFFFF"/>
                </a:solidFill>
                <a:latin typeface="Arial" pitchFamily="34" charset="0"/>
                <a:ea typeface="Arial" pitchFamily="34" charset="-122"/>
                <a:cs typeface="Arial" pitchFamily="34" charset="-120"/>
              </a:rPr>
              <a:t>We come back to S17 and G3 in Week 4.</a:t>
            </a:r>
            <a:endParaRPr lang="en-US" sz="2000" dirty="0"/>
          </a:p>
        </p:txBody>
      </p:sp>
      <p:sp>
        <p:nvSpPr>
          <p:cNvPr id="14" name="Text 12"/>
          <p:cNvSpPr/>
          <p:nvPr/>
        </p:nvSpPr>
        <p:spPr>
          <a:xfrm>
            <a:off x="533400" y="5524500"/>
            <a:ext cx="11124895" cy="361950"/>
          </a:xfrm>
          <a:prstGeom prst="rect">
            <a:avLst/>
          </a:prstGeom>
          <a:noFill/>
          <a:ln/>
        </p:spPr>
        <p:txBody>
          <a:bodyPr wrap="square" rtlCol="0" anchor="ctr"/>
          <a:lstStyle/>
          <a:p>
            <a:pPr marL="0" indent="0">
              <a:buNone/>
            </a:pPr>
            <a:r>
              <a:rPr lang="en-US" sz="2000" i="1" dirty="0">
                <a:solidFill>
                  <a:srgbClr val="7A7A7A"/>
                </a:solidFill>
                <a:latin typeface="Arial" pitchFamily="34" charset="0"/>
                <a:ea typeface="Arial" pitchFamily="34" charset="-122"/>
                <a:cs typeface="Arial" pitchFamily="34" charset="-120"/>
              </a:rPr>
              <a:t>"Private sector" is close but not exact — statutory bodies can be designated.</a:t>
            </a:r>
            <a:endParaRPr lang="en-US" sz="2000" dirty="0"/>
          </a:p>
        </p:txBody>
      </p:sp>
      <p:sp>
        <p:nvSpPr>
          <p:cNvPr id="15" name="Text 1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SB FAQ sb.gov.hk/eng/CI/faq.html  ·  govcert.gov.hk/doc/S17-v8.1_EN.pdf  ·  govcert.gov.hk/doc/G3_EN.pdf  ·  gov.hk/en/about/govdirectory/govchart</a:t>
            </a:r>
            <a:endParaRPr lang="en-US" sz="1300" dirty="0"/>
          </a:p>
        </p:txBody>
      </p:sp>
      <p:sp>
        <p:nvSpPr>
          <p:cNvPr id="16" name="Text 1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07</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HANDS UP</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Which Could Be Designated?</a:t>
            </a:r>
            <a:endParaRPr lang="en-US" sz="3000" dirty="0"/>
          </a:p>
        </p:txBody>
      </p:sp>
      <p:sp>
        <p:nvSpPr>
          <p:cNvPr id="4" name="Shape 2"/>
          <p:cNvSpPr/>
          <p:nvPr/>
        </p:nvSpPr>
        <p:spPr>
          <a:xfrm>
            <a:off x="533400" y="1847850"/>
            <a:ext cx="5334000" cy="28575"/>
          </a:xfrm>
          <a:prstGeom prst="rect">
            <a:avLst/>
          </a:prstGeom>
          <a:solidFill>
            <a:srgbClr val="1A1A1A"/>
          </a:solidFill>
          <a:ln/>
        </p:spPr>
        <p:txBody>
          <a:bodyPr/>
          <a:lstStyle/>
          <a:p>
            <a:endParaRPr lang="en-US"/>
          </a:p>
        </p:txBody>
      </p:sp>
      <p:sp>
        <p:nvSpPr>
          <p:cNvPr id="5" name="Shape 3"/>
          <p:cNvSpPr/>
          <p:nvPr/>
        </p:nvSpPr>
        <p:spPr>
          <a:xfrm>
            <a:off x="533400" y="1876425"/>
            <a:ext cx="5334000" cy="73342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4953000" cy="5334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Hong Kong retail bank</a:t>
            </a:r>
            <a:endParaRPr lang="en-US" sz="2000" dirty="0"/>
          </a:p>
        </p:txBody>
      </p:sp>
      <p:sp>
        <p:nvSpPr>
          <p:cNvPr id="7" name="Shape 5"/>
          <p:cNvSpPr/>
          <p:nvPr/>
        </p:nvSpPr>
        <p:spPr>
          <a:xfrm>
            <a:off x="6038850" y="1847850"/>
            <a:ext cx="5334000" cy="28575"/>
          </a:xfrm>
          <a:prstGeom prst="rect">
            <a:avLst/>
          </a:prstGeom>
          <a:solidFill>
            <a:srgbClr val="1A1A1A"/>
          </a:solidFill>
          <a:ln/>
        </p:spPr>
        <p:txBody>
          <a:bodyPr/>
          <a:lstStyle/>
          <a:p>
            <a:endParaRPr lang="en-US"/>
          </a:p>
        </p:txBody>
      </p:sp>
      <p:sp>
        <p:nvSpPr>
          <p:cNvPr id="8" name="Shape 6"/>
          <p:cNvSpPr/>
          <p:nvPr/>
        </p:nvSpPr>
        <p:spPr>
          <a:xfrm>
            <a:off x="6038850" y="1876425"/>
            <a:ext cx="5334000" cy="73342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6229350" y="2000250"/>
            <a:ext cx="4953000" cy="5334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company operating a rail line</a:t>
            </a:r>
            <a:endParaRPr lang="en-US" sz="2000" dirty="0"/>
          </a:p>
        </p:txBody>
      </p:sp>
      <p:sp>
        <p:nvSpPr>
          <p:cNvPr id="10" name="Shape 8"/>
          <p:cNvSpPr/>
          <p:nvPr/>
        </p:nvSpPr>
        <p:spPr>
          <a:xfrm>
            <a:off x="533400" y="2781300"/>
            <a:ext cx="5334000" cy="28575"/>
          </a:xfrm>
          <a:prstGeom prst="rect">
            <a:avLst/>
          </a:prstGeom>
          <a:solidFill>
            <a:srgbClr val="1A1A1A"/>
          </a:solidFill>
          <a:ln/>
        </p:spPr>
        <p:txBody>
          <a:bodyPr/>
          <a:lstStyle/>
          <a:p>
            <a:endParaRPr lang="en-US"/>
          </a:p>
        </p:txBody>
      </p:sp>
      <p:sp>
        <p:nvSpPr>
          <p:cNvPr id="11" name="Shape 9"/>
          <p:cNvSpPr/>
          <p:nvPr/>
        </p:nvSpPr>
        <p:spPr>
          <a:xfrm>
            <a:off x="533400" y="2809875"/>
            <a:ext cx="5334000" cy="733425"/>
          </a:xfrm>
          <a:prstGeom prst="rect">
            <a:avLst/>
          </a:prstGeom>
          <a:solidFill>
            <a:srgbClr val="F2F2F2"/>
          </a:solidFill>
          <a:ln w="6350">
            <a:solidFill>
              <a:srgbClr val="F2F2F2"/>
            </a:solidFill>
            <a:prstDash val="solid"/>
          </a:ln>
        </p:spPr>
        <p:txBody>
          <a:bodyPr/>
          <a:lstStyle/>
          <a:p>
            <a:endParaRPr lang="en-US"/>
          </a:p>
        </p:txBody>
      </p:sp>
      <p:sp>
        <p:nvSpPr>
          <p:cNvPr id="12" name="Text 10"/>
          <p:cNvSpPr/>
          <p:nvPr/>
        </p:nvSpPr>
        <p:spPr>
          <a:xfrm>
            <a:off x="723900" y="2933700"/>
            <a:ext cx="4953000" cy="5334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private hospital</a:t>
            </a:r>
            <a:endParaRPr lang="en-US" sz="2000" dirty="0"/>
          </a:p>
        </p:txBody>
      </p:sp>
      <p:sp>
        <p:nvSpPr>
          <p:cNvPr id="13" name="Shape 11"/>
          <p:cNvSpPr/>
          <p:nvPr/>
        </p:nvSpPr>
        <p:spPr>
          <a:xfrm>
            <a:off x="6038850" y="2781300"/>
            <a:ext cx="5334000" cy="28575"/>
          </a:xfrm>
          <a:prstGeom prst="rect">
            <a:avLst/>
          </a:prstGeom>
          <a:solidFill>
            <a:srgbClr val="1A1A1A"/>
          </a:solidFill>
          <a:ln/>
        </p:spPr>
        <p:txBody>
          <a:bodyPr/>
          <a:lstStyle/>
          <a:p>
            <a:endParaRPr lang="en-US"/>
          </a:p>
        </p:txBody>
      </p:sp>
      <p:sp>
        <p:nvSpPr>
          <p:cNvPr id="14" name="Shape 12"/>
          <p:cNvSpPr/>
          <p:nvPr/>
        </p:nvSpPr>
        <p:spPr>
          <a:xfrm>
            <a:off x="6038850" y="2809875"/>
            <a:ext cx="5334000" cy="733425"/>
          </a:xfrm>
          <a:prstGeom prst="rect">
            <a:avLst/>
          </a:prstGeom>
          <a:solidFill>
            <a:srgbClr val="F2F2F2"/>
          </a:solidFill>
          <a:ln w="6350">
            <a:solidFill>
              <a:srgbClr val="F2F2F2"/>
            </a:solidFill>
            <a:prstDash val="solid"/>
          </a:ln>
        </p:spPr>
        <p:txBody>
          <a:bodyPr/>
          <a:lstStyle/>
          <a:p>
            <a:endParaRPr lang="en-US"/>
          </a:p>
        </p:txBody>
      </p:sp>
      <p:sp>
        <p:nvSpPr>
          <p:cNvPr id="15" name="Text 13"/>
          <p:cNvSpPr/>
          <p:nvPr/>
        </p:nvSpPr>
        <p:spPr>
          <a:xfrm>
            <a:off x="6229350" y="2933700"/>
            <a:ext cx="4953000" cy="5334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vendor selling to the airport</a:t>
            </a:r>
            <a:endParaRPr lang="en-US" sz="2000" dirty="0"/>
          </a:p>
        </p:txBody>
      </p:sp>
      <p:sp>
        <p:nvSpPr>
          <p:cNvPr id="16" name="Shape 14"/>
          <p:cNvSpPr/>
          <p:nvPr/>
        </p:nvSpPr>
        <p:spPr>
          <a:xfrm>
            <a:off x="533400" y="3714750"/>
            <a:ext cx="5334000" cy="28575"/>
          </a:xfrm>
          <a:prstGeom prst="rect">
            <a:avLst/>
          </a:prstGeom>
          <a:solidFill>
            <a:srgbClr val="1A1A1A"/>
          </a:solidFill>
          <a:ln/>
        </p:spPr>
        <p:txBody>
          <a:bodyPr/>
          <a:lstStyle/>
          <a:p>
            <a:endParaRPr lang="en-US"/>
          </a:p>
        </p:txBody>
      </p:sp>
      <p:sp>
        <p:nvSpPr>
          <p:cNvPr id="17" name="Shape 15"/>
          <p:cNvSpPr/>
          <p:nvPr/>
        </p:nvSpPr>
        <p:spPr>
          <a:xfrm>
            <a:off x="533400" y="3743325"/>
            <a:ext cx="5334000" cy="733425"/>
          </a:xfrm>
          <a:prstGeom prst="rect">
            <a:avLst/>
          </a:prstGeom>
          <a:solidFill>
            <a:srgbClr val="F2F2F2"/>
          </a:solidFill>
          <a:ln w="6350">
            <a:solidFill>
              <a:srgbClr val="F2F2F2"/>
            </a:solidFill>
            <a:prstDash val="solid"/>
          </a:ln>
        </p:spPr>
        <p:txBody>
          <a:bodyPr/>
          <a:lstStyle/>
          <a:p>
            <a:endParaRPr lang="en-US"/>
          </a:p>
        </p:txBody>
      </p:sp>
      <p:sp>
        <p:nvSpPr>
          <p:cNvPr id="18" name="Text 16"/>
          <p:cNvSpPr/>
          <p:nvPr/>
        </p:nvSpPr>
        <p:spPr>
          <a:xfrm>
            <a:off x="723900" y="3867150"/>
            <a:ext cx="4953000" cy="5334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university</a:t>
            </a:r>
            <a:endParaRPr lang="en-US" sz="2000" dirty="0"/>
          </a:p>
        </p:txBody>
      </p:sp>
      <p:sp>
        <p:nvSpPr>
          <p:cNvPr id="19" name="Shape 17"/>
          <p:cNvSpPr/>
          <p:nvPr/>
        </p:nvSpPr>
        <p:spPr>
          <a:xfrm>
            <a:off x="6038850" y="3714750"/>
            <a:ext cx="5334000" cy="28575"/>
          </a:xfrm>
          <a:prstGeom prst="rect">
            <a:avLst/>
          </a:prstGeom>
          <a:solidFill>
            <a:srgbClr val="1A1A1A"/>
          </a:solidFill>
          <a:ln/>
        </p:spPr>
        <p:txBody>
          <a:bodyPr/>
          <a:lstStyle/>
          <a:p>
            <a:endParaRPr lang="en-US"/>
          </a:p>
        </p:txBody>
      </p:sp>
      <p:sp>
        <p:nvSpPr>
          <p:cNvPr id="20" name="Shape 18"/>
          <p:cNvSpPr/>
          <p:nvPr/>
        </p:nvSpPr>
        <p:spPr>
          <a:xfrm>
            <a:off x="6038850" y="3743325"/>
            <a:ext cx="5334000" cy="733425"/>
          </a:xfrm>
          <a:prstGeom prst="rect">
            <a:avLst/>
          </a:prstGeom>
          <a:solidFill>
            <a:srgbClr val="F2F2F2"/>
          </a:solidFill>
          <a:ln w="6350">
            <a:solidFill>
              <a:srgbClr val="F2F2F2"/>
            </a:solidFill>
            <a:prstDash val="solid"/>
          </a:ln>
        </p:spPr>
        <p:txBody>
          <a:bodyPr/>
          <a:lstStyle/>
          <a:p>
            <a:endParaRPr lang="en-US"/>
          </a:p>
        </p:txBody>
      </p:sp>
      <p:sp>
        <p:nvSpPr>
          <p:cNvPr id="21" name="Text 19"/>
          <p:cNvSpPr/>
          <p:nvPr/>
        </p:nvSpPr>
        <p:spPr>
          <a:xfrm>
            <a:off x="6229350" y="3867150"/>
            <a:ext cx="4953000" cy="5334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cloud provider hosting a CCS</a:t>
            </a:r>
            <a:endParaRPr lang="en-US" sz="2000" dirty="0"/>
          </a:p>
        </p:txBody>
      </p:sp>
      <p:sp>
        <p:nvSpPr>
          <p:cNvPr id="22" name="Shape 20"/>
          <p:cNvSpPr/>
          <p:nvPr/>
        </p:nvSpPr>
        <p:spPr>
          <a:xfrm>
            <a:off x="533400" y="4648200"/>
            <a:ext cx="5334000" cy="28575"/>
          </a:xfrm>
          <a:prstGeom prst="rect">
            <a:avLst/>
          </a:prstGeom>
          <a:solidFill>
            <a:srgbClr val="1A1A1A"/>
          </a:solidFill>
          <a:ln/>
        </p:spPr>
        <p:txBody>
          <a:bodyPr/>
          <a:lstStyle/>
          <a:p>
            <a:endParaRPr lang="en-US"/>
          </a:p>
        </p:txBody>
      </p:sp>
      <p:sp>
        <p:nvSpPr>
          <p:cNvPr id="23" name="Shape 21"/>
          <p:cNvSpPr/>
          <p:nvPr/>
        </p:nvSpPr>
        <p:spPr>
          <a:xfrm>
            <a:off x="533400" y="4676775"/>
            <a:ext cx="5334000" cy="733425"/>
          </a:xfrm>
          <a:prstGeom prst="rect">
            <a:avLst/>
          </a:prstGeom>
          <a:solidFill>
            <a:srgbClr val="F2F2F2"/>
          </a:solidFill>
          <a:ln w="6350">
            <a:solidFill>
              <a:srgbClr val="F2F2F2"/>
            </a:solidFill>
            <a:prstDash val="solid"/>
          </a:ln>
        </p:spPr>
        <p:txBody>
          <a:bodyPr/>
          <a:lstStyle/>
          <a:p>
            <a:endParaRPr lang="en-US"/>
          </a:p>
        </p:txBody>
      </p:sp>
      <p:sp>
        <p:nvSpPr>
          <p:cNvPr id="24" name="Text 22"/>
          <p:cNvSpPr/>
          <p:nvPr/>
        </p:nvSpPr>
        <p:spPr>
          <a:xfrm>
            <a:off x="723900" y="4800600"/>
            <a:ext cx="4953000" cy="5334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Kai Tak Sports Park</a:t>
            </a:r>
            <a:endParaRPr lang="en-US" sz="2000" dirty="0"/>
          </a:p>
        </p:txBody>
      </p:sp>
      <p:sp>
        <p:nvSpPr>
          <p:cNvPr id="25" name="Shape 23"/>
          <p:cNvSpPr/>
          <p:nvPr/>
        </p:nvSpPr>
        <p:spPr>
          <a:xfrm>
            <a:off x="6038850" y="4648200"/>
            <a:ext cx="5334000" cy="28575"/>
          </a:xfrm>
          <a:prstGeom prst="rect">
            <a:avLst/>
          </a:prstGeom>
          <a:solidFill>
            <a:srgbClr val="1A1A1A"/>
          </a:solidFill>
          <a:ln/>
        </p:spPr>
        <p:txBody>
          <a:bodyPr/>
          <a:lstStyle/>
          <a:p>
            <a:endParaRPr lang="en-US"/>
          </a:p>
        </p:txBody>
      </p:sp>
      <p:sp>
        <p:nvSpPr>
          <p:cNvPr id="26" name="Shape 24"/>
          <p:cNvSpPr/>
          <p:nvPr/>
        </p:nvSpPr>
        <p:spPr>
          <a:xfrm>
            <a:off x="6038850" y="4676775"/>
            <a:ext cx="5334000" cy="733425"/>
          </a:xfrm>
          <a:prstGeom prst="rect">
            <a:avLst/>
          </a:prstGeom>
          <a:solidFill>
            <a:srgbClr val="F2F2F2"/>
          </a:solidFill>
          <a:ln w="6350">
            <a:solidFill>
              <a:srgbClr val="F2F2F2"/>
            </a:solidFill>
            <a:prstDash val="solid"/>
          </a:ln>
        </p:spPr>
        <p:txBody>
          <a:bodyPr/>
          <a:lstStyle/>
          <a:p>
            <a:endParaRPr lang="en-US"/>
          </a:p>
        </p:txBody>
      </p:sp>
      <p:sp>
        <p:nvSpPr>
          <p:cNvPr id="27" name="Text 25"/>
          <p:cNvSpPr/>
          <p:nvPr/>
        </p:nvSpPr>
        <p:spPr>
          <a:xfrm>
            <a:off x="6229350" y="4800600"/>
            <a:ext cx="4953000" cy="5334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Immigration Department</a:t>
            </a:r>
            <a:endParaRPr lang="en-US" sz="2000" dirty="0"/>
          </a:p>
        </p:txBody>
      </p:sp>
      <p:sp>
        <p:nvSpPr>
          <p:cNvPr id="28" name="Text 26"/>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The test: Cap. 653 s.11 (ascertaining CIs), s.12 (designating operators), s.13 (designating systems)</a:t>
            </a:r>
            <a:endParaRPr lang="en-US" sz="1300" dirty="0"/>
          </a:p>
        </p:txBody>
      </p:sp>
      <p:sp>
        <p:nvSpPr>
          <p:cNvPr id="29" name="Text 27"/>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08</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You Cannot Know. Neither Can I.</a:t>
            </a:r>
            <a:endParaRPr lang="en-US" sz="3000" dirty="0"/>
          </a:p>
        </p:txBody>
      </p:sp>
      <p:sp>
        <p:nvSpPr>
          <p:cNvPr id="3" name="Shape 1"/>
          <p:cNvSpPr/>
          <p:nvPr/>
        </p:nvSpPr>
        <p:spPr>
          <a:xfrm>
            <a:off x="533400" y="1562100"/>
            <a:ext cx="11124895" cy="28575"/>
          </a:xfrm>
          <a:prstGeom prst="rect">
            <a:avLst/>
          </a:prstGeom>
          <a:solidFill>
            <a:srgbClr val="D04A02"/>
          </a:solidFill>
          <a:ln/>
        </p:spPr>
        <p:txBody>
          <a:bodyPr/>
          <a:lstStyle/>
          <a:p>
            <a:endParaRPr lang="en-US"/>
          </a:p>
        </p:txBody>
      </p:sp>
      <p:sp>
        <p:nvSpPr>
          <p:cNvPr id="4" name="Shape 2"/>
          <p:cNvSpPr/>
          <p:nvPr/>
        </p:nvSpPr>
        <p:spPr>
          <a:xfrm>
            <a:off x="533400" y="1590675"/>
            <a:ext cx="11124895" cy="1495425"/>
          </a:xfrm>
          <a:prstGeom prst="rect">
            <a:avLst/>
          </a:prstGeom>
          <a:solidFill>
            <a:srgbClr val="FDF0E6"/>
          </a:solidFill>
          <a:ln w="6350">
            <a:solidFill>
              <a:srgbClr val="FDF0E6"/>
            </a:solidFill>
            <a:prstDash val="solid"/>
          </a:ln>
        </p:spPr>
        <p:txBody>
          <a:bodyPr/>
          <a:lstStyle/>
          <a:p>
            <a:endParaRPr lang="en-US"/>
          </a:p>
        </p:txBody>
      </p:sp>
      <p:sp>
        <p:nvSpPr>
          <p:cNvPr id="5" name="Text 3"/>
          <p:cNvSpPr/>
          <p:nvPr/>
        </p:nvSpPr>
        <p:spPr>
          <a:xfrm>
            <a:off x="723900" y="17145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list of designated operators is not published</a:t>
            </a:r>
            <a:endParaRPr lang="en-US" sz="2000" dirty="0"/>
          </a:p>
        </p:txBody>
      </p:sp>
      <p:sp>
        <p:nvSpPr>
          <p:cNvPr id="6" name="Text 4"/>
          <p:cNvSpPr/>
          <p:nvPr/>
        </p:nvSpPr>
        <p:spPr>
          <a:xfrm>
            <a:off x="723900" y="2066925"/>
            <a:ext cx="10743895" cy="9429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Publishing it would signpost targets. Operators may not disclose their own designation either.</a:t>
            </a:r>
            <a:endParaRPr lang="en-US" sz="2000" dirty="0"/>
          </a:p>
        </p:txBody>
      </p:sp>
      <p:sp>
        <p:nvSpPr>
          <p:cNvPr id="7" name="Shape 5"/>
          <p:cNvSpPr/>
          <p:nvPr/>
        </p:nvSpPr>
        <p:spPr>
          <a:xfrm>
            <a:off x="533400" y="3295650"/>
            <a:ext cx="5457673" cy="28575"/>
          </a:xfrm>
          <a:prstGeom prst="rect">
            <a:avLst/>
          </a:prstGeom>
          <a:solidFill>
            <a:srgbClr val="1A1A1A"/>
          </a:solidFill>
          <a:ln/>
        </p:spPr>
        <p:txBody>
          <a:bodyPr/>
          <a:lstStyle/>
          <a:p>
            <a:endParaRPr lang="en-US"/>
          </a:p>
        </p:txBody>
      </p:sp>
      <p:sp>
        <p:nvSpPr>
          <p:cNvPr id="8" name="Shape 6"/>
          <p:cNvSpPr/>
          <p:nvPr/>
        </p:nvSpPr>
        <p:spPr>
          <a:xfrm>
            <a:off x="533400" y="3324225"/>
            <a:ext cx="5457673" cy="235267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723900" y="34480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Designation is by written notice</a:t>
            </a:r>
            <a:endParaRPr lang="en-US" sz="2000" dirty="0"/>
          </a:p>
        </p:txBody>
      </p:sp>
      <p:sp>
        <p:nvSpPr>
          <p:cNvPr id="10" name="Text 8"/>
          <p:cNvSpPr/>
          <p:nvPr/>
        </p:nvSpPr>
        <p:spPr>
          <a:xfrm>
            <a:off x="723900" y="3800475"/>
            <a:ext cx="5076673"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letter arrives. You do not self-identify.</a:t>
            </a:r>
            <a:endParaRPr lang="en-US" sz="2000" dirty="0"/>
          </a:p>
        </p:txBody>
      </p:sp>
      <p:sp>
        <p:nvSpPr>
          <p:cNvPr id="11" name="Shape 9"/>
          <p:cNvSpPr/>
          <p:nvPr/>
        </p:nvSpPr>
        <p:spPr>
          <a:xfrm>
            <a:off x="6200623" y="3295650"/>
            <a:ext cx="5457673" cy="28575"/>
          </a:xfrm>
          <a:prstGeom prst="rect">
            <a:avLst/>
          </a:prstGeom>
          <a:solidFill>
            <a:srgbClr val="1A1A1A"/>
          </a:solidFill>
          <a:ln/>
        </p:spPr>
        <p:txBody>
          <a:bodyPr/>
          <a:lstStyle/>
          <a:p>
            <a:endParaRPr lang="en-US"/>
          </a:p>
        </p:txBody>
      </p:sp>
      <p:sp>
        <p:nvSpPr>
          <p:cNvPr id="12" name="Shape 10"/>
          <p:cNvSpPr/>
          <p:nvPr/>
        </p:nvSpPr>
        <p:spPr>
          <a:xfrm>
            <a:off x="6200623" y="3324225"/>
            <a:ext cx="5457673" cy="2352675"/>
          </a:xfrm>
          <a:prstGeom prst="rect">
            <a:avLst/>
          </a:prstGeom>
          <a:solidFill>
            <a:srgbClr val="F2F2F2"/>
          </a:solidFill>
          <a:ln w="6350">
            <a:solidFill>
              <a:srgbClr val="F2F2F2"/>
            </a:solidFill>
            <a:prstDash val="solid"/>
          </a:ln>
        </p:spPr>
        <p:txBody>
          <a:bodyPr/>
          <a:lstStyle/>
          <a:p>
            <a:endParaRPr lang="en-US"/>
          </a:p>
        </p:txBody>
      </p:sp>
      <p:sp>
        <p:nvSpPr>
          <p:cNvPr id="13" name="Text 11"/>
          <p:cNvSpPr/>
          <p:nvPr/>
        </p:nvSpPr>
        <p:spPr>
          <a:xfrm>
            <a:off x="6391123" y="34480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Clocks run from designation</a:t>
            </a:r>
            <a:endParaRPr lang="en-US" sz="2000" dirty="0"/>
          </a:p>
        </p:txBody>
      </p:sp>
      <p:sp>
        <p:nvSpPr>
          <p:cNvPr id="14" name="Text 12"/>
          <p:cNvSpPr/>
          <p:nvPr/>
        </p:nvSpPr>
        <p:spPr>
          <a:xfrm>
            <a:off x="6391123" y="3800475"/>
            <a:ext cx="5076673"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Not from 1 January 2026.</a:t>
            </a:r>
            <a:endParaRPr lang="en-US" sz="2000" dirty="0"/>
          </a:p>
        </p:txBody>
      </p:sp>
      <p:sp>
        <p:nvSpPr>
          <p:cNvPr id="15" name="Text 13"/>
          <p:cNvSpPr/>
          <p:nvPr/>
        </p:nvSpPr>
        <p:spPr>
          <a:xfrm>
            <a:off x="533400" y="5867400"/>
            <a:ext cx="11124895" cy="381000"/>
          </a:xfrm>
          <a:prstGeom prst="rect">
            <a:avLst/>
          </a:prstGeom>
          <a:noFill/>
          <a:ln/>
        </p:spPr>
        <p:txBody>
          <a:bodyPr wrap="square" rtlCol="0" anchor="ctr"/>
          <a:lstStyle/>
          <a:p>
            <a:pPr marL="0" indent="0">
              <a:buNone/>
            </a:pPr>
            <a:r>
              <a:rPr lang="en-US" sz="2200" b="1" dirty="0">
                <a:solidFill>
                  <a:srgbClr val="1A1A1A"/>
                </a:solidFill>
                <a:latin typeface="Arial" pitchFamily="34" charset="0"/>
                <a:ea typeface="Arial" pitchFamily="34" charset="-122"/>
                <a:cs typeface="Arial" pitchFamily="34" charset="-120"/>
              </a:rPr>
              <a:t>So the first question of any engagement: when were you designated?</a:t>
            </a:r>
            <a:endParaRPr lang="en-US" sz="2200" dirty="0"/>
          </a:p>
        </p:txBody>
      </p:sp>
      <p:sp>
        <p:nvSpPr>
          <p:cNvPr id="16" name="Text 1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s.12(1), s.13(1), s.2 "designation date"  ·  Communications Authority PCICSO FAQ</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09</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READING THE REGULATORY LANDSCAPE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But You Can Infer</a:t>
            </a:r>
            <a:endParaRPr lang="en-US" sz="3000" dirty="0"/>
          </a:p>
        </p:txBody>
      </p:sp>
      <p:sp>
        <p:nvSpPr>
          <p:cNvPr id="4" name="Shape 2"/>
          <p:cNvSpPr/>
          <p:nvPr/>
        </p:nvSpPr>
        <p:spPr>
          <a:xfrm>
            <a:off x="533400" y="1847850"/>
            <a:ext cx="3568598" cy="95250"/>
          </a:xfrm>
          <a:prstGeom prst="rect">
            <a:avLst/>
          </a:prstGeom>
          <a:solidFill>
            <a:srgbClr val="1E7A46"/>
          </a:solidFill>
          <a:ln/>
        </p:spPr>
        <p:txBody>
          <a:bodyPr/>
          <a:lstStyle/>
          <a:p>
            <a:endParaRPr lang="en-US"/>
          </a:p>
        </p:txBody>
      </p:sp>
      <p:sp>
        <p:nvSpPr>
          <p:cNvPr id="5" name="Shape 3"/>
          <p:cNvSpPr/>
          <p:nvPr/>
        </p:nvSpPr>
        <p:spPr>
          <a:xfrm>
            <a:off x="533400" y="1943100"/>
            <a:ext cx="3568598" cy="28575"/>
          </a:xfrm>
          <a:prstGeom prst="rect">
            <a:avLst/>
          </a:prstGeom>
          <a:solidFill>
            <a:srgbClr val="1A1A1A"/>
          </a:solidFill>
          <a:ln/>
        </p:spPr>
        <p:txBody>
          <a:bodyPr/>
          <a:lstStyle/>
          <a:p>
            <a:endParaRPr lang="en-US"/>
          </a:p>
        </p:txBody>
      </p:sp>
      <p:sp>
        <p:nvSpPr>
          <p:cNvPr id="6" name="Shape 4"/>
          <p:cNvSpPr/>
          <p:nvPr/>
        </p:nvSpPr>
        <p:spPr>
          <a:xfrm>
            <a:off x="533400" y="1971675"/>
            <a:ext cx="3568598" cy="3305175"/>
          </a:xfrm>
          <a:prstGeom prst="rect">
            <a:avLst/>
          </a:prstGeom>
          <a:solidFill>
            <a:srgbClr val="F2F2F2"/>
          </a:solidFill>
          <a:ln w="6350">
            <a:solidFill>
              <a:srgbClr val="F2F2F2"/>
            </a:solidFill>
            <a:prstDash val="solid"/>
          </a:ln>
        </p:spPr>
        <p:txBody>
          <a:bodyPr/>
          <a:lstStyle/>
          <a:p>
            <a:endParaRPr lang="en-US"/>
          </a:p>
        </p:txBody>
      </p:sp>
      <p:sp>
        <p:nvSpPr>
          <p:cNvPr id="7" name="Text 5"/>
          <p:cNvSpPr/>
          <p:nvPr/>
        </p:nvSpPr>
        <p:spPr>
          <a:xfrm>
            <a:off x="723900" y="20955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Almost certainly NOT</a:t>
            </a:r>
            <a:endParaRPr lang="en-US" sz="2000" dirty="0"/>
          </a:p>
        </p:txBody>
      </p:sp>
      <p:sp>
        <p:nvSpPr>
          <p:cNvPr id="8" name="Text 6"/>
          <p:cNvSpPr/>
          <p:nvPr/>
        </p:nvSpPr>
        <p:spPr>
          <a:xfrm>
            <a:off x="723900" y="2447925"/>
            <a:ext cx="3187598" cy="2752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Immigration Department, and every bureau or department.</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Ordinance does not designate the Government.</a:t>
            </a:r>
            <a:endParaRPr lang="en-US" sz="2000" dirty="0"/>
          </a:p>
        </p:txBody>
      </p:sp>
      <p:sp>
        <p:nvSpPr>
          <p:cNvPr id="9" name="Shape 7"/>
          <p:cNvSpPr/>
          <p:nvPr/>
        </p:nvSpPr>
        <p:spPr>
          <a:xfrm>
            <a:off x="4311548" y="1847850"/>
            <a:ext cx="3568598" cy="95250"/>
          </a:xfrm>
          <a:prstGeom prst="rect">
            <a:avLst/>
          </a:prstGeom>
          <a:solidFill>
            <a:srgbClr val="D04A02"/>
          </a:solidFill>
          <a:ln/>
        </p:spPr>
        <p:txBody>
          <a:bodyPr/>
          <a:lstStyle/>
          <a:p>
            <a:endParaRPr lang="en-US"/>
          </a:p>
        </p:txBody>
      </p:sp>
      <p:sp>
        <p:nvSpPr>
          <p:cNvPr id="10" name="Shape 8"/>
          <p:cNvSpPr/>
          <p:nvPr/>
        </p:nvSpPr>
        <p:spPr>
          <a:xfrm>
            <a:off x="4311548" y="1943100"/>
            <a:ext cx="3568598" cy="28575"/>
          </a:xfrm>
          <a:prstGeom prst="rect">
            <a:avLst/>
          </a:prstGeom>
          <a:solidFill>
            <a:srgbClr val="1A1A1A"/>
          </a:solidFill>
          <a:ln/>
        </p:spPr>
        <p:txBody>
          <a:bodyPr/>
          <a:lstStyle/>
          <a:p>
            <a:endParaRPr lang="en-US"/>
          </a:p>
        </p:txBody>
      </p:sp>
      <p:sp>
        <p:nvSpPr>
          <p:cNvPr id="11" name="Shape 9"/>
          <p:cNvSpPr/>
          <p:nvPr/>
        </p:nvSpPr>
        <p:spPr>
          <a:xfrm>
            <a:off x="4311548" y="1971675"/>
            <a:ext cx="3568598" cy="3305175"/>
          </a:xfrm>
          <a:prstGeom prst="rect">
            <a:avLst/>
          </a:prstGeom>
          <a:solidFill>
            <a:srgbClr val="F2F2F2"/>
          </a:solidFill>
          <a:ln w="6350">
            <a:solidFill>
              <a:srgbClr val="F2F2F2"/>
            </a:solidFill>
            <a:prstDash val="solid"/>
          </a:ln>
        </p:spPr>
        <p:txBody>
          <a:bodyPr/>
          <a:lstStyle/>
          <a:p>
            <a:endParaRPr lang="en-US"/>
          </a:p>
        </p:txBody>
      </p:sp>
      <p:sp>
        <p:nvSpPr>
          <p:cNvPr id="12" name="Text 10"/>
          <p:cNvSpPr/>
          <p:nvPr/>
        </p:nvSpPr>
        <p:spPr>
          <a:xfrm>
            <a:off x="4502048" y="20955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Very likely YES</a:t>
            </a:r>
            <a:endParaRPr lang="en-US" sz="2000" dirty="0"/>
          </a:p>
        </p:txBody>
      </p:sp>
      <p:sp>
        <p:nvSpPr>
          <p:cNvPr id="13" name="Text 11"/>
          <p:cNvSpPr/>
          <p:nvPr/>
        </p:nvSpPr>
        <p:spPr>
          <a:xfrm>
            <a:off x="4502048" y="2447925"/>
            <a:ext cx="3187598" cy="2752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An institution licensed by the HKMA.</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A regulator does not write a sectoral Code for nobody.</a:t>
            </a:r>
            <a:endParaRPr lang="en-US" sz="2000" dirty="0"/>
          </a:p>
        </p:txBody>
      </p:sp>
      <p:sp>
        <p:nvSpPr>
          <p:cNvPr id="14" name="Shape 12"/>
          <p:cNvSpPr/>
          <p:nvPr/>
        </p:nvSpPr>
        <p:spPr>
          <a:xfrm>
            <a:off x="8089697" y="1847850"/>
            <a:ext cx="3568598" cy="95250"/>
          </a:xfrm>
          <a:prstGeom prst="rect">
            <a:avLst/>
          </a:prstGeom>
          <a:solidFill>
            <a:srgbClr val="7A7A7A"/>
          </a:solidFill>
          <a:ln/>
        </p:spPr>
        <p:txBody>
          <a:bodyPr/>
          <a:lstStyle/>
          <a:p>
            <a:endParaRPr lang="en-US"/>
          </a:p>
        </p:txBody>
      </p:sp>
      <p:sp>
        <p:nvSpPr>
          <p:cNvPr id="15" name="Shape 13"/>
          <p:cNvSpPr/>
          <p:nvPr/>
        </p:nvSpPr>
        <p:spPr>
          <a:xfrm>
            <a:off x="8089697" y="1943100"/>
            <a:ext cx="3568598" cy="28575"/>
          </a:xfrm>
          <a:prstGeom prst="rect">
            <a:avLst/>
          </a:prstGeom>
          <a:solidFill>
            <a:srgbClr val="1A1A1A"/>
          </a:solidFill>
          <a:ln/>
        </p:spPr>
        <p:txBody>
          <a:bodyPr/>
          <a:lstStyle/>
          <a:p>
            <a:endParaRPr lang="en-US"/>
          </a:p>
        </p:txBody>
      </p:sp>
      <p:sp>
        <p:nvSpPr>
          <p:cNvPr id="16" name="Shape 14"/>
          <p:cNvSpPr/>
          <p:nvPr/>
        </p:nvSpPr>
        <p:spPr>
          <a:xfrm>
            <a:off x="8089697" y="1971675"/>
            <a:ext cx="3568598" cy="3305175"/>
          </a:xfrm>
          <a:prstGeom prst="rect">
            <a:avLst/>
          </a:prstGeom>
          <a:solidFill>
            <a:srgbClr val="F2F2F2"/>
          </a:solidFill>
          <a:ln w="6350">
            <a:solidFill>
              <a:srgbClr val="F2F2F2"/>
            </a:solidFill>
            <a:prstDash val="solid"/>
          </a:ln>
        </p:spPr>
        <p:txBody>
          <a:bodyPr/>
          <a:lstStyle/>
          <a:p>
            <a:endParaRPr lang="en-US"/>
          </a:p>
        </p:txBody>
      </p:sp>
      <p:sp>
        <p:nvSpPr>
          <p:cNvPr id="17" name="Text 15"/>
          <p:cNvSpPr/>
          <p:nvPr/>
        </p:nvSpPr>
        <p:spPr>
          <a:xfrm>
            <a:off x="8280197" y="20955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Genuinely uncertain</a:t>
            </a:r>
            <a:endParaRPr lang="en-US" sz="2000" dirty="0"/>
          </a:p>
        </p:txBody>
      </p:sp>
      <p:sp>
        <p:nvSpPr>
          <p:cNvPr id="18" name="Text 16"/>
          <p:cNvSpPr/>
          <p:nvPr/>
        </p:nvSpPr>
        <p:spPr>
          <a:xfrm>
            <a:off x="8280197" y="2447925"/>
            <a:ext cx="3187598" cy="2752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company operating a rail line.</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Plausible — but only the authority knows.</a:t>
            </a:r>
            <a:endParaRPr lang="en-US" sz="2000" dirty="0"/>
          </a:p>
        </p:txBody>
      </p:sp>
      <p:sp>
        <p:nvSpPr>
          <p:cNvPr id="19" name="Shape 17"/>
          <p:cNvSpPr/>
          <p:nvPr/>
        </p:nvSpPr>
        <p:spPr>
          <a:xfrm>
            <a:off x="533400" y="5372100"/>
            <a:ext cx="11124895" cy="28575"/>
          </a:xfrm>
          <a:prstGeom prst="rect">
            <a:avLst/>
          </a:prstGeom>
          <a:solidFill>
            <a:srgbClr val="D04A02"/>
          </a:solidFill>
          <a:ln/>
        </p:spPr>
        <p:txBody>
          <a:bodyPr/>
          <a:lstStyle/>
          <a:p>
            <a:endParaRPr lang="en-US"/>
          </a:p>
        </p:txBody>
      </p:sp>
      <p:sp>
        <p:nvSpPr>
          <p:cNvPr id="20" name="Shape 18"/>
          <p:cNvSpPr/>
          <p:nvPr/>
        </p:nvSpPr>
        <p:spPr>
          <a:xfrm>
            <a:off x="533400" y="5400675"/>
            <a:ext cx="11124895" cy="733425"/>
          </a:xfrm>
          <a:prstGeom prst="rect">
            <a:avLst/>
          </a:prstGeom>
          <a:solidFill>
            <a:srgbClr val="FDF0E6"/>
          </a:solidFill>
          <a:ln w="6350">
            <a:solidFill>
              <a:srgbClr val="FDF0E6"/>
            </a:solidFill>
            <a:prstDash val="solid"/>
          </a:ln>
        </p:spPr>
        <p:txBody>
          <a:bodyPr/>
          <a:lstStyle/>
          <a:p>
            <a:endParaRPr lang="en-US"/>
          </a:p>
        </p:txBody>
      </p:sp>
      <p:sp>
        <p:nvSpPr>
          <p:cNvPr id="21" name="Text 19"/>
          <p:cNvSpPr/>
          <p:nvPr/>
        </p:nvSpPr>
        <p:spPr>
          <a:xfrm>
            <a:off x="723900" y="55245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industry finds out when designated operators ask for a quote.</a:t>
            </a:r>
            <a:endParaRPr lang="en-US" sz="2000" dirty="0"/>
          </a:p>
        </p:txBody>
      </p:sp>
      <p:sp>
        <p:nvSpPr>
          <p:cNvPr id="22" name="Text 20"/>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Inference, not disclosure. Grounded in Cap. 653 s.5, Schedule 1, and the sectoral Codes of Practice</a:t>
            </a:r>
            <a:endParaRPr lang="en-US" sz="1300" dirty="0"/>
          </a:p>
        </p:txBody>
      </p:sp>
      <p:sp>
        <p:nvSpPr>
          <p:cNvPr id="23" name="Text 21"/>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10</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ALSO UNPUBLISHED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And It Will Be Phased</a:t>
            </a:r>
            <a:endParaRPr lang="en-US" sz="3000" dirty="0"/>
          </a:p>
        </p:txBody>
      </p:sp>
      <p:sp>
        <p:nvSpPr>
          <p:cNvPr id="4" name="Shape 2"/>
          <p:cNvSpPr/>
          <p:nvPr/>
        </p:nvSpPr>
        <p:spPr>
          <a:xfrm>
            <a:off x="533400" y="1847850"/>
            <a:ext cx="5457673" cy="28575"/>
          </a:xfrm>
          <a:prstGeom prst="rect">
            <a:avLst/>
          </a:prstGeom>
          <a:solidFill>
            <a:srgbClr val="D04A02"/>
          </a:solidFill>
          <a:ln/>
        </p:spPr>
        <p:txBody>
          <a:bodyPr/>
          <a:lstStyle/>
          <a:p>
            <a:endParaRPr lang="en-US"/>
          </a:p>
        </p:txBody>
      </p:sp>
      <p:sp>
        <p:nvSpPr>
          <p:cNvPr id="5" name="Shape 3"/>
          <p:cNvSpPr/>
          <p:nvPr/>
        </p:nvSpPr>
        <p:spPr>
          <a:xfrm>
            <a:off x="533400" y="1876425"/>
            <a:ext cx="5457673" cy="244792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Why phasing is near-certain</a:t>
            </a:r>
            <a:endParaRPr lang="en-US" sz="2000" dirty="0"/>
          </a:p>
        </p:txBody>
      </p:sp>
      <p:sp>
        <p:nvSpPr>
          <p:cNvPr id="7" name="Text 5"/>
          <p:cNvSpPr/>
          <p:nvPr/>
        </p:nvSpPr>
        <p:spPr>
          <a:xfrm>
            <a:off x="723900" y="2352675"/>
            <a:ext cx="5076673" cy="1895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volume makes a big-bang designation impractical.</a:t>
            </a:r>
            <a:endParaRPr lang="en-US" sz="2000" dirty="0"/>
          </a:p>
        </p:txBody>
      </p:sp>
      <p:sp>
        <p:nvSpPr>
          <p:cNvPr id="8" name="Shape 6"/>
          <p:cNvSpPr/>
          <p:nvPr/>
        </p:nvSpPr>
        <p:spPr>
          <a:xfrm>
            <a:off x="6200623" y="1847850"/>
            <a:ext cx="5457673" cy="28575"/>
          </a:xfrm>
          <a:prstGeom prst="rect">
            <a:avLst/>
          </a:prstGeom>
          <a:solidFill>
            <a:srgbClr val="1A1A1A"/>
          </a:solidFill>
          <a:ln/>
        </p:spPr>
        <p:txBody>
          <a:bodyPr/>
          <a:lstStyle/>
          <a:p>
            <a:endParaRPr lang="en-US"/>
          </a:p>
        </p:txBody>
      </p:sp>
      <p:sp>
        <p:nvSpPr>
          <p:cNvPr id="9" name="Shape 7"/>
          <p:cNvSpPr/>
          <p:nvPr/>
        </p:nvSpPr>
        <p:spPr>
          <a:xfrm>
            <a:off x="6200623" y="1876425"/>
            <a:ext cx="5457673" cy="244792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6391123"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local precedent</a:t>
            </a:r>
            <a:endParaRPr lang="en-US" sz="2000" dirty="0"/>
          </a:p>
        </p:txBody>
      </p:sp>
      <p:sp>
        <p:nvSpPr>
          <p:cNvPr id="11" name="Text 9"/>
          <p:cNvSpPr/>
          <p:nvPr/>
        </p:nvSpPr>
        <p:spPr>
          <a:xfrm>
            <a:off x="6391123" y="2352675"/>
            <a:ext cx="5076673" cy="1895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HKMA phased C-RAF 2.0 across authorized institutions in tranches.</a:t>
            </a:r>
            <a:endParaRPr lang="en-US" sz="2000" dirty="0"/>
          </a:p>
        </p:txBody>
      </p:sp>
      <p:sp>
        <p:nvSpPr>
          <p:cNvPr id="12" name="Shape 10"/>
          <p:cNvSpPr/>
          <p:nvPr/>
        </p:nvSpPr>
        <p:spPr>
          <a:xfrm>
            <a:off x="533400" y="4476750"/>
            <a:ext cx="11124895" cy="28575"/>
          </a:xfrm>
          <a:prstGeom prst="rect">
            <a:avLst/>
          </a:prstGeom>
          <a:solidFill>
            <a:srgbClr val="1A1A1A"/>
          </a:solidFill>
          <a:ln/>
        </p:spPr>
        <p:txBody>
          <a:bodyPr/>
          <a:lstStyle/>
          <a:p>
            <a:endParaRPr lang="en-US"/>
          </a:p>
        </p:txBody>
      </p:sp>
      <p:sp>
        <p:nvSpPr>
          <p:cNvPr id="13" name="Shape 11"/>
          <p:cNvSpPr/>
          <p:nvPr/>
        </p:nvSpPr>
        <p:spPr>
          <a:xfrm>
            <a:off x="533400" y="4505325"/>
            <a:ext cx="11124895" cy="159067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723900" y="46291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Why it matters to an adviser</a:t>
            </a:r>
            <a:endParaRPr lang="en-US" sz="2000" dirty="0"/>
          </a:p>
        </p:txBody>
      </p:sp>
      <p:sp>
        <p:nvSpPr>
          <p:cNvPr id="15" name="Text 13"/>
          <p:cNvSpPr/>
          <p:nvPr/>
        </p:nvSpPr>
        <p:spPr>
          <a:xfrm>
            <a:off x="723900" y="4981575"/>
            <a:ext cx="10743895" cy="1038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Two operators in one sector can sit at different points in the same regime — neither is late.</a:t>
            </a:r>
            <a:endParaRPr lang="en-US" sz="2000" dirty="0"/>
          </a:p>
        </p:txBody>
      </p:sp>
      <p:sp>
        <p:nvSpPr>
          <p:cNvPr id="16" name="Text 1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Inference from the HKMA C-RAF 2.0 rollout  ·  Cap. 653 s.12(1) and s.13(1)</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11</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Three Categories of Obligation</a:t>
            </a:r>
            <a:endParaRPr lang="en-US" sz="3000" dirty="0"/>
          </a:p>
        </p:txBody>
      </p:sp>
      <p:sp>
        <p:nvSpPr>
          <p:cNvPr id="3" name="Shape 1"/>
          <p:cNvSpPr/>
          <p:nvPr/>
        </p:nvSpPr>
        <p:spPr>
          <a:xfrm>
            <a:off x="533400" y="1562100"/>
            <a:ext cx="11124895" cy="28575"/>
          </a:xfrm>
          <a:prstGeom prst="rect">
            <a:avLst/>
          </a:prstGeom>
          <a:solidFill>
            <a:srgbClr val="D04A02"/>
          </a:solidFill>
          <a:ln/>
        </p:spPr>
        <p:txBody>
          <a:bodyPr/>
          <a:lstStyle/>
          <a:p>
            <a:endParaRPr lang="en-US"/>
          </a:p>
        </p:txBody>
      </p:sp>
      <p:sp>
        <p:nvSpPr>
          <p:cNvPr id="4" name="Shape 2"/>
          <p:cNvSpPr/>
          <p:nvPr/>
        </p:nvSpPr>
        <p:spPr>
          <a:xfrm>
            <a:off x="533400" y="1590675"/>
            <a:ext cx="11124895" cy="1304925"/>
          </a:xfrm>
          <a:prstGeom prst="rect">
            <a:avLst/>
          </a:prstGeom>
          <a:solidFill>
            <a:srgbClr val="FDF0E6"/>
          </a:solidFill>
          <a:ln w="6350">
            <a:solidFill>
              <a:srgbClr val="FDF0E6"/>
            </a:solidFill>
            <a:prstDash val="solid"/>
          </a:ln>
        </p:spPr>
        <p:txBody>
          <a:bodyPr/>
          <a:lstStyle/>
          <a:p>
            <a:endParaRPr lang="en-US"/>
          </a:p>
        </p:txBody>
      </p:sp>
      <p:sp>
        <p:nvSpPr>
          <p:cNvPr id="5" name="Text 3"/>
          <p:cNvSpPr/>
          <p:nvPr/>
        </p:nvSpPr>
        <p:spPr>
          <a:xfrm>
            <a:off x="723900" y="17145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Cap. 653 s.2 — the statute really does say "category"</a:t>
            </a:r>
            <a:endParaRPr lang="en-US" sz="2000" dirty="0"/>
          </a:p>
        </p:txBody>
      </p:sp>
      <p:sp>
        <p:nvSpPr>
          <p:cNvPr id="6" name="Text 4"/>
          <p:cNvSpPr/>
          <p:nvPr/>
        </p:nvSpPr>
        <p:spPr>
          <a:xfrm>
            <a:off x="723900" y="2066925"/>
            <a:ext cx="10743895" cy="752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"category 1 obligation means an obligation imposed by Division 1 of Part 4."</a:t>
            </a:r>
            <a:endParaRPr lang="en-US" sz="2000" dirty="0"/>
          </a:p>
        </p:txBody>
      </p:sp>
      <p:sp>
        <p:nvSpPr>
          <p:cNvPr id="7" name="Shape 5"/>
          <p:cNvSpPr/>
          <p:nvPr/>
        </p:nvSpPr>
        <p:spPr>
          <a:xfrm>
            <a:off x="533400" y="3124200"/>
            <a:ext cx="3568598" cy="28575"/>
          </a:xfrm>
          <a:prstGeom prst="rect">
            <a:avLst/>
          </a:prstGeom>
          <a:solidFill>
            <a:srgbClr val="1A1A1A"/>
          </a:solidFill>
          <a:ln/>
        </p:spPr>
        <p:txBody>
          <a:bodyPr/>
          <a:lstStyle/>
          <a:p>
            <a:endParaRPr lang="en-US"/>
          </a:p>
        </p:txBody>
      </p:sp>
      <p:sp>
        <p:nvSpPr>
          <p:cNvPr id="8" name="Shape 6"/>
          <p:cNvSpPr/>
          <p:nvPr/>
        </p:nvSpPr>
        <p:spPr>
          <a:xfrm>
            <a:off x="533400" y="3152775"/>
            <a:ext cx="3568598" cy="273367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723900" y="32766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1 · Organisational</a:t>
            </a:r>
            <a:endParaRPr lang="en-US" sz="2000" dirty="0"/>
          </a:p>
        </p:txBody>
      </p:sp>
      <p:sp>
        <p:nvSpPr>
          <p:cNvPr id="10" name="Text 8"/>
          <p:cNvSpPr/>
          <p:nvPr/>
        </p:nvSpPr>
        <p:spPr>
          <a:xfrm>
            <a:off x="723900" y="3629025"/>
            <a:ext cx="3187598" cy="2181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Chapter 5</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§5.1  Office</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§5.2  Operator changes</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§5.3  Security unit</a:t>
            </a:r>
            <a:endParaRPr lang="en-US" sz="2000" dirty="0"/>
          </a:p>
        </p:txBody>
      </p:sp>
      <p:sp>
        <p:nvSpPr>
          <p:cNvPr id="11" name="Shape 9"/>
          <p:cNvSpPr/>
          <p:nvPr/>
        </p:nvSpPr>
        <p:spPr>
          <a:xfrm>
            <a:off x="4311548" y="3124200"/>
            <a:ext cx="3568598" cy="28575"/>
          </a:xfrm>
          <a:prstGeom prst="rect">
            <a:avLst/>
          </a:prstGeom>
          <a:solidFill>
            <a:srgbClr val="1A1A1A"/>
          </a:solidFill>
          <a:ln/>
        </p:spPr>
        <p:txBody>
          <a:bodyPr/>
          <a:lstStyle/>
          <a:p>
            <a:endParaRPr lang="en-US"/>
          </a:p>
        </p:txBody>
      </p:sp>
      <p:sp>
        <p:nvSpPr>
          <p:cNvPr id="12" name="Shape 10"/>
          <p:cNvSpPr/>
          <p:nvPr/>
        </p:nvSpPr>
        <p:spPr>
          <a:xfrm>
            <a:off x="4311548" y="3152775"/>
            <a:ext cx="3568598" cy="2733675"/>
          </a:xfrm>
          <a:prstGeom prst="rect">
            <a:avLst/>
          </a:prstGeom>
          <a:solidFill>
            <a:srgbClr val="F2F2F2"/>
          </a:solidFill>
          <a:ln w="6350">
            <a:solidFill>
              <a:srgbClr val="F2F2F2"/>
            </a:solidFill>
            <a:prstDash val="solid"/>
          </a:ln>
        </p:spPr>
        <p:txBody>
          <a:bodyPr/>
          <a:lstStyle/>
          <a:p>
            <a:endParaRPr lang="en-US"/>
          </a:p>
        </p:txBody>
      </p:sp>
      <p:sp>
        <p:nvSpPr>
          <p:cNvPr id="13" name="Text 11"/>
          <p:cNvSpPr/>
          <p:nvPr/>
        </p:nvSpPr>
        <p:spPr>
          <a:xfrm>
            <a:off x="4502048" y="32766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2 · Preventive</a:t>
            </a:r>
            <a:endParaRPr lang="en-US" sz="2000" dirty="0"/>
          </a:p>
        </p:txBody>
      </p:sp>
      <p:sp>
        <p:nvSpPr>
          <p:cNvPr id="14" name="Text 12"/>
          <p:cNvSpPr/>
          <p:nvPr/>
        </p:nvSpPr>
        <p:spPr>
          <a:xfrm>
            <a:off x="4502048" y="3629025"/>
            <a:ext cx="3187598" cy="2181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Chapter 6</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§6.1  Material changes</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§6.2  Management plan</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§6.3  Risk assessment</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§6.4  Audit</a:t>
            </a:r>
            <a:endParaRPr lang="en-US" sz="2000" dirty="0"/>
          </a:p>
        </p:txBody>
      </p:sp>
      <p:sp>
        <p:nvSpPr>
          <p:cNvPr id="15" name="Shape 13"/>
          <p:cNvSpPr/>
          <p:nvPr/>
        </p:nvSpPr>
        <p:spPr>
          <a:xfrm>
            <a:off x="8089697" y="3124200"/>
            <a:ext cx="3568598" cy="28575"/>
          </a:xfrm>
          <a:prstGeom prst="rect">
            <a:avLst/>
          </a:prstGeom>
          <a:solidFill>
            <a:srgbClr val="1A1A1A"/>
          </a:solidFill>
          <a:ln/>
        </p:spPr>
        <p:txBody>
          <a:bodyPr/>
          <a:lstStyle/>
          <a:p>
            <a:endParaRPr lang="en-US"/>
          </a:p>
        </p:txBody>
      </p:sp>
      <p:sp>
        <p:nvSpPr>
          <p:cNvPr id="16" name="Shape 14"/>
          <p:cNvSpPr/>
          <p:nvPr/>
        </p:nvSpPr>
        <p:spPr>
          <a:xfrm>
            <a:off x="8089697" y="3152775"/>
            <a:ext cx="3568598" cy="2733675"/>
          </a:xfrm>
          <a:prstGeom prst="rect">
            <a:avLst/>
          </a:prstGeom>
          <a:solidFill>
            <a:srgbClr val="F2F2F2"/>
          </a:solidFill>
          <a:ln w="6350">
            <a:solidFill>
              <a:srgbClr val="F2F2F2"/>
            </a:solidFill>
            <a:prstDash val="solid"/>
          </a:ln>
        </p:spPr>
        <p:txBody>
          <a:bodyPr/>
          <a:lstStyle/>
          <a:p>
            <a:endParaRPr lang="en-US"/>
          </a:p>
        </p:txBody>
      </p:sp>
      <p:sp>
        <p:nvSpPr>
          <p:cNvPr id="17" name="Text 15"/>
          <p:cNvSpPr/>
          <p:nvPr/>
        </p:nvSpPr>
        <p:spPr>
          <a:xfrm>
            <a:off x="8280197" y="32766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3 · Incident response</a:t>
            </a:r>
            <a:endParaRPr lang="en-US" sz="2000" dirty="0"/>
          </a:p>
        </p:txBody>
      </p:sp>
      <p:sp>
        <p:nvSpPr>
          <p:cNvPr id="18" name="Text 16"/>
          <p:cNvSpPr/>
          <p:nvPr/>
        </p:nvSpPr>
        <p:spPr>
          <a:xfrm>
            <a:off x="8280197" y="3629025"/>
            <a:ext cx="3187598" cy="2181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Chapter 7</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§7.1  Drills</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§7.2  Response plan</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§7.3  Notification</a:t>
            </a:r>
            <a:endParaRPr lang="en-US" sz="2000" dirty="0"/>
          </a:p>
        </p:txBody>
      </p:sp>
      <p:sp>
        <p:nvSpPr>
          <p:cNvPr id="19" name="Text 17"/>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s.2 and Part 4 Divisions 1–3  ·  Code of Practice v1.0 Chapters 5–7, headings verbatim</a:t>
            </a:r>
            <a:endParaRPr lang="en-US" sz="1300" dirty="0"/>
          </a:p>
        </p:txBody>
      </p:sp>
      <p:sp>
        <p:nvSpPr>
          <p:cNvPr id="20" name="Text 18"/>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12</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CATEGORY 1 · CHAPTER 5</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Organisational Obligations</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962400"/>
        </p:xfrm>
        <a:graphic>
          <a:graphicData uri="http://schemas.openxmlformats.org/drawingml/2006/table">
            <a:tbl>
              <a:tblPr/>
              <a:tblGrid>
                <a:gridCol w="4191000">
                  <a:extLst>
                    <a:ext uri="{9D8B030D-6E8A-4147-A177-3AD203B41FA5}">
                      <a16:colId xmlns:a16="http://schemas.microsoft.com/office/drawing/2014/main" val="20000"/>
                    </a:ext>
                  </a:extLst>
                </a:gridCol>
                <a:gridCol w="4762500">
                  <a:extLst>
                    <a:ext uri="{9D8B030D-6E8A-4147-A177-3AD203B41FA5}">
                      <a16:colId xmlns:a16="http://schemas.microsoft.com/office/drawing/2014/main" val="20001"/>
                    </a:ext>
                  </a:extLst>
                </a:gridCol>
                <a:gridCol w="2095500">
                  <a:extLst>
                    <a:ext uri="{9D8B030D-6E8A-4147-A177-3AD203B41FA5}">
                      <a16:colId xmlns:a16="http://schemas.microsoft.com/office/drawing/2014/main" val="20002"/>
                    </a:ext>
                  </a:extLst>
                </a:gridCol>
              </a:tblGrid>
              <a:tr h="9906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Obligation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The Code says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Form</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906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§5.1  Office in Hong Kong</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Where business is actually conducted.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Annex A</a:t>
                      </a:r>
                      <a:endParaRPr lang="en-US" sz="2000" dirty="0">
                        <a:latin typeface="Arial" charset="0"/>
                        <a:ea typeface="Arial" charset="0"/>
                        <a:cs typeface="Arial" charset="0"/>
                      </a:endParaRPr>
                    </a:p>
                    <a:p>
                      <a:pPr marL="0" indent="0" algn="l">
                        <a:buNone/>
                      </a:pPr>
                      <a:r>
                        <a:rPr lang="en-US" sz="2000" dirty="0">
                          <a:solidFill>
                            <a:srgbClr val="3D3D3D"/>
                          </a:solidFill>
                          <a:latin typeface="Arial" pitchFamily="34" charset="0"/>
                          <a:ea typeface="Arial" pitchFamily="34" charset="-122"/>
                          <a:cs typeface="Arial" pitchFamily="34" charset="-120"/>
                        </a:rPr>
                        <a:t>CICS001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906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§5.2  Operator changes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Merger, acquisition, or ceasing to exist.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Annex B</a:t>
                      </a:r>
                      <a:endParaRPr lang="en-US" sz="2000" dirty="0">
                        <a:latin typeface="Arial" charset="0"/>
                        <a:ea typeface="Arial" charset="0"/>
                        <a:cs typeface="Arial" charset="0"/>
                      </a:endParaRPr>
                    </a:p>
                    <a:p>
                      <a:pPr marL="0" indent="0" algn="l">
                        <a:buNone/>
                      </a:pPr>
                      <a:r>
                        <a:rPr lang="en-US" sz="2000" dirty="0">
                          <a:solidFill>
                            <a:srgbClr val="3D3D3D"/>
                          </a:solidFill>
                          <a:latin typeface="Arial" pitchFamily="34" charset="0"/>
                          <a:ea typeface="Arial" pitchFamily="34" charset="-122"/>
                          <a:cs typeface="Arial" pitchFamily="34" charset="-120"/>
                        </a:rPr>
                        <a:t>CICS002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906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§5.3  Security management unit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"Need not be based in Hong Kong."</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Annex C</a:t>
                      </a:r>
                      <a:endParaRPr lang="en-US" sz="2000" dirty="0">
                        <a:latin typeface="Arial" charset="0"/>
                        <a:ea typeface="Arial" charset="0"/>
                        <a:cs typeface="Arial" charset="0"/>
                      </a:endParaRPr>
                    </a:p>
                    <a:p>
                      <a:pPr marL="0" indent="0" algn="l">
                        <a:buNone/>
                      </a:pPr>
                      <a:r>
                        <a:rPr lang="en-US" sz="2000" dirty="0">
                          <a:solidFill>
                            <a:srgbClr val="3D3D3D"/>
                          </a:solidFill>
                          <a:latin typeface="Arial" pitchFamily="34" charset="0"/>
                          <a:ea typeface="Arial" pitchFamily="34" charset="-122"/>
                          <a:cs typeface="Arial" pitchFamily="34" charset="-120"/>
                        </a:rPr>
                        <a:t>CICS003</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33400" y="282892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§5.1.1, §5.2.1, §5.3.1 — verbatim  ·  Cap. 653 s.19–s.21</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13</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SECTION 21(4) AND FAQ Q7</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Outsource the Unit. Not the Supervisor.</a:t>
            </a:r>
            <a:endParaRPr lang="en-US" sz="3000" dirty="0"/>
          </a:p>
        </p:txBody>
      </p:sp>
      <p:sp>
        <p:nvSpPr>
          <p:cNvPr id="4" name="Shape 2"/>
          <p:cNvSpPr/>
          <p:nvPr/>
        </p:nvSpPr>
        <p:spPr>
          <a:xfrm>
            <a:off x="533400" y="1847850"/>
            <a:ext cx="5457673" cy="28575"/>
          </a:xfrm>
          <a:prstGeom prst="rect">
            <a:avLst/>
          </a:prstGeom>
          <a:solidFill>
            <a:srgbClr val="1A1A1A"/>
          </a:solidFill>
          <a:ln/>
        </p:spPr>
        <p:txBody>
          <a:bodyPr/>
          <a:lstStyle/>
          <a:p>
            <a:endParaRPr lang="en-US"/>
          </a:p>
        </p:txBody>
      </p:sp>
      <p:sp>
        <p:nvSpPr>
          <p:cNvPr id="5" name="Shape 3"/>
          <p:cNvSpPr/>
          <p:nvPr/>
        </p:nvSpPr>
        <p:spPr>
          <a:xfrm>
            <a:off x="533400" y="1876425"/>
            <a:ext cx="5457673" cy="212407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unit may be outsourced</a:t>
            </a:r>
            <a:endParaRPr lang="en-US" sz="2000" dirty="0"/>
          </a:p>
        </p:txBody>
      </p:sp>
      <p:sp>
        <p:nvSpPr>
          <p:cNvPr id="7" name="Text 5"/>
          <p:cNvSpPr/>
          <p:nvPr/>
        </p:nvSpPr>
        <p:spPr>
          <a:xfrm>
            <a:off x="723900" y="2352675"/>
            <a:ext cx="5076673" cy="15716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Ordinance does not prohibit CI operators from engaging overseas or outsourced computer-system security management units."</a:t>
            </a:r>
            <a:endParaRPr lang="en-US" sz="2000" dirty="0"/>
          </a:p>
        </p:txBody>
      </p:sp>
      <p:sp>
        <p:nvSpPr>
          <p:cNvPr id="8" name="Shape 6"/>
          <p:cNvSpPr/>
          <p:nvPr/>
        </p:nvSpPr>
        <p:spPr>
          <a:xfrm>
            <a:off x="6200623" y="1847850"/>
            <a:ext cx="5457673" cy="28575"/>
          </a:xfrm>
          <a:prstGeom prst="rect">
            <a:avLst/>
          </a:prstGeom>
          <a:solidFill>
            <a:srgbClr val="D04A02"/>
          </a:solidFill>
          <a:ln/>
        </p:spPr>
        <p:txBody>
          <a:bodyPr/>
          <a:lstStyle/>
          <a:p>
            <a:endParaRPr lang="en-US"/>
          </a:p>
        </p:txBody>
      </p:sp>
      <p:sp>
        <p:nvSpPr>
          <p:cNvPr id="9" name="Shape 7"/>
          <p:cNvSpPr/>
          <p:nvPr/>
        </p:nvSpPr>
        <p:spPr>
          <a:xfrm>
            <a:off x="6200623" y="1876425"/>
            <a:ext cx="5457673" cy="2124075"/>
          </a:xfrm>
          <a:prstGeom prst="rect">
            <a:avLst/>
          </a:prstGeom>
          <a:solidFill>
            <a:srgbClr val="FDF0E6"/>
          </a:solidFill>
          <a:ln w="6350">
            <a:solidFill>
              <a:srgbClr val="FDF0E6"/>
            </a:solidFill>
            <a:prstDash val="solid"/>
          </a:ln>
        </p:spPr>
        <p:txBody>
          <a:bodyPr/>
          <a:lstStyle/>
          <a:p>
            <a:endParaRPr lang="en-US"/>
          </a:p>
        </p:txBody>
      </p:sp>
      <p:sp>
        <p:nvSpPr>
          <p:cNvPr id="10" name="Text 8"/>
          <p:cNvSpPr/>
          <p:nvPr/>
        </p:nvSpPr>
        <p:spPr>
          <a:xfrm>
            <a:off x="6391123"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supervisor may not be</a:t>
            </a:r>
            <a:endParaRPr lang="en-US" sz="2000" dirty="0"/>
          </a:p>
        </p:txBody>
      </p:sp>
      <p:sp>
        <p:nvSpPr>
          <p:cNvPr id="11" name="Text 9"/>
          <p:cNvSpPr/>
          <p:nvPr/>
        </p:nvSpPr>
        <p:spPr>
          <a:xfrm>
            <a:off x="6391123" y="2352675"/>
            <a:ext cx="5076673" cy="15716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head responsible for supervising the unit must be an employee appointed by the operator."</a:t>
            </a:r>
            <a:endParaRPr lang="en-US" sz="2000" dirty="0"/>
          </a:p>
        </p:txBody>
      </p:sp>
      <p:sp>
        <p:nvSpPr>
          <p:cNvPr id="12" name="Shape 10"/>
          <p:cNvSpPr/>
          <p:nvPr/>
        </p:nvSpPr>
        <p:spPr>
          <a:xfrm>
            <a:off x="533400" y="4229100"/>
            <a:ext cx="5457673" cy="28575"/>
          </a:xfrm>
          <a:prstGeom prst="rect">
            <a:avLst/>
          </a:prstGeom>
          <a:solidFill>
            <a:srgbClr val="1A1A1A"/>
          </a:solidFill>
          <a:ln/>
        </p:spPr>
        <p:txBody>
          <a:bodyPr/>
          <a:lstStyle/>
          <a:p>
            <a:endParaRPr lang="en-US"/>
          </a:p>
        </p:txBody>
      </p:sp>
      <p:sp>
        <p:nvSpPr>
          <p:cNvPr id="13" name="Shape 11"/>
          <p:cNvSpPr/>
          <p:nvPr/>
        </p:nvSpPr>
        <p:spPr>
          <a:xfrm>
            <a:off x="533400" y="4257675"/>
            <a:ext cx="5457673" cy="101917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723900" y="43815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qualifications named</a:t>
            </a:r>
            <a:endParaRPr lang="en-US" sz="2000" dirty="0"/>
          </a:p>
        </p:txBody>
      </p:sp>
      <p:sp>
        <p:nvSpPr>
          <p:cNvPr id="15" name="Text 13"/>
          <p:cNvSpPr/>
          <p:nvPr/>
        </p:nvSpPr>
        <p:spPr>
          <a:xfrm>
            <a:off x="723900" y="4733925"/>
            <a:ext cx="5076673" cy="466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CISP · CISA · CISM · CISSP</a:t>
            </a:r>
            <a:endParaRPr lang="en-US" sz="2000" dirty="0"/>
          </a:p>
        </p:txBody>
      </p:sp>
      <p:sp>
        <p:nvSpPr>
          <p:cNvPr id="16" name="Shape 14"/>
          <p:cNvSpPr/>
          <p:nvPr/>
        </p:nvSpPr>
        <p:spPr>
          <a:xfrm>
            <a:off x="6200623" y="4229100"/>
            <a:ext cx="5457673" cy="28575"/>
          </a:xfrm>
          <a:prstGeom prst="rect">
            <a:avLst/>
          </a:prstGeom>
          <a:solidFill>
            <a:srgbClr val="1A1A1A"/>
          </a:solidFill>
          <a:ln/>
        </p:spPr>
        <p:txBody>
          <a:bodyPr/>
          <a:lstStyle/>
          <a:p>
            <a:endParaRPr lang="en-US"/>
          </a:p>
        </p:txBody>
      </p:sp>
      <p:sp>
        <p:nvSpPr>
          <p:cNvPr id="17" name="Shape 15"/>
          <p:cNvSpPr/>
          <p:nvPr/>
        </p:nvSpPr>
        <p:spPr>
          <a:xfrm>
            <a:off x="6200623" y="4257675"/>
            <a:ext cx="5457673" cy="1019175"/>
          </a:xfrm>
          <a:prstGeom prst="rect">
            <a:avLst/>
          </a:prstGeom>
          <a:solidFill>
            <a:srgbClr val="F2F2F2"/>
          </a:solidFill>
          <a:ln w="6350">
            <a:solidFill>
              <a:srgbClr val="F2F2F2"/>
            </a:solidFill>
            <a:prstDash val="solid"/>
          </a:ln>
        </p:spPr>
        <p:txBody>
          <a:bodyPr/>
          <a:lstStyle/>
          <a:p>
            <a:endParaRPr lang="en-US"/>
          </a:p>
        </p:txBody>
      </p:sp>
      <p:sp>
        <p:nvSpPr>
          <p:cNvPr id="18" name="Text 16"/>
          <p:cNvSpPr/>
          <p:nvPr/>
        </p:nvSpPr>
        <p:spPr>
          <a:xfrm>
            <a:off x="6391123" y="43815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Notified on</a:t>
            </a:r>
            <a:endParaRPr lang="en-US" sz="2000" dirty="0"/>
          </a:p>
        </p:txBody>
      </p:sp>
      <p:sp>
        <p:nvSpPr>
          <p:cNvPr id="19" name="Text 17"/>
          <p:cNvSpPr/>
          <p:nvPr/>
        </p:nvSpPr>
        <p:spPr>
          <a:xfrm>
            <a:off x="6391123" y="4733925"/>
            <a:ext cx="5076673" cy="466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Annex C, Form CICS003</a:t>
            </a:r>
            <a:endParaRPr lang="en-US" sz="2000" dirty="0"/>
          </a:p>
        </p:txBody>
      </p:sp>
      <p:sp>
        <p:nvSpPr>
          <p:cNvPr id="20" name="Shape 18"/>
          <p:cNvSpPr/>
          <p:nvPr/>
        </p:nvSpPr>
        <p:spPr>
          <a:xfrm>
            <a:off x="533400" y="5505450"/>
            <a:ext cx="11124895" cy="28575"/>
          </a:xfrm>
          <a:prstGeom prst="rect">
            <a:avLst/>
          </a:prstGeom>
          <a:solidFill>
            <a:srgbClr val="1A1A1A"/>
          </a:solidFill>
          <a:ln/>
        </p:spPr>
        <p:txBody>
          <a:bodyPr/>
          <a:lstStyle/>
          <a:p>
            <a:endParaRPr lang="en-US"/>
          </a:p>
        </p:txBody>
      </p:sp>
      <p:sp>
        <p:nvSpPr>
          <p:cNvPr id="21" name="Shape 19"/>
          <p:cNvSpPr/>
          <p:nvPr/>
        </p:nvSpPr>
        <p:spPr>
          <a:xfrm>
            <a:off x="533400" y="5534025"/>
            <a:ext cx="11124895" cy="561975"/>
          </a:xfrm>
          <a:prstGeom prst="rect">
            <a:avLst/>
          </a:prstGeom>
          <a:solidFill>
            <a:srgbClr val="F2F2F2"/>
          </a:solidFill>
          <a:ln w="6350">
            <a:solidFill>
              <a:srgbClr val="F2F2F2"/>
            </a:solidFill>
            <a:prstDash val="solid"/>
          </a:ln>
        </p:spPr>
        <p:txBody>
          <a:bodyPr/>
          <a:lstStyle/>
          <a:p>
            <a:endParaRPr lang="en-US"/>
          </a:p>
        </p:txBody>
      </p:sp>
      <p:sp>
        <p:nvSpPr>
          <p:cNvPr id="22" name="Text 20"/>
          <p:cNvSpPr/>
          <p:nvPr/>
        </p:nvSpPr>
        <p:spPr>
          <a:xfrm>
            <a:off x="723900" y="56578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Two out-of-hours contact points — §7.2.3(d) does not say who.</a:t>
            </a:r>
            <a:endParaRPr lang="en-US" sz="2000" dirty="0"/>
          </a:p>
        </p:txBody>
      </p:sp>
      <p:sp>
        <p:nvSpPr>
          <p:cNvPr id="23" name="Text 21"/>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OCCICS operator FAQ Q7 — verbatim  ·  Code of Practice v1.0 §5.3.1–5.3.3 ("contract of employment") and §7.2.3(d)  ·  Cap. 653 s.21(4)</a:t>
            </a:r>
            <a:endParaRPr lang="en-US" sz="1300" dirty="0"/>
          </a:p>
        </p:txBody>
      </p:sp>
      <p:sp>
        <p:nvSpPr>
          <p:cNvPr id="24" name="Text 22"/>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14</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Annexes and the Six Forms</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33400" y="1562100"/>
          <a:ext cx="11049000" cy="4457700"/>
        </p:xfrm>
        <a:graphic>
          <a:graphicData uri="http://schemas.openxmlformats.org/drawingml/2006/table">
            <a:tbl>
              <a:tblPr/>
              <a:tblGrid>
                <a:gridCol w="13335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4953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Annex</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What it is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Category</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Form</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Office address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Organisational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CICS001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B</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Change of operator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Organisational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CICS002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Supervising employee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Organisational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CICS003</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Material changes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7A7A7A"/>
                          </a:solidFill>
                          <a:latin typeface="Arial" pitchFamily="34" charset="0"/>
                          <a:ea typeface="Arial" pitchFamily="34" charset="-122"/>
                          <a:cs typeface="Arial" pitchFamily="34" charset="-120"/>
                        </a:rPr>
                        <a:t>Preventive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CICS004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Incident notification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B3261E"/>
                          </a:solidFill>
                          <a:latin typeface="Arial" pitchFamily="34" charset="0"/>
                          <a:ea typeface="Arial" pitchFamily="34" charset="-122"/>
                          <a:cs typeface="Arial" pitchFamily="34" charset="-120"/>
                        </a:rPr>
                        <a:t>Incident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CICS005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F</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Written report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B3261E"/>
                          </a:solidFill>
                          <a:latin typeface="Arial" pitchFamily="34" charset="0"/>
                          <a:ea typeface="Arial" pitchFamily="34" charset="-122"/>
                          <a:cs typeface="Arial" pitchFamily="34" charset="-120"/>
                        </a:rPr>
                        <a:t>Incident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CICS006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G</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Audit methodology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7A7A7A"/>
                          </a:solidFill>
                          <a:latin typeface="Arial" pitchFamily="34" charset="0"/>
                          <a:ea typeface="Arial" pitchFamily="34" charset="-122"/>
                          <a:cs typeface="Arial" pitchFamily="34" charset="-120"/>
                        </a:rPr>
                        <a:t>Preventive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7A7A7A"/>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H</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Supplier clauses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7A7A7A"/>
                          </a:solidFill>
                          <a:latin typeface="Arial" pitchFamily="34" charset="0"/>
                          <a:ea typeface="Arial" pitchFamily="34" charset="-122"/>
                          <a:cs typeface="Arial" pitchFamily="34" charset="-120"/>
                        </a:rPr>
                        <a:t>Preventive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7A7A7A"/>
                          </a:solidFill>
                          <a:latin typeface="Arial" pitchFamily="34" charset="0"/>
                          <a:ea typeface="Arial" pitchFamily="34" charset="-122"/>
                          <a:cs typeface="Arial" pitchFamily="34" charset="-120"/>
                        </a:rPr>
                        <a: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4" name="Shape 1"/>
          <p:cNvSpPr/>
          <p:nvPr/>
        </p:nvSpPr>
        <p:spPr>
          <a:xfrm>
            <a:off x="533400" y="2047875"/>
            <a:ext cx="11124895" cy="19050"/>
          </a:xfrm>
          <a:prstGeom prst="rect">
            <a:avLst/>
          </a:prstGeom>
          <a:solidFill>
            <a:srgbClr val="1A1A1A"/>
          </a:solidFill>
          <a:ln/>
        </p:spPr>
        <p:txBody>
          <a:bodyPr/>
          <a:lstStyle/>
          <a:p>
            <a:endParaRPr lang="en-US"/>
          </a:p>
        </p:txBody>
      </p:sp>
      <p:sp>
        <p:nvSpPr>
          <p:cNvPr id="5" name="Text 2"/>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Annexes A–H  ·  Forms CICS001–CICS006, occics.gov.hk/en/industry/forms</a:t>
            </a:r>
            <a:endParaRPr lang="en-US" sz="1300" dirty="0"/>
          </a:p>
        </p:txBody>
      </p:sp>
      <p:sp>
        <p:nvSpPr>
          <p:cNvPr id="6"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15</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Lettering Is Not Sequential</a:t>
            </a:r>
            <a:endParaRPr lang="en-US" sz="3000" dirty="0"/>
          </a:p>
        </p:txBody>
      </p:sp>
      <p:sp>
        <p:nvSpPr>
          <p:cNvPr id="3" name="Shape 1"/>
          <p:cNvSpPr/>
          <p:nvPr/>
        </p:nvSpPr>
        <p:spPr>
          <a:xfrm>
            <a:off x="533400" y="1562100"/>
            <a:ext cx="2624061" cy="28575"/>
          </a:xfrm>
          <a:prstGeom prst="rect">
            <a:avLst/>
          </a:prstGeom>
          <a:solidFill>
            <a:srgbClr val="1A1A1A"/>
          </a:solidFill>
          <a:ln/>
        </p:spPr>
        <p:txBody>
          <a:bodyPr/>
          <a:lstStyle/>
          <a:p>
            <a:endParaRPr lang="en-US"/>
          </a:p>
        </p:txBody>
      </p:sp>
      <p:sp>
        <p:nvSpPr>
          <p:cNvPr id="4" name="Shape 2"/>
          <p:cNvSpPr/>
          <p:nvPr/>
        </p:nvSpPr>
        <p:spPr>
          <a:xfrm>
            <a:off x="533400" y="1590675"/>
            <a:ext cx="2624061" cy="1971675"/>
          </a:xfrm>
          <a:prstGeom prst="rect">
            <a:avLst/>
          </a:prstGeom>
          <a:solidFill>
            <a:srgbClr val="F2F2F2"/>
          </a:solidFill>
          <a:ln w="6350">
            <a:solidFill>
              <a:srgbClr val="F2F2F2"/>
            </a:solidFill>
            <a:prstDash val="solid"/>
          </a:ln>
        </p:spPr>
        <p:txBody>
          <a:bodyPr/>
          <a:lstStyle/>
          <a:p>
            <a:endParaRPr lang="en-US"/>
          </a:p>
        </p:txBody>
      </p:sp>
      <p:sp>
        <p:nvSpPr>
          <p:cNvPr id="5" name="Text 3"/>
          <p:cNvSpPr/>
          <p:nvPr/>
        </p:nvSpPr>
        <p:spPr>
          <a:xfrm>
            <a:off x="723900" y="171450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 – C</a:t>
            </a:r>
            <a:endParaRPr lang="en-US" sz="2000" dirty="0"/>
          </a:p>
        </p:txBody>
      </p:sp>
      <p:sp>
        <p:nvSpPr>
          <p:cNvPr id="6" name="Text 4"/>
          <p:cNvSpPr/>
          <p:nvPr/>
        </p:nvSpPr>
        <p:spPr>
          <a:xfrm>
            <a:off x="723900" y="2066925"/>
            <a:ext cx="2243061" cy="1419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Organisational</a:t>
            </a:r>
            <a:endParaRPr lang="en-US" sz="2000" dirty="0"/>
          </a:p>
        </p:txBody>
      </p:sp>
      <p:sp>
        <p:nvSpPr>
          <p:cNvPr id="7" name="Shape 5"/>
          <p:cNvSpPr/>
          <p:nvPr/>
        </p:nvSpPr>
        <p:spPr>
          <a:xfrm>
            <a:off x="3367011" y="1562100"/>
            <a:ext cx="2624061" cy="28575"/>
          </a:xfrm>
          <a:prstGeom prst="rect">
            <a:avLst/>
          </a:prstGeom>
          <a:solidFill>
            <a:srgbClr val="1A1A1A"/>
          </a:solidFill>
          <a:ln/>
        </p:spPr>
        <p:txBody>
          <a:bodyPr/>
          <a:lstStyle/>
          <a:p>
            <a:endParaRPr lang="en-US"/>
          </a:p>
        </p:txBody>
      </p:sp>
      <p:sp>
        <p:nvSpPr>
          <p:cNvPr id="8" name="Shape 6"/>
          <p:cNvSpPr/>
          <p:nvPr/>
        </p:nvSpPr>
        <p:spPr>
          <a:xfrm>
            <a:off x="3367011" y="1590675"/>
            <a:ext cx="2624061" cy="197167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3557511" y="171450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D</a:t>
            </a:r>
            <a:endParaRPr lang="en-US" sz="2000" dirty="0"/>
          </a:p>
        </p:txBody>
      </p:sp>
      <p:sp>
        <p:nvSpPr>
          <p:cNvPr id="10" name="Text 8"/>
          <p:cNvSpPr/>
          <p:nvPr/>
        </p:nvSpPr>
        <p:spPr>
          <a:xfrm>
            <a:off x="3557511" y="2066925"/>
            <a:ext cx="2243061" cy="1419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Preventive</a:t>
            </a:r>
            <a:endParaRPr lang="en-US" sz="2000" dirty="0"/>
          </a:p>
        </p:txBody>
      </p:sp>
      <p:sp>
        <p:nvSpPr>
          <p:cNvPr id="11" name="Shape 9"/>
          <p:cNvSpPr/>
          <p:nvPr/>
        </p:nvSpPr>
        <p:spPr>
          <a:xfrm>
            <a:off x="6200623" y="1562100"/>
            <a:ext cx="2624061" cy="28575"/>
          </a:xfrm>
          <a:prstGeom prst="rect">
            <a:avLst/>
          </a:prstGeom>
          <a:solidFill>
            <a:srgbClr val="1A1A1A"/>
          </a:solidFill>
          <a:ln/>
        </p:spPr>
        <p:txBody>
          <a:bodyPr/>
          <a:lstStyle/>
          <a:p>
            <a:endParaRPr lang="en-US"/>
          </a:p>
        </p:txBody>
      </p:sp>
      <p:sp>
        <p:nvSpPr>
          <p:cNvPr id="12" name="Shape 10"/>
          <p:cNvSpPr/>
          <p:nvPr/>
        </p:nvSpPr>
        <p:spPr>
          <a:xfrm>
            <a:off x="6200623" y="1590675"/>
            <a:ext cx="2624061" cy="1971675"/>
          </a:xfrm>
          <a:prstGeom prst="rect">
            <a:avLst/>
          </a:prstGeom>
          <a:solidFill>
            <a:srgbClr val="F2F2F2"/>
          </a:solidFill>
          <a:ln w="6350">
            <a:solidFill>
              <a:srgbClr val="F2F2F2"/>
            </a:solidFill>
            <a:prstDash val="solid"/>
          </a:ln>
        </p:spPr>
        <p:txBody>
          <a:bodyPr/>
          <a:lstStyle/>
          <a:p>
            <a:endParaRPr lang="en-US"/>
          </a:p>
        </p:txBody>
      </p:sp>
      <p:sp>
        <p:nvSpPr>
          <p:cNvPr id="13" name="Text 11"/>
          <p:cNvSpPr/>
          <p:nvPr/>
        </p:nvSpPr>
        <p:spPr>
          <a:xfrm>
            <a:off x="6391123" y="171450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E – F</a:t>
            </a:r>
            <a:endParaRPr lang="en-US" sz="2000" dirty="0"/>
          </a:p>
        </p:txBody>
      </p:sp>
      <p:sp>
        <p:nvSpPr>
          <p:cNvPr id="14" name="Text 12"/>
          <p:cNvSpPr/>
          <p:nvPr/>
        </p:nvSpPr>
        <p:spPr>
          <a:xfrm>
            <a:off x="6391123" y="2066925"/>
            <a:ext cx="2243061" cy="1419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Incident response</a:t>
            </a:r>
            <a:endParaRPr lang="en-US" sz="2000" dirty="0"/>
          </a:p>
        </p:txBody>
      </p:sp>
      <p:sp>
        <p:nvSpPr>
          <p:cNvPr id="15" name="Shape 13"/>
          <p:cNvSpPr/>
          <p:nvPr/>
        </p:nvSpPr>
        <p:spPr>
          <a:xfrm>
            <a:off x="9034234" y="1562100"/>
            <a:ext cx="2624061" cy="28575"/>
          </a:xfrm>
          <a:prstGeom prst="rect">
            <a:avLst/>
          </a:prstGeom>
          <a:solidFill>
            <a:srgbClr val="D04A02"/>
          </a:solidFill>
          <a:ln/>
        </p:spPr>
        <p:txBody>
          <a:bodyPr/>
          <a:lstStyle/>
          <a:p>
            <a:endParaRPr lang="en-US"/>
          </a:p>
        </p:txBody>
      </p:sp>
      <p:sp>
        <p:nvSpPr>
          <p:cNvPr id="16" name="Shape 14"/>
          <p:cNvSpPr/>
          <p:nvPr/>
        </p:nvSpPr>
        <p:spPr>
          <a:xfrm>
            <a:off x="9034234" y="1590675"/>
            <a:ext cx="2624061" cy="1971675"/>
          </a:xfrm>
          <a:prstGeom prst="rect">
            <a:avLst/>
          </a:prstGeom>
          <a:solidFill>
            <a:srgbClr val="FDF0E6"/>
          </a:solidFill>
          <a:ln w="6350">
            <a:solidFill>
              <a:srgbClr val="FDF0E6"/>
            </a:solidFill>
            <a:prstDash val="solid"/>
          </a:ln>
        </p:spPr>
        <p:txBody>
          <a:bodyPr/>
          <a:lstStyle/>
          <a:p>
            <a:endParaRPr lang="en-US"/>
          </a:p>
        </p:txBody>
      </p:sp>
      <p:sp>
        <p:nvSpPr>
          <p:cNvPr id="17" name="Text 15"/>
          <p:cNvSpPr/>
          <p:nvPr/>
        </p:nvSpPr>
        <p:spPr>
          <a:xfrm>
            <a:off x="9224734" y="171450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G – H</a:t>
            </a:r>
            <a:endParaRPr lang="en-US" sz="2000" dirty="0"/>
          </a:p>
        </p:txBody>
      </p:sp>
      <p:sp>
        <p:nvSpPr>
          <p:cNvPr id="18" name="Text 16"/>
          <p:cNvSpPr/>
          <p:nvPr/>
        </p:nvSpPr>
        <p:spPr>
          <a:xfrm>
            <a:off x="9224734" y="2066925"/>
            <a:ext cx="2243061" cy="1419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Back to preventive</a:t>
            </a:r>
            <a:endParaRPr lang="en-US" sz="2000" dirty="0"/>
          </a:p>
        </p:txBody>
      </p:sp>
      <p:sp>
        <p:nvSpPr>
          <p:cNvPr id="19" name="Shape 17"/>
          <p:cNvSpPr/>
          <p:nvPr/>
        </p:nvSpPr>
        <p:spPr>
          <a:xfrm>
            <a:off x="533400" y="3790950"/>
            <a:ext cx="11124895" cy="28575"/>
          </a:xfrm>
          <a:prstGeom prst="rect">
            <a:avLst/>
          </a:prstGeom>
          <a:solidFill>
            <a:srgbClr val="D04A02"/>
          </a:solidFill>
          <a:ln/>
        </p:spPr>
        <p:txBody>
          <a:bodyPr/>
          <a:lstStyle/>
          <a:p>
            <a:endParaRPr lang="en-US"/>
          </a:p>
        </p:txBody>
      </p:sp>
      <p:sp>
        <p:nvSpPr>
          <p:cNvPr id="20" name="Shape 18"/>
          <p:cNvSpPr/>
          <p:nvPr/>
        </p:nvSpPr>
        <p:spPr>
          <a:xfrm>
            <a:off x="533400" y="3819525"/>
            <a:ext cx="11124895" cy="2066925"/>
          </a:xfrm>
          <a:prstGeom prst="rect">
            <a:avLst/>
          </a:prstGeom>
          <a:solidFill>
            <a:srgbClr val="FDF0E6"/>
          </a:solidFill>
          <a:ln w="6350">
            <a:solidFill>
              <a:srgbClr val="FDF0E6"/>
            </a:solidFill>
            <a:prstDash val="solid"/>
          </a:ln>
        </p:spPr>
        <p:txBody>
          <a:bodyPr/>
          <a:lstStyle/>
          <a:p>
            <a:endParaRPr lang="en-US"/>
          </a:p>
        </p:txBody>
      </p:sp>
      <p:sp>
        <p:nvSpPr>
          <p:cNvPr id="21" name="Text 19"/>
          <p:cNvSpPr/>
          <p:nvPr/>
        </p:nvSpPr>
        <p:spPr>
          <a:xfrm>
            <a:off x="723900" y="39433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Only A–F are statutory forms</a:t>
            </a:r>
            <a:endParaRPr lang="en-US" sz="2000" dirty="0"/>
          </a:p>
        </p:txBody>
      </p:sp>
      <p:sp>
        <p:nvSpPr>
          <p:cNvPr id="22" name="Text 20"/>
          <p:cNvSpPr/>
          <p:nvPr/>
        </p:nvSpPr>
        <p:spPr>
          <a:xfrm>
            <a:off x="723900" y="4295775"/>
            <a:ext cx="10743895" cy="1514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G is the outline audit methodology. H is sample contract clauses for service providers.</a:t>
            </a: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Both are guidance, not forms to file.</a:t>
            </a:r>
            <a:endParaRPr lang="en-US" sz="2000" dirty="0"/>
          </a:p>
        </p:txBody>
      </p:sp>
      <p:sp>
        <p:nvSpPr>
          <p:cNvPr id="23" name="Text 21"/>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Annexes A–H  ·  Forms CICS001–CICS006</a:t>
            </a:r>
            <a:endParaRPr lang="en-US" sz="1300" dirty="0"/>
          </a:p>
        </p:txBody>
      </p:sp>
      <p:sp>
        <p:nvSpPr>
          <p:cNvPr id="24" name="Text 22"/>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ALL MEASURED FROM THE DESIGNATION DATE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Every Clock, in One Place</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000500"/>
        </p:xfrm>
        <a:graphic>
          <a:graphicData uri="http://schemas.openxmlformats.org/drawingml/2006/table">
            <a:tbl>
              <a:tblPr/>
              <a:tblGrid>
                <a:gridCol w="5143500">
                  <a:extLst>
                    <a:ext uri="{9D8B030D-6E8A-4147-A177-3AD203B41FA5}">
                      <a16:colId xmlns:a16="http://schemas.microsoft.com/office/drawing/2014/main" val="20000"/>
                    </a:ext>
                  </a:extLst>
                </a:gridCol>
                <a:gridCol w="5905500">
                  <a:extLst>
                    <a:ext uri="{9D8B030D-6E8A-4147-A177-3AD203B41FA5}">
                      <a16:colId xmlns:a16="http://schemas.microsoft.com/office/drawing/2014/main" val="20001"/>
                    </a:ext>
                  </a:extLst>
                </a:gridCol>
              </a:tblGrid>
              <a:tr h="6667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Obligation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Deadline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667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Office in Hong Kong, security management unit</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1 month</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667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Computer-system security management plan</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3 months, then reviewed at least every 2 years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667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Emergency response plan</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3 months, then reviewed at least every 2 years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667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Security risk assessment</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12 months, then every 12 — report within 3 months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667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Security audit</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24 months, then every 24 — report within 3 months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33400" y="25050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s.19–s.25  ·  Code of Practice v1.0 Chapters 5–6  ·  report deadlines per Pinsent Masons and Tanner De Witt analyses, Aug 2025</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17</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INCIDENT REPORTING</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And Two Clocks That Are Not</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2362200"/>
        </p:xfrm>
        <a:graphic>
          <a:graphicData uri="http://schemas.openxmlformats.org/drawingml/2006/table">
            <a:tbl>
              <a:tblPr/>
              <a:tblGrid>
                <a:gridCol w="6667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5905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If it is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You notify within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9055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A serious computer-system security incident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B3261E"/>
                          </a:solidFill>
                          <a:latin typeface="Arial" pitchFamily="34" charset="0"/>
                          <a:ea typeface="Arial" pitchFamily="34" charset="-122"/>
                          <a:cs typeface="Arial" pitchFamily="34" charset="-120"/>
                        </a:rPr>
                        <a:t>12 hours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05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Any other computer-system security incident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D04A02"/>
                          </a:solidFill>
                          <a:latin typeface="Arial" pitchFamily="34" charset="0"/>
                          <a:ea typeface="Arial" pitchFamily="34" charset="-122"/>
                          <a:cs typeface="Arial" pitchFamily="34" charset="-120"/>
                        </a:rPr>
                        <a:t>48 hours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05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Either — the written report follows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14 days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33400" y="2428875"/>
            <a:ext cx="11124895" cy="19050"/>
          </a:xfrm>
          <a:prstGeom prst="rect">
            <a:avLst/>
          </a:prstGeom>
          <a:solidFill>
            <a:srgbClr val="1A1A1A"/>
          </a:solidFill>
          <a:ln/>
        </p:spPr>
        <p:txBody>
          <a:bodyPr/>
          <a:lstStyle/>
          <a:p>
            <a:endParaRPr lang="en-US"/>
          </a:p>
        </p:txBody>
      </p:sp>
      <p:sp>
        <p:nvSpPr>
          <p:cNvPr id="6" name="Shape 3"/>
          <p:cNvSpPr/>
          <p:nvPr/>
        </p:nvSpPr>
        <p:spPr>
          <a:xfrm>
            <a:off x="533400" y="4381500"/>
            <a:ext cx="11124895" cy="28575"/>
          </a:xfrm>
          <a:prstGeom prst="rect">
            <a:avLst/>
          </a:prstGeom>
          <a:solidFill>
            <a:srgbClr val="D04A02"/>
          </a:solidFill>
          <a:ln/>
        </p:spPr>
        <p:txBody>
          <a:bodyPr/>
          <a:lstStyle/>
          <a:p>
            <a:endParaRPr lang="en-US"/>
          </a:p>
        </p:txBody>
      </p:sp>
      <p:sp>
        <p:nvSpPr>
          <p:cNvPr id="7" name="Shape 4"/>
          <p:cNvSpPr/>
          <p:nvPr/>
        </p:nvSpPr>
        <p:spPr>
          <a:xfrm>
            <a:off x="533400" y="4410075"/>
            <a:ext cx="11124895" cy="1647825"/>
          </a:xfrm>
          <a:prstGeom prst="rect">
            <a:avLst/>
          </a:prstGeom>
          <a:solidFill>
            <a:srgbClr val="FDF0E6"/>
          </a:solidFill>
          <a:ln w="6350">
            <a:solidFill>
              <a:srgbClr val="FDF0E6"/>
            </a:solidFill>
            <a:prstDash val="solid"/>
          </a:ln>
        </p:spPr>
        <p:txBody>
          <a:bodyPr/>
          <a:lstStyle/>
          <a:p>
            <a:endParaRPr lang="en-US"/>
          </a:p>
        </p:txBody>
      </p:sp>
      <p:sp>
        <p:nvSpPr>
          <p:cNvPr id="8" name="Text 5"/>
          <p:cNvSpPr/>
          <p:nvPr/>
        </p:nvSpPr>
        <p:spPr>
          <a:xfrm>
            <a:off x="723900" y="45339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But first — is it even an incident?</a:t>
            </a:r>
            <a:endParaRPr lang="en-US" sz="2000" dirty="0"/>
          </a:p>
        </p:txBody>
      </p:sp>
      <p:sp>
        <p:nvSpPr>
          <p:cNvPr id="9" name="Text 6"/>
          <p:cNvSpPr/>
          <p:nvPr/>
        </p:nvSpPr>
        <p:spPr>
          <a:xfrm>
            <a:off x="723900" y="4886325"/>
            <a:ext cx="10743895" cy="10953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It needs an act without lawful authority, with an actual adverse effect on a critical computer system. No CCS, no report at all.</a:t>
            </a:r>
            <a:endParaRPr lang="en-US" sz="2000" dirty="0"/>
          </a:p>
        </p:txBody>
      </p:sp>
      <p:sp>
        <p:nvSpPr>
          <p:cNvPr id="10" name="Text 7"/>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s.28  ·  Code of Practice v1.0 §7.3.2 (what is an incident) and §7.3.4 (what makes one serious) — both in full at 20:35</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18</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Where to Find All of This</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33400" y="1562100"/>
          <a:ext cx="11049000" cy="3600450"/>
        </p:xfrm>
        <a:graphic>
          <a:graphicData uri="http://schemas.openxmlformats.org/drawingml/2006/table">
            <a:tbl>
              <a:tblPr/>
              <a:tblGrid>
                <a:gridCol w="3619500">
                  <a:extLst>
                    <a:ext uri="{9D8B030D-6E8A-4147-A177-3AD203B41FA5}">
                      <a16:colId xmlns:a16="http://schemas.microsoft.com/office/drawing/2014/main" val="20000"/>
                    </a:ext>
                  </a:extLst>
                </a:gridCol>
                <a:gridCol w="7429500">
                  <a:extLst>
                    <a:ext uri="{9D8B030D-6E8A-4147-A177-3AD203B41FA5}">
                      <a16:colId xmlns:a16="http://schemas.microsoft.com/office/drawing/2014/main" val="20001"/>
                    </a:ext>
                  </a:extLst>
                </a:gridCol>
              </a:tblGrid>
              <a:tr h="5143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What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Where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The Ordinance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elegislation.gov.hk/hk/cap653</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Code of Practice v1.0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occics.gov.hk → content_19 → CoP_en_v1.0.pdf</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The six forms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occics.gov.hk/en/industry/forms/index.html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Operator FAQ</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occics.gov.hk/en/industry/faq/index.html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The consultation trail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sb.gov.hk/eng/CI/protection.html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S17 and G3, for Week 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govcert.gov.hk/doc/  S17-v8.1_EN.pdf · G3_EN.pdf</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4" name="Shape 1"/>
          <p:cNvSpPr/>
          <p:nvPr/>
        </p:nvSpPr>
        <p:spPr>
          <a:xfrm>
            <a:off x="533400" y="2066925"/>
            <a:ext cx="11124895" cy="19050"/>
          </a:xfrm>
          <a:prstGeom prst="rect">
            <a:avLst/>
          </a:prstGeom>
          <a:solidFill>
            <a:srgbClr val="1A1A1A"/>
          </a:solidFill>
          <a:ln/>
        </p:spPr>
        <p:txBody>
          <a:bodyPr/>
          <a:lstStyle/>
          <a:p>
            <a:endParaRPr lang="en-US"/>
          </a:p>
        </p:txBody>
      </p:sp>
      <p:sp>
        <p:nvSpPr>
          <p:cNvPr id="5" name="Text 2"/>
          <p:cNvSpPr/>
          <p:nvPr/>
        </p:nvSpPr>
        <p:spPr>
          <a:xfrm>
            <a:off x="533400" y="5600700"/>
            <a:ext cx="11124895" cy="381000"/>
          </a:xfrm>
          <a:prstGeom prst="rect">
            <a:avLst/>
          </a:prstGeom>
          <a:noFill/>
          <a:ln/>
        </p:spPr>
        <p:txBody>
          <a:bodyPr wrap="square" rtlCol="0" anchor="ctr"/>
          <a:lstStyle/>
          <a:p>
            <a:pPr marL="0" indent="0">
              <a:buNone/>
            </a:pPr>
            <a:r>
              <a:rPr lang="en-US" sz="2200" b="1" dirty="0">
                <a:solidFill>
                  <a:srgbClr val="1A1A1A"/>
                </a:solidFill>
                <a:latin typeface="Arial" pitchFamily="34" charset="0"/>
                <a:ea typeface="Arial" pitchFamily="34" charset="-122"/>
                <a:cs typeface="Arial" pitchFamily="34" charset="-120"/>
              </a:rPr>
              <a:t>The annotated reading pack is on the course page.</a:t>
            </a:r>
            <a:endParaRPr lang="en-US" sz="2200" dirty="0"/>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All links verified September 2026</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19</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2381250"/>
            <a:ext cx="11124895" cy="247650"/>
          </a:xfrm>
          <a:prstGeom prst="rect">
            <a:avLst/>
          </a:prstGeom>
          <a:noFill/>
          <a:ln/>
        </p:spPr>
        <p:txBody>
          <a:bodyPr wrap="square" rtlCol="0" anchor="ctr"/>
          <a:lstStyle/>
          <a:p>
            <a:pPr marL="0" indent="0">
              <a:buNone/>
            </a:pPr>
            <a:r>
              <a:rPr lang="en-US" sz="1600" b="1" kern="0" spc="140" dirty="0">
                <a:solidFill>
                  <a:srgbClr val="D04A02"/>
                </a:solidFill>
                <a:latin typeface="Arial" pitchFamily="34" charset="0"/>
                <a:ea typeface="Arial" pitchFamily="34" charset="-122"/>
                <a:cs typeface="Arial" pitchFamily="34" charset="-120"/>
              </a:rPr>
              <a:t>20:00 – 20:15</a:t>
            </a:r>
            <a:endParaRPr lang="en-US" sz="1600" dirty="0"/>
          </a:p>
        </p:txBody>
      </p:sp>
      <p:sp>
        <p:nvSpPr>
          <p:cNvPr id="3" name="Text 1"/>
          <p:cNvSpPr/>
          <p:nvPr/>
        </p:nvSpPr>
        <p:spPr>
          <a:xfrm>
            <a:off x="533400" y="2743200"/>
            <a:ext cx="8572500" cy="704850"/>
          </a:xfrm>
          <a:prstGeom prst="rect">
            <a:avLst/>
          </a:prstGeom>
          <a:noFill/>
          <a:ln/>
        </p:spPr>
        <p:txBody>
          <a:bodyPr wrap="square" rtlCol="0" anchor="t"/>
          <a:lstStyle/>
          <a:p>
            <a:pPr marL="0" indent="0">
              <a:buNone/>
            </a:pPr>
            <a:r>
              <a:rPr lang="en-US" sz="4400" dirty="0">
                <a:solidFill>
                  <a:srgbClr val="1A1A1A"/>
                </a:solidFill>
                <a:latin typeface="Georgia" pitchFamily="34" charset="0"/>
                <a:ea typeface="Georgia" pitchFamily="34" charset="-122"/>
                <a:cs typeface="Georgia" pitchFamily="34" charset="-120"/>
              </a:rPr>
              <a:t>Break.</a:t>
            </a:r>
            <a:endParaRPr lang="en-US" sz="4400" dirty="0"/>
          </a:p>
        </p:txBody>
      </p:sp>
      <p:sp>
        <p:nvSpPr>
          <p:cNvPr id="4" name="Shape 2"/>
          <p:cNvSpPr/>
          <p:nvPr/>
        </p:nvSpPr>
        <p:spPr>
          <a:xfrm>
            <a:off x="533400" y="3657600"/>
            <a:ext cx="1143000" cy="28575"/>
          </a:xfrm>
          <a:prstGeom prst="rect">
            <a:avLst/>
          </a:prstGeom>
          <a:solidFill>
            <a:srgbClr val="D04A02"/>
          </a:solidFill>
          <a:ln/>
        </p:spPr>
        <p:txBody>
          <a:bodyPr/>
          <a:lstStyle/>
          <a:p>
            <a:endParaRPr lang="en-US"/>
          </a:p>
        </p:txBody>
      </p:sp>
      <p:sp>
        <p:nvSpPr>
          <p:cNvPr id="5" name="Text 3"/>
          <p:cNvSpPr/>
          <p:nvPr/>
        </p:nvSpPr>
        <p:spPr>
          <a:xfrm>
            <a:off x="533400" y="3905250"/>
            <a:ext cx="8382000" cy="857250"/>
          </a:xfrm>
          <a:prstGeom prst="rect">
            <a:avLst/>
          </a:prstGeom>
          <a:noFill/>
          <a:ln/>
        </p:spPr>
        <p:txBody>
          <a:bodyPr wrap="square" rtlCol="0" anchor="ctr"/>
          <a:lstStyle/>
          <a:p>
            <a:pPr marL="0" indent="0">
              <a:lnSpc>
                <a:spcPct val="130000"/>
              </a:lnSpc>
              <a:buNone/>
            </a:pPr>
            <a:r>
              <a:rPr lang="en-US" sz="2000" dirty="0">
                <a:solidFill>
                  <a:srgbClr val="7A7A7A"/>
                </a:solidFill>
                <a:latin typeface="Arial" pitchFamily="34" charset="0"/>
                <a:ea typeface="Arial" pitchFamily="34" charset="-122"/>
                <a:cs typeface="Arial" pitchFamily="34" charset="-120"/>
              </a:rPr>
              <a:t>That is the instrument. After the break, the four documents it makes you write — and the fourth one is the reason this course exists.</a:t>
            </a:r>
            <a:endParaRPr lang="en-US" sz="2000" dirty="0"/>
          </a:p>
        </p:txBody>
      </p:sp>
      <p:sp>
        <p:nvSpPr>
          <p:cNvPr id="6"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20</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marL="0" indent="0">
              <a:buNone/>
            </a:pPr>
            <a:r>
              <a:rPr lang="en-US" sz="1600" b="1" kern="0" spc="140" dirty="0">
                <a:solidFill>
                  <a:srgbClr val="7A7A7A"/>
                </a:solidFill>
                <a:latin typeface="Arial" pitchFamily="34" charset="0"/>
                <a:ea typeface="Arial" pitchFamily="34" charset="-122"/>
                <a:cs typeface="Arial" pitchFamily="34" charset="-120"/>
              </a:rPr>
              <a:t>PART 2  ·  20:15 – 21:00</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The Four</a:t>
            </a:r>
            <a:endParaRPr lang="en-US" sz="4400" dirty="0"/>
          </a:p>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Documents</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marL="0" indent="0">
              <a:lnSpc>
                <a:spcPct val="135000"/>
              </a:lnSpc>
              <a:buNone/>
            </a:pPr>
            <a:r>
              <a:rPr lang="en-US" sz="2000" dirty="0">
                <a:solidFill>
                  <a:srgbClr val="7A7A7A"/>
                </a:solidFill>
                <a:latin typeface="Arial" pitchFamily="34" charset="0"/>
                <a:ea typeface="Arial" pitchFamily="34" charset="-122"/>
                <a:cs typeface="Arial" pitchFamily="34" charset="-120"/>
              </a:rPr>
              <a:t>1 — The CCS list</a:t>
            </a: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      10 min</a:t>
            </a:r>
            <a:endParaRPr lang="en-US" sz="2000" dirty="0"/>
          </a:p>
          <a:p>
            <a:pPr marL="0" indent="0">
              <a:lnSpc>
                <a:spcPct val="135000"/>
              </a:lnSpc>
              <a:buNone/>
            </a:pP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2 — The security</a:t>
            </a: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      management plan</a:t>
            </a: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      10 min</a:t>
            </a:r>
            <a:endParaRPr lang="en-US" sz="2000" dirty="0"/>
          </a:p>
          <a:p>
            <a:pPr marL="0" indent="0">
              <a:lnSpc>
                <a:spcPct val="135000"/>
              </a:lnSpc>
              <a:buNone/>
            </a:pP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3 — The emergency</a:t>
            </a: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      response plan</a:t>
            </a: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      10 min</a:t>
            </a:r>
            <a:endParaRPr lang="en-US" sz="2000" dirty="0"/>
          </a:p>
          <a:p>
            <a:pPr marL="0" indent="0">
              <a:lnSpc>
                <a:spcPct val="135000"/>
              </a:lnSpc>
              <a:buNone/>
            </a:pP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4 — Risk assessment</a:t>
            </a: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      and audit</a:t>
            </a:r>
            <a:endParaRPr lang="en-US" sz="2000" dirty="0"/>
          </a:p>
          <a:p>
            <a:pPr marL="0" indent="0">
              <a:lnSpc>
                <a:spcPct val="135000"/>
              </a:lnSpc>
              <a:buNone/>
            </a:pPr>
            <a:r>
              <a:rPr lang="en-US" sz="2000" dirty="0">
                <a:solidFill>
                  <a:srgbClr val="7A7A7A"/>
                </a:solidFill>
                <a:latin typeface="Arial" pitchFamily="34" charset="0"/>
                <a:ea typeface="Arial" pitchFamily="34" charset="-122"/>
                <a:cs typeface="Arial" pitchFamily="34" charset="-120"/>
              </a:rPr>
              <a:t>      15 min</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21</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marL="0" indent="0">
              <a:buNone/>
            </a:pPr>
            <a:r>
              <a:rPr lang="en-US" sz="1600" b="1" kern="0" spc="140" dirty="0">
                <a:solidFill>
                  <a:srgbClr val="7A7A7A"/>
                </a:solidFill>
                <a:latin typeface="Arial" pitchFamily="34" charset="0"/>
                <a:ea typeface="Arial" pitchFamily="34" charset="-122"/>
                <a:cs typeface="Arial" pitchFamily="34" charset="-120"/>
              </a:rPr>
              <a:t>DOCUMENT 1 OF 4  ·  10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Defining the</a:t>
            </a:r>
            <a:endParaRPr lang="en-US" sz="4400" dirty="0"/>
          </a:p>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Critical</a:t>
            </a:r>
            <a:endParaRPr lang="en-US" sz="4400" dirty="0"/>
          </a:p>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Computer System</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marL="0" indent="0">
              <a:lnSpc>
                <a:spcPct val="135000"/>
              </a:lnSpc>
              <a:buNone/>
            </a:pPr>
            <a:r>
              <a:rPr lang="en-US" sz="2000" dirty="0">
                <a:solidFill>
                  <a:srgbClr val="7A7A7A"/>
                </a:solidFill>
                <a:latin typeface="Arial" pitchFamily="34" charset="0"/>
                <a:ea typeface="Arial" pitchFamily="34" charset="-122"/>
                <a:cs typeface="Arial" pitchFamily="34" charset="-120"/>
              </a:rPr>
              <a:t>The first deliverable of any engagement, and the one that decides the size of every other one.</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22</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ORDINANCE S.13(1)</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Counts as a CCS</a:t>
            </a:r>
            <a:endParaRPr lang="en-US" sz="3000" dirty="0"/>
          </a:p>
        </p:txBody>
      </p:sp>
      <p:sp>
        <p:nvSpPr>
          <p:cNvPr id="4" name="Shape 2"/>
          <p:cNvSpPr/>
          <p:nvPr/>
        </p:nvSpPr>
        <p:spPr>
          <a:xfrm>
            <a:off x="533400" y="1847850"/>
            <a:ext cx="11124895" cy="1714500"/>
          </a:xfrm>
          <a:prstGeom prst="rect">
            <a:avLst/>
          </a:prstGeom>
          <a:solidFill>
            <a:srgbClr val="1A1A1A"/>
          </a:solidFill>
          <a:ln/>
        </p:spPr>
        <p:txBody>
          <a:bodyPr/>
          <a:lstStyle/>
          <a:p>
            <a:endParaRPr lang="en-US"/>
          </a:p>
        </p:txBody>
      </p:sp>
      <p:sp>
        <p:nvSpPr>
          <p:cNvPr id="5" name="Text 3"/>
          <p:cNvSpPr/>
          <p:nvPr/>
        </p:nvSpPr>
        <p:spPr>
          <a:xfrm>
            <a:off x="762000" y="1847850"/>
            <a:ext cx="10667695" cy="1714500"/>
          </a:xfrm>
          <a:prstGeom prst="rect">
            <a:avLst/>
          </a:prstGeom>
          <a:noFill/>
          <a:ln/>
        </p:spPr>
        <p:txBody>
          <a:bodyPr wrap="square" rtlCol="0" anchor="ctr"/>
          <a:lstStyle/>
          <a:p>
            <a:pPr marL="0" indent="0">
              <a:lnSpc>
                <a:spcPct val="125000"/>
              </a:lnSpc>
              <a:buNone/>
            </a:pPr>
            <a:r>
              <a:rPr lang="en-US" sz="2000" dirty="0">
                <a:solidFill>
                  <a:srgbClr val="FFFFFF"/>
                </a:solidFill>
                <a:latin typeface="Arial" pitchFamily="34" charset="0"/>
                <a:ea typeface="Arial" pitchFamily="34" charset="-122"/>
                <a:cs typeface="Arial" pitchFamily="34" charset="-120"/>
              </a:rPr>
              <a:t>A regulating authority may designate a computer system — whether under the control of the operator or not — that is accessible by the operator in or from Hong Kong, and is essential to the core function of a critical infrastructure.</a:t>
            </a:r>
            <a:endParaRPr lang="en-US" sz="2000" dirty="0"/>
          </a:p>
        </p:txBody>
      </p:sp>
      <p:sp>
        <p:nvSpPr>
          <p:cNvPr id="6" name="Shape 4"/>
          <p:cNvSpPr/>
          <p:nvPr/>
        </p:nvSpPr>
        <p:spPr>
          <a:xfrm>
            <a:off x="533400" y="3714750"/>
            <a:ext cx="5457673" cy="28575"/>
          </a:xfrm>
          <a:prstGeom prst="rect">
            <a:avLst/>
          </a:prstGeom>
          <a:solidFill>
            <a:srgbClr val="D04A02"/>
          </a:solidFill>
          <a:ln/>
        </p:spPr>
        <p:txBody>
          <a:bodyPr/>
          <a:lstStyle/>
          <a:p>
            <a:endParaRPr lang="en-US"/>
          </a:p>
        </p:txBody>
      </p:sp>
      <p:sp>
        <p:nvSpPr>
          <p:cNvPr id="7" name="Shape 5"/>
          <p:cNvSpPr/>
          <p:nvPr/>
        </p:nvSpPr>
        <p:spPr>
          <a:xfrm>
            <a:off x="533400" y="3743325"/>
            <a:ext cx="5457673" cy="2162175"/>
          </a:xfrm>
          <a:prstGeom prst="rect">
            <a:avLst/>
          </a:prstGeom>
          <a:solidFill>
            <a:srgbClr val="FDF0E6"/>
          </a:solidFill>
          <a:ln w="6350">
            <a:solidFill>
              <a:srgbClr val="FDF0E6"/>
            </a:solidFill>
            <a:prstDash val="solid"/>
          </a:ln>
        </p:spPr>
        <p:txBody>
          <a:bodyPr/>
          <a:lstStyle/>
          <a:p>
            <a:endParaRPr lang="en-US"/>
          </a:p>
        </p:txBody>
      </p:sp>
      <p:sp>
        <p:nvSpPr>
          <p:cNvPr id="8" name="Text 6"/>
          <p:cNvSpPr/>
          <p:nvPr/>
        </p:nvSpPr>
        <p:spPr>
          <a:xfrm>
            <a:off x="723900" y="3867150"/>
            <a:ext cx="5076673"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"Whether under the control of the operator or not"</a:t>
            </a:r>
            <a:endParaRPr lang="en-US" sz="2000" dirty="0"/>
          </a:p>
        </p:txBody>
      </p:sp>
      <p:sp>
        <p:nvSpPr>
          <p:cNvPr id="9" name="Text 7"/>
          <p:cNvSpPr/>
          <p:nvPr/>
        </p:nvSpPr>
        <p:spPr>
          <a:xfrm>
            <a:off x="723900" y="4476750"/>
            <a:ext cx="5076673" cy="13525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How third-party and cloud systems come into scope.</a:t>
            </a:r>
            <a:endParaRPr lang="en-US" sz="2000" dirty="0"/>
          </a:p>
        </p:txBody>
      </p:sp>
      <p:sp>
        <p:nvSpPr>
          <p:cNvPr id="10" name="Shape 8"/>
          <p:cNvSpPr/>
          <p:nvPr/>
        </p:nvSpPr>
        <p:spPr>
          <a:xfrm>
            <a:off x="6200623" y="3714750"/>
            <a:ext cx="5457673" cy="28575"/>
          </a:xfrm>
          <a:prstGeom prst="rect">
            <a:avLst/>
          </a:prstGeom>
          <a:solidFill>
            <a:srgbClr val="1A1A1A"/>
          </a:solidFill>
          <a:ln/>
        </p:spPr>
        <p:txBody>
          <a:bodyPr/>
          <a:lstStyle/>
          <a:p>
            <a:endParaRPr lang="en-US"/>
          </a:p>
        </p:txBody>
      </p:sp>
      <p:sp>
        <p:nvSpPr>
          <p:cNvPr id="11" name="Shape 9"/>
          <p:cNvSpPr/>
          <p:nvPr/>
        </p:nvSpPr>
        <p:spPr>
          <a:xfrm>
            <a:off x="6200623" y="3743325"/>
            <a:ext cx="5457673" cy="2162175"/>
          </a:xfrm>
          <a:prstGeom prst="rect">
            <a:avLst/>
          </a:prstGeom>
          <a:solidFill>
            <a:srgbClr val="F2F2F2"/>
          </a:solidFill>
          <a:ln w="6350">
            <a:solidFill>
              <a:srgbClr val="F2F2F2"/>
            </a:solidFill>
            <a:prstDash val="solid"/>
          </a:ln>
        </p:spPr>
        <p:txBody>
          <a:bodyPr/>
          <a:lstStyle/>
          <a:p>
            <a:endParaRPr lang="en-US"/>
          </a:p>
        </p:txBody>
      </p:sp>
      <p:sp>
        <p:nvSpPr>
          <p:cNvPr id="12" name="Text 10"/>
          <p:cNvSpPr/>
          <p:nvPr/>
        </p:nvSpPr>
        <p:spPr>
          <a:xfrm>
            <a:off x="6391123" y="38671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By written notice</a:t>
            </a:r>
            <a:endParaRPr lang="en-US" sz="2000" dirty="0"/>
          </a:p>
        </p:txBody>
      </p:sp>
      <p:sp>
        <p:nvSpPr>
          <p:cNvPr id="13" name="Text 11"/>
          <p:cNvSpPr/>
          <p:nvPr/>
        </p:nvSpPr>
        <p:spPr>
          <a:xfrm>
            <a:off x="6391123" y="4219575"/>
            <a:ext cx="5076673"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It stands until revoked — s.13(2).</a:t>
            </a:r>
            <a:endParaRPr lang="en-US" sz="2000" dirty="0"/>
          </a:p>
        </p:txBody>
      </p:sp>
      <p:sp>
        <p:nvSpPr>
          <p:cNvPr id="14" name="Text 12"/>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s.13(1) and s.13(2), elegislation.gov.hk/hk/cap653 — verbatim</a:t>
            </a:r>
            <a:endParaRPr lang="en-US" sz="1300" dirty="0"/>
          </a:p>
        </p:txBody>
      </p:sp>
      <p:sp>
        <p:nvSpPr>
          <p:cNvPr id="15" name="Text 1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23</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S.13(3)</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Six Statutory Factors</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467100"/>
        </p:xfrm>
        <a:graphic>
          <a:graphicData uri="http://schemas.openxmlformats.org/drawingml/2006/table">
            <a:tbl>
              <a:tblPr/>
              <a:tblGrid>
                <a:gridCol w="1524000">
                  <a:extLst>
                    <a:ext uri="{9D8B030D-6E8A-4147-A177-3AD203B41FA5}">
                      <a16:colId xmlns:a16="http://schemas.microsoft.com/office/drawing/2014/main" val="20000"/>
                    </a:ext>
                  </a:extLst>
                </a:gridCol>
                <a:gridCol w="7239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4953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s.13(3)</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The factor</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Code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The role of the system in the core function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§3.1.2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(b)</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The impact if it is disrupted or destroyed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§3.1.3</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How far it relates to the operator's other systems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§3.1.6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How far it relates to other operators' systems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§3.1.5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Information provided under Part 3 Division 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§4.1.1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53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(f)</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Any other matters the authority considers relevant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§3.1.4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33400" y="2333625"/>
            <a:ext cx="11124895" cy="19050"/>
          </a:xfrm>
          <a:prstGeom prst="rect">
            <a:avLst/>
          </a:prstGeom>
          <a:solidFill>
            <a:srgbClr val="1A1A1A"/>
          </a:solidFill>
          <a:ln/>
        </p:spPr>
        <p:txBody>
          <a:bodyPr/>
          <a:lstStyle/>
          <a:p>
            <a:endParaRPr lang="en-US"/>
          </a:p>
        </p:txBody>
      </p:sp>
      <p:sp>
        <p:nvSpPr>
          <p:cNvPr id="6" name="Shape 3"/>
          <p:cNvSpPr/>
          <p:nvPr/>
        </p:nvSpPr>
        <p:spPr>
          <a:xfrm>
            <a:off x="533400" y="4953000"/>
            <a:ext cx="11124895" cy="28575"/>
          </a:xfrm>
          <a:prstGeom prst="rect">
            <a:avLst/>
          </a:prstGeom>
          <a:solidFill>
            <a:srgbClr val="D04A02"/>
          </a:solidFill>
          <a:ln/>
        </p:spPr>
        <p:txBody>
          <a:bodyPr/>
          <a:lstStyle/>
          <a:p>
            <a:endParaRPr lang="en-US"/>
          </a:p>
        </p:txBody>
      </p:sp>
      <p:sp>
        <p:nvSpPr>
          <p:cNvPr id="7" name="Shape 4"/>
          <p:cNvSpPr/>
          <p:nvPr/>
        </p:nvSpPr>
        <p:spPr>
          <a:xfrm>
            <a:off x="533400" y="4981575"/>
            <a:ext cx="11124895" cy="1114425"/>
          </a:xfrm>
          <a:prstGeom prst="rect">
            <a:avLst/>
          </a:prstGeom>
          <a:solidFill>
            <a:srgbClr val="FDF0E6"/>
          </a:solidFill>
          <a:ln w="6350">
            <a:solidFill>
              <a:srgbClr val="FDF0E6"/>
            </a:solidFill>
            <a:prstDash val="solid"/>
          </a:ln>
        </p:spPr>
        <p:txBody>
          <a:bodyPr/>
          <a:lstStyle/>
          <a:p>
            <a:endParaRPr lang="en-US"/>
          </a:p>
        </p:txBody>
      </p:sp>
      <p:sp>
        <p:nvSpPr>
          <p:cNvPr id="8" name="Text 5"/>
          <p:cNvSpPr/>
          <p:nvPr/>
        </p:nvSpPr>
        <p:spPr>
          <a:xfrm>
            <a:off x="723900" y="51054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§3.1.7 — not only information technology</a:t>
            </a:r>
            <a:endParaRPr lang="en-US" sz="2000" dirty="0"/>
          </a:p>
        </p:txBody>
      </p:sp>
      <p:sp>
        <p:nvSpPr>
          <p:cNvPr id="9" name="Text 6"/>
          <p:cNvSpPr/>
          <p:nvPr/>
        </p:nvSpPr>
        <p:spPr>
          <a:xfrm>
            <a:off x="723900" y="5457825"/>
            <a:ext cx="10743895" cy="5619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Operational technology — SCADA, DCS, PLC — counts as a computer system here.</a:t>
            </a:r>
            <a:endParaRPr lang="en-US" sz="2000" dirty="0"/>
          </a:p>
        </p:txBody>
      </p:sp>
      <p:sp>
        <p:nvSpPr>
          <p:cNvPr id="10" name="Text 7"/>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s.13(3)(a)–(f) — verbatim  ·  Code of Practice v1.0 §3.1.2–3.1.7, §4.1.1</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24</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CODE OF PRACTICE §3.1.8</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 System Is Not the Application</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149542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§3.1.8</a:t>
            </a:r>
            <a:endParaRPr lang="en-US" sz="2000" dirty="0"/>
          </a:p>
        </p:txBody>
      </p:sp>
      <p:sp>
        <p:nvSpPr>
          <p:cNvPr id="7" name="Text 5"/>
          <p:cNvSpPr/>
          <p:nvPr/>
        </p:nvSpPr>
        <p:spPr>
          <a:xfrm>
            <a:off x="723900" y="2352675"/>
            <a:ext cx="10743895" cy="9429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"Underlying IT infrastructures… network components, operating platform and middleware, are also regarded as computer systems."</a:t>
            </a:r>
            <a:endParaRPr lang="en-US" sz="2000" dirty="0"/>
          </a:p>
        </p:txBody>
      </p:sp>
      <p:sp>
        <p:nvSpPr>
          <p:cNvPr id="8" name="Shape 6"/>
          <p:cNvSpPr/>
          <p:nvPr/>
        </p:nvSpPr>
        <p:spPr>
          <a:xfrm>
            <a:off x="533400" y="3600450"/>
            <a:ext cx="5457673" cy="28575"/>
          </a:xfrm>
          <a:prstGeom prst="rect">
            <a:avLst/>
          </a:prstGeom>
          <a:solidFill>
            <a:srgbClr val="1A1A1A"/>
          </a:solidFill>
          <a:ln/>
        </p:spPr>
        <p:txBody>
          <a:bodyPr/>
          <a:lstStyle/>
          <a:p>
            <a:endParaRPr lang="en-US"/>
          </a:p>
        </p:txBody>
      </p:sp>
      <p:sp>
        <p:nvSpPr>
          <p:cNvPr id="9" name="Shape 7"/>
          <p:cNvSpPr/>
          <p:nvPr/>
        </p:nvSpPr>
        <p:spPr>
          <a:xfrm>
            <a:off x="533400" y="3629025"/>
            <a:ext cx="5457673" cy="244792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723900" y="37528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the user sees</a:t>
            </a:r>
            <a:endParaRPr lang="en-US" sz="2000" dirty="0"/>
          </a:p>
        </p:txBody>
      </p:sp>
      <p:sp>
        <p:nvSpPr>
          <p:cNvPr id="11" name="Text 9"/>
          <p:cNvSpPr/>
          <p:nvPr/>
        </p:nvSpPr>
        <p:spPr>
          <a:xfrm>
            <a:off x="723900" y="4105275"/>
            <a:ext cx="5076673" cy="1895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website. The mobile application. The customer portal.</a:t>
            </a:r>
            <a:endParaRPr lang="en-US" sz="2000" dirty="0"/>
          </a:p>
        </p:txBody>
      </p:sp>
      <p:sp>
        <p:nvSpPr>
          <p:cNvPr id="12" name="Shape 10"/>
          <p:cNvSpPr/>
          <p:nvPr/>
        </p:nvSpPr>
        <p:spPr>
          <a:xfrm>
            <a:off x="6200623" y="3600450"/>
            <a:ext cx="5457673" cy="28575"/>
          </a:xfrm>
          <a:prstGeom prst="rect">
            <a:avLst/>
          </a:prstGeom>
          <a:solidFill>
            <a:srgbClr val="1A1A1A"/>
          </a:solidFill>
          <a:ln/>
        </p:spPr>
        <p:txBody>
          <a:bodyPr/>
          <a:lstStyle/>
          <a:p>
            <a:endParaRPr lang="en-US"/>
          </a:p>
        </p:txBody>
      </p:sp>
      <p:sp>
        <p:nvSpPr>
          <p:cNvPr id="13" name="Shape 11"/>
          <p:cNvSpPr/>
          <p:nvPr/>
        </p:nvSpPr>
        <p:spPr>
          <a:xfrm>
            <a:off x="6200623" y="3629025"/>
            <a:ext cx="5457673" cy="244792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6391123" y="37528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it actually runs on</a:t>
            </a:r>
            <a:endParaRPr lang="en-US" sz="2000" dirty="0"/>
          </a:p>
        </p:txBody>
      </p:sp>
      <p:sp>
        <p:nvSpPr>
          <p:cNvPr id="15" name="Text 13"/>
          <p:cNvSpPr/>
          <p:nvPr/>
        </p:nvSpPr>
        <p:spPr>
          <a:xfrm>
            <a:off x="6391123" y="4105275"/>
            <a:ext cx="5076673" cy="1895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Servers, operating systems, databases, middleware and the network underneath them.</a:t>
            </a:r>
            <a:endParaRPr lang="en-US" sz="2000" dirty="0"/>
          </a:p>
        </p:txBody>
      </p:sp>
      <p:sp>
        <p:nvSpPr>
          <p:cNvPr id="16" name="Text 1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§3.1.8 — verbatim</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25</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CODE OF PRACTICE §3.1.6(A)</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Security Estate Comes Too</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65722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§3.1.6(A)</a:t>
            </a:r>
            <a:endParaRPr lang="en-US" sz="1600" dirty="0"/>
          </a:p>
        </p:txBody>
      </p:sp>
      <p:sp>
        <p:nvSpPr>
          <p:cNvPr id="7" name="Text 5"/>
          <p:cNvSpPr/>
          <p:nvPr/>
        </p:nvSpPr>
        <p:spPr>
          <a:xfrm>
            <a:off x="723900" y="2276475"/>
            <a:ext cx="10743895"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Systems "directly protecting the security of the CCSs" are themselves candidates.</a:t>
            </a:r>
            <a:endParaRPr lang="en-US" sz="2000" dirty="0"/>
          </a:p>
        </p:txBody>
      </p:sp>
      <p:sp>
        <p:nvSpPr>
          <p:cNvPr id="8" name="Shape 6"/>
          <p:cNvSpPr/>
          <p:nvPr/>
        </p:nvSpPr>
        <p:spPr>
          <a:xfrm>
            <a:off x="533400" y="2667000"/>
            <a:ext cx="5391150" cy="28575"/>
          </a:xfrm>
          <a:prstGeom prst="rect">
            <a:avLst/>
          </a:prstGeom>
          <a:solidFill>
            <a:srgbClr val="1A1A1A"/>
          </a:solidFill>
          <a:ln/>
        </p:spPr>
        <p:txBody>
          <a:bodyPr/>
          <a:lstStyle/>
          <a:p>
            <a:endParaRPr lang="en-US"/>
          </a:p>
        </p:txBody>
      </p:sp>
      <p:sp>
        <p:nvSpPr>
          <p:cNvPr id="9" name="Shape 7"/>
          <p:cNvSpPr/>
          <p:nvPr/>
        </p:nvSpPr>
        <p:spPr>
          <a:xfrm>
            <a:off x="533400" y="2695575"/>
            <a:ext cx="5391150" cy="16287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723900" y="2819400"/>
            <a:ext cx="501015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lets people in</a:t>
            </a:r>
            <a:endParaRPr lang="en-US" sz="2000" dirty="0"/>
          </a:p>
        </p:txBody>
      </p:sp>
      <p:sp>
        <p:nvSpPr>
          <p:cNvPr id="11" name="Text 9"/>
          <p:cNvSpPr/>
          <p:nvPr/>
        </p:nvSpPr>
        <p:spPr>
          <a:xfrm>
            <a:off x="723900" y="3171825"/>
            <a:ext cx="5010150" cy="1076325"/>
          </a:xfrm>
          <a:prstGeom prst="rect">
            <a:avLst/>
          </a:prstGeom>
          <a:noFill/>
          <a:ln/>
        </p:spPr>
        <p:txBody>
          <a:bodyPr wrap="square" rtlCol="0" anchor="t"/>
          <a:lstStyle/>
          <a:p>
            <a:pPr marL="0" indent="0">
              <a:lnSpc>
                <a:spcPct val="130000"/>
              </a:lnSpc>
              <a:buNone/>
            </a:pPr>
            <a:r>
              <a:rPr lang="en-US" sz="1800" dirty="0">
                <a:solidFill>
                  <a:srgbClr val="3D3D3D"/>
                </a:solidFill>
                <a:latin typeface="Arial" pitchFamily="34" charset="0"/>
                <a:ea typeface="Arial" pitchFamily="34" charset="-122"/>
                <a:cs typeface="Arial" pitchFamily="34" charset="-120"/>
              </a:rPr>
              <a:t>Active Directory and other directory services. Single sign-on. Multi-factor authentication.</a:t>
            </a:r>
            <a:endParaRPr lang="en-US" sz="1800" dirty="0"/>
          </a:p>
        </p:txBody>
      </p:sp>
      <p:sp>
        <p:nvSpPr>
          <p:cNvPr id="12" name="Shape 10"/>
          <p:cNvSpPr/>
          <p:nvPr/>
        </p:nvSpPr>
        <p:spPr>
          <a:xfrm>
            <a:off x="6038850" y="2667000"/>
            <a:ext cx="5391150" cy="28575"/>
          </a:xfrm>
          <a:prstGeom prst="rect">
            <a:avLst/>
          </a:prstGeom>
          <a:solidFill>
            <a:srgbClr val="1A1A1A"/>
          </a:solidFill>
          <a:ln/>
        </p:spPr>
        <p:txBody>
          <a:bodyPr/>
          <a:lstStyle/>
          <a:p>
            <a:endParaRPr lang="en-US"/>
          </a:p>
        </p:txBody>
      </p:sp>
      <p:sp>
        <p:nvSpPr>
          <p:cNvPr id="13" name="Shape 11"/>
          <p:cNvSpPr/>
          <p:nvPr/>
        </p:nvSpPr>
        <p:spPr>
          <a:xfrm>
            <a:off x="6038850" y="2695575"/>
            <a:ext cx="5391150" cy="162877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6229350" y="2819400"/>
            <a:ext cx="501015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watches it</a:t>
            </a:r>
            <a:endParaRPr lang="en-US" sz="2000" dirty="0"/>
          </a:p>
        </p:txBody>
      </p:sp>
      <p:sp>
        <p:nvSpPr>
          <p:cNvPr id="15" name="Text 13"/>
          <p:cNvSpPr/>
          <p:nvPr/>
        </p:nvSpPr>
        <p:spPr>
          <a:xfrm>
            <a:off x="6229350" y="3171825"/>
            <a:ext cx="5010150" cy="1076325"/>
          </a:xfrm>
          <a:prstGeom prst="rect">
            <a:avLst/>
          </a:prstGeom>
          <a:noFill/>
          <a:ln/>
        </p:spPr>
        <p:txBody>
          <a:bodyPr wrap="square" rtlCol="0" anchor="t"/>
          <a:lstStyle/>
          <a:p>
            <a:pPr marL="0" indent="0">
              <a:lnSpc>
                <a:spcPct val="130000"/>
              </a:lnSpc>
              <a:buNone/>
            </a:pPr>
            <a:r>
              <a:rPr lang="en-US" sz="1800" dirty="0">
                <a:solidFill>
                  <a:srgbClr val="3D3D3D"/>
                </a:solidFill>
                <a:latin typeface="Arial" pitchFamily="34" charset="0"/>
                <a:ea typeface="Arial" pitchFamily="34" charset="-122"/>
                <a:cs typeface="Arial" pitchFamily="34" charset="-120"/>
              </a:rPr>
              <a:t>Security information and event management. Endpoint detection and response. Application firewalls.</a:t>
            </a:r>
            <a:endParaRPr lang="en-US" sz="1800" dirty="0"/>
          </a:p>
        </p:txBody>
      </p:sp>
      <p:sp>
        <p:nvSpPr>
          <p:cNvPr id="16" name="Shape 14"/>
          <p:cNvSpPr/>
          <p:nvPr/>
        </p:nvSpPr>
        <p:spPr>
          <a:xfrm>
            <a:off x="533400" y="4438650"/>
            <a:ext cx="5391150" cy="28575"/>
          </a:xfrm>
          <a:prstGeom prst="rect">
            <a:avLst/>
          </a:prstGeom>
          <a:solidFill>
            <a:srgbClr val="1A1A1A"/>
          </a:solidFill>
          <a:ln/>
        </p:spPr>
        <p:txBody>
          <a:bodyPr/>
          <a:lstStyle/>
          <a:p>
            <a:endParaRPr lang="en-US"/>
          </a:p>
        </p:txBody>
      </p:sp>
      <p:sp>
        <p:nvSpPr>
          <p:cNvPr id="17" name="Shape 15"/>
          <p:cNvSpPr/>
          <p:nvPr/>
        </p:nvSpPr>
        <p:spPr>
          <a:xfrm>
            <a:off x="533400" y="4467225"/>
            <a:ext cx="5391150" cy="1628775"/>
          </a:xfrm>
          <a:prstGeom prst="rect">
            <a:avLst/>
          </a:prstGeom>
          <a:solidFill>
            <a:srgbClr val="F2F2F2"/>
          </a:solidFill>
          <a:ln w="6350">
            <a:solidFill>
              <a:srgbClr val="F2F2F2"/>
            </a:solidFill>
            <a:prstDash val="solid"/>
          </a:ln>
        </p:spPr>
        <p:txBody>
          <a:bodyPr/>
          <a:lstStyle/>
          <a:p>
            <a:endParaRPr lang="en-US"/>
          </a:p>
        </p:txBody>
      </p:sp>
      <p:sp>
        <p:nvSpPr>
          <p:cNvPr id="18" name="Text 16"/>
          <p:cNvSpPr/>
          <p:nvPr/>
        </p:nvSpPr>
        <p:spPr>
          <a:xfrm>
            <a:off x="723900" y="4591050"/>
            <a:ext cx="501015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holds the keys</a:t>
            </a:r>
            <a:endParaRPr lang="en-US" sz="2000" dirty="0"/>
          </a:p>
        </p:txBody>
      </p:sp>
      <p:sp>
        <p:nvSpPr>
          <p:cNvPr id="19" name="Text 17"/>
          <p:cNvSpPr/>
          <p:nvPr/>
        </p:nvSpPr>
        <p:spPr>
          <a:xfrm>
            <a:off x="723900" y="4943475"/>
            <a:ext cx="5010150" cy="1076325"/>
          </a:xfrm>
          <a:prstGeom prst="rect">
            <a:avLst/>
          </a:prstGeom>
          <a:noFill/>
          <a:ln/>
        </p:spPr>
        <p:txBody>
          <a:bodyPr wrap="square" rtlCol="0" anchor="t"/>
          <a:lstStyle/>
          <a:p>
            <a:pPr marL="0" indent="0">
              <a:lnSpc>
                <a:spcPct val="130000"/>
              </a:lnSpc>
              <a:buNone/>
            </a:pPr>
            <a:r>
              <a:rPr lang="en-US" sz="1800" dirty="0">
                <a:solidFill>
                  <a:srgbClr val="3D3D3D"/>
                </a:solidFill>
                <a:latin typeface="Arial" pitchFamily="34" charset="0"/>
                <a:ea typeface="Arial" pitchFamily="34" charset="-122"/>
                <a:cs typeface="Arial" pitchFamily="34" charset="-120"/>
              </a:rPr>
              <a:t>Privileged access management. Secrets vaults. Certificate authorities.</a:t>
            </a:r>
            <a:endParaRPr lang="en-US" sz="1800" dirty="0"/>
          </a:p>
        </p:txBody>
      </p:sp>
      <p:sp>
        <p:nvSpPr>
          <p:cNvPr id="20" name="Shape 18"/>
          <p:cNvSpPr/>
          <p:nvPr/>
        </p:nvSpPr>
        <p:spPr>
          <a:xfrm>
            <a:off x="6038850" y="4438650"/>
            <a:ext cx="5391150" cy="28575"/>
          </a:xfrm>
          <a:prstGeom prst="rect">
            <a:avLst/>
          </a:prstGeom>
          <a:solidFill>
            <a:srgbClr val="1A1A1A"/>
          </a:solidFill>
          <a:ln/>
        </p:spPr>
        <p:txBody>
          <a:bodyPr/>
          <a:lstStyle/>
          <a:p>
            <a:endParaRPr lang="en-US"/>
          </a:p>
        </p:txBody>
      </p:sp>
      <p:sp>
        <p:nvSpPr>
          <p:cNvPr id="21" name="Shape 19"/>
          <p:cNvSpPr/>
          <p:nvPr/>
        </p:nvSpPr>
        <p:spPr>
          <a:xfrm>
            <a:off x="6038850" y="4467225"/>
            <a:ext cx="5391150" cy="1628775"/>
          </a:xfrm>
          <a:prstGeom prst="rect">
            <a:avLst/>
          </a:prstGeom>
          <a:solidFill>
            <a:srgbClr val="F2F2F2"/>
          </a:solidFill>
          <a:ln w="6350">
            <a:solidFill>
              <a:srgbClr val="F2F2F2"/>
            </a:solidFill>
            <a:prstDash val="solid"/>
          </a:ln>
        </p:spPr>
        <p:txBody>
          <a:bodyPr/>
          <a:lstStyle/>
          <a:p>
            <a:endParaRPr lang="en-US"/>
          </a:p>
        </p:txBody>
      </p:sp>
      <p:sp>
        <p:nvSpPr>
          <p:cNvPr id="22" name="Text 20"/>
          <p:cNvSpPr/>
          <p:nvPr/>
        </p:nvSpPr>
        <p:spPr>
          <a:xfrm>
            <a:off x="6229350" y="4591050"/>
            <a:ext cx="501015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keeps it running</a:t>
            </a:r>
            <a:endParaRPr lang="en-US" sz="2000" dirty="0"/>
          </a:p>
        </p:txBody>
      </p:sp>
      <p:sp>
        <p:nvSpPr>
          <p:cNvPr id="23" name="Text 21"/>
          <p:cNvSpPr/>
          <p:nvPr/>
        </p:nvSpPr>
        <p:spPr>
          <a:xfrm>
            <a:off x="6229350" y="4943475"/>
            <a:ext cx="5010150" cy="1076325"/>
          </a:xfrm>
          <a:prstGeom prst="rect">
            <a:avLst/>
          </a:prstGeom>
          <a:noFill/>
          <a:ln/>
        </p:spPr>
        <p:txBody>
          <a:bodyPr wrap="square" rtlCol="0" anchor="t"/>
          <a:lstStyle/>
          <a:p>
            <a:pPr marL="0" indent="0">
              <a:lnSpc>
                <a:spcPct val="130000"/>
              </a:lnSpc>
              <a:buNone/>
            </a:pPr>
            <a:r>
              <a:rPr lang="en-US" sz="1800" dirty="0">
                <a:solidFill>
                  <a:srgbClr val="3D3D3D"/>
                </a:solidFill>
                <a:latin typeface="Arial" pitchFamily="34" charset="0"/>
                <a:ea typeface="Arial" pitchFamily="34" charset="-122"/>
                <a:cs typeface="Arial" pitchFamily="34" charset="-120"/>
              </a:rPr>
              <a:t>Provisioning tooling, monitoring, and the ticketing system recording the change.</a:t>
            </a:r>
            <a:endParaRPr lang="en-US" sz="1800" dirty="0"/>
          </a:p>
        </p:txBody>
      </p:sp>
      <p:sp>
        <p:nvSpPr>
          <p:cNvPr id="24" name="Text 22"/>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§3.1.6(a)–(b) — verbatim</a:t>
            </a:r>
            <a:endParaRPr lang="en-US" sz="1300" dirty="0"/>
          </a:p>
        </p:txBody>
      </p:sp>
      <p:sp>
        <p:nvSpPr>
          <p:cNvPr id="25" name="Text 2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26</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BEFORE YOU ARGUE A SYSTEM OUT OF SCOPE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Three Things to Note</a:t>
            </a:r>
            <a:endParaRPr lang="en-US" sz="3000" dirty="0"/>
          </a:p>
        </p:txBody>
      </p:sp>
      <p:sp>
        <p:nvSpPr>
          <p:cNvPr id="4" name="Shape 2"/>
          <p:cNvSpPr/>
          <p:nvPr/>
        </p:nvSpPr>
        <p:spPr>
          <a:xfrm>
            <a:off x="533400" y="1847850"/>
            <a:ext cx="11124895" cy="28575"/>
          </a:xfrm>
          <a:prstGeom prst="rect">
            <a:avLst/>
          </a:prstGeom>
          <a:solidFill>
            <a:srgbClr val="1A1A1A"/>
          </a:solidFill>
          <a:ln/>
        </p:spPr>
        <p:txBody>
          <a:bodyPr/>
          <a:lstStyle/>
          <a:p>
            <a:endParaRPr lang="en-US"/>
          </a:p>
        </p:txBody>
      </p:sp>
      <p:sp>
        <p:nvSpPr>
          <p:cNvPr id="5" name="Shape 3"/>
          <p:cNvSpPr/>
          <p:nvPr/>
        </p:nvSpPr>
        <p:spPr>
          <a:xfrm>
            <a:off x="533400" y="1876425"/>
            <a:ext cx="11124895" cy="101917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10743895" cy="200025"/>
          </a:xfrm>
          <a:prstGeom prst="rect">
            <a:avLst/>
          </a:prstGeom>
          <a:noFill/>
          <a:ln/>
        </p:spPr>
        <p:txBody>
          <a:bodyPr wrap="square" rtlCol="0" anchor="ctr"/>
          <a:lstStyle/>
          <a:p>
            <a:pPr marL="0" indent="0">
              <a:buNone/>
            </a:pPr>
            <a:r>
              <a:rPr lang="en-US" sz="1600" b="1" kern="0" spc="110" dirty="0">
                <a:solidFill>
                  <a:srgbClr val="7A7A7A"/>
                </a:solidFill>
                <a:latin typeface="Arial" pitchFamily="34" charset="0"/>
                <a:ea typeface="Arial" pitchFamily="34" charset="-122"/>
                <a:cs typeface="Arial" pitchFamily="34" charset="-120"/>
              </a:rPr>
              <a:t>ON ISOLATION — §3.1.2</a:t>
            </a:r>
            <a:endParaRPr lang="en-US" sz="1600" dirty="0"/>
          </a:p>
        </p:txBody>
      </p:sp>
      <p:sp>
        <p:nvSpPr>
          <p:cNvPr id="7" name="Text 5"/>
          <p:cNvSpPr/>
          <p:nvPr/>
        </p:nvSpPr>
        <p:spPr>
          <a:xfrm>
            <a:off x="723900" y="2276475"/>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"Whether a computer system is isolated from the Internet is irrelevant."</a:t>
            </a:r>
            <a:endParaRPr lang="en-US" sz="2000" dirty="0"/>
          </a:p>
        </p:txBody>
      </p:sp>
      <p:sp>
        <p:nvSpPr>
          <p:cNvPr id="8" name="Shape 6"/>
          <p:cNvSpPr/>
          <p:nvPr/>
        </p:nvSpPr>
        <p:spPr>
          <a:xfrm>
            <a:off x="533400" y="3048000"/>
            <a:ext cx="11124895" cy="28575"/>
          </a:xfrm>
          <a:prstGeom prst="rect">
            <a:avLst/>
          </a:prstGeom>
          <a:solidFill>
            <a:srgbClr val="1A1A1A"/>
          </a:solidFill>
          <a:ln/>
        </p:spPr>
        <p:txBody>
          <a:bodyPr/>
          <a:lstStyle/>
          <a:p>
            <a:endParaRPr lang="en-US"/>
          </a:p>
        </p:txBody>
      </p:sp>
      <p:sp>
        <p:nvSpPr>
          <p:cNvPr id="9" name="Shape 7"/>
          <p:cNvSpPr/>
          <p:nvPr/>
        </p:nvSpPr>
        <p:spPr>
          <a:xfrm>
            <a:off x="533400" y="3076575"/>
            <a:ext cx="11124895" cy="126682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723900" y="3200400"/>
            <a:ext cx="10743895" cy="200025"/>
          </a:xfrm>
          <a:prstGeom prst="rect">
            <a:avLst/>
          </a:prstGeom>
          <a:noFill/>
          <a:ln/>
        </p:spPr>
        <p:txBody>
          <a:bodyPr wrap="square" rtlCol="0" anchor="ctr"/>
          <a:lstStyle/>
          <a:p>
            <a:pPr marL="0" indent="0">
              <a:buNone/>
            </a:pPr>
            <a:r>
              <a:rPr lang="en-US" sz="1600" b="1" kern="0" spc="110" dirty="0">
                <a:solidFill>
                  <a:srgbClr val="7A7A7A"/>
                </a:solidFill>
                <a:latin typeface="Arial" pitchFamily="34" charset="0"/>
                <a:ea typeface="Arial" pitchFamily="34" charset="-122"/>
                <a:cs typeface="Arial" pitchFamily="34" charset="-120"/>
              </a:rPr>
              <a:t>ON MANUAL FALLBACK — §3.1.3</a:t>
            </a:r>
            <a:endParaRPr lang="en-US" sz="1600" dirty="0"/>
          </a:p>
        </p:txBody>
      </p:sp>
      <p:sp>
        <p:nvSpPr>
          <p:cNvPr id="11" name="Text 9"/>
          <p:cNvSpPr/>
          <p:nvPr/>
        </p:nvSpPr>
        <p:spPr>
          <a:xfrm>
            <a:off x="723900" y="3476625"/>
            <a:ext cx="10743895"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"Whether the core function could be switched to manual processing as a failover solution is irrelevant."</a:t>
            </a:r>
            <a:endParaRPr lang="en-US" sz="2000" dirty="0"/>
          </a:p>
        </p:txBody>
      </p:sp>
      <p:sp>
        <p:nvSpPr>
          <p:cNvPr id="12" name="Shape 10"/>
          <p:cNvSpPr/>
          <p:nvPr/>
        </p:nvSpPr>
        <p:spPr>
          <a:xfrm>
            <a:off x="533400" y="4476750"/>
            <a:ext cx="11124895" cy="28575"/>
          </a:xfrm>
          <a:prstGeom prst="rect">
            <a:avLst/>
          </a:prstGeom>
          <a:solidFill>
            <a:srgbClr val="D04A02"/>
          </a:solidFill>
          <a:ln/>
        </p:spPr>
        <p:txBody>
          <a:bodyPr/>
          <a:lstStyle/>
          <a:p>
            <a:endParaRPr lang="en-US"/>
          </a:p>
        </p:txBody>
      </p:sp>
      <p:sp>
        <p:nvSpPr>
          <p:cNvPr id="13" name="Shape 11"/>
          <p:cNvSpPr/>
          <p:nvPr/>
        </p:nvSpPr>
        <p:spPr>
          <a:xfrm>
            <a:off x="533400" y="4505325"/>
            <a:ext cx="11124895" cy="1628775"/>
          </a:xfrm>
          <a:prstGeom prst="rect">
            <a:avLst/>
          </a:prstGeom>
          <a:solidFill>
            <a:srgbClr val="FDF0E6"/>
          </a:solidFill>
          <a:ln w="6350">
            <a:solidFill>
              <a:srgbClr val="FDF0E6"/>
            </a:solidFill>
            <a:prstDash val="solid"/>
          </a:ln>
        </p:spPr>
        <p:txBody>
          <a:bodyPr/>
          <a:lstStyle/>
          <a:p>
            <a:endParaRPr lang="en-US"/>
          </a:p>
        </p:txBody>
      </p:sp>
      <p:sp>
        <p:nvSpPr>
          <p:cNvPr id="14" name="Text 12"/>
          <p:cNvSpPr/>
          <p:nvPr/>
        </p:nvSpPr>
        <p:spPr>
          <a:xfrm>
            <a:off x="723900" y="4629150"/>
            <a:ext cx="10743895"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AND MOST IMPORTANTLY</a:t>
            </a:r>
            <a:endParaRPr lang="en-US" sz="1600" dirty="0"/>
          </a:p>
        </p:txBody>
      </p:sp>
      <p:sp>
        <p:nvSpPr>
          <p:cNvPr id="15" name="Text 13"/>
          <p:cNvSpPr/>
          <p:nvPr/>
        </p:nvSpPr>
        <p:spPr>
          <a:xfrm>
            <a:off x="723900" y="4905375"/>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regulating authority has the final say.</a:t>
            </a:r>
            <a:endParaRPr lang="en-US" sz="2000" dirty="0"/>
          </a:p>
        </p:txBody>
      </p:sp>
      <p:sp>
        <p:nvSpPr>
          <p:cNvPr id="16" name="Text 14"/>
          <p:cNvSpPr/>
          <p:nvPr/>
        </p:nvSpPr>
        <p:spPr>
          <a:xfrm>
            <a:off x="723900" y="5257800"/>
            <a:ext cx="10743895" cy="8001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Designation is its act under s.13(1). Your scoring is an argument, not a decision.</a:t>
            </a:r>
            <a:endParaRPr lang="en-US" sz="2000" dirty="0"/>
          </a:p>
        </p:txBody>
      </p:sp>
      <p:sp>
        <p:nvSpPr>
          <p:cNvPr id="17" name="Text 15"/>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§3.1.2 and §3.1.3 — verbatim  ·  Cap. 653 s.13(1)</a:t>
            </a:r>
            <a:endParaRPr lang="en-US" sz="1300" dirty="0"/>
          </a:p>
        </p:txBody>
      </p:sp>
      <p:sp>
        <p:nvSpPr>
          <p:cNvPr id="18" name="Text 16"/>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27</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THE REAL ASSESSMENT INSTRUMENT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Nine Questions, One Score</a:t>
            </a:r>
            <a:endParaRPr lang="en-US" sz="3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000500"/>
        </p:xfrm>
        <a:graphic>
          <a:graphicData uri="http://schemas.openxmlformats.org/drawingml/2006/table">
            <a:tbl>
              <a:tblPr/>
              <a:tblGrid>
                <a:gridCol w="533400">
                  <a:extLst>
                    <a:ext uri="{9D8B030D-6E8A-4147-A177-3AD203B41FA5}">
                      <a16:colId xmlns:a16="http://schemas.microsoft.com/office/drawing/2014/main" val="20000"/>
                    </a:ext>
                  </a:extLst>
                </a:gridCol>
                <a:gridCol w="2381250">
                  <a:extLst>
                    <a:ext uri="{9D8B030D-6E8A-4147-A177-3AD203B41FA5}">
                      <a16:colId xmlns:a16="http://schemas.microsoft.com/office/drawing/2014/main" val="20001"/>
                    </a:ext>
                  </a:extLst>
                </a:gridCol>
                <a:gridCol w="5086350">
                  <a:extLst>
                    <a:ext uri="{9D8B030D-6E8A-4147-A177-3AD203B41FA5}">
                      <a16:colId xmlns:a16="http://schemas.microsoft.com/office/drawing/2014/main" val="20002"/>
                    </a:ext>
                  </a:extLst>
                </a:gridCol>
                <a:gridCol w="1485900">
                  <a:extLst>
                    <a:ext uri="{9D8B030D-6E8A-4147-A177-3AD203B41FA5}">
                      <a16:colId xmlns:a16="http://schemas.microsoft.com/office/drawing/2014/main" val="20003"/>
                    </a:ext>
                  </a:extLst>
                </a:gridCol>
                <a:gridCol w="1562100">
                  <a:extLst>
                    <a:ext uri="{9D8B030D-6E8A-4147-A177-3AD203B41FA5}">
                      <a16:colId xmlns:a16="http://schemas.microsoft.com/office/drawing/2014/main" val="20004"/>
                    </a:ext>
                  </a:extLst>
                </a:gridCol>
              </a:tblGrid>
              <a:tr h="4000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Category</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The question, abbreviated</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Answer</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Code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1</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Resilience</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Material role in the core function?</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1 – 4</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§3.1.2</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2</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Resilience</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Impact if disrupted or destroyed?</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1 – 4</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§3.1.3</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Data sensitivity</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Processes sensitive data in the service?</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1 – 4</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§3.1.4</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4</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Interdependency</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Failure disrupts other CI operators?</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3D3D3D"/>
                          </a:solidFill>
                          <a:latin typeface="Arial" pitchFamily="34" charset="0"/>
                          <a:ea typeface="Arial" pitchFamily="34" charset="-122"/>
                          <a:cs typeface="Arial" pitchFamily="34" charset="-120"/>
                        </a:rPr>
                        <a:t>Yes / no</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§3.1.5</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5</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Interdependency</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Relies on inputs from other CI operators?</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3D3D3D"/>
                          </a:solidFill>
                          <a:latin typeface="Arial" pitchFamily="34" charset="0"/>
                          <a:ea typeface="Arial" pitchFamily="34" charset="-122"/>
                          <a:cs typeface="Arial" pitchFamily="34" charset="-120"/>
                        </a:rPr>
                        <a:t>Yes / no</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§3.1.5</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6</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Supporting a CCS</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Protects the security of another CCS?</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1 – 4</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§3.1.6(a)</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7</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Supporting a CCS</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Strengthens the resilience of another CCS?</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1 – 4</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§3.1.6(b)</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8</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Other</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Industrial control or OT system?</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3D3D3D"/>
                          </a:solidFill>
                          <a:latin typeface="Arial" pitchFamily="34" charset="0"/>
                          <a:ea typeface="Arial" pitchFamily="34" charset="-122"/>
                          <a:cs typeface="Arial" pitchFamily="34" charset="-120"/>
                        </a:rPr>
                        <a:t>Yes / no</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§3.1.7</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00050">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9</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Other</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Underlying infrastructure for a CCS?</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dirty="0">
                          <a:solidFill>
                            <a:srgbClr val="3D3D3D"/>
                          </a:solidFill>
                          <a:latin typeface="Arial" pitchFamily="34" charset="0"/>
                          <a:ea typeface="Arial" pitchFamily="34" charset="-122"/>
                          <a:cs typeface="Arial" pitchFamily="34" charset="-120"/>
                        </a:rPr>
                        <a:t>Yes / no</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dirty="0">
                          <a:solidFill>
                            <a:srgbClr val="3D3D3D"/>
                          </a:solidFill>
                          <a:latin typeface="Arial" pitchFamily="34" charset="0"/>
                          <a:ea typeface="Arial" pitchFamily="34" charset="-122"/>
                          <a:cs typeface="Arial" pitchFamily="34" charset="-120"/>
                        </a:rPr>
                        <a:t>§3.1.8</a:t>
                      </a:r>
                      <a:endParaRPr lang="en-US" sz="16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Shape 2"/>
          <p:cNvSpPr/>
          <p:nvPr/>
        </p:nvSpPr>
        <p:spPr>
          <a:xfrm>
            <a:off x="533400" y="22383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CCS self-assessment questionnaire from a CI operator engagement  ·  every question carries its Code of Practice clause</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28</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AND THEY ARE THE ONES THAT MOVE THE ANSWER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Four of the Nine Are Yes / No</a:t>
            </a:r>
            <a:endParaRPr lang="en-US" sz="3000" dirty="0"/>
          </a:p>
        </p:txBody>
      </p:sp>
      <p:sp>
        <p:nvSpPr>
          <p:cNvPr id="4" name="Shape 2"/>
          <p:cNvSpPr/>
          <p:nvPr/>
        </p:nvSpPr>
        <p:spPr>
          <a:xfrm>
            <a:off x="533400" y="1847850"/>
            <a:ext cx="5457673" cy="28575"/>
          </a:xfrm>
          <a:prstGeom prst="rect">
            <a:avLst/>
          </a:prstGeom>
          <a:solidFill>
            <a:srgbClr val="1A1A1A"/>
          </a:solidFill>
          <a:ln/>
        </p:spPr>
        <p:txBody>
          <a:bodyPr/>
          <a:lstStyle/>
          <a:p>
            <a:endParaRPr lang="en-US"/>
          </a:p>
        </p:txBody>
      </p:sp>
      <p:sp>
        <p:nvSpPr>
          <p:cNvPr id="5" name="Shape 3"/>
          <p:cNvSpPr/>
          <p:nvPr/>
        </p:nvSpPr>
        <p:spPr>
          <a:xfrm>
            <a:off x="533400" y="1876425"/>
            <a:ext cx="5457673" cy="197167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Questions 1, 2, 3, 6, 7</a:t>
            </a:r>
            <a:endParaRPr lang="en-US" sz="2000" dirty="0"/>
          </a:p>
        </p:txBody>
      </p:sp>
      <p:sp>
        <p:nvSpPr>
          <p:cNvPr id="7" name="Text 5"/>
          <p:cNvSpPr/>
          <p:nvPr/>
        </p:nvSpPr>
        <p:spPr>
          <a:xfrm>
            <a:off x="723900" y="2352675"/>
            <a:ext cx="5076673" cy="1419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Rated 1 to 4. Low, moderate, high, critical — with a written illustration for each level, specific to the sector.</a:t>
            </a:r>
            <a:endParaRPr lang="en-US" sz="2000" dirty="0"/>
          </a:p>
        </p:txBody>
      </p:sp>
      <p:sp>
        <p:nvSpPr>
          <p:cNvPr id="8" name="Shape 6"/>
          <p:cNvSpPr/>
          <p:nvPr/>
        </p:nvSpPr>
        <p:spPr>
          <a:xfrm>
            <a:off x="6200623" y="1847850"/>
            <a:ext cx="5457673" cy="28575"/>
          </a:xfrm>
          <a:prstGeom prst="rect">
            <a:avLst/>
          </a:prstGeom>
          <a:solidFill>
            <a:srgbClr val="D04A02"/>
          </a:solidFill>
          <a:ln/>
        </p:spPr>
        <p:txBody>
          <a:bodyPr/>
          <a:lstStyle/>
          <a:p>
            <a:endParaRPr lang="en-US"/>
          </a:p>
        </p:txBody>
      </p:sp>
      <p:sp>
        <p:nvSpPr>
          <p:cNvPr id="9" name="Shape 7"/>
          <p:cNvSpPr/>
          <p:nvPr/>
        </p:nvSpPr>
        <p:spPr>
          <a:xfrm>
            <a:off x="6200623" y="1876425"/>
            <a:ext cx="5457673" cy="1971675"/>
          </a:xfrm>
          <a:prstGeom prst="rect">
            <a:avLst/>
          </a:prstGeom>
          <a:solidFill>
            <a:srgbClr val="FDF0E6"/>
          </a:solidFill>
          <a:ln w="6350">
            <a:solidFill>
              <a:srgbClr val="FDF0E6"/>
            </a:solidFill>
            <a:prstDash val="solid"/>
          </a:ln>
        </p:spPr>
        <p:txBody>
          <a:bodyPr/>
          <a:lstStyle/>
          <a:p>
            <a:endParaRPr lang="en-US"/>
          </a:p>
        </p:txBody>
      </p:sp>
      <p:sp>
        <p:nvSpPr>
          <p:cNvPr id="10" name="Text 8"/>
          <p:cNvSpPr/>
          <p:nvPr/>
        </p:nvSpPr>
        <p:spPr>
          <a:xfrm>
            <a:off x="6391123"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Questions 4, 5, 8, 9</a:t>
            </a:r>
            <a:endParaRPr lang="en-US" sz="2000" dirty="0"/>
          </a:p>
        </p:txBody>
      </p:sp>
      <p:sp>
        <p:nvSpPr>
          <p:cNvPr id="11" name="Text 9"/>
          <p:cNvSpPr/>
          <p:nvPr/>
        </p:nvSpPr>
        <p:spPr>
          <a:xfrm>
            <a:off x="6391123" y="2352675"/>
            <a:ext cx="5076673" cy="1419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Yes or no. Each "yes" adds 0.5 to the score, on top of the average.</a:t>
            </a:r>
            <a:endParaRPr lang="en-US" sz="2000" dirty="0"/>
          </a:p>
        </p:txBody>
      </p:sp>
      <p:sp>
        <p:nvSpPr>
          <p:cNvPr id="12" name="Shape 10"/>
          <p:cNvSpPr/>
          <p:nvPr/>
        </p:nvSpPr>
        <p:spPr>
          <a:xfrm>
            <a:off x="533400" y="4076700"/>
            <a:ext cx="11124895" cy="28575"/>
          </a:xfrm>
          <a:prstGeom prst="rect">
            <a:avLst/>
          </a:prstGeom>
          <a:solidFill>
            <a:srgbClr val="D04A02"/>
          </a:solidFill>
          <a:ln/>
        </p:spPr>
        <p:txBody>
          <a:bodyPr/>
          <a:lstStyle/>
          <a:p>
            <a:endParaRPr lang="en-US"/>
          </a:p>
        </p:txBody>
      </p:sp>
      <p:sp>
        <p:nvSpPr>
          <p:cNvPr id="13" name="Shape 11"/>
          <p:cNvSpPr/>
          <p:nvPr/>
        </p:nvSpPr>
        <p:spPr>
          <a:xfrm>
            <a:off x="533400" y="4105275"/>
            <a:ext cx="11124895" cy="1971675"/>
          </a:xfrm>
          <a:prstGeom prst="rect">
            <a:avLst/>
          </a:prstGeom>
          <a:solidFill>
            <a:srgbClr val="FDF0E6"/>
          </a:solidFill>
          <a:ln w="6350">
            <a:solidFill>
              <a:srgbClr val="FDF0E6"/>
            </a:solidFill>
            <a:prstDash val="solid"/>
          </a:ln>
        </p:spPr>
        <p:txBody>
          <a:bodyPr/>
          <a:lstStyle/>
          <a:p>
            <a:endParaRPr lang="en-US"/>
          </a:p>
        </p:txBody>
      </p:sp>
      <p:sp>
        <p:nvSpPr>
          <p:cNvPr id="14" name="Text 12"/>
          <p:cNvSpPr/>
          <p:nvPr/>
        </p:nvSpPr>
        <p:spPr>
          <a:xfrm>
            <a:off x="723900" y="4229100"/>
            <a:ext cx="10743895"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THE FORMULA, AS IMPLEMENTED</a:t>
            </a:r>
            <a:endParaRPr lang="en-US" sz="1600" dirty="0"/>
          </a:p>
        </p:txBody>
      </p:sp>
      <p:sp>
        <p:nvSpPr>
          <p:cNvPr id="15" name="Text 13"/>
          <p:cNvSpPr/>
          <p:nvPr/>
        </p:nvSpPr>
        <p:spPr>
          <a:xfrm>
            <a:off x="723900" y="4505325"/>
            <a:ext cx="10743895"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SCORE  =  MIN( 4,  AVERAGE(Q1…Q9)  +  0.5 for each "yes" on Q4, Q5, Q8, Q9 )</a:t>
            </a:r>
            <a:endParaRPr lang="en-US" sz="2000" dirty="0"/>
          </a:p>
        </p:txBody>
      </p:sp>
      <p:sp>
        <p:nvSpPr>
          <p:cNvPr id="16" name="Text 14"/>
          <p:cNvSpPr/>
          <p:nvPr/>
        </p:nvSpPr>
        <p:spPr>
          <a:xfrm>
            <a:off x="723900" y="5114925"/>
            <a:ext cx="10743895" cy="8858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Priority 1 — a CCS:  3.5 and above.      Priority 2 — unsure, peripheral supporting:  above 2.0 and below 3.5.      Priority 3 — not a CCS:  2.0 or below.</a:t>
            </a:r>
            <a:endParaRPr lang="en-US" sz="2000" dirty="0"/>
          </a:p>
        </p:txBody>
      </p:sp>
      <p:sp>
        <p:nvSpPr>
          <p:cNvPr id="17" name="Text 15"/>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CCS self-assessment workbook, Oct 2025  ·  thresholds and weighting are the operator's own, not the regulator's</a:t>
            </a:r>
            <a:endParaRPr lang="en-US" sz="1300" dirty="0"/>
          </a:p>
        </p:txBody>
      </p:sp>
      <p:sp>
        <p:nvSpPr>
          <p:cNvPr id="18" name="Text 16"/>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29</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 AN INTERNET EXCHANGE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Same Workbook, Filled In</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810000"/>
        </p:xfrm>
        <a:graphic>
          <a:graphicData uri="http://schemas.openxmlformats.org/drawingml/2006/table">
            <a:tbl>
              <a:tblPr/>
              <a:tblGrid>
                <a:gridCol w="2857500">
                  <a:extLst>
                    <a:ext uri="{9D8B030D-6E8A-4147-A177-3AD203B41FA5}">
                      <a16:colId xmlns:a16="http://schemas.microsoft.com/office/drawing/2014/main" val="20000"/>
                    </a:ext>
                  </a:extLst>
                </a:gridCol>
                <a:gridCol w="628650">
                  <a:extLst>
                    <a:ext uri="{9D8B030D-6E8A-4147-A177-3AD203B41FA5}">
                      <a16:colId xmlns:a16="http://schemas.microsoft.com/office/drawing/2014/main" val="20001"/>
                    </a:ext>
                  </a:extLst>
                </a:gridCol>
                <a:gridCol w="628650">
                  <a:extLst>
                    <a:ext uri="{9D8B030D-6E8A-4147-A177-3AD203B41FA5}">
                      <a16:colId xmlns:a16="http://schemas.microsoft.com/office/drawing/2014/main" val="20002"/>
                    </a:ext>
                  </a:extLst>
                </a:gridCol>
                <a:gridCol w="628650">
                  <a:extLst>
                    <a:ext uri="{9D8B030D-6E8A-4147-A177-3AD203B41FA5}">
                      <a16:colId xmlns:a16="http://schemas.microsoft.com/office/drawing/2014/main" val="20003"/>
                    </a:ext>
                  </a:extLst>
                </a:gridCol>
                <a:gridCol w="628650">
                  <a:extLst>
                    <a:ext uri="{9D8B030D-6E8A-4147-A177-3AD203B41FA5}">
                      <a16:colId xmlns:a16="http://schemas.microsoft.com/office/drawing/2014/main" val="20004"/>
                    </a:ext>
                  </a:extLst>
                </a:gridCol>
                <a:gridCol w="628650">
                  <a:extLst>
                    <a:ext uri="{9D8B030D-6E8A-4147-A177-3AD203B41FA5}">
                      <a16:colId xmlns:a16="http://schemas.microsoft.com/office/drawing/2014/main" val="20005"/>
                    </a:ext>
                  </a:extLst>
                </a:gridCol>
                <a:gridCol w="1333500">
                  <a:extLst>
                    <a:ext uri="{9D8B030D-6E8A-4147-A177-3AD203B41FA5}">
                      <a16:colId xmlns:a16="http://schemas.microsoft.com/office/drawing/2014/main" val="20006"/>
                    </a:ext>
                  </a:extLst>
                </a:gridCol>
                <a:gridCol w="1047750">
                  <a:extLst>
                    <a:ext uri="{9D8B030D-6E8A-4147-A177-3AD203B41FA5}">
                      <a16:colId xmlns:a16="http://schemas.microsoft.com/office/drawing/2014/main" val="20007"/>
                    </a:ext>
                  </a:extLst>
                </a:gridCol>
                <a:gridCol w="2667000">
                  <a:extLst>
                    <a:ext uri="{9D8B030D-6E8A-4147-A177-3AD203B41FA5}">
                      <a16:colId xmlns:a16="http://schemas.microsoft.com/office/drawing/2014/main" val="20008"/>
                    </a:ext>
                  </a:extLst>
                </a:gridCol>
              </a:tblGrid>
              <a:tr h="4762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Asset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Q1</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Q2</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Q3</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Q6</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Q7</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Yes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Score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Conclusion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76250">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Router as route server</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Q4, Q9</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3D3D3D"/>
                          </a:solidFill>
                          <a:latin typeface="Arial" pitchFamily="34" charset="0"/>
                          <a:ea typeface="Arial" pitchFamily="34" charset="-122"/>
                          <a:cs typeface="Arial" pitchFamily="34" charset="-120"/>
                        </a:rPr>
                        <a:t>4.0</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B3261E"/>
                          </a:solidFill>
                          <a:latin typeface="Arial" pitchFamily="34" charset="0"/>
                          <a:ea typeface="Arial" pitchFamily="34" charset="-122"/>
                          <a:cs typeface="Arial" pitchFamily="34" charset="-120"/>
                        </a:rPr>
                        <a:t>Priority 1 — CCS</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6250">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Switch as VXLAN switch</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Q4, Q9</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3D3D3D"/>
                          </a:solidFill>
                          <a:latin typeface="Arial" pitchFamily="34" charset="0"/>
                          <a:ea typeface="Arial" pitchFamily="34" charset="-122"/>
                          <a:cs typeface="Arial" pitchFamily="34" charset="-120"/>
                        </a:rPr>
                        <a:t>4.0</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B3261E"/>
                          </a:solidFill>
                          <a:latin typeface="Arial" pitchFamily="34" charset="0"/>
                          <a:ea typeface="Arial" pitchFamily="34" charset="-122"/>
                          <a:cs typeface="Arial" pitchFamily="34" charset="-120"/>
                        </a:rPr>
                        <a:t>Priority 1 — CCS</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6250">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Firewall — internal</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Q9</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3D3D3D"/>
                          </a:solidFill>
                          <a:latin typeface="Arial" pitchFamily="34" charset="0"/>
                          <a:ea typeface="Arial" pitchFamily="34" charset="-122"/>
                          <a:cs typeface="Arial" pitchFamily="34" charset="-120"/>
                        </a:rPr>
                        <a:t>3.5</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B3261E"/>
                          </a:solidFill>
                          <a:latin typeface="Arial" pitchFamily="34" charset="0"/>
                          <a:ea typeface="Arial" pitchFamily="34" charset="-122"/>
                          <a:cs typeface="Arial" pitchFamily="34" charset="-120"/>
                        </a:rPr>
                        <a:t>Priority 1 — CCS</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6250">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Firewall — external</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2</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2.0</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7A7A7A"/>
                          </a:solidFill>
                          <a:latin typeface="Arial" pitchFamily="34" charset="0"/>
                          <a:ea typeface="Arial" pitchFamily="34" charset="-122"/>
                          <a:cs typeface="Arial" pitchFamily="34" charset="-120"/>
                        </a:rPr>
                        <a:t>Priority 3 — not a CCS</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6250">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Endpoint detection</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2.0</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7A7A7A"/>
                          </a:solidFill>
                          <a:latin typeface="Arial" pitchFamily="34" charset="0"/>
                          <a:ea typeface="Arial" pitchFamily="34" charset="-122"/>
                          <a:cs typeface="Arial" pitchFamily="34" charset="-120"/>
                        </a:rPr>
                        <a:t>Priority 3 — not a CCS</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6250">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Virtual desktop infra</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Q9</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3D3D3D"/>
                          </a:solidFill>
                          <a:latin typeface="Arial" pitchFamily="34" charset="0"/>
                          <a:ea typeface="Arial" pitchFamily="34" charset="-122"/>
                          <a:cs typeface="Arial" pitchFamily="34" charset="-120"/>
                        </a:rPr>
                        <a:t>3.7</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b="1" dirty="0">
                          <a:solidFill>
                            <a:srgbClr val="B3261E"/>
                          </a:solidFill>
                          <a:latin typeface="Arial" pitchFamily="34" charset="0"/>
                          <a:ea typeface="Arial" pitchFamily="34" charset="-122"/>
                          <a:cs typeface="Arial" pitchFamily="34" charset="-120"/>
                        </a:rPr>
                        <a:t>Priority 1 — CCS</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6250">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Corporate email</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1</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3</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4</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3D3D3D"/>
                          </a:solidFill>
                          <a:latin typeface="Arial" pitchFamily="34" charset="0"/>
                          <a:ea typeface="Arial" pitchFamily="34" charset="-122"/>
                          <a:cs typeface="Arial" pitchFamily="34" charset="-120"/>
                        </a:rPr>
                        <a:t>2.0</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500" dirty="0">
                          <a:solidFill>
                            <a:srgbClr val="7A7A7A"/>
                          </a:solidFill>
                          <a:latin typeface="Arial" pitchFamily="34" charset="0"/>
                          <a:ea typeface="Arial" pitchFamily="34" charset="-122"/>
                          <a:cs typeface="Arial" pitchFamily="34" charset="-120"/>
                        </a:rPr>
                        <a:t>Priority 3 — not a CCS</a:t>
                      </a:r>
                      <a:endParaRPr lang="en-US" sz="15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33400" y="23145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CCS self-assessment workbook, Oct 2025  ·  scores are the operator's own  ·  Q4 = disrupts other CI operators, Q9 = underlying infrastructure</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30</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SAME DEVICE CLASS, OPPOSITE ANSWERS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Look at the Two Firewalls</a:t>
            </a:r>
            <a:endParaRPr lang="en-US" sz="3000" dirty="0"/>
          </a:p>
        </p:txBody>
      </p:sp>
      <p:sp>
        <p:nvSpPr>
          <p:cNvPr id="4" name="Shape 2"/>
          <p:cNvSpPr/>
          <p:nvPr/>
        </p:nvSpPr>
        <p:spPr>
          <a:xfrm>
            <a:off x="533400" y="1847850"/>
            <a:ext cx="5457673" cy="28575"/>
          </a:xfrm>
          <a:prstGeom prst="rect">
            <a:avLst/>
          </a:prstGeom>
          <a:solidFill>
            <a:srgbClr val="1A1A1A"/>
          </a:solidFill>
          <a:ln/>
        </p:spPr>
        <p:txBody>
          <a:bodyPr/>
          <a:lstStyle/>
          <a:p>
            <a:endParaRPr lang="en-US"/>
          </a:p>
        </p:txBody>
      </p:sp>
      <p:sp>
        <p:nvSpPr>
          <p:cNvPr id="5" name="Shape 3"/>
          <p:cNvSpPr/>
          <p:nvPr/>
        </p:nvSpPr>
        <p:spPr>
          <a:xfrm>
            <a:off x="533400" y="1876425"/>
            <a:ext cx="5457673" cy="235267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External firewall — 2.0, out</a:t>
            </a:r>
            <a:endParaRPr lang="en-US" sz="2000" dirty="0"/>
          </a:p>
        </p:txBody>
      </p:sp>
      <p:sp>
        <p:nvSpPr>
          <p:cNvPr id="7" name="Text 5"/>
          <p:cNvSpPr/>
          <p:nvPr/>
        </p:nvSpPr>
        <p:spPr>
          <a:xfrm>
            <a:off x="723900" y="2352675"/>
            <a:ext cx="5076673"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Sits between the Internet and the office. Does not carry participant traffic and does not protect a CCS.</a:t>
            </a:r>
            <a:endParaRPr lang="en-US" sz="2000" dirty="0"/>
          </a:p>
        </p:txBody>
      </p:sp>
      <p:sp>
        <p:nvSpPr>
          <p:cNvPr id="8" name="Shape 6"/>
          <p:cNvSpPr/>
          <p:nvPr/>
        </p:nvSpPr>
        <p:spPr>
          <a:xfrm>
            <a:off x="6200623" y="1847850"/>
            <a:ext cx="5457673" cy="28575"/>
          </a:xfrm>
          <a:prstGeom prst="rect">
            <a:avLst/>
          </a:prstGeom>
          <a:solidFill>
            <a:srgbClr val="D04A02"/>
          </a:solidFill>
          <a:ln/>
        </p:spPr>
        <p:txBody>
          <a:bodyPr/>
          <a:lstStyle/>
          <a:p>
            <a:endParaRPr lang="en-US"/>
          </a:p>
        </p:txBody>
      </p:sp>
      <p:sp>
        <p:nvSpPr>
          <p:cNvPr id="9" name="Shape 7"/>
          <p:cNvSpPr/>
          <p:nvPr/>
        </p:nvSpPr>
        <p:spPr>
          <a:xfrm>
            <a:off x="6200623" y="1876425"/>
            <a:ext cx="5457673" cy="2352675"/>
          </a:xfrm>
          <a:prstGeom prst="rect">
            <a:avLst/>
          </a:prstGeom>
          <a:solidFill>
            <a:srgbClr val="FDF0E6"/>
          </a:solidFill>
          <a:ln w="6350">
            <a:solidFill>
              <a:srgbClr val="FDF0E6"/>
            </a:solidFill>
            <a:prstDash val="solid"/>
          </a:ln>
        </p:spPr>
        <p:txBody>
          <a:bodyPr/>
          <a:lstStyle/>
          <a:p>
            <a:endParaRPr lang="en-US"/>
          </a:p>
        </p:txBody>
      </p:sp>
      <p:sp>
        <p:nvSpPr>
          <p:cNvPr id="10" name="Text 8"/>
          <p:cNvSpPr/>
          <p:nvPr/>
        </p:nvSpPr>
        <p:spPr>
          <a:xfrm>
            <a:off x="6391123"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Internal firewall — 3.5, in</a:t>
            </a:r>
            <a:endParaRPr lang="en-US" sz="2000" dirty="0"/>
          </a:p>
        </p:txBody>
      </p:sp>
      <p:sp>
        <p:nvSpPr>
          <p:cNvPr id="11" name="Text 9"/>
          <p:cNvSpPr/>
          <p:nvPr/>
        </p:nvSpPr>
        <p:spPr>
          <a:xfrm>
            <a:off x="6391123" y="2352675"/>
            <a:ext cx="5076673"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Separates the internal zones from the switching fabric. Protects a CCS, and is underlying infrastructure for one.</a:t>
            </a:r>
            <a:endParaRPr lang="en-US" sz="2000" dirty="0"/>
          </a:p>
        </p:txBody>
      </p:sp>
      <p:sp>
        <p:nvSpPr>
          <p:cNvPr id="12" name="Shape 10"/>
          <p:cNvSpPr/>
          <p:nvPr/>
        </p:nvSpPr>
        <p:spPr>
          <a:xfrm>
            <a:off x="533400" y="4457700"/>
            <a:ext cx="11124895" cy="28575"/>
          </a:xfrm>
          <a:prstGeom prst="rect">
            <a:avLst/>
          </a:prstGeom>
          <a:solidFill>
            <a:srgbClr val="D04A02"/>
          </a:solidFill>
          <a:ln/>
        </p:spPr>
        <p:txBody>
          <a:bodyPr/>
          <a:lstStyle/>
          <a:p>
            <a:endParaRPr lang="en-US"/>
          </a:p>
        </p:txBody>
      </p:sp>
      <p:sp>
        <p:nvSpPr>
          <p:cNvPr id="13" name="Shape 11"/>
          <p:cNvSpPr/>
          <p:nvPr/>
        </p:nvSpPr>
        <p:spPr>
          <a:xfrm>
            <a:off x="533400" y="4486275"/>
            <a:ext cx="11124895" cy="1628775"/>
          </a:xfrm>
          <a:prstGeom prst="rect">
            <a:avLst/>
          </a:prstGeom>
          <a:solidFill>
            <a:srgbClr val="FDF0E6"/>
          </a:solidFill>
          <a:ln w="6350">
            <a:solidFill>
              <a:srgbClr val="FDF0E6"/>
            </a:solidFill>
            <a:prstDash val="solid"/>
          </a:ln>
        </p:spPr>
        <p:txBody>
          <a:bodyPr/>
          <a:lstStyle/>
          <a:p>
            <a:endParaRPr lang="en-US"/>
          </a:p>
        </p:txBody>
      </p:sp>
      <p:sp>
        <p:nvSpPr>
          <p:cNvPr id="14" name="Text 12"/>
          <p:cNvSpPr/>
          <p:nvPr/>
        </p:nvSpPr>
        <p:spPr>
          <a:xfrm>
            <a:off x="723900" y="4610100"/>
            <a:ext cx="10743895"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One-and-a-half points of difference, and a two-yearly audit obligation turns on it.</a:t>
            </a:r>
            <a:endParaRPr lang="en-US" sz="2000" dirty="0"/>
          </a:p>
        </p:txBody>
      </p:sp>
      <p:sp>
        <p:nvSpPr>
          <p:cNvPr id="15" name="Text 13"/>
          <p:cNvSpPr/>
          <p:nvPr/>
        </p:nvSpPr>
        <p:spPr>
          <a:xfrm>
            <a:off x="723900" y="5219700"/>
            <a:ext cx="10743895" cy="8191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This is why the "why" column exists. The number sorts the list; the sentence is what you defend when the authority asks.</a:t>
            </a:r>
            <a:endParaRPr lang="en-US" sz="2000" dirty="0"/>
          </a:p>
        </p:txBody>
      </p:sp>
      <p:sp>
        <p:nvSpPr>
          <p:cNvPr id="16" name="Text 1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CCS self-assessment workbook, Oct 2025</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31</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You Propose. They Designate.</a:t>
            </a:r>
            <a:endParaRPr lang="en-US" sz="3000" dirty="0"/>
          </a:p>
        </p:txBody>
      </p:sp>
      <p:sp>
        <p:nvSpPr>
          <p:cNvPr id="3" name="Shape 1"/>
          <p:cNvSpPr/>
          <p:nvPr/>
        </p:nvSpPr>
        <p:spPr>
          <a:xfrm>
            <a:off x="533400" y="1562100"/>
            <a:ext cx="2624061" cy="28575"/>
          </a:xfrm>
          <a:prstGeom prst="rect">
            <a:avLst/>
          </a:prstGeom>
          <a:solidFill>
            <a:srgbClr val="1A1A1A"/>
          </a:solidFill>
          <a:ln/>
        </p:spPr>
        <p:txBody>
          <a:bodyPr/>
          <a:lstStyle/>
          <a:p>
            <a:endParaRPr lang="en-US"/>
          </a:p>
        </p:txBody>
      </p:sp>
      <p:sp>
        <p:nvSpPr>
          <p:cNvPr id="4" name="Shape 2"/>
          <p:cNvSpPr/>
          <p:nvPr/>
        </p:nvSpPr>
        <p:spPr>
          <a:xfrm>
            <a:off x="533400" y="1590675"/>
            <a:ext cx="2624061" cy="2733675"/>
          </a:xfrm>
          <a:prstGeom prst="rect">
            <a:avLst/>
          </a:prstGeom>
          <a:solidFill>
            <a:srgbClr val="F2F2F2"/>
          </a:solidFill>
          <a:ln w="6350">
            <a:solidFill>
              <a:srgbClr val="F2F2F2"/>
            </a:solidFill>
            <a:prstDash val="solid"/>
          </a:ln>
        </p:spPr>
        <p:txBody>
          <a:bodyPr/>
          <a:lstStyle/>
          <a:p>
            <a:endParaRPr lang="en-US"/>
          </a:p>
        </p:txBody>
      </p:sp>
      <p:sp>
        <p:nvSpPr>
          <p:cNvPr id="5" name="Text 3"/>
          <p:cNvSpPr/>
          <p:nvPr/>
        </p:nvSpPr>
        <p:spPr>
          <a:xfrm>
            <a:off x="723900" y="1714500"/>
            <a:ext cx="2243061"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1. Build the list</a:t>
            </a:r>
            <a:endParaRPr lang="en-US" sz="2000" dirty="0"/>
          </a:p>
        </p:txBody>
      </p:sp>
      <p:sp>
        <p:nvSpPr>
          <p:cNvPr id="6" name="Text 4"/>
          <p:cNvSpPr/>
          <p:nvPr/>
        </p:nvSpPr>
        <p:spPr>
          <a:xfrm>
            <a:off x="723900" y="2324100"/>
            <a:ext cx="2243061" cy="19240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Every candidate system, scored against s.13(3).</a:t>
            </a:r>
            <a:endParaRPr lang="en-US" sz="2000" dirty="0"/>
          </a:p>
        </p:txBody>
      </p:sp>
      <p:sp>
        <p:nvSpPr>
          <p:cNvPr id="7" name="Shape 5"/>
          <p:cNvSpPr/>
          <p:nvPr/>
        </p:nvSpPr>
        <p:spPr>
          <a:xfrm>
            <a:off x="3367011" y="1562100"/>
            <a:ext cx="2624061" cy="28575"/>
          </a:xfrm>
          <a:prstGeom prst="rect">
            <a:avLst/>
          </a:prstGeom>
          <a:solidFill>
            <a:srgbClr val="1A1A1A"/>
          </a:solidFill>
          <a:ln/>
        </p:spPr>
        <p:txBody>
          <a:bodyPr/>
          <a:lstStyle/>
          <a:p>
            <a:endParaRPr lang="en-US"/>
          </a:p>
        </p:txBody>
      </p:sp>
      <p:sp>
        <p:nvSpPr>
          <p:cNvPr id="8" name="Shape 6"/>
          <p:cNvSpPr/>
          <p:nvPr/>
        </p:nvSpPr>
        <p:spPr>
          <a:xfrm>
            <a:off x="3367011" y="1590675"/>
            <a:ext cx="2624061" cy="273367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3557511" y="1714500"/>
            <a:ext cx="2243061"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2. Justify each one</a:t>
            </a:r>
            <a:endParaRPr lang="en-US" sz="2000" dirty="0"/>
          </a:p>
        </p:txBody>
      </p:sp>
      <p:sp>
        <p:nvSpPr>
          <p:cNvPr id="10" name="Text 8"/>
          <p:cNvSpPr/>
          <p:nvPr/>
        </p:nvSpPr>
        <p:spPr>
          <a:xfrm>
            <a:off x="3557511" y="2324100"/>
            <a:ext cx="2243061" cy="19240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sentence per row — including exclusions.</a:t>
            </a:r>
            <a:endParaRPr lang="en-US" sz="2000" dirty="0"/>
          </a:p>
        </p:txBody>
      </p:sp>
      <p:sp>
        <p:nvSpPr>
          <p:cNvPr id="11" name="Shape 9"/>
          <p:cNvSpPr/>
          <p:nvPr/>
        </p:nvSpPr>
        <p:spPr>
          <a:xfrm>
            <a:off x="6200623" y="1562100"/>
            <a:ext cx="2624061" cy="28575"/>
          </a:xfrm>
          <a:prstGeom prst="rect">
            <a:avLst/>
          </a:prstGeom>
          <a:solidFill>
            <a:srgbClr val="1A1A1A"/>
          </a:solidFill>
          <a:ln/>
        </p:spPr>
        <p:txBody>
          <a:bodyPr/>
          <a:lstStyle/>
          <a:p>
            <a:endParaRPr lang="en-US"/>
          </a:p>
        </p:txBody>
      </p:sp>
      <p:sp>
        <p:nvSpPr>
          <p:cNvPr id="12" name="Shape 10"/>
          <p:cNvSpPr/>
          <p:nvPr/>
        </p:nvSpPr>
        <p:spPr>
          <a:xfrm>
            <a:off x="6200623" y="1590675"/>
            <a:ext cx="2624061" cy="2733675"/>
          </a:xfrm>
          <a:prstGeom prst="rect">
            <a:avLst/>
          </a:prstGeom>
          <a:solidFill>
            <a:srgbClr val="F2F2F2"/>
          </a:solidFill>
          <a:ln w="6350">
            <a:solidFill>
              <a:srgbClr val="F2F2F2"/>
            </a:solidFill>
            <a:prstDash val="solid"/>
          </a:ln>
        </p:spPr>
        <p:txBody>
          <a:bodyPr/>
          <a:lstStyle/>
          <a:p>
            <a:endParaRPr lang="en-US"/>
          </a:p>
        </p:txBody>
      </p:sp>
      <p:sp>
        <p:nvSpPr>
          <p:cNvPr id="13" name="Text 11"/>
          <p:cNvSpPr/>
          <p:nvPr/>
        </p:nvSpPr>
        <p:spPr>
          <a:xfrm>
            <a:off x="6391123" y="1714500"/>
            <a:ext cx="2243061"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3. Meet the authority</a:t>
            </a:r>
            <a:endParaRPr lang="en-US" sz="2000" dirty="0"/>
          </a:p>
        </p:txBody>
      </p:sp>
      <p:sp>
        <p:nvSpPr>
          <p:cNvPr id="14" name="Text 12"/>
          <p:cNvSpPr/>
          <p:nvPr/>
        </p:nvSpPr>
        <p:spPr>
          <a:xfrm>
            <a:off x="6391123" y="2324100"/>
            <a:ext cx="2243061" cy="19240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Code says the Commissioner consults operators.</a:t>
            </a:r>
            <a:endParaRPr lang="en-US" sz="2000" dirty="0"/>
          </a:p>
        </p:txBody>
      </p:sp>
      <p:sp>
        <p:nvSpPr>
          <p:cNvPr id="15" name="Shape 13"/>
          <p:cNvSpPr/>
          <p:nvPr/>
        </p:nvSpPr>
        <p:spPr>
          <a:xfrm>
            <a:off x="9034234" y="1562100"/>
            <a:ext cx="2624061" cy="28575"/>
          </a:xfrm>
          <a:prstGeom prst="rect">
            <a:avLst/>
          </a:prstGeom>
          <a:solidFill>
            <a:srgbClr val="D04A02"/>
          </a:solidFill>
          <a:ln/>
        </p:spPr>
        <p:txBody>
          <a:bodyPr/>
          <a:lstStyle/>
          <a:p>
            <a:endParaRPr lang="en-US"/>
          </a:p>
        </p:txBody>
      </p:sp>
      <p:sp>
        <p:nvSpPr>
          <p:cNvPr id="16" name="Shape 14"/>
          <p:cNvSpPr/>
          <p:nvPr/>
        </p:nvSpPr>
        <p:spPr>
          <a:xfrm>
            <a:off x="9034234" y="1590675"/>
            <a:ext cx="2624061" cy="2733675"/>
          </a:xfrm>
          <a:prstGeom prst="rect">
            <a:avLst/>
          </a:prstGeom>
          <a:solidFill>
            <a:srgbClr val="FDF0E6"/>
          </a:solidFill>
          <a:ln w="6350">
            <a:solidFill>
              <a:srgbClr val="FDF0E6"/>
            </a:solidFill>
            <a:prstDash val="solid"/>
          </a:ln>
        </p:spPr>
        <p:txBody>
          <a:bodyPr/>
          <a:lstStyle/>
          <a:p>
            <a:endParaRPr lang="en-US"/>
          </a:p>
        </p:txBody>
      </p:sp>
      <p:sp>
        <p:nvSpPr>
          <p:cNvPr id="17" name="Text 15"/>
          <p:cNvSpPr/>
          <p:nvPr/>
        </p:nvSpPr>
        <p:spPr>
          <a:xfrm>
            <a:off x="9224734" y="171450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4. No objection</a:t>
            </a:r>
            <a:endParaRPr lang="en-US" sz="2000" dirty="0"/>
          </a:p>
        </p:txBody>
      </p:sp>
      <p:sp>
        <p:nvSpPr>
          <p:cNvPr id="18" name="Text 16"/>
          <p:cNvSpPr/>
          <p:nvPr/>
        </p:nvSpPr>
        <p:spPr>
          <a:xfrm>
            <a:off x="9224734" y="2066925"/>
            <a:ext cx="2243061" cy="2181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What survives is the scope.</a:t>
            </a:r>
            <a:endParaRPr lang="en-US" sz="2000" dirty="0"/>
          </a:p>
        </p:txBody>
      </p:sp>
      <p:sp>
        <p:nvSpPr>
          <p:cNvPr id="19" name="Shape 17"/>
          <p:cNvSpPr/>
          <p:nvPr/>
        </p:nvSpPr>
        <p:spPr>
          <a:xfrm>
            <a:off x="533400" y="4552950"/>
            <a:ext cx="11124895" cy="28575"/>
          </a:xfrm>
          <a:prstGeom prst="rect">
            <a:avLst/>
          </a:prstGeom>
          <a:solidFill>
            <a:srgbClr val="D04A02"/>
          </a:solidFill>
          <a:ln/>
        </p:spPr>
        <p:txBody>
          <a:bodyPr/>
          <a:lstStyle/>
          <a:p>
            <a:endParaRPr lang="en-US"/>
          </a:p>
        </p:txBody>
      </p:sp>
      <p:sp>
        <p:nvSpPr>
          <p:cNvPr id="20" name="Shape 18"/>
          <p:cNvSpPr/>
          <p:nvPr/>
        </p:nvSpPr>
        <p:spPr>
          <a:xfrm>
            <a:off x="533400" y="4581525"/>
            <a:ext cx="11124895" cy="1362075"/>
          </a:xfrm>
          <a:prstGeom prst="rect">
            <a:avLst/>
          </a:prstGeom>
          <a:solidFill>
            <a:srgbClr val="FDF0E6"/>
          </a:solidFill>
          <a:ln w="6350">
            <a:solidFill>
              <a:srgbClr val="FDF0E6"/>
            </a:solidFill>
            <a:prstDash val="solid"/>
          </a:ln>
        </p:spPr>
        <p:txBody>
          <a:bodyPr/>
          <a:lstStyle/>
          <a:p>
            <a:endParaRPr lang="en-US"/>
          </a:p>
        </p:txBody>
      </p:sp>
      <p:sp>
        <p:nvSpPr>
          <p:cNvPr id="21" name="Text 19"/>
          <p:cNvSpPr/>
          <p:nvPr/>
        </p:nvSpPr>
        <p:spPr>
          <a:xfrm>
            <a:off x="723900" y="47053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Note who holds the pen</a:t>
            </a:r>
            <a:endParaRPr lang="en-US" sz="2000" dirty="0"/>
          </a:p>
        </p:txBody>
      </p:sp>
      <p:sp>
        <p:nvSpPr>
          <p:cNvPr id="22" name="Text 20"/>
          <p:cNvSpPr/>
          <p:nvPr/>
        </p:nvSpPr>
        <p:spPr>
          <a:xfrm>
            <a:off x="723900" y="5057775"/>
            <a:ext cx="10743895" cy="8096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Designation is the authority's act under s.13(1). You make it easy for them to agree.</a:t>
            </a:r>
            <a:endParaRPr lang="en-US" sz="2000" dirty="0"/>
          </a:p>
        </p:txBody>
      </p:sp>
      <p:sp>
        <p:nvSpPr>
          <p:cNvPr id="23" name="Text 21"/>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s.13(1), s.14  ·  Code of Practice v1.0 §3.1</a:t>
            </a:r>
            <a:endParaRPr lang="en-US" sz="1300" dirty="0"/>
          </a:p>
        </p:txBody>
      </p:sp>
      <p:sp>
        <p:nvSpPr>
          <p:cNvPr id="24" name="Text 22"/>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32</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marL="0" indent="0">
              <a:buNone/>
            </a:pPr>
            <a:r>
              <a:rPr lang="en-US" sz="1600" b="1" kern="0" spc="140" dirty="0">
                <a:solidFill>
                  <a:srgbClr val="7A7A7A"/>
                </a:solidFill>
                <a:latin typeface="Arial" pitchFamily="34" charset="0"/>
                <a:ea typeface="Arial" pitchFamily="34" charset="-122"/>
                <a:cs typeface="Arial" pitchFamily="34" charset="-120"/>
              </a:rPr>
              <a:t>DOCUMENT 2 OF 4  ·  10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The Computer-</a:t>
            </a:r>
            <a:endParaRPr lang="en-US" sz="4400" dirty="0"/>
          </a:p>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System Security</a:t>
            </a:r>
            <a:endParaRPr lang="en-US" sz="4400" dirty="0"/>
          </a:p>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Management Plan</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marL="0" indent="0">
              <a:lnSpc>
                <a:spcPct val="135000"/>
              </a:lnSpc>
              <a:buNone/>
            </a:pPr>
            <a:r>
              <a:rPr lang="en-US" sz="2000" dirty="0">
                <a:solidFill>
                  <a:srgbClr val="7A7A7A"/>
                </a:solidFill>
                <a:latin typeface="Arial" pitchFamily="34" charset="0"/>
                <a:ea typeface="Arial" pitchFamily="34" charset="-122"/>
                <a:cs typeface="Arial" pitchFamily="34" charset="-120"/>
              </a:rPr>
              <a:t>Everything the preventive obligations require, in a single document the board has to sign.</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33</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CATEGORY 2 · CHAPTER 6</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Preventive Obligations</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810000"/>
        </p:xfrm>
        <a:graphic>
          <a:graphicData uri="http://schemas.openxmlformats.org/drawingml/2006/table">
            <a:tbl>
              <a:tblPr/>
              <a:tblGrid>
                <a:gridCol w="6667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7620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Obligation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When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620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§6.1  Notify material changes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Within 1 month</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620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§6.2  Security management plan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Within 3 months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620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§6.3  Security risk assessments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12 months, then annually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620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§6.4  Security audits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24 months, then every 24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33400" y="2600325"/>
            <a:ext cx="11124895" cy="19050"/>
          </a:xfrm>
          <a:prstGeom prst="rect">
            <a:avLst/>
          </a:prstGeom>
          <a:solidFill>
            <a:srgbClr val="1A1A1A"/>
          </a:solidFill>
          <a:ln/>
        </p:spPr>
        <p:txBody>
          <a:bodyPr/>
          <a:lstStyle/>
          <a:p>
            <a:endParaRPr lang="en-US"/>
          </a:p>
        </p:txBody>
      </p:sp>
      <p:sp>
        <p:nvSpPr>
          <p:cNvPr id="6" name="Text 3"/>
          <p:cNvSpPr/>
          <p:nvPr/>
        </p:nvSpPr>
        <p:spPr>
          <a:xfrm>
            <a:off x="533400" y="5886450"/>
            <a:ext cx="11124895" cy="381000"/>
          </a:xfrm>
          <a:prstGeom prst="rect">
            <a:avLst/>
          </a:prstGeom>
          <a:noFill/>
          <a:ln/>
        </p:spPr>
        <p:txBody>
          <a:bodyPr wrap="square" rtlCol="0" anchor="ctr"/>
          <a:lstStyle/>
          <a:p>
            <a:pPr marL="0" indent="0">
              <a:buNone/>
            </a:pPr>
            <a:r>
              <a:rPr lang="en-US" sz="2200" b="1" dirty="0">
                <a:solidFill>
                  <a:srgbClr val="1A1A1A"/>
                </a:solidFill>
                <a:latin typeface="Arial" pitchFamily="34" charset="0"/>
                <a:ea typeface="Arial" pitchFamily="34" charset="-122"/>
                <a:cs typeface="Arial" pitchFamily="34" charset="-120"/>
              </a:rPr>
              <a:t>§6.2 is the big one — twenty-three control domains live inside it.</a:t>
            </a:r>
            <a:endParaRPr lang="en-US" sz="2200" dirty="0"/>
          </a:p>
        </p:txBody>
      </p:sp>
      <p:sp>
        <p:nvSpPr>
          <p:cNvPr id="7" name="Text 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§6.1–6.4, headings verbatim  ·  Cap. 653 s.22–s.25 and Schedule 3</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34</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BEFORE WE RUN THROUGH THE TWENTY-THREE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None of This Was Invented Here</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133850"/>
        </p:xfrm>
        <a:graphic>
          <a:graphicData uri="http://schemas.openxmlformats.org/drawingml/2006/table">
            <a:tbl>
              <a:tblPr/>
              <a:tblGrid>
                <a:gridCol w="342900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tblGrid>
              <a:tr h="5905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NIST Cybersecurity Framework function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Where it lands in §6.2</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905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Govern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Security unit · policies · risk approach</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05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Identify</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Asset management · security by design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0550">
                <a:tc>
                  <a:txBody>
                    <a:bodyPr/>
                    <a:lstStyle/>
                    <a:p>
                      <a:pPr marL="0" indent="0" algn="l">
                        <a:buNone/>
                      </a:pPr>
                      <a:r>
                        <a:rPr lang="en-US" sz="1700" b="1" dirty="0">
                          <a:solidFill>
                            <a:srgbClr val="3D3D3D"/>
                          </a:solidFill>
                          <a:latin typeface="Arial" pitchFamily="34" charset="0"/>
                          <a:ea typeface="Arial" pitchFamily="34" charset="-122"/>
                          <a:cs typeface="Arial" pitchFamily="34" charset="-120"/>
                        </a:rPr>
                        <a:t>Protect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Thirteen of the twenty-three — access, privilege, cryptography, passwords, physical, hardening, change, patching, remote, media, backup, network, application</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05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Detect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Log management · monitoring and detection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05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Respond and Recover</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Chapter 7 — the emergency response plan, next block</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05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Plus, called out separately</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Cloud security · supply chain · security training</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33400" y="24288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Mapping is ours, for orientation. NIST CSF 2.0 functions: Govern, Identify, Protect, Detect, Respond, Recover — we do the framework properly in Week 6.</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35</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1 OF 5 — GOVERNANCE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§6.2 requires.</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229100"/>
        </p:xfrm>
        <a:graphic>
          <a:graphicData uri="http://schemas.openxmlformats.org/drawingml/2006/table">
            <a:tbl>
              <a:tblPr/>
              <a:tblGrid>
                <a:gridCol w="1619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7048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Control domain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In one line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Security management unit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Who owns security, with real authority.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Policies and standards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Written rules, and staff who see them.</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Risk management approach</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 named methodology, not ad hoc.</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§6.2.8</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Security by design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Built in from initiation to disposal.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§6.2.9</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Asset management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An inventory you can trust.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33400" y="25431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§6.2.5–6.2.9 — headings verbatim</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36</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2 OF 5 — IDENTITY AND SECRETS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§6.2 requires.</a:t>
            </a:r>
            <a:endParaRPr lang="en-US" sz="30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229100"/>
        </p:xfrm>
        <a:graphic>
          <a:graphicData uri="http://schemas.openxmlformats.org/drawingml/2006/table">
            <a:tbl>
              <a:tblPr/>
              <a:tblGrid>
                <a:gridCol w="1619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7048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Control domain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In one line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Access control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Least privilege, reviewed annually.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Privileged access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Separate admin IDs, or just-in-time.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Cryptography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Keys managed across their life cycle.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§6.2.13</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Password management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Length, complexity, expiry, lockout.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Physical security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Who can walk into the room.</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33400" y="25431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§6.2.10–6.2.14 — headings verbatim</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37</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3 OF 5 — CHANGE AND RESILIENCE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§6.2 requires.</a:t>
            </a:r>
            <a:endParaRPr lang="en-US" sz="3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229100"/>
        </p:xfrm>
        <a:graphic>
          <a:graphicData uri="http://schemas.openxmlformats.org/drawingml/2006/table">
            <a:tbl>
              <a:tblPr/>
              <a:tblGrid>
                <a:gridCol w="1619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7048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Control domain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In one line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Configuration, hardening</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 baseline, reviewed and enforced.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Change management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Assessed, tested, approved, reversible.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Patch management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Risk-based, with testing documented.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§6.2.18</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Remote connection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Encrypted, MFA, logged.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§6.2.19</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Storage media</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USB control, encryption, destruction.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33400" y="25431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§6.2.15–6.2.19 — headings verbatim</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38</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4 OF 5 — NETWORKS AND CODE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§6.2 requires.</a:t>
            </a:r>
            <a:endParaRPr lang="en-US" sz="30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524250"/>
        </p:xfrm>
        <a:graphic>
          <a:graphicData uri="http://schemas.openxmlformats.org/drawingml/2006/table">
            <a:tbl>
              <a:tblPr/>
              <a:tblGrid>
                <a:gridCol w="1619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7048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Control domain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In one line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§6.2.20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Backup, recovery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Off-site, immutable, restore-tested.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§6.2.21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Network security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Segmented by trust, with detection.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§6.2.22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Application security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Secure coding, tested before release.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§6.2.23</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Log management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Six-month floor, tamper-protected.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33400" y="25431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§6.2.20–6.2.23 — headings verbatim</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39</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5 OF 5 — DEPENDING ON OTHERS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§6.2 requires.</a:t>
            </a:r>
            <a:endParaRPr lang="en-US" sz="3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524250"/>
        </p:xfrm>
        <a:graphic>
          <a:graphicData uri="http://schemas.openxmlformats.org/drawingml/2006/table">
            <a:tbl>
              <a:tblPr/>
              <a:tblGrid>
                <a:gridCol w="1619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7048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Control domain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In one line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§6.2.24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Cloud security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Shared responsibility, written down.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§6.2.25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Supply chain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Audit rights, or SOC 2 reports.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§6.2.26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Monitoring, detection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24×7, against a known-good baseline.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048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§6.2.27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Security training</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Role-specific, effectiveness measured.</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33400" y="25431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§6.2.24–6.2.27 — headings verbatim</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40</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READ THESE IF YOU WANT THE DETAIL</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the Code Points At</a:t>
            </a:r>
            <a:endParaRPr lang="en-US" sz="30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505200"/>
        </p:xfrm>
        <a:graphic>
          <a:graphicData uri="http://schemas.openxmlformats.org/drawingml/2006/table">
            <a:tbl>
              <a:tblPr/>
              <a:tblGrid>
                <a:gridCol w="285750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gridCol w="3524250">
                  <a:extLst>
                    <a:ext uri="{9D8B030D-6E8A-4147-A177-3AD203B41FA5}">
                      <a16:colId xmlns:a16="http://schemas.microsoft.com/office/drawing/2014/main" val="20002"/>
                    </a:ext>
                  </a:extLst>
                </a:gridCol>
              </a:tblGrid>
              <a:tr h="4381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Clause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What the Code names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Where to get it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38150">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§6.2.7  Risk management</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ISO/IEC 27005 · GB/T 31722 · IEC 62443-3-2</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iso.org  ·  iec.ch</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150">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§6.2.7  Risk management</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Practice Guide for IT Security Risk Management</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govcert.gov.hk/doc/</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150">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§6.2.8  Security by design</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Practice Guide for Security by Design</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govcert.gov.hk/doc/</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150">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§6.3.1  Risk assessment</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ISO 27001 · GB/T 22080 · NIST 800-30 · ISO 42001</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csrc.nist.gov  ·  iso.org</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150">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§6.3.1  Risk assessment</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ISPG-SM01, Security Risk Assessment &amp; Audit</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govcert.gov.hk/doc/</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150">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§6.4.4  Audit</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ISO 19011 · ISO 27007 · GB/T 19011 · GB/T 28450</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iso.org  ·  openstd.samr.gov.cn</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150">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§6.2.25(e)  Suppliers</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HKSAE 3000 · SOC 2 Type 2</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400" dirty="0">
                          <a:solidFill>
                            <a:srgbClr val="3D3D3D"/>
                          </a:solidFill>
                          <a:latin typeface="Arial" pitchFamily="34" charset="0"/>
                          <a:ea typeface="Arial" pitchFamily="34" charset="-122"/>
                          <a:cs typeface="Arial" pitchFamily="34" charset="-120"/>
                        </a:rPr>
                        <a:t>hkicpa.org.hk  ·  aicpa-cima.com</a:t>
                      </a:r>
                      <a:endParaRPr lang="en-US" sz="14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33400" y="2276475"/>
            <a:ext cx="11124895" cy="19050"/>
          </a:xfrm>
          <a:prstGeom prst="rect">
            <a:avLst/>
          </a:prstGeom>
          <a:solidFill>
            <a:srgbClr val="1A1A1A"/>
          </a:solidFill>
          <a:ln/>
        </p:spPr>
        <p:txBody>
          <a:bodyPr/>
          <a:lstStyle/>
          <a:p>
            <a:endParaRPr lang="en-US"/>
          </a:p>
        </p:txBody>
      </p:sp>
      <p:sp>
        <p:nvSpPr>
          <p:cNvPr id="6" name="Text 3"/>
          <p:cNvSpPr/>
          <p:nvPr/>
        </p:nvSpPr>
        <p:spPr>
          <a:xfrm>
            <a:off x="533400" y="5505450"/>
            <a:ext cx="11124895" cy="636905"/>
          </a:xfrm>
          <a:prstGeom prst="rect">
            <a:avLst/>
          </a:prstGeom>
          <a:noFill/>
          <a:ln/>
        </p:spPr>
        <p:txBody>
          <a:bodyPr wrap="square" rtlCol="0" anchor="t"/>
          <a:lstStyle/>
          <a:p>
            <a:pPr marL="0" indent="0">
              <a:lnSpc>
                <a:spcPct val="125000"/>
              </a:lnSpc>
              <a:buNone/>
            </a:pPr>
            <a:r>
              <a:rPr lang="en-US" sz="1700" i="1" dirty="0">
                <a:solidFill>
                  <a:srgbClr val="3D3D3D"/>
                </a:solidFill>
                <a:latin typeface="Arial" pitchFamily="34" charset="0"/>
                <a:ea typeface="Arial" pitchFamily="34" charset="-122"/>
                <a:cs typeface="Arial" pitchFamily="34" charset="-120"/>
              </a:rPr>
              <a:t>All are named in the Code at the clause shown. The government practice guides are free; ISO and GB/T are not.</a:t>
            </a:r>
            <a:endParaRPr lang="en-US" sz="1700" dirty="0"/>
          </a:p>
        </p:txBody>
      </p:sp>
      <p:sp>
        <p:nvSpPr>
          <p:cNvPr id="7" name="Text 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§6.2.7, §6.2.8, §6.2.25(e), §6.3.1, §6.4.4  ·  links verified 9 September 2026</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41</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§6.2.4</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And If You Cannot Meet One?</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17811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Alternative controls are expressly allowed</a:t>
            </a:r>
            <a:endParaRPr lang="en-US" sz="2000" dirty="0"/>
          </a:p>
        </p:txBody>
      </p:sp>
      <p:sp>
        <p:nvSpPr>
          <p:cNvPr id="7" name="Text 5"/>
          <p:cNvSpPr/>
          <p:nvPr/>
        </p:nvSpPr>
        <p:spPr>
          <a:xfrm>
            <a:off x="723900" y="2352675"/>
            <a:ext cx="10743895" cy="1228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"…implement alternative security controls that achieve comparable results."</a:t>
            </a:r>
            <a:endParaRPr lang="en-US" sz="2000" dirty="0"/>
          </a:p>
        </p:txBody>
      </p:sp>
      <p:sp>
        <p:nvSpPr>
          <p:cNvPr id="8" name="Shape 6"/>
          <p:cNvSpPr/>
          <p:nvPr/>
        </p:nvSpPr>
        <p:spPr>
          <a:xfrm>
            <a:off x="533400" y="3867150"/>
            <a:ext cx="11124895" cy="28575"/>
          </a:xfrm>
          <a:prstGeom prst="rect">
            <a:avLst/>
          </a:prstGeom>
          <a:solidFill>
            <a:srgbClr val="1A1A1A"/>
          </a:solidFill>
          <a:ln/>
        </p:spPr>
        <p:txBody>
          <a:bodyPr/>
          <a:lstStyle/>
          <a:p>
            <a:endParaRPr lang="en-US"/>
          </a:p>
        </p:txBody>
      </p:sp>
      <p:sp>
        <p:nvSpPr>
          <p:cNvPr id="9" name="Shape 7"/>
          <p:cNvSpPr/>
          <p:nvPr/>
        </p:nvSpPr>
        <p:spPr>
          <a:xfrm>
            <a:off x="533400" y="3895725"/>
            <a:ext cx="11124895" cy="21621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723900" y="40195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But they must be written down</a:t>
            </a:r>
            <a:endParaRPr lang="en-US" sz="2000" dirty="0"/>
          </a:p>
        </p:txBody>
      </p:sp>
      <p:sp>
        <p:nvSpPr>
          <p:cNvPr id="11" name="Text 9"/>
          <p:cNvSpPr/>
          <p:nvPr/>
        </p:nvSpPr>
        <p:spPr>
          <a:xfrm>
            <a:off x="723900" y="4371975"/>
            <a:ext cx="10743895"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"…documented in the computer-system security management plan, with a detailed description showing how they effectively mitigate the relevant risks."</a:t>
            </a:r>
            <a:endParaRPr lang="en-US" sz="2000" dirty="0"/>
          </a:p>
        </p:txBody>
      </p:sp>
      <p:sp>
        <p:nvSpPr>
          <p:cNvPr id="12" name="Text 10"/>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§6.2.4 — verbatim</a:t>
            </a:r>
            <a:endParaRPr lang="en-US" sz="1300" dirty="0"/>
          </a:p>
        </p:txBody>
      </p:sp>
      <p:sp>
        <p:nvSpPr>
          <p:cNvPr id="13" name="Text 11"/>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42</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IT IS AN ENTRY IN THE RISK MANAGEMENT PROCESS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An Exception Is Not a Decision</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88582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CODE OF PRACTICE V1.0 §6.2.7</a:t>
            </a:r>
            <a:endParaRPr lang="en-US" sz="1600" dirty="0"/>
          </a:p>
        </p:txBody>
      </p:sp>
      <p:sp>
        <p:nvSpPr>
          <p:cNvPr id="7" name="Text 5"/>
          <p:cNvSpPr/>
          <p:nvPr/>
        </p:nvSpPr>
        <p:spPr>
          <a:xfrm>
            <a:off x="723900" y="2276475"/>
            <a:ext cx="10743895"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Whatever you cannot meet falls back into the risk management approach the plan already commits you to.</a:t>
            </a:r>
            <a:endParaRPr lang="en-US" sz="20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33400" y="2914650"/>
          <a:ext cx="11049000" cy="2971800"/>
        </p:xfrm>
        <a:graphic>
          <a:graphicData uri="http://schemas.openxmlformats.org/drawingml/2006/table">
            <a:tbl>
              <a:tblPr/>
              <a:tblGrid>
                <a:gridCol w="2190750">
                  <a:extLst>
                    <a:ext uri="{9D8B030D-6E8A-4147-A177-3AD203B41FA5}">
                      <a16:colId xmlns:a16="http://schemas.microsoft.com/office/drawing/2014/main" val="20000"/>
                    </a:ext>
                  </a:extLst>
                </a:gridCol>
                <a:gridCol w="8858250">
                  <a:extLst>
                    <a:ext uri="{9D8B030D-6E8A-4147-A177-3AD203B41FA5}">
                      <a16:colId xmlns:a16="http://schemas.microsoft.com/office/drawing/2014/main" val="20001"/>
                    </a:ext>
                  </a:extLst>
                </a:gridCol>
              </a:tblGrid>
              <a:tr h="4953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Step</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What has to exist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9530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1  ·  Raise</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A written request: the clause, why it cannot be met, the residual risk</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9530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2  ·  Mitigate</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The compensating control, and how it achieves a comparable result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530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3  ·  Approve</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A named risk owner at the right level — not the engineer who raised it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530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4  ·  Date it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A target for moving from alternative control to full compliance</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530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5  ·  Review</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Back through the process at a stated interval, and at every plan review</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6"/>
          <p:cNvSpPr/>
          <p:nvPr/>
        </p:nvSpPr>
        <p:spPr>
          <a:xfrm>
            <a:off x="533400" y="3400425"/>
            <a:ext cx="11124895" cy="19050"/>
          </a:xfrm>
          <a:prstGeom prst="rect">
            <a:avLst/>
          </a:prstGeom>
          <a:solidFill>
            <a:srgbClr val="1A1A1A"/>
          </a:solidFill>
          <a:ln/>
        </p:spPr>
        <p:txBody>
          <a:bodyPr/>
          <a:lstStyle/>
          <a:p>
            <a:endParaRPr lang="en-US"/>
          </a:p>
        </p:txBody>
      </p:sp>
      <p:sp>
        <p:nvSpPr>
          <p:cNvPr id="10" name="Text 7"/>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§6.2.4 (alternative controls) and §6.2.7 (risk management approach) — §6.2.7 is a Code clause, not an Ordinance section</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43</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It All Lands in One Document</a:t>
            </a:r>
            <a:endParaRPr lang="en-US" sz="3000" dirty="0"/>
          </a:p>
        </p:txBody>
      </p:sp>
      <p:sp>
        <p:nvSpPr>
          <p:cNvPr id="3" name="Shape 1"/>
          <p:cNvSpPr/>
          <p:nvPr/>
        </p:nvSpPr>
        <p:spPr>
          <a:xfrm>
            <a:off x="533400" y="1562100"/>
            <a:ext cx="11124895" cy="28575"/>
          </a:xfrm>
          <a:prstGeom prst="rect">
            <a:avLst/>
          </a:prstGeom>
          <a:solidFill>
            <a:srgbClr val="D04A02"/>
          </a:solidFill>
          <a:ln/>
        </p:spPr>
        <p:txBody>
          <a:bodyPr/>
          <a:lstStyle/>
          <a:p>
            <a:endParaRPr lang="en-US"/>
          </a:p>
        </p:txBody>
      </p:sp>
      <p:sp>
        <p:nvSpPr>
          <p:cNvPr id="4" name="Shape 2"/>
          <p:cNvSpPr/>
          <p:nvPr/>
        </p:nvSpPr>
        <p:spPr>
          <a:xfrm>
            <a:off x="533400" y="1590675"/>
            <a:ext cx="11124895" cy="1685925"/>
          </a:xfrm>
          <a:prstGeom prst="rect">
            <a:avLst/>
          </a:prstGeom>
          <a:solidFill>
            <a:srgbClr val="FDF0E6"/>
          </a:solidFill>
          <a:ln w="6350">
            <a:solidFill>
              <a:srgbClr val="FDF0E6"/>
            </a:solidFill>
            <a:prstDash val="solid"/>
          </a:ln>
        </p:spPr>
        <p:txBody>
          <a:bodyPr/>
          <a:lstStyle/>
          <a:p>
            <a:endParaRPr lang="en-US"/>
          </a:p>
        </p:txBody>
      </p:sp>
      <p:sp>
        <p:nvSpPr>
          <p:cNvPr id="5" name="Text 3"/>
          <p:cNvSpPr/>
          <p:nvPr/>
        </p:nvSpPr>
        <p:spPr>
          <a:xfrm>
            <a:off x="723900" y="17145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§6.2.1</a:t>
            </a:r>
            <a:endParaRPr lang="en-US" sz="2000" dirty="0"/>
          </a:p>
        </p:txBody>
      </p:sp>
      <p:sp>
        <p:nvSpPr>
          <p:cNvPr id="6" name="Text 4"/>
          <p:cNvSpPr/>
          <p:nvPr/>
        </p:nvSpPr>
        <p:spPr>
          <a:xfrm>
            <a:off x="723900" y="2066925"/>
            <a:ext cx="10743895" cy="1133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plan must "cover all of the matters necessary… in accordance with Schedule 3 of the Ordinance."</a:t>
            </a:r>
            <a:endParaRPr lang="en-US" sz="2000" dirty="0"/>
          </a:p>
        </p:txBody>
      </p:sp>
      <p:sp>
        <p:nvSpPr>
          <p:cNvPr id="7" name="Shape 5"/>
          <p:cNvSpPr/>
          <p:nvPr/>
        </p:nvSpPr>
        <p:spPr>
          <a:xfrm>
            <a:off x="533400" y="3486150"/>
            <a:ext cx="11124895" cy="28575"/>
          </a:xfrm>
          <a:prstGeom prst="rect">
            <a:avLst/>
          </a:prstGeom>
          <a:solidFill>
            <a:srgbClr val="1A1A1A"/>
          </a:solidFill>
          <a:ln/>
        </p:spPr>
        <p:txBody>
          <a:bodyPr/>
          <a:lstStyle/>
          <a:p>
            <a:endParaRPr lang="en-US"/>
          </a:p>
        </p:txBody>
      </p:sp>
      <p:sp>
        <p:nvSpPr>
          <p:cNvPr id="8" name="Shape 6"/>
          <p:cNvSpPr/>
          <p:nvPr/>
        </p:nvSpPr>
        <p:spPr>
          <a:xfrm>
            <a:off x="533400" y="3514725"/>
            <a:ext cx="11124895" cy="235267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723900" y="36385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§6.2.3 — if it is a collection of documents</a:t>
            </a:r>
            <a:endParaRPr lang="en-US" sz="2000" dirty="0"/>
          </a:p>
        </p:txBody>
      </p:sp>
      <p:sp>
        <p:nvSpPr>
          <p:cNvPr id="10" name="Text 8"/>
          <p:cNvSpPr/>
          <p:nvPr/>
        </p:nvSpPr>
        <p:spPr>
          <a:xfrm>
            <a:off x="723900" y="3990975"/>
            <a:ext cx="10743895"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Provide "a clear cross-reference that maps each applicable requirement between relevant sections of the plan and sections 6.2.5 – 6.2.27, 6.3, 6.4 and 6.5."</a:t>
            </a:r>
            <a:endParaRPr lang="en-US" sz="2000" dirty="0"/>
          </a:p>
        </p:txBody>
      </p:sp>
      <p:sp>
        <p:nvSpPr>
          <p:cNvPr id="11" name="Text 9"/>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§6.2.1 and §6.2.3 — verbatim  ·  Cap. 653 s.23 and Schedule 3</a:t>
            </a:r>
            <a:endParaRPr lang="en-US" sz="1300" dirty="0"/>
          </a:p>
        </p:txBody>
      </p:sp>
      <p:sp>
        <p:nvSpPr>
          <p:cNvPr id="12" name="Text 10"/>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44</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CLIENT DOCUMENT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 Real Table of Contents</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17811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Where this came from</a:t>
            </a:r>
            <a:endParaRPr lang="en-US" sz="2000" dirty="0"/>
          </a:p>
        </p:txBody>
      </p:sp>
      <p:sp>
        <p:nvSpPr>
          <p:cNvPr id="7" name="Text 5"/>
          <p:cNvSpPr/>
          <p:nvPr/>
        </p:nvSpPr>
        <p:spPr>
          <a:xfrm>
            <a:off x="723900" y="2352675"/>
            <a:ext cx="10743895" cy="1228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designated operator already certified to ISO 27001, uplifting its existing manual to carry Cap. 653 as well — one document covering both.</a:t>
            </a:r>
            <a:endParaRPr lang="en-US" sz="2000" dirty="0"/>
          </a:p>
        </p:txBody>
      </p:sp>
      <p:sp>
        <p:nvSpPr>
          <p:cNvPr id="8" name="Shape 6"/>
          <p:cNvSpPr/>
          <p:nvPr/>
        </p:nvSpPr>
        <p:spPr>
          <a:xfrm>
            <a:off x="533400" y="3810000"/>
            <a:ext cx="5457673" cy="28575"/>
          </a:xfrm>
          <a:prstGeom prst="rect">
            <a:avLst/>
          </a:prstGeom>
          <a:solidFill>
            <a:srgbClr val="D04A02"/>
          </a:solidFill>
          <a:ln/>
        </p:spPr>
        <p:txBody>
          <a:bodyPr/>
          <a:lstStyle/>
          <a:p>
            <a:endParaRPr lang="en-US"/>
          </a:p>
        </p:txBody>
      </p:sp>
      <p:sp>
        <p:nvSpPr>
          <p:cNvPr id="9" name="Shape 7"/>
          <p:cNvSpPr/>
          <p:nvPr/>
        </p:nvSpPr>
        <p:spPr>
          <a:xfrm>
            <a:off x="533400" y="3838575"/>
            <a:ext cx="5457673" cy="2143125"/>
          </a:xfrm>
          <a:prstGeom prst="rect">
            <a:avLst/>
          </a:prstGeom>
          <a:solidFill>
            <a:srgbClr val="FDF0E6"/>
          </a:solidFill>
          <a:ln w="6350">
            <a:solidFill>
              <a:srgbClr val="FDF0E6"/>
            </a:solidFill>
            <a:prstDash val="solid"/>
          </a:ln>
        </p:spPr>
        <p:txBody>
          <a:bodyPr/>
          <a:lstStyle/>
          <a:p>
            <a:endParaRPr lang="en-US"/>
          </a:p>
        </p:txBody>
      </p:sp>
      <p:sp>
        <p:nvSpPr>
          <p:cNvPr id="10" name="Text 8"/>
          <p:cNvSpPr/>
          <p:nvPr/>
        </p:nvSpPr>
        <p:spPr>
          <a:xfrm>
            <a:off x="723900" y="39624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Why that works</a:t>
            </a:r>
            <a:endParaRPr lang="en-US" sz="2000" dirty="0"/>
          </a:p>
        </p:txBody>
      </p:sp>
      <p:sp>
        <p:nvSpPr>
          <p:cNvPr id="11" name="Text 9"/>
          <p:cNvSpPr/>
          <p:nvPr/>
        </p:nvSpPr>
        <p:spPr>
          <a:xfrm>
            <a:off x="723900" y="4314825"/>
            <a:ext cx="5076673" cy="15906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Our understanding is that this is acceptable. §6.2.3 expressly contemplates a plan made of existing policies.</a:t>
            </a:r>
            <a:endParaRPr lang="en-US" sz="2000" dirty="0"/>
          </a:p>
        </p:txBody>
      </p:sp>
      <p:sp>
        <p:nvSpPr>
          <p:cNvPr id="12" name="Shape 10"/>
          <p:cNvSpPr/>
          <p:nvPr/>
        </p:nvSpPr>
        <p:spPr>
          <a:xfrm>
            <a:off x="6200623" y="3810000"/>
            <a:ext cx="5457673" cy="28575"/>
          </a:xfrm>
          <a:prstGeom prst="rect">
            <a:avLst/>
          </a:prstGeom>
          <a:solidFill>
            <a:srgbClr val="1A1A1A"/>
          </a:solidFill>
          <a:ln/>
        </p:spPr>
        <p:txBody>
          <a:bodyPr/>
          <a:lstStyle/>
          <a:p>
            <a:endParaRPr lang="en-US"/>
          </a:p>
        </p:txBody>
      </p:sp>
      <p:sp>
        <p:nvSpPr>
          <p:cNvPr id="13" name="Shape 11"/>
          <p:cNvSpPr/>
          <p:nvPr/>
        </p:nvSpPr>
        <p:spPr>
          <a:xfrm>
            <a:off x="6200623" y="3838575"/>
            <a:ext cx="5457673" cy="214312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6391123" y="39624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it costs</a:t>
            </a:r>
            <a:endParaRPr lang="en-US" sz="2000" dirty="0"/>
          </a:p>
        </p:txBody>
      </p:sp>
      <p:sp>
        <p:nvSpPr>
          <p:cNvPr id="15" name="Text 13"/>
          <p:cNvSpPr/>
          <p:nvPr/>
        </p:nvSpPr>
        <p:spPr>
          <a:xfrm>
            <a:off x="6391123" y="4314825"/>
            <a:ext cx="5076673" cy="15906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cross-reference map — every clause pointed at a section that genuinely covers it.</a:t>
            </a:r>
            <a:endParaRPr lang="en-US" sz="2000" dirty="0"/>
          </a:p>
        </p:txBody>
      </p:sp>
      <p:sp>
        <p:nvSpPr>
          <p:cNvPr id="16" name="Text 1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from a CI operator engagement  ·  Structure permitted by Code of Practice v1.0 §6.2.3</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45</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ISMS POLICY AND PROCEDURAL MANUAL</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Manual — All 24 Sections</a:t>
            </a:r>
            <a:endParaRPr lang="en-US" sz="3000" dirty="0"/>
          </a:p>
        </p:txBody>
      </p:sp>
      <p:sp>
        <p:nvSpPr>
          <p:cNvPr id="4" name="Shape 2"/>
          <p:cNvSpPr/>
          <p:nvPr/>
        </p:nvSpPr>
        <p:spPr>
          <a:xfrm>
            <a:off x="533400" y="1847850"/>
            <a:ext cx="3581298" cy="28575"/>
          </a:xfrm>
          <a:prstGeom prst="rect">
            <a:avLst/>
          </a:prstGeom>
          <a:solidFill>
            <a:srgbClr val="1A1A1A"/>
          </a:solidFill>
          <a:ln/>
        </p:spPr>
        <p:txBody>
          <a:bodyPr/>
          <a:lstStyle/>
          <a:p>
            <a:endParaRPr lang="en-US"/>
          </a:p>
        </p:txBody>
      </p:sp>
      <p:sp>
        <p:nvSpPr>
          <p:cNvPr id="5" name="Shape 3"/>
          <p:cNvSpPr/>
          <p:nvPr/>
        </p:nvSpPr>
        <p:spPr>
          <a:xfrm>
            <a:off x="533400" y="1876425"/>
            <a:ext cx="3581298" cy="340042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685800" y="2000250"/>
            <a:ext cx="3276498" cy="3200400"/>
          </a:xfrm>
          <a:prstGeom prst="rect">
            <a:avLst/>
          </a:prstGeom>
          <a:noFill/>
          <a:ln/>
        </p:spPr>
        <p:txBody>
          <a:bodyPr wrap="square" rtlCol="0" anchor="t"/>
          <a:lstStyle/>
          <a:p>
            <a:pPr marL="0" indent="0">
              <a:lnSpc>
                <a:spcPct val="140000"/>
              </a:lnSpc>
              <a:buNone/>
            </a:pPr>
            <a:r>
              <a:rPr lang="en-US" sz="1600" dirty="0">
                <a:solidFill>
                  <a:srgbClr val="3D3D3D"/>
                </a:solidFill>
                <a:latin typeface="Arial" pitchFamily="34" charset="0"/>
                <a:ea typeface="Arial" pitchFamily="34" charset="-122"/>
                <a:cs typeface="Arial" pitchFamily="34" charset="-120"/>
              </a:rPr>
              <a:t>1.  Purpose</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2.  Company background</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3.  Scope of the ISMS</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4.  Context of the organization</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5.  Leadership</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6.  Risk management approach</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7.  System acquisition and development</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8.  Asset management</a:t>
            </a:r>
            <a:endParaRPr lang="en-US" sz="1600" dirty="0"/>
          </a:p>
        </p:txBody>
      </p:sp>
      <p:sp>
        <p:nvSpPr>
          <p:cNvPr id="7" name="Shape 5"/>
          <p:cNvSpPr/>
          <p:nvPr/>
        </p:nvSpPr>
        <p:spPr>
          <a:xfrm>
            <a:off x="4305198" y="1847850"/>
            <a:ext cx="3581298" cy="28575"/>
          </a:xfrm>
          <a:prstGeom prst="rect">
            <a:avLst/>
          </a:prstGeom>
          <a:solidFill>
            <a:srgbClr val="1A1A1A"/>
          </a:solidFill>
          <a:ln/>
        </p:spPr>
        <p:txBody>
          <a:bodyPr/>
          <a:lstStyle/>
          <a:p>
            <a:endParaRPr lang="en-US"/>
          </a:p>
        </p:txBody>
      </p:sp>
      <p:sp>
        <p:nvSpPr>
          <p:cNvPr id="8" name="Shape 6"/>
          <p:cNvSpPr/>
          <p:nvPr/>
        </p:nvSpPr>
        <p:spPr>
          <a:xfrm>
            <a:off x="4305198" y="1876425"/>
            <a:ext cx="3581298" cy="340042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4457598" y="2000250"/>
            <a:ext cx="3276498" cy="3200400"/>
          </a:xfrm>
          <a:prstGeom prst="rect">
            <a:avLst/>
          </a:prstGeom>
          <a:noFill/>
          <a:ln/>
        </p:spPr>
        <p:txBody>
          <a:bodyPr wrap="square" rtlCol="0" anchor="t"/>
          <a:lstStyle/>
          <a:p>
            <a:pPr marL="0" indent="0">
              <a:lnSpc>
                <a:spcPct val="140000"/>
              </a:lnSpc>
              <a:buNone/>
            </a:pPr>
            <a:r>
              <a:rPr lang="en-US" sz="1600" dirty="0">
                <a:solidFill>
                  <a:srgbClr val="3D3D3D"/>
                </a:solidFill>
                <a:latin typeface="Arial" pitchFamily="34" charset="0"/>
                <a:ea typeface="Arial" pitchFamily="34" charset="-122"/>
                <a:cs typeface="Arial" pitchFamily="34" charset="-120"/>
              </a:rPr>
              <a:t>9.  Access control</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10.  Support</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11.  Operation</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12.  Performance evaluation</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13.  Improvement</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14.  Information security policies</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15.  Organization of security</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16.  Human resource security</a:t>
            </a:r>
            <a:endParaRPr lang="en-US" sz="1600" dirty="0"/>
          </a:p>
        </p:txBody>
      </p:sp>
      <p:sp>
        <p:nvSpPr>
          <p:cNvPr id="10" name="Shape 8"/>
          <p:cNvSpPr/>
          <p:nvPr/>
        </p:nvSpPr>
        <p:spPr>
          <a:xfrm>
            <a:off x="8076997" y="1847850"/>
            <a:ext cx="3581298" cy="28575"/>
          </a:xfrm>
          <a:prstGeom prst="rect">
            <a:avLst/>
          </a:prstGeom>
          <a:solidFill>
            <a:srgbClr val="1A1A1A"/>
          </a:solidFill>
          <a:ln/>
        </p:spPr>
        <p:txBody>
          <a:bodyPr/>
          <a:lstStyle/>
          <a:p>
            <a:endParaRPr lang="en-US"/>
          </a:p>
        </p:txBody>
      </p:sp>
      <p:sp>
        <p:nvSpPr>
          <p:cNvPr id="11" name="Shape 9"/>
          <p:cNvSpPr/>
          <p:nvPr/>
        </p:nvSpPr>
        <p:spPr>
          <a:xfrm>
            <a:off x="8076997" y="1876425"/>
            <a:ext cx="3581298" cy="3400425"/>
          </a:xfrm>
          <a:prstGeom prst="rect">
            <a:avLst/>
          </a:prstGeom>
          <a:solidFill>
            <a:srgbClr val="F2F2F2"/>
          </a:solidFill>
          <a:ln w="6350">
            <a:solidFill>
              <a:srgbClr val="F2F2F2"/>
            </a:solidFill>
            <a:prstDash val="solid"/>
          </a:ln>
        </p:spPr>
        <p:txBody>
          <a:bodyPr/>
          <a:lstStyle/>
          <a:p>
            <a:endParaRPr lang="en-US"/>
          </a:p>
        </p:txBody>
      </p:sp>
      <p:sp>
        <p:nvSpPr>
          <p:cNvPr id="12" name="Text 10"/>
          <p:cNvSpPr/>
          <p:nvPr/>
        </p:nvSpPr>
        <p:spPr>
          <a:xfrm>
            <a:off x="8229397" y="2000250"/>
            <a:ext cx="3276498" cy="3200400"/>
          </a:xfrm>
          <a:prstGeom prst="rect">
            <a:avLst/>
          </a:prstGeom>
          <a:noFill/>
          <a:ln/>
        </p:spPr>
        <p:txBody>
          <a:bodyPr wrap="square" rtlCol="0" anchor="t"/>
          <a:lstStyle/>
          <a:p>
            <a:pPr marL="0" indent="0">
              <a:lnSpc>
                <a:spcPct val="140000"/>
              </a:lnSpc>
              <a:buNone/>
            </a:pPr>
            <a:r>
              <a:rPr lang="en-US" sz="1600" dirty="0">
                <a:solidFill>
                  <a:srgbClr val="3D3D3D"/>
                </a:solidFill>
                <a:latin typeface="Arial" pitchFamily="34" charset="0"/>
                <a:ea typeface="Arial" pitchFamily="34" charset="-122"/>
                <a:cs typeface="Arial" pitchFamily="34" charset="-120"/>
              </a:rPr>
              <a:t>17.  Cryptography</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18.  Physical and environmental</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19.  Operations security</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20.  Communications security</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21.  Supplier relationships</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22.  Incident management</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23.  Business continuity</a:t>
            </a:r>
            <a:endParaRPr lang="en-US" sz="1600" dirty="0"/>
          </a:p>
          <a:p>
            <a:pPr marL="0" indent="0">
              <a:lnSpc>
                <a:spcPct val="140000"/>
              </a:lnSpc>
              <a:buNone/>
            </a:pPr>
            <a:r>
              <a:rPr lang="en-US" sz="1600" dirty="0">
                <a:solidFill>
                  <a:srgbClr val="3D3D3D"/>
                </a:solidFill>
                <a:latin typeface="Arial" pitchFamily="34" charset="0"/>
                <a:ea typeface="Arial" pitchFamily="34" charset="-122"/>
                <a:cs typeface="Arial" pitchFamily="34" charset="-120"/>
              </a:rPr>
              <a:t>24.  Compliance</a:t>
            </a:r>
            <a:endParaRPr lang="en-US" sz="1600" dirty="0"/>
          </a:p>
        </p:txBody>
      </p:sp>
      <p:sp>
        <p:nvSpPr>
          <p:cNvPr id="13" name="Text 11"/>
          <p:cNvSpPr/>
          <p:nvPr/>
        </p:nvSpPr>
        <p:spPr>
          <a:xfrm>
            <a:off x="533400" y="5486400"/>
            <a:ext cx="11124895" cy="381000"/>
          </a:xfrm>
          <a:prstGeom prst="rect">
            <a:avLst/>
          </a:prstGeom>
          <a:noFill/>
          <a:ln/>
        </p:spPr>
        <p:txBody>
          <a:bodyPr wrap="square" rtlCol="0" anchor="ctr"/>
          <a:lstStyle/>
          <a:p>
            <a:pPr marL="0" indent="0">
              <a:buNone/>
            </a:pPr>
            <a:r>
              <a:rPr lang="en-US" sz="2200" b="1" dirty="0">
                <a:solidFill>
                  <a:srgbClr val="1A1A1A"/>
                </a:solidFill>
                <a:latin typeface="Arial" pitchFamily="34" charset="0"/>
                <a:ea typeface="Arial" pitchFamily="34" charset="-122"/>
                <a:cs typeface="Arial" pitchFamily="34" charset="-120"/>
              </a:rPr>
              <a:t>Mostly the ISO 27001 shape. The gaps are where Cap. 653 asks for more.</a:t>
            </a:r>
            <a:endParaRPr lang="en-US" sz="2200" dirty="0"/>
          </a:p>
        </p:txBody>
      </p:sp>
      <p:sp>
        <p:nvSpPr>
          <p:cNvPr id="14" name="Text 12"/>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client ISMS manual, contents page — section numbering as issued. Set at 16pt to fit one page.</a:t>
            </a:r>
            <a:endParaRPr lang="en-US" sz="1300" dirty="0"/>
          </a:p>
        </p:txBody>
      </p:sp>
      <p:sp>
        <p:nvSpPr>
          <p:cNvPr id="15" name="Text 1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46</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marL="0" indent="0">
              <a:buNone/>
            </a:pPr>
            <a:r>
              <a:rPr lang="en-US" sz="1600" b="1" kern="0" spc="140" dirty="0">
                <a:solidFill>
                  <a:srgbClr val="7A7A7A"/>
                </a:solidFill>
                <a:latin typeface="Arial" pitchFamily="34" charset="0"/>
                <a:ea typeface="Arial" pitchFamily="34" charset="-122"/>
                <a:cs typeface="Arial" pitchFamily="34" charset="-120"/>
              </a:rPr>
              <a:t>DOCUMENT 3 OF 4  ·  10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The Emergency</a:t>
            </a:r>
            <a:endParaRPr lang="en-US" sz="4400" dirty="0"/>
          </a:p>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Response Plan</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marL="0" indent="0">
              <a:lnSpc>
                <a:spcPct val="135000"/>
              </a:lnSpc>
              <a:buNone/>
            </a:pPr>
            <a:r>
              <a:rPr lang="en-US" sz="2000" dirty="0">
                <a:solidFill>
                  <a:srgbClr val="7A7A7A"/>
                </a:solidFill>
                <a:latin typeface="Arial" pitchFamily="34" charset="0"/>
                <a:ea typeface="Arial" pitchFamily="34" charset="-122"/>
                <a:cs typeface="Arial" pitchFamily="34" charset="-120"/>
              </a:rPr>
              <a:t>What happens when the preventive obligations have already failed — and the drill that proves anyone read it.</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47</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CATEGORY 3 · CHAPTER 7</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Incident Response Obligations</a:t>
            </a:r>
            <a:endParaRPr lang="en-US" sz="3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200400"/>
        </p:xfrm>
        <a:graphic>
          <a:graphicData uri="http://schemas.openxmlformats.org/drawingml/2006/table">
            <a:tbl>
              <a:tblPr/>
              <a:tblGrid>
                <a:gridCol w="6667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8001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Obligation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When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§7.1  Participate in a security drill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Max once every 2 years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§7.2  Emergency response plan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Within 3 months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001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§7.3  Notify security incidents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12h · 48h · 14 days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33400" y="2638425"/>
            <a:ext cx="11124895" cy="19050"/>
          </a:xfrm>
          <a:prstGeom prst="rect">
            <a:avLst/>
          </a:prstGeom>
          <a:solidFill>
            <a:srgbClr val="1A1A1A"/>
          </a:solidFill>
          <a:ln/>
        </p:spPr>
        <p:txBody>
          <a:bodyPr/>
          <a:lstStyle/>
          <a:p>
            <a:endParaRPr lang="en-US"/>
          </a:p>
        </p:txBody>
      </p:sp>
      <p:sp>
        <p:nvSpPr>
          <p:cNvPr id="6" name="Shape 3"/>
          <p:cNvSpPr/>
          <p:nvPr/>
        </p:nvSpPr>
        <p:spPr>
          <a:xfrm>
            <a:off x="533400" y="5029200"/>
            <a:ext cx="11124895" cy="28575"/>
          </a:xfrm>
          <a:prstGeom prst="rect">
            <a:avLst/>
          </a:prstGeom>
          <a:solidFill>
            <a:srgbClr val="1A1A1A"/>
          </a:solidFill>
          <a:ln/>
        </p:spPr>
        <p:txBody>
          <a:bodyPr/>
          <a:lstStyle/>
          <a:p>
            <a:endParaRPr lang="en-US"/>
          </a:p>
        </p:txBody>
      </p:sp>
      <p:sp>
        <p:nvSpPr>
          <p:cNvPr id="7" name="Shape 4"/>
          <p:cNvSpPr/>
          <p:nvPr/>
        </p:nvSpPr>
        <p:spPr>
          <a:xfrm>
            <a:off x="533400" y="5057775"/>
            <a:ext cx="11124895" cy="962025"/>
          </a:xfrm>
          <a:prstGeom prst="rect">
            <a:avLst/>
          </a:prstGeom>
          <a:solidFill>
            <a:srgbClr val="F2F2F2"/>
          </a:solidFill>
          <a:ln w="6350">
            <a:solidFill>
              <a:srgbClr val="F2F2F2"/>
            </a:solidFill>
            <a:prstDash val="solid"/>
          </a:ln>
        </p:spPr>
        <p:txBody>
          <a:bodyPr/>
          <a:lstStyle/>
          <a:p>
            <a:endParaRPr lang="en-US"/>
          </a:p>
        </p:txBody>
      </p:sp>
      <p:sp>
        <p:nvSpPr>
          <p:cNvPr id="8" name="Text 5"/>
          <p:cNvSpPr/>
          <p:nvPr/>
        </p:nvSpPr>
        <p:spPr>
          <a:xfrm>
            <a:off x="723900" y="51816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§7.2.1 — the plan's scope</a:t>
            </a:r>
            <a:endParaRPr lang="en-US" sz="2000" dirty="0"/>
          </a:p>
        </p:txBody>
      </p:sp>
      <p:sp>
        <p:nvSpPr>
          <p:cNvPr id="9" name="Text 6"/>
          <p:cNvSpPr/>
          <p:nvPr/>
        </p:nvSpPr>
        <p:spPr>
          <a:xfrm>
            <a:off x="723900" y="5534025"/>
            <a:ext cx="10743895" cy="409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Incident management; (b) Business continuity and disaster recovery."</a:t>
            </a:r>
            <a:endParaRPr lang="en-US" sz="2000" dirty="0"/>
          </a:p>
        </p:txBody>
      </p:sp>
      <p:sp>
        <p:nvSpPr>
          <p:cNvPr id="10" name="Text 7"/>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§7.1, §7.2.1 — verbatim  ·  Cap. 653 s.26–s.28</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48</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CLIENT DOCUMENT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an emergency response plan actually contains.</a:t>
            </a:r>
            <a:endParaRPr lang="en-US" sz="3000" dirty="0"/>
          </a:p>
        </p:txBody>
      </p:sp>
      <p:sp>
        <p:nvSpPr>
          <p:cNvPr id="4" name="Shape 2"/>
          <p:cNvSpPr/>
          <p:nvPr/>
        </p:nvSpPr>
        <p:spPr>
          <a:xfrm>
            <a:off x="533400" y="1847850"/>
            <a:ext cx="3581298" cy="28575"/>
          </a:xfrm>
          <a:prstGeom prst="rect">
            <a:avLst/>
          </a:prstGeom>
          <a:solidFill>
            <a:srgbClr val="1A1A1A"/>
          </a:solidFill>
          <a:ln/>
        </p:spPr>
        <p:txBody>
          <a:bodyPr/>
          <a:lstStyle/>
          <a:p>
            <a:endParaRPr lang="en-US"/>
          </a:p>
        </p:txBody>
      </p:sp>
      <p:sp>
        <p:nvSpPr>
          <p:cNvPr id="5" name="Shape 3"/>
          <p:cNvSpPr/>
          <p:nvPr/>
        </p:nvSpPr>
        <p:spPr>
          <a:xfrm>
            <a:off x="533400" y="1876425"/>
            <a:ext cx="3581298" cy="427672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3200298" cy="200025"/>
          </a:xfrm>
          <a:prstGeom prst="rect">
            <a:avLst/>
          </a:prstGeom>
          <a:noFill/>
          <a:ln/>
        </p:spPr>
        <p:txBody>
          <a:bodyPr wrap="square" rtlCol="0" anchor="ctr"/>
          <a:lstStyle/>
          <a:p>
            <a:pPr marL="0" indent="0">
              <a:buNone/>
            </a:pPr>
            <a:r>
              <a:rPr lang="en-US" sz="1600" b="1" kern="0" spc="110" dirty="0">
                <a:solidFill>
                  <a:srgbClr val="7A7A7A"/>
                </a:solidFill>
                <a:latin typeface="Arial" pitchFamily="34" charset="0"/>
                <a:ea typeface="Arial" pitchFamily="34" charset="-122"/>
                <a:cs typeface="Arial" pitchFamily="34" charset="-120"/>
              </a:rPr>
              <a:t>BODY</a:t>
            </a:r>
            <a:endParaRPr lang="en-US" sz="1600" dirty="0"/>
          </a:p>
        </p:txBody>
      </p:sp>
      <p:sp>
        <p:nvSpPr>
          <p:cNvPr id="7" name="Text 5"/>
          <p:cNvSpPr/>
          <p:nvPr/>
        </p:nvSpPr>
        <p:spPr>
          <a:xfrm>
            <a:off x="723900" y="2276475"/>
            <a:ext cx="3200298" cy="3800475"/>
          </a:xfrm>
          <a:prstGeom prst="rect">
            <a:avLst/>
          </a:prstGeom>
          <a:noFill/>
          <a:ln/>
        </p:spPr>
        <p:txBody>
          <a:bodyPr wrap="square" rtlCol="0" anchor="t"/>
          <a:lstStyle/>
          <a:p>
            <a:pPr marL="0" indent="0">
              <a:lnSpc>
                <a:spcPct val="130000"/>
              </a:lnSpc>
              <a:buNone/>
            </a:pPr>
            <a:r>
              <a:rPr lang="en-US" sz="1800" dirty="0">
                <a:solidFill>
                  <a:srgbClr val="3D3D3D"/>
                </a:solidFill>
                <a:latin typeface="Arial" pitchFamily="34" charset="0"/>
                <a:ea typeface="Arial" pitchFamily="34" charset="-122"/>
                <a:cs typeface="Arial" pitchFamily="34" charset="-120"/>
              </a:rPr>
              <a:t>1.  Introduction</a:t>
            </a: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     1.1  Introduction</a:t>
            </a: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     1.2  Scope and purpose</a:t>
            </a:r>
            <a:endParaRPr lang="en-US" sz="1800" dirty="0"/>
          </a:p>
          <a:p>
            <a:pPr marL="0" indent="0">
              <a:lnSpc>
                <a:spcPct val="130000"/>
              </a:lnSpc>
              <a:buNone/>
            </a:pP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2.  Structure, roles and responsibilities</a:t>
            </a: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     2.1  CIRT structure</a:t>
            </a: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     2.2  CIRT roles and responsibilities</a:t>
            </a:r>
            <a:endParaRPr lang="en-US" sz="1800" dirty="0"/>
          </a:p>
        </p:txBody>
      </p:sp>
      <p:sp>
        <p:nvSpPr>
          <p:cNvPr id="8" name="Shape 6"/>
          <p:cNvSpPr/>
          <p:nvPr/>
        </p:nvSpPr>
        <p:spPr>
          <a:xfrm>
            <a:off x="4305198" y="1847850"/>
            <a:ext cx="3581298" cy="28575"/>
          </a:xfrm>
          <a:prstGeom prst="rect">
            <a:avLst/>
          </a:prstGeom>
          <a:solidFill>
            <a:srgbClr val="1A1A1A"/>
          </a:solidFill>
          <a:ln/>
        </p:spPr>
        <p:txBody>
          <a:bodyPr/>
          <a:lstStyle/>
          <a:p>
            <a:endParaRPr lang="en-US"/>
          </a:p>
        </p:txBody>
      </p:sp>
      <p:sp>
        <p:nvSpPr>
          <p:cNvPr id="9" name="Shape 7"/>
          <p:cNvSpPr/>
          <p:nvPr/>
        </p:nvSpPr>
        <p:spPr>
          <a:xfrm>
            <a:off x="4305198" y="1876425"/>
            <a:ext cx="3581298" cy="427672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4495698" y="2000250"/>
            <a:ext cx="3200298" cy="200025"/>
          </a:xfrm>
          <a:prstGeom prst="rect">
            <a:avLst/>
          </a:prstGeom>
          <a:noFill/>
          <a:ln/>
        </p:spPr>
        <p:txBody>
          <a:bodyPr wrap="square" rtlCol="0" anchor="ctr"/>
          <a:lstStyle/>
          <a:p>
            <a:pPr marL="0" indent="0">
              <a:buNone/>
            </a:pPr>
            <a:r>
              <a:rPr lang="en-US" sz="1600" b="1" kern="0" spc="110" dirty="0">
                <a:solidFill>
                  <a:srgbClr val="7A7A7A"/>
                </a:solidFill>
                <a:latin typeface="Arial" pitchFamily="34" charset="0"/>
                <a:ea typeface="Arial" pitchFamily="34" charset="-122"/>
                <a:cs typeface="Arial" pitchFamily="34" charset="-120"/>
              </a:rPr>
              <a:t>BODY, CONTINUED</a:t>
            </a:r>
            <a:endParaRPr lang="en-US" sz="1600" dirty="0"/>
          </a:p>
        </p:txBody>
      </p:sp>
      <p:sp>
        <p:nvSpPr>
          <p:cNvPr id="11" name="Text 9"/>
          <p:cNvSpPr/>
          <p:nvPr/>
        </p:nvSpPr>
        <p:spPr>
          <a:xfrm>
            <a:off x="4495698" y="2276475"/>
            <a:ext cx="3200298" cy="3800475"/>
          </a:xfrm>
          <a:prstGeom prst="rect">
            <a:avLst/>
          </a:prstGeom>
          <a:noFill/>
          <a:ln/>
        </p:spPr>
        <p:txBody>
          <a:bodyPr wrap="square" rtlCol="0" anchor="t"/>
          <a:lstStyle/>
          <a:p>
            <a:pPr marL="0" indent="0">
              <a:lnSpc>
                <a:spcPct val="130000"/>
              </a:lnSpc>
              <a:buNone/>
            </a:pPr>
            <a:r>
              <a:rPr lang="en-US" sz="1800" dirty="0">
                <a:solidFill>
                  <a:srgbClr val="3D3D3D"/>
                </a:solidFill>
                <a:latin typeface="Arial" pitchFamily="34" charset="0"/>
                <a:ea typeface="Arial" pitchFamily="34" charset="-122"/>
                <a:cs typeface="Arial" pitchFamily="34" charset="-120"/>
              </a:rPr>
              <a:t>3.  Incident severity classification</a:t>
            </a: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     3.1  Severity levels</a:t>
            </a:r>
            <a:endParaRPr lang="en-US" sz="1800" dirty="0"/>
          </a:p>
          <a:p>
            <a:pPr marL="0" indent="0">
              <a:lnSpc>
                <a:spcPct val="130000"/>
              </a:lnSpc>
              <a:buNone/>
            </a:pP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4.  Reporting and response procedures</a:t>
            </a: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     4.1  Response flowchart</a:t>
            </a: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     4.2  Detailed procedures</a:t>
            </a:r>
            <a:endParaRPr lang="en-US" sz="1800" dirty="0"/>
          </a:p>
        </p:txBody>
      </p:sp>
      <p:sp>
        <p:nvSpPr>
          <p:cNvPr id="12" name="Shape 10"/>
          <p:cNvSpPr/>
          <p:nvPr/>
        </p:nvSpPr>
        <p:spPr>
          <a:xfrm>
            <a:off x="8076997" y="1847850"/>
            <a:ext cx="3581298" cy="28575"/>
          </a:xfrm>
          <a:prstGeom prst="rect">
            <a:avLst/>
          </a:prstGeom>
          <a:solidFill>
            <a:srgbClr val="D04A02"/>
          </a:solidFill>
          <a:ln/>
        </p:spPr>
        <p:txBody>
          <a:bodyPr/>
          <a:lstStyle/>
          <a:p>
            <a:endParaRPr lang="en-US"/>
          </a:p>
        </p:txBody>
      </p:sp>
      <p:sp>
        <p:nvSpPr>
          <p:cNvPr id="13" name="Shape 11"/>
          <p:cNvSpPr/>
          <p:nvPr/>
        </p:nvSpPr>
        <p:spPr>
          <a:xfrm>
            <a:off x="8076997" y="1876425"/>
            <a:ext cx="3581298" cy="4276725"/>
          </a:xfrm>
          <a:prstGeom prst="rect">
            <a:avLst/>
          </a:prstGeom>
          <a:solidFill>
            <a:srgbClr val="FDF0E6"/>
          </a:solidFill>
          <a:ln w="6350">
            <a:solidFill>
              <a:srgbClr val="FDF0E6"/>
            </a:solidFill>
            <a:prstDash val="solid"/>
          </a:ln>
        </p:spPr>
        <p:txBody>
          <a:bodyPr/>
          <a:lstStyle/>
          <a:p>
            <a:endParaRPr lang="en-US"/>
          </a:p>
        </p:txBody>
      </p:sp>
      <p:sp>
        <p:nvSpPr>
          <p:cNvPr id="14" name="Text 12"/>
          <p:cNvSpPr/>
          <p:nvPr/>
        </p:nvSpPr>
        <p:spPr>
          <a:xfrm>
            <a:off x="8267497" y="2000250"/>
            <a:ext cx="3200298"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APPENDICES</a:t>
            </a:r>
            <a:endParaRPr lang="en-US" sz="1600" dirty="0"/>
          </a:p>
        </p:txBody>
      </p:sp>
      <p:sp>
        <p:nvSpPr>
          <p:cNvPr id="15" name="Text 13"/>
          <p:cNvSpPr/>
          <p:nvPr/>
        </p:nvSpPr>
        <p:spPr>
          <a:xfrm>
            <a:off x="8267497" y="2276475"/>
            <a:ext cx="3200298" cy="3800475"/>
          </a:xfrm>
          <a:prstGeom prst="rect">
            <a:avLst/>
          </a:prstGeom>
          <a:noFill/>
          <a:ln/>
        </p:spPr>
        <p:txBody>
          <a:bodyPr wrap="square" rtlCol="0" anchor="t"/>
          <a:lstStyle/>
          <a:p>
            <a:pPr marL="0" indent="0">
              <a:lnSpc>
                <a:spcPct val="130000"/>
              </a:lnSpc>
              <a:buNone/>
            </a:pPr>
            <a:r>
              <a:rPr lang="en-US" sz="1800" dirty="0">
                <a:solidFill>
                  <a:srgbClr val="3D3D3D"/>
                </a:solidFill>
                <a:latin typeface="Arial" pitchFamily="34" charset="0"/>
                <a:ea typeface="Arial" pitchFamily="34" charset="-122"/>
                <a:cs typeface="Arial" pitchFamily="34" charset="-120"/>
              </a:rPr>
              <a:t>I.  Incident handling form</a:t>
            </a:r>
            <a:endParaRPr lang="en-US" sz="1800" dirty="0"/>
          </a:p>
          <a:p>
            <a:pPr marL="0" indent="0">
              <a:lnSpc>
                <a:spcPct val="130000"/>
              </a:lnSpc>
              <a:buNone/>
            </a:pP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II.  Incident response team charter</a:t>
            </a:r>
            <a:endParaRPr lang="en-US" sz="1800" dirty="0"/>
          </a:p>
          <a:p>
            <a:pPr marL="0" indent="0">
              <a:lnSpc>
                <a:spcPct val="130000"/>
              </a:lnSpc>
              <a:buNone/>
            </a:pP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III.  Post-incident evaluation</a:t>
            </a:r>
            <a:endParaRPr lang="en-US" sz="1800" dirty="0"/>
          </a:p>
          <a:p>
            <a:pPr marL="0" indent="0">
              <a:lnSpc>
                <a:spcPct val="130000"/>
              </a:lnSpc>
              <a:buNone/>
            </a:pPr>
            <a:endParaRPr lang="en-US" sz="1800" dirty="0"/>
          </a:p>
          <a:p>
            <a:pPr marL="0" indent="0">
              <a:lnSpc>
                <a:spcPct val="130000"/>
              </a:lnSpc>
              <a:buNone/>
            </a:pPr>
            <a:r>
              <a:rPr lang="en-US" sz="1800" dirty="0">
                <a:solidFill>
                  <a:srgbClr val="3D3D3D"/>
                </a:solidFill>
                <a:latin typeface="Arial" pitchFamily="34" charset="0"/>
                <a:ea typeface="Arial" pitchFamily="34" charset="-122"/>
                <a:cs typeface="Arial" pitchFamily="34" charset="-120"/>
              </a:rPr>
              <a:t>IV.  Criteria to trigger the team</a:t>
            </a:r>
            <a:endParaRPr lang="en-US" sz="1800" dirty="0"/>
          </a:p>
        </p:txBody>
      </p:sp>
      <p:sp>
        <p:nvSpPr>
          <p:cNvPr id="16" name="Text 1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client Cyber Incident Emergency Response Plan v1.2, contents page. Roughly 31 pages. Scope per Code of Practice v1.0 §7.2.1.</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49</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CLIENT DOCUMENT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Structure, As Drawn</a:t>
            </a:r>
            <a:endParaRPr lang="en-US" sz="3000" dirty="0"/>
          </a:p>
        </p:txBody>
      </p:sp>
      <p:sp>
        <p:nvSpPr>
          <p:cNvPr id="4" name="Shape 2"/>
          <p:cNvSpPr/>
          <p:nvPr/>
        </p:nvSpPr>
        <p:spPr>
          <a:xfrm>
            <a:off x="533400" y="1847850"/>
            <a:ext cx="11124895" cy="28575"/>
          </a:xfrm>
          <a:prstGeom prst="rect">
            <a:avLst/>
          </a:prstGeom>
          <a:solidFill>
            <a:srgbClr val="1A1A1A"/>
          </a:solidFill>
          <a:ln/>
        </p:spPr>
        <p:txBody>
          <a:bodyPr/>
          <a:lstStyle/>
          <a:p>
            <a:endParaRPr lang="en-US"/>
          </a:p>
        </p:txBody>
      </p:sp>
      <p:pic>
        <p:nvPicPr>
          <p:cNvPr id="5" name="Image 0" descr="img/shot_cirt.jpg"/>
          <p:cNvPicPr>
            <a:picLocks noChangeAspect="1"/>
          </p:cNvPicPr>
          <p:nvPr/>
        </p:nvPicPr>
        <p:blipFill>
          <a:blip r:embed="rId3"/>
          <a:srcRect/>
          <a:stretch/>
        </p:blipFill>
        <p:spPr>
          <a:xfrm>
            <a:off x="533400" y="1943100"/>
            <a:ext cx="11124895" cy="3619500"/>
          </a:xfrm>
          <a:prstGeom prst="rect">
            <a:avLst/>
          </a:prstGeom>
        </p:spPr>
      </p:pic>
      <p:sp>
        <p:nvSpPr>
          <p:cNvPr id="6" name="Text 3"/>
          <p:cNvSpPr/>
          <p:nvPr/>
        </p:nvSpPr>
        <p:spPr>
          <a:xfrm>
            <a:off x="533400" y="5600700"/>
            <a:ext cx="11124895" cy="247650"/>
          </a:xfrm>
          <a:prstGeom prst="rect">
            <a:avLst/>
          </a:prstGeom>
          <a:noFill/>
          <a:ln/>
        </p:spPr>
        <p:txBody>
          <a:bodyPr wrap="square" rtlCol="0" anchor="ctr"/>
          <a:lstStyle/>
          <a:p>
            <a:pPr marL="0" indent="0">
              <a:buNone/>
            </a:pPr>
            <a:r>
              <a:rPr lang="en-US" sz="1600" i="1" dirty="0">
                <a:solidFill>
                  <a:srgbClr val="7A7A7A"/>
                </a:solidFill>
                <a:latin typeface="Arial" pitchFamily="34" charset="0"/>
                <a:ea typeface="Arial" pitchFamily="34" charset="-122"/>
                <a:cs typeface="Arial" pitchFamily="34" charset="-120"/>
              </a:rPr>
              <a:t>Three tiers. Note the outsourced boxes — provision, security operations and legal are all third parties.</a:t>
            </a:r>
            <a:endParaRPr lang="en-US" sz="1600" dirty="0"/>
          </a:p>
        </p:txBody>
      </p:sp>
      <p:sp>
        <p:nvSpPr>
          <p:cNvPr id="7" name="Text 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CI operator emergency response plan v1.2, §2.1  ·  structure required by Code of Practice v1.0 §7.2.3</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50</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CLIENT RESPONSE PLAN</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Who Actually Responds</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038600"/>
        </p:xfrm>
        <a:graphic>
          <a:graphicData uri="http://schemas.openxmlformats.org/drawingml/2006/table">
            <a:tbl>
              <a:tblPr/>
              <a:tblGrid>
                <a:gridCol w="3143250">
                  <a:extLst>
                    <a:ext uri="{9D8B030D-6E8A-4147-A177-3AD203B41FA5}">
                      <a16:colId xmlns:a16="http://schemas.microsoft.com/office/drawing/2014/main" val="20000"/>
                    </a:ext>
                  </a:extLst>
                </a:gridCol>
                <a:gridCol w="4667250">
                  <a:extLst>
                    <a:ext uri="{9D8B030D-6E8A-4147-A177-3AD203B41FA5}">
                      <a16:colId xmlns:a16="http://schemas.microsoft.com/office/drawing/2014/main" val="20001"/>
                    </a:ext>
                  </a:extLst>
                </a:gridCol>
                <a:gridCol w="3238500">
                  <a:extLst>
                    <a:ext uri="{9D8B030D-6E8A-4147-A177-3AD203B41FA5}">
                      <a16:colId xmlns:a16="http://schemas.microsoft.com/office/drawing/2014/main" val="20002"/>
                    </a:ext>
                  </a:extLst>
                </a:gridCol>
              </a:tblGrid>
              <a:tr h="10096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Role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Responsibility</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Requirement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0965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CIRT Steering Committee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Owns the investigation. Leads communication, internal and external.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Can assess business impact and decide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965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CIR Manager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The conduit between the committee and the technical teams.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Deep knowledge of the business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965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IT Technical Response Team</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Platform access and hands-on response.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Technical competence per domain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33400" y="28479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from a CI operator Cyber Incident Emergency Response Plan  ·  Structure required by Code of Practice v1.0 §7.2.3</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51</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CLIENT DOCUMENT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Same Table, In the Document</a:t>
            </a:r>
            <a:endParaRPr lang="en-US" sz="3000" dirty="0"/>
          </a:p>
        </p:txBody>
      </p:sp>
      <p:sp>
        <p:nvSpPr>
          <p:cNvPr id="4" name="Shape 2"/>
          <p:cNvSpPr/>
          <p:nvPr/>
        </p:nvSpPr>
        <p:spPr>
          <a:xfrm>
            <a:off x="533400" y="1847850"/>
            <a:ext cx="11124895" cy="28575"/>
          </a:xfrm>
          <a:prstGeom prst="rect">
            <a:avLst/>
          </a:prstGeom>
          <a:solidFill>
            <a:srgbClr val="1A1A1A"/>
          </a:solidFill>
          <a:ln/>
        </p:spPr>
        <p:txBody>
          <a:bodyPr/>
          <a:lstStyle/>
          <a:p>
            <a:endParaRPr lang="en-US"/>
          </a:p>
        </p:txBody>
      </p:sp>
      <p:pic>
        <p:nvPicPr>
          <p:cNvPr id="5" name="Image 0" descr="img/shot_raci.jpg"/>
          <p:cNvPicPr>
            <a:picLocks noChangeAspect="1"/>
          </p:cNvPicPr>
          <p:nvPr/>
        </p:nvPicPr>
        <p:blipFill>
          <a:blip r:embed="rId3"/>
          <a:srcRect/>
          <a:stretch/>
        </p:blipFill>
        <p:spPr>
          <a:xfrm>
            <a:off x="533400" y="1943100"/>
            <a:ext cx="11124895" cy="3143250"/>
          </a:xfrm>
          <a:prstGeom prst="rect">
            <a:avLst/>
          </a:prstGeom>
        </p:spPr>
      </p:pic>
      <p:sp>
        <p:nvSpPr>
          <p:cNvPr id="6" name="Text 3"/>
          <p:cNvSpPr/>
          <p:nvPr/>
        </p:nvSpPr>
        <p:spPr>
          <a:xfrm>
            <a:off x="533400" y="5124450"/>
            <a:ext cx="11124895" cy="247650"/>
          </a:xfrm>
          <a:prstGeom prst="rect">
            <a:avLst/>
          </a:prstGeom>
          <a:noFill/>
          <a:ln/>
        </p:spPr>
        <p:txBody>
          <a:bodyPr wrap="square" rtlCol="0" anchor="ctr"/>
          <a:lstStyle/>
          <a:p>
            <a:pPr marL="0" indent="0">
              <a:buNone/>
            </a:pPr>
            <a:r>
              <a:rPr lang="en-US" sz="1600" i="1" dirty="0">
                <a:solidFill>
                  <a:srgbClr val="7A7A7A"/>
                </a:solidFill>
                <a:latin typeface="Arial" pitchFamily="34" charset="0"/>
                <a:ea typeface="Arial" pitchFamily="34" charset="-122"/>
                <a:cs typeface="Arial" pitchFamily="34" charset="-120"/>
              </a:rPr>
              <a:t>One role, as written. Role, responsibility, requirement — the third column is the one auditors test.</a:t>
            </a:r>
            <a:endParaRPr lang="en-US" sz="1600" dirty="0"/>
          </a:p>
        </p:txBody>
      </p:sp>
      <p:sp>
        <p:nvSpPr>
          <p:cNvPr id="7" name="Text 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CI operator emergency response plan v1.2, §2.2  ·  Code of Practice v1.0 §7.2.3</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52</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CLIENT DOCUMENT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Severity, As the Client Wrote It</a:t>
            </a:r>
            <a:endParaRPr lang="en-US" sz="3000" dirty="0"/>
          </a:p>
        </p:txBody>
      </p:sp>
      <p:sp>
        <p:nvSpPr>
          <p:cNvPr id="4" name="Shape 2"/>
          <p:cNvSpPr/>
          <p:nvPr/>
        </p:nvSpPr>
        <p:spPr>
          <a:xfrm>
            <a:off x="533400" y="1847850"/>
            <a:ext cx="11124895" cy="28575"/>
          </a:xfrm>
          <a:prstGeom prst="rect">
            <a:avLst/>
          </a:prstGeom>
          <a:solidFill>
            <a:srgbClr val="1A1A1A"/>
          </a:solidFill>
          <a:ln/>
        </p:spPr>
        <p:txBody>
          <a:bodyPr/>
          <a:lstStyle/>
          <a:p>
            <a:endParaRPr lang="en-US"/>
          </a:p>
        </p:txBody>
      </p:sp>
      <p:pic>
        <p:nvPicPr>
          <p:cNvPr id="5" name="Image 0" descr="img/shot_severity.jpg"/>
          <p:cNvPicPr>
            <a:picLocks noChangeAspect="1"/>
          </p:cNvPicPr>
          <p:nvPr/>
        </p:nvPicPr>
        <p:blipFill>
          <a:blip r:embed="rId3"/>
          <a:srcRect/>
          <a:stretch/>
        </p:blipFill>
        <p:spPr>
          <a:xfrm>
            <a:off x="533401" y="1943100"/>
            <a:ext cx="6389913" cy="3810000"/>
          </a:xfrm>
          <a:prstGeom prst="rect">
            <a:avLst/>
          </a:prstGeom>
        </p:spPr>
      </p:pic>
      <p:sp>
        <p:nvSpPr>
          <p:cNvPr id="6" name="Text 3"/>
          <p:cNvSpPr/>
          <p:nvPr/>
        </p:nvSpPr>
        <p:spPr>
          <a:xfrm>
            <a:off x="533400" y="5791200"/>
            <a:ext cx="11124895" cy="247650"/>
          </a:xfrm>
          <a:prstGeom prst="rect">
            <a:avLst/>
          </a:prstGeom>
          <a:noFill/>
          <a:ln/>
        </p:spPr>
        <p:txBody>
          <a:bodyPr wrap="square" rtlCol="0" anchor="ctr"/>
          <a:lstStyle/>
          <a:p>
            <a:pPr marL="0" indent="0">
              <a:buNone/>
            </a:pPr>
            <a:r>
              <a:rPr lang="en-US" sz="1600" i="1" dirty="0">
                <a:solidFill>
                  <a:srgbClr val="7A7A7A"/>
                </a:solidFill>
                <a:latin typeface="Arial" pitchFamily="34" charset="0"/>
                <a:ea typeface="Arial" pitchFamily="34" charset="-122"/>
                <a:cs typeface="Arial" pitchFamily="34" charset="-120"/>
              </a:rPr>
              <a:t>Critical and High shown. Medium and Low continue on the next page of the plan.</a:t>
            </a:r>
            <a:endParaRPr lang="en-US" sz="1600" dirty="0"/>
          </a:p>
        </p:txBody>
      </p:sp>
      <p:sp>
        <p:nvSpPr>
          <p:cNvPr id="7" name="Text 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CI operator emergency response plan v1.2, §3.1  ·  classification mapped to MITRE ATT&amp;CK tactics  ·  serious-incident test at Code of Practice v1.0 §7.3.4</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53</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WHERE THE STATUTE ENTERS THE DOCUMENT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Read the Second Column</a:t>
            </a:r>
            <a:endParaRPr lang="en-US" sz="3000" dirty="0"/>
          </a:p>
        </p:txBody>
      </p:sp>
      <p:sp>
        <p:nvSpPr>
          <p:cNvPr id="4" name="Shape 2"/>
          <p:cNvSpPr/>
          <p:nvPr/>
        </p:nvSpPr>
        <p:spPr>
          <a:xfrm>
            <a:off x="533400" y="1847850"/>
            <a:ext cx="3568598" cy="28575"/>
          </a:xfrm>
          <a:prstGeom prst="rect">
            <a:avLst/>
          </a:prstGeom>
          <a:solidFill>
            <a:srgbClr val="D04A02"/>
          </a:solidFill>
          <a:ln/>
        </p:spPr>
        <p:txBody>
          <a:bodyPr/>
          <a:lstStyle/>
          <a:p>
            <a:endParaRPr lang="en-US"/>
          </a:p>
        </p:txBody>
      </p:sp>
      <p:sp>
        <p:nvSpPr>
          <p:cNvPr id="5" name="Shape 3"/>
          <p:cNvSpPr/>
          <p:nvPr/>
        </p:nvSpPr>
        <p:spPr>
          <a:xfrm>
            <a:off x="533400" y="1876425"/>
            <a:ext cx="3568598" cy="21621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Critical  →  Serious</a:t>
            </a:r>
            <a:endParaRPr lang="en-US" sz="2000" dirty="0"/>
          </a:p>
        </p:txBody>
      </p:sp>
      <p:sp>
        <p:nvSpPr>
          <p:cNvPr id="7" name="Text 5"/>
          <p:cNvSpPr/>
          <p:nvPr/>
        </p:nvSpPr>
        <p:spPr>
          <a:xfrm>
            <a:off x="723900" y="2352675"/>
            <a:ext cx="3187598"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Availability of a CCS disrupted. Twelve hours.</a:t>
            </a:r>
            <a:endParaRPr lang="en-US" sz="2000" dirty="0"/>
          </a:p>
        </p:txBody>
      </p:sp>
      <p:sp>
        <p:nvSpPr>
          <p:cNvPr id="8" name="Shape 6"/>
          <p:cNvSpPr/>
          <p:nvPr/>
        </p:nvSpPr>
        <p:spPr>
          <a:xfrm>
            <a:off x="4311548" y="1847850"/>
            <a:ext cx="3568598" cy="28575"/>
          </a:xfrm>
          <a:prstGeom prst="rect">
            <a:avLst/>
          </a:prstGeom>
          <a:solidFill>
            <a:srgbClr val="1A1A1A"/>
          </a:solidFill>
          <a:ln/>
        </p:spPr>
        <p:txBody>
          <a:bodyPr/>
          <a:lstStyle/>
          <a:p>
            <a:endParaRPr lang="en-US"/>
          </a:p>
        </p:txBody>
      </p:sp>
      <p:sp>
        <p:nvSpPr>
          <p:cNvPr id="9" name="Shape 7"/>
          <p:cNvSpPr/>
          <p:nvPr/>
        </p:nvSpPr>
        <p:spPr>
          <a:xfrm>
            <a:off x="4311548" y="1876425"/>
            <a:ext cx="3568598" cy="21621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4502048" y="2000250"/>
            <a:ext cx="3187598"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High  →  Non-serious, CCS affected</a:t>
            </a:r>
            <a:endParaRPr lang="en-US" sz="2000" dirty="0"/>
          </a:p>
        </p:txBody>
      </p:sp>
      <p:sp>
        <p:nvSpPr>
          <p:cNvPr id="11" name="Text 9"/>
          <p:cNvSpPr/>
          <p:nvPr/>
        </p:nvSpPr>
        <p:spPr>
          <a:xfrm>
            <a:off x="4502048" y="2609850"/>
            <a:ext cx="3187598" cy="13525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Confidentiality of a CCS. Forty-eight hours.</a:t>
            </a:r>
            <a:endParaRPr lang="en-US" sz="2000" dirty="0"/>
          </a:p>
        </p:txBody>
      </p:sp>
      <p:sp>
        <p:nvSpPr>
          <p:cNvPr id="12" name="Shape 10"/>
          <p:cNvSpPr/>
          <p:nvPr/>
        </p:nvSpPr>
        <p:spPr>
          <a:xfrm>
            <a:off x="8089697" y="1847850"/>
            <a:ext cx="3568598" cy="28575"/>
          </a:xfrm>
          <a:prstGeom prst="rect">
            <a:avLst/>
          </a:prstGeom>
          <a:solidFill>
            <a:srgbClr val="1A1A1A"/>
          </a:solidFill>
          <a:ln/>
        </p:spPr>
        <p:txBody>
          <a:bodyPr/>
          <a:lstStyle/>
          <a:p>
            <a:endParaRPr lang="en-US"/>
          </a:p>
        </p:txBody>
      </p:sp>
      <p:sp>
        <p:nvSpPr>
          <p:cNvPr id="13" name="Shape 11"/>
          <p:cNvSpPr/>
          <p:nvPr/>
        </p:nvSpPr>
        <p:spPr>
          <a:xfrm>
            <a:off x="8089697" y="1876425"/>
            <a:ext cx="3568598" cy="216217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8280197" y="200025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Medium and Low</a:t>
            </a:r>
            <a:endParaRPr lang="en-US" sz="2000" dirty="0"/>
          </a:p>
        </p:txBody>
      </p:sp>
      <p:sp>
        <p:nvSpPr>
          <p:cNvPr id="15" name="Text 13"/>
          <p:cNvSpPr/>
          <p:nvPr/>
        </p:nvSpPr>
        <p:spPr>
          <a:xfrm>
            <a:off x="8280197" y="2352675"/>
            <a:ext cx="3187598"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No CCS involved at all — so nothing to report.</a:t>
            </a:r>
            <a:endParaRPr lang="en-US" sz="2000" dirty="0"/>
          </a:p>
        </p:txBody>
      </p:sp>
      <p:sp>
        <p:nvSpPr>
          <p:cNvPr id="16" name="Shape 14"/>
          <p:cNvSpPr/>
          <p:nvPr/>
        </p:nvSpPr>
        <p:spPr>
          <a:xfrm>
            <a:off x="533400" y="4267200"/>
            <a:ext cx="11124895" cy="28575"/>
          </a:xfrm>
          <a:prstGeom prst="rect">
            <a:avLst/>
          </a:prstGeom>
          <a:solidFill>
            <a:srgbClr val="D04A02"/>
          </a:solidFill>
          <a:ln/>
        </p:spPr>
        <p:txBody>
          <a:bodyPr/>
          <a:lstStyle/>
          <a:p>
            <a:endParaRPr lang="en-US"/>
          </a:p>
        </p:txBody>
      </p:sp>
      <p:sp>
        <p:nvSpPr>
          <p:cNvPr id="17" name="Shape 15"/>
          <p:cNvSpPr/>
          <p:nvPr/>
        </p:nvSpPr>
        <p:spPr>
          <a:xfrm>
            <a:off x="533400" y="4295775"/>
            <a:ext cx="11124895" cy="1781175"/>
          </a:xfrm>
          <a:prstGeom prst="rect">
            <a:avLst/>
          </a:prstGeom>
          <a:solidFill>
            <a:srgbClr val="FDF0E6"/>
          </a:solidFill>
          <a:ln w="6350">
            <a:solidFill>
              <a:srgbClr val="FDF0E6"/>
            </a:solidFill>
            <a:prstDash val="solid"/>
          </a:ln>
        </p:spPr>
        <p:txBody>
          <a:bodyPr/>
          <a:lstStyle/>
          <a:p>
            <a:endParaRPr lang="en-US"/>
          </a:p>
        </p:txBody>
      </p:sp>
      <p:sp>
        <p:nvSpPr>
          <p:cNvPr id="18" name="Text 16"/>
          <p:cNvSpPr/>
          <p:nvPr/>
        </p:nvSpPr>
        <p:spPr>
          <a:xfrm>
            <a:off x="723900" y="44196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Every threshold in that table is written in the operator's own language.</a:t>
            </a:r>
            <a:endParaRPr lang="en-US" sz="2000" dirty="0"/>
          </a:p>
        </p:txBody>
      </p:sp>
      <p:sp>
        <p:nvSpPr>
          <p:cNvPr id="19" name="Text 17"/>
          <p:cNvSpPr/>
          <p:nvPr/>
        </p:nvSpPr>
        <p:spPr>
          <a:xfrm>
            <a:off x="723900" y="4772025"/>
            <a:ext cx="10743895" cy="1228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Route servers, peering, the participant portal. Nobody can lift this from a template — the severity definitions have to name your systems, your customers and your service levels, or nobody at 03:00 can apply them.</a:t>
            </a:r>
            <a:endParaRPr lang="en-US" sz="2000" dirty="0"/>
          </a:p>
        </p:txBody>
      </p:sp>
      <p:sp>
        <p:nvSpPr>
          <p:cNvPr id="20" name="Text 18"/>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CI operator emergency response plan v1.2, §3.1  ·  Code of Practice v1.0 §7.3.2 and §7.3.4</a:t>
            </a:r>
            <a:endParaRPr lang="en-US" sz="1300" dirty="0"/>
          </a:p>
        </p:txBody>
      </p:sp>
      <p:sp>
        <p:nvSpPr>
          <p:cNvPr id="21" name="Text 19"/>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54</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47 TASKS ACROSS SEVEN SECTIONS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Playbook, End to End</a:t>
            </a:r>
            <a:endParaRPr lang="en-US" sz="3000" dirty="0"/>
          </a:p>
        </p:txBody>
      </p:sp>
      <p:sp>
        <p:nvSpPr>
          <p:cNvPr id="4" name="Shape 2"/>
          <p:cNvSpPr/>
          <p:nvPr/>
        </p:nvSpPr>
        <p:spPr>
          <a:xfrm>
            <a:off x="533400" y="1847850"/>
            <a:ext cx="5334000" cy="28575"/>
          </a:xfrm>
          <a:prstGeom prst="rect">
            <a:avLst/>
          </a:prstGeom>
          <a:solidFill>
            <a:srgbClr val="1A1A1A"/>
          </a:solidFill>
          <a:ln/>
        </p:spPr>
        <p:txBody>
          <a:bodyPr/>
          <a:lstStyle/>
          <a:p>
            <a:endParaRPr lang="en-US"/>
          </a:p>
        </p:txBody>
      </p:sp>
      <p:sp>
        <p:nvSpPr>
          <p:cNvPr id="5" name="Shape 3"/>
          <p:cNvSpPr/>
          <p:nvPr/>
        </p:nvSpPr>
        <p:spPr>
          <a:xfrm>
            <a:off x="533400" y="1876425"/>
            <a:ext cx="5334000" cy="96202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495300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1. Preparation</a:t>
            </a:r>
            <a:endParaRPr lang="en-US" sz="2000" dirty="0"/>
          </a:p>
        </p:txBody>
      </p:sp>
      <p:sp>
        <p:nvSpPr>
          <p:cNvPr id="7" name="Text 5"/>
          <p:cNvSpPr/>
          <p:nvPr/>
        </p:nvSpPr>
        <p:spPr>
          <a:xfrm>
            <a:off x="723900" y="2352675"/>
            <a:ext cx="4953000" cy="409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Structure, roles, resources.</a:t>
            </a:r>
            <a:endParaRPr lang="en-US" sz="2000" dirty="0"/>
          </a:p>
        </p:txBody>
      </p:sp>
      <p:sp>
        <p:nvSpPr>
          <p:cNvPr id="8" name="Shape 6"/>
          <p:cNvSpPr/>
          <p:nvPr/>
        </p:nvSpPr>
        <p:spPr>
          <a:xfrm>
            <a:off x="5943600" y="1847850"/>
            <a:ext cx="5334000" cy="28575"/>
          </a:xfrm>
          <a:prstGeom prst="rect">
            <a:avLst/>
          </a:prstGeom>
          <a:solidFill>
            <a:srgbClr val="1A1A1A"/>
          </a:solidFill>
          <a:ln/>
        </p:spPr>
        <p:txBody>
          <a:bodyPr/>
          <a:lstStyle/>
          <a:p>
            <a:endParaRPr lang="en-US"/>
          </a:p>
        </p:txBody>
      </p:sp>
      <p:sp>
        <p:nvSpPr>
          <p:cNvPr id="9" name="Shape 7"/>
          <p:cNvSpPr/>
          <p:nvPr/>
        </p:nvSpPr>
        <p:spPr>
          <a:xfrm>
            <a:off x="5943600" y="1876425"/>
            <a:ext cx="5334000" cy="96202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6134100" y="2000250"/>
            <a:ext cx="495300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2. Detection</a:t>
            </a:r>
            <a:endParaRPr lang="en-US" sz="2000" dirty="0"/>
          </a:p>
        </p:txBody>
      </p:sp>
      <p:sp>
        <p:nvSpPr>
          <p:cNvPr id="11" name="Text 9"/>
          <p:cNvSpPr/>
          <p:nvPr/>
        </p:nvSpPr>
        <p:spPr>
          <a:xfrm>
            <a:off x="6134100" y="2352675"/>
            <a:ext cx="4953000" cy="409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24×7 monitoring and alerts.</a:t>
            </a:r>
            <a:endParaRPr lang="en-US" sz="2000" dirty="0"/>
          </a:p>
        </p:txBody>
      </p:sp>
      <p:sp>
        <p:nvSpPr>
          <p:cNvPr id="12" name="Shape 10"/>
          <p:cNvSpPr/>
          <p:nvPr/>
        </p:nvSpPr>
        <p:spPr>
          <a:xfrm>
            <a:off x="533400" y="2914650"/>
            <a:ext cx="5334000" cy="28575"/>
          </a:xfrm>
          <a:prstGeom prst="rect">
            <a:avLst/>
          </a:prstGeom>
          <a:solidFill>
            <a:srgbClr val="1A1A1A"/>
          </a:solidFill>
          <a:ln/>
        </p:spPr>
        <p:txBody>
          <a:bodyPr/>
          <a:lstStyle/>
          <a:p>
            <a:endParaRPr lang="en-US"/>
          </a:p>
        </p:txBody>
      </p:sp>
      <p:sp>
        <p:nvSpPr>
          <p:cNvPr id="13" name="Shape 11"/>
          <p:cNvSpPr/>
          <p:nvPr/>
        </p:nvSpPr>
        <p:spPr>
          <a:xfrm>
            <a:off x="533400" y="2943225"/>
            <a:ext cx="5334000" cy="96202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723900" y="3067050"/>
            <a:ext cx="495300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3. Investigation</a:t>
            </a:r>
            <a:endParaRPr lang="en-US" sz="2000" dirty="0"/>
          </a:p>
        </p:txBody>
      </p:sp>
      <p:sp>
        <p:nvSpPr>
          <p:cNvPr id="15" name="Text 13"/>
          <p:cNvSpPr/>
          <p:nvPr/>
        </p:nvSpPr>
        <p:spPr>
          <a:xfrm>
            <a:off x="723900" y="3419475"/>
            <a:ext cx="4953000" cy="409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Escalate or stand down. Activate.</a:t>
            </a:r>
            <a:endParaRPr lang="en-US" sz="2000" dirty="0"/>
          </a:p>
        </p:txBody>
      </p:sp>
      <p:sp>
        <p:nvSpPr>
          <p:cNvPr id="16" name="Shape 14"/>
          <p:cNvSpPr/>
          <p:nvPr/>
        </p:nvSpPr>
        <p:spPr>
          <a:xfrm>
            <a:off x="5943600" y="2914650"/>
            <a:ext cx="5334000" cy="28575"/>
          </a:xfrm>
          <a:prstGeom prst="rect">
            <a:avLst/>
          </a:prstGeom>
          <a:solidFill>
            <a:srgbClr val="1A1A1A"/>
          </a:solidFill>
          <a:ln/>
        </p:spPr>
        <p:txBody>
          <a:bodyPr/>
          <a:lstStyle/>
          <a:p>
            <a:endParaRPr lang="en-US"/>
          </a:p>
        </p:txBody>
      </p:sp>
      <p:sp>
        <p:nvSpPr>
          <p:cNvPr id="17" name="Shape 15"/>
          <p:cNvSpPr/>
          <p:nvPr/>
        </p:nvSpPr>
        <p:spPr>
          <a:xfrm>
            <a:off x="5943600" y="2943225"/>
            <a:ext cx="5334000" cy="962025"/>
          </a:xfrm>
          <a:prstGeom prst="rect">
            <a:avLst/>
          </a:prstGeom>
          <a:solidFill>
            <a:srgbClr val="F2F2F2"/>
          </a:solidFill>
          <a:ln w="6350">
            <a:solidFill>
              <a:srgbClr val="F2F2F2"/>
            </a:solidFill>
            <a:prstDash val="solid"/>
          </a:ln>
        </p:spPr>
        <p:txBody>
          <a:bodyPr/>
          <a:lstStyle/>
          <a:p>
            <a:endParaRPr lang="en-US"/>
          </a:p>
        </p:txBody>
      </p:sp>
      <p:sp>
        <p:nvSpPr>
          <p:cNvPr id="18" name="Text 16"/>
          <p:cNvSpPr/>
          <p:nvPr/>
        </p:nvSpPr>
        <p:spPr>
          <a:xfrm>
            <a:off x="6134100" y="3067050"/>
            <a:ext cx="495300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4. Containment</a:t>
            </a:r>
            <a:endParaRPr lang="en-US" sz="2000" dirty="0"/>
          </a:p>
        </p:txBody>
      </p:sp>
      <p:sp>
        <p:nvSpPr>
          <p:cNvPr id="19" name="Text 17"/>
          <p:cNvSpPr/>
          <p:nvPr/>
        </p:nvSpPr>
        <p:spPr>
          <a:xfrm>
            <a:off x="6134100" y="3419475"/>
            <a:ext cx="4953000" cy="409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Stop it spreading.</a:t>
            </a:r>
            <a:endParaRPr lang="en-US" sz="2000" dirty="0"/>
          </a:p>
        </p:txBody>
      </p:sp>
      <p:sp>
        <p:nvSpPr>
          <p:cNvPr id="20" name="Shape 18"/>
          <p:cNvSpPr/>
          <p:nvPr/>
        </p:nvSpPr>
        <p:spPr>
          <a:xfrm>
            <a:off x="533400" y="3981450"/>
            <a:ext cx="5334000" cy="28575"/>
          </a:xfrm>
          <a:prstGeom prst="rect">
            <a:avLst/>
          </a:prstGeom>
          <a:solidFill>
            <a:srgbClr val="1A1A1A"/>
          </a:solidFill>
          <a:ln/>
        </p:spPr>
        <p:txBody>
          <a:bodyPr/>
          <a:lstStyle/>
          <a:p>
            <a:endParaRPr lang="en-US"/>
          </a:p>
        </p:txBody>
      </p:sp>
      <p:sp>
        <p:nvSpPr>
          <p:cNvPr id="21" name="Shape 19"/>
          <p:cNvSpPr/>
          <p:nvPr/>
        </p:nvSpPr>
        <p:spPr>
          <a:xfrm>
            <a:off x="533400" y="4010025"/>
            <a:ext cx="5334000" cy="962025"/>
          </a:xfrm>
          <a:prstGeom prst="rect">
            <a:avLst/>
          </a:prstGeom>
          <a:solidFill>
            <a:srgbClr val="F2F2F2"/>
          </a:solidFill>
          <a:ln w="6350">
            <a:solidFill>
              <a:srgbClr val="F2F2F2"/>
            </a:solidFill>
            <a:prstDash val="solid"/>
          </a:ln>
        </p:spPr>
        <p:txBody>
          <a:bodyPr/>
          <a:lstStyle/>
          <a:p>
            <a:endParaRPr lang="en-US"/>
          </a:p>
        </p:txBody>
      </p:sp>
      <p:sp>
        <p:nvSpPr>
          <p:cNvPr id="22" name="Text 20"/>
          <p:cNvSpPr/>
          <p:nvPr/>
        </p:nvSpPr>
        <p:spPr>
          <a:xfrm>
            <a:off x="723900" y="4133850"/>
            <a:ext cx="495300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5. Eradication</a:t>
            </a:r>
            <a:endParaRPr lang="en-US" sz="2000" dirty="0"/>
          </a:p>
        </p:txBody>
      </p:sp>
      <p:sp>
        <p:nvSpPr>
          <p:cNvPr id="23" name="Text 21"/>
          <p:cNvSpPr/>
          <p:nvPr/>
        </p:nvSpPr>
        <p:spPr>
          <a:xfrm>
            <a:off x="723900" y="4486275"/>
            <a:ext cx="4953000" cy="409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Plan it, then do it.</a:t>
            </a:r>
            <a:endParaRPr lang="en-US" sz="2000" dirty="0"/>
          </a:p>
        </p:txBody>
      </p:sp>
      <p:sp>
        <p:nvSpPr>
          <p:cNvPr id="24" name="Shape 22"/>
          <p:cNvSpPr/>
          <p:nvPr/>
        </p:nvSpPr>
        <p:spPr>
          <a:xfrm>
            <a:off x="5943600" y="3981450"/>
            <a:ext cx="5334000" cy="28575"/>
          </a:xfrm>
          <a:prstGeom prst="rect">
            <a:avLst/>
          </a:prstGeom>
          <a:solidFill>
            <a:srgbClr val="1A1A1A"/>
          </a:solidFill>
          <a:ln/>
        </p:spPr>
        <p:txBody>
          <a:bodyPr/>
          <a:lstStyle/>
          <a:p>
            <a:endParaRPr lang="en-US"/>
          </a:p>
        </p:txBody>
      </p:sp>
      <p:sp>
        <p:nvSpPr>
          <p:cNvPr id="25" name="Shape 23"/>
          <p:cNvSpPr/>
          <p:nvPr/>
        </p:nvSpPr>
        <p:spPr>
          <a:xfrm>
            <a:off x="5943600" y="4010025"/>
            <a:ext cx="5334000" cy="962025"/>
          </a:xfrm>
          <a:prstGeom prst="rect">
            <a:avLst/>
          </a:prstGeom>
          <a:solidFill>
            <a:srgbClr val="F2F2F2"/>
          </a:solidFill>
          <a:ln w="6350">
            <a:solidFill>
              <a:srgbClr val="F2F2F2"/>
            </a:solidFill>
            <a:prstDash val="solid"/>
          </a:ln>
        </p:spPr>
        <p:txBody>
          <a:bodyPr/>
          <a:lstStyle/>
          <a:p>
            <a:endParaRPr lang="en-US"/>
          </a:p>
        </p:txBody>
      </p:sp>
      <p:sp>
        <p:nvSpPr>
          <p:cNvPr id="26" name="Text 24"/>
          <p:cNvSpPr/>
          <p:nvPr/>
        </p:nvSpPr>
        <p:spPr>
          <a:xfrm>
            <a:off x="6134100" y="4133850"/>
            <a:ext cx="495300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6. Recovery</a:t>
            </a:r>
            <a:endParaRPr lang="en-US" sz="2000" dirty="0"/>
          </a:p>
        </p:txBody>
      </p:sp>
      <p:sp>
        <p:nvSpPr>
          <p:cNvPr id="27" name="Text 25"/>
          <p:cNvSpPr/>
          <p:nvPr/>
        </p:nvSpPr>
        <p:spPr>
          <a:xfrm>
            <a:off x="6134100" y="4486275"/>
            <a:ext cx="4953000" cy="409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Restore, report, review.</a:t>
            </a:r>
            <a:endParaRPr lang="en-US" sz="2000" dirty="0"/>
          </a:p>
        </p:txBody>
      </p:sp>
      <p:sp>
        <p:nvSpPr>
          <p:cNvPr id="28" name="Shape 26"/>
          <p:cNvSpPr/>
          <p:nvPr/>
        </p:nvSpPr>
        <p:spPr>
          <a:xfrm>
            <a:off x="533400" y="5048250"/>
            <a:ext cx="11124895" cy="28575"/>
          </a:xfrm>
          <a:prstGeom prst="rect">
            <a:avLst/>
          </a:prstGeom>
          <a:solidFill>
            <a:srgbClr val="D04A02"/>
          </a:solidFill>
          <a:ln/>
        </p:spPr>
        <p:txBody>
          <a:bodyPr/>
          <a:lstStyle/>
          <a:p>
            <a:endParaRPr lang="en-US"/>
          </a:p>
        </p:txBody>
      </p:sp>
      <p:sp>
        <p:nvSpPr>
          <p:cNvPr id="29" name="Shape 27"/>
          <p:cNvSpPr/>
          <p:nvPr/>
        </p:nvSpPr>
        <p:spPr>
          <a:xfrm>
            <a:off x="533400" y="5076825"/>
            <a:ext cx="11124895" cy="962025"/>
          </a:xfrm>
          <a:prstGeom prst="rect">
            <a:avLst/>
          </a:prstGeom>
          <a:solidFill>
            <a:srgbClr val="FDF0E6"/>
          </a:solidFill>
          <a:ln w="6350">
            <a:solidFill>
              <a:srgbClr val="FDF0E6"/>
            </a:solidFill>
            <a:prstDash val="solid"/>
          </a:ln>
        </p:spPr>
        <p:txBody>
          <a:bodyPr/>
          <a:lstStyle/>
          <a:p>
            <a:endParaRPr lang="en-US"/>
          </a:p>
        </p:txBody>
      </p:sp>
      <p:sp>
        <p:nvSpPr>
          <p:cNvPr id="30" name="Text 28"/>
          <p:cNvSpPr/>
          <p:nvPr/>
        </p:nvSpPr>
        <p:spPr>
          <a:xfrm>
            <a:off x="723900" y="52006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7. Ongoing improvement</a:t>
            </a:r>
            <a:endParaRPr lang="en-US" sz="2000" dirty="0"/>
          </a:p>
        </p:txBody>
      </p:sp>
      <p:sp>
        <p:nvSpPr>
          <p:cNvPr id="31" name="Text 29"/>
          <p:cNvSpPr/>
          <p:nvPr/>
        </p:nvSpPr>
        <p:spPr>
          <a:xfrm>
            <a:off x="723900" y="5553075"/>
            <a:ext cx="10743895" cy="409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Update defences. Train and drill. Document.</a:t>
            </a:r>
            <a:endParaRPr lang="en-US" sz="2000" dirty="0"/>
          </a:p>
        </p:txBody>
      </p:sp>
      <p:sp>
        <p:nvSpPr>
          <p:cNvPr id="32" name="Text 30"/>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client response plan. Each task carries an "Obligation" column mapping it back to Cap. 653.</a:t>
            </a:r>
            <a:endParaRPr lang="en-US" sz="1300" dirty="0"/>
          </a:p>
        </p:txBody>
      </p:sp>
      <p:sp>
        <p:nvSpPr>
          <p:cNvPr id="33" name="Text 31"/>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55</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CLIENT DOCUMENT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And the Flowchart It Hangs On</a:t>
            </a:r>
            <a:endParaRPr lang="en-US" sz="3000" dirty="0"/>
          </a:p>
        </p:txBody>
      </p:sp>
      <p:sp>
        <p:nvSpPr>
          <p:cNvPr id="4" name="Shape 2"/>
          <p:cNvSpPr/>
          <p:nvPr/>
        </p:nvSpPr>
        <p:spPr>
          <a:xfrm>
            <a:off x="533400" y="1847850"/>
            <a:ext cx="11124895" cy="28575"/>
          </a:xfrm>
          <a:prstGeom prst="rect">
            <a:avLst/>
          </a:prstGeom>
          <a:solidFill>
            <a:srgbClr val="1A1A1A"/>
          </a:solidFill>
          <a:ln/>
        </p:spPr>
        <p:txBody>
          <a:bodyPr/>
          <a:lstStyle/>
          <a:p>
            <a:endParaRPr lang="en-US"/>
          </a:p>
        </p:txBody>
      </p:sp>
      <p:pic>
        <p:nvPicPr>
          <p:cNvPr id="5" name="Image 0" descr="img/shot_flow.jpg"/>
          <p:cNvPicPr>
            <a:picLocks noChangeAspect="1"/>
          </p:cNvPicPr>
          <p:nvPr/>
        </p:nvPicPr>
        <p:blipFill>
          <a:blip r:embed="rId3"/>
          <a:srcRect/>
          <a:stretch/>
        </p:blipFill>
        <p:spPr>
          <a:xfrm>
            <a:off x="533401" y="1943100"/>
            <a:ext cx="10058399" cy="2857500"/>
          </a:xfrm>
          <a:prstGeom prst="rect">
            <a:avLst/>
          </a:prstGeom>
        </p:spPr>
      </p:pic>
      <p:sp>
        <p:nvSpPr>
          <p:cNvPr id="6" name="Text 3"/>
          <p:cNvSpPr/>
          <p:nvPr/>
        </p:nvSpPr>
        <p:spPr>
          <a:xfrm>
            <a:off x="533400" y="4838700"/>
            <a:ext cx="11124895" cy="247650"/>
          </a:xfrm>
          <a:prstGeom prst="rect">
            <a:avLst/>
          </a:prstGeom>
          <a:noFill/>
          <a:ln/>
        </p:spPr>
        <p:txBody>
          <a:bodyPr wrap="square" rtlCol="0" anchor="ctr"/>
          <a:lstStyle/>
          <a:p>
            <a:pPr marL="0" indent="0">
              <a:buNone/>
            </a:pPr>
            <a:r>
              <a:rPr lang="en-US" sz="1600" i="1" dirty="0">
                <a:solidFill>
                  <a:srgbClr val="7A7A7A"/>
                </a:solidFill>
                <a:latin typeface="Arial" pitchFamily="34" charset="0"/>
                <a:ea typeface="Arial" pitchFamily="34" charset="-122"/>
                <a:cs typeface="Arial" pitchFamily="34" charset="-120"/>
              </a:rPr>
              <a:t>Detect, assess severity, contain and eradicate, recover and report — with the statutory clocks drawn into the swim lanes.</a:t>
            </a:r>
            <a:endParaRPr lang="en-US" sz="1600" dirty="0"/>
          </a:p>
        </p:txBody>
      </p:sp>
      <p:sp>
        <p:nvSpPr>
          <p:cNvPr id="7" name="Text 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CI operator emergency response plan v1.2, §4.1  ·  Code of Practice v1.0 §7.2 and §7.3</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56</a:t>
            </a:r>
            <a:endParaRPr lang="en-US" sz="13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Is, and Is Not, an Incident</a:t>
            </a:r>
            <a:endParaRPr lang="en-US" sz="3000" dirty="0"/>
          </a:p>
        </p:txBody>
      </p:sp>
      <p:sp>
        <p:nvSpPr>
          <p:cNvPr id="3" name="Shape 1"/>
          <p:cNvSpPr/>
          <p:nvPr/>
        </p:nvSpPr>
        <p:spPr>
          <a:xfrm>
            <a:off x="533400" y="1562100"/>
            <a:ext cx="5457673" cy="28575"/>
          </a:xfrm>
          <a:prstGeom prst="rect">
            <a:avLst/>
          </a:prstGeom>
          <a:solidFill>
            <a:srgbClr val="D04A02"/>
          </a:solidFill>
          <a:ln/>
        </p:spPr>
        <p:txBody>
          <a:bodyPr/>
          <a:lstStyle/>
          <a:p>
            <a:endParaRPr lang="en-US"/>
          </a:p>
        </p:txBody>
      </p:sp>
      <p:sp>
        <p:nvSpPr>
          <p:cNvPr id="4" name="Shape 2"/>
          <p:cNvSpPr/>
          <p:nvPr/>
        </p:nvSpPr>
        <p:spPr>
          <a:xfrm>
            <a:off x="533400" y="1590675"/>
            <a:ext cx="5457673" cy="2257425"/>
          </a:xfrm>
          <a:prstGeom prst="rect">
            <a:avLst/>
          </a:prstGeom>
          <a:solidFill>
            <a:srgbClr val="FDF0E6"/>
          </a:solidFill>
          <a:ln w="6350">
            <a:solidFill>
              <a:srgbClr val="FDF0E6"/>
            </a:solidFill>
            <a:prstDash val="solid"/>
          </a:ln>
        </p:spPr>
        <p:txBody>
          <a:bodyPr/>
          <a:lstStyle/>
          <a:p>
            <a:endParaRPr lang="en-US"/>
          </a:p>
        </p:txBody>
      </p:sp>
      <p:sp>
        <p:nvSpPr>
          <p:cNvPr id="5" name="Text 3"/>
          <p:cNvSpPr/>
          <p:nvPr/>
        </p:nvSpPr>
        <p:spPr>
          <a:xfrm>
            <a:off x="723900" y="17145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An incident</a:t>
            </a:r>
            <a:endParaRPr lang="en-US" sz="2000" dirty="0"/>
          </a:p>
        </p:txBody>
      </p:sp>
      <p:sp>
        <p:nvSpPr>
          <p:cNvPr id="6" name="Text 4"/>
          <p:cNvSpPr/>
          <p:nvPr/>
        </p:nvSpPr>
        <p:spPr>
          <a:xfrm>
            <a:off x="723900" y="2066925"/>
            <a:ext cx="5076673" cy="17049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An act without lawful authority, with an actual adverse effect on a CCS.</a:t>
            </a:r>
            <a:endParaRPr lang="en-US" sz="2000" dirty="0"/>
          </a:p>
        </p:txBody>
      </p:sp>
      <p:sp>
        <p:nvSpPr>
          <p:cNvPr id="7" name="Shape 5"/>
          <p:cNvSpPr/>
          <p:nvPr/>
        </p:nvSpPr>
        <p:spPr>
          <a:xfrm>
            <a:off x="6200623" y="1562100"/>
            <a:ext cx="5457673" cy="28575"/>
          </a:xfrm>
          <a:prstGeom prst="rect">
            <a:avLst/>
          </a:prstGeom>
          <a:solidFill>
            <a:srgbClr val="1A1A1A"/>
          </a:solidFill>
          <a:ln/>
        </p:spPr>
        <p:txBody>
          <a:bodyPr/>
          <a:lstStyle/>
          <a:p>
            <a:endParaRPr lang="en-US"/>
          </a:p>
        </p:txBody>
      </p:sp>
      <p:sp>
        <p:nvSpPr>
          <p:cNvPr id="8" name="Shape 6"/>
          <p:cNvSpPr/>
          <p:nvPr/>
        </p:nvSpPr>
        <p:spPr>
          <a:xfrm>
            <a:off x="6200623" y="1590675"/>
            <a:ext cx="5457673" cy="2257425"/>
          </a:xfrm>
          <a:prstGeom prst="rect">
            <a:avLst/>
          </a:prstGeom>
          <a:solidFill>
            <a:srgbClr val="F2F2F2"/>
          </a:solidFill>
          <a:ln w="6350">
            <a:solidFill>
              <a:srgbClr val="F2F2F2"/>
            </a:solidFill>
            <a:prstDash val="solid"/>
          </a:ln>
        </p:spPr>
        <p:txBody>
          <a:bodyPr/>
          <a:lstStyle/>
          <a:p>
            <a:endParaRPr lang="en-US"/>
          </a:p>
        </p:txBody>
      </p:sp>
      <p:sp>
        <p:nvSpPr>
          <p:cNvPr id="9" name="Text 7"/>
          <p:cNvSpPr/>
          <p:nvPr/>
        </p:nvSpPr>
        <p:spPr>
          <a:xfrm>
            <a:off x="6391123" y="17145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Not an incident</a:t>
            </a:r>
            <a:endParaRPr lang="en-US" sz="2000" dirty="0"/>
          </a:p>
        </p:txBody>
      </p:sp>
      <p:sp>
        <p:nvSpPr>
          <p:cNvPr id="10" name="Text 8"/>
          <p:cNvSpPr/>
          <p:nvPr/>
        </p:nvSpPr>
        <p:spPr>
          <a:xfrm>
            <a:off x="6391123" y="2066925"/>
            <a:ext cx="5076673" cy="17049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Technical failure. Natural disaster. A threat caught in time. Human error.</a:t>
            </a:r>
            <a:endParaRPr lang="en-US" sz="20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33400" y="4076700"/>
          <a:ext cx="11049000" cy="1828800"/>
        </p:xfrm>
        <a:graphic>
          <a:graphicData uri="http://schemas.openxmlformats.org/drawingml/2006/table">
            <a:tbl>
              <a:tblPr/>
              <a:tblGrid>
                <a:gridCol w="6667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tblGrid>
              <a:tr h="6096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Serious incident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12 hours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096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Any other incident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48 hours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096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Written report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14 days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2" name="Shape 9"/>
          <p:cNvSpPr/>
          <p:nvPr/>
        </p:nvSpPr>
        <p:spPr>
          <a:xfrm>
            <a:off x="533400" y="4676775"/>
            <a:ext cx="11124895" cy="19050"/>
          </a:xfrm>
          <a:prstGeom prst="rect">
            <a:avLst/>
          </a:prstGeom>
          <a:solidFill>
            <a:srgbClr val="1A1A1A"/>
          </a:solidFill>
          <a:ln/>
        </p:spPr>
        <p:txBody>
          <a:bodyPr/>
          <a:lstStyle/>
          <a:p>
            <a:endParaRPr lang="en-US"/>
          </a:p>
        </p:txBody>
      </p:sp>
      <p:sp>
        <p:nvSpPr>
          <p:cNvPr id="13" name="Text 10"/>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§7.3.2–7.3.7  ·  §7.3.4 definition of a serious incident, verbatim</a:t>
            </a:r>
            <a:endParaRPr lang="en-US" sz="1300" dirty="0"/>
          </a:p>
        </p:txBody>
      </p:sp>
      <p:sp>
        <p:nvSpPr>
          <p:cNvPr id="14" name="Text 11"/>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57</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NOW THAT YOU HAVE SEEN BOTH</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Both of Them Need the Board</a:t>
            </a:r>
            <a:endParaRPr lang="en-US" sz="3000" dirty="0"/>
          </a:p>
        </p:txBody>
      </p:sp>
      <p:sp>
        <p:nvSpPr>
          <p:cNvPr id="4" name="Shape 2"/>
          <p:cNvSpPr/>
          <p:nvPr/>
        </p:nvSpPr>
        <p:spPr>
          <a:xfrm>
            <a:off x="533400" y="1847850"/>
            <a:ext cx="5457673" cy="28575"/>
          </a:xfrm>
          <a:prstGeom prst="rect">
            <a:avLst/>
          </a:prstGeom>
          <a:solidFill>
            <a:srgbClr val="D04A02"/>
          </a:solidFill>
          <a:ln/>
        </p:spPr>
        <p:txBody>
          <a:bodyPr/>
          <a:lstStyle/>
          <a:p>
            <a:endParaRPr lang="en-US"/>
          </a:p>
        </p:txBody>
      </p:sp>
      <p:sp>
        <p:nvSpPr>
          <p:cNvPr id="5" name="Shape 3"/>
          <p:cNvSpPr/>
          <p:nvPr/>
        </p:nvSpPr>
        <p:spPr>
          <a:xfrm>
            <a:off x="533400" y="1876425"/>
            <a:ext cx="5457673" cy="23526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5076673"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§6.2.2 — the security management plan</a:t>
            </a:r>
            <a:endParaRPr lang="en-US" sz="2000" dirty="0"/>
          </a:p>
        </p:txBody>
      </p:sp>
      <p:sp>
        <p:nvSpPr>
          <p:cNvPr id="7" name="Text 5"/>
          <p:cNvSpPr/>
          <p:nvPr/>
        </p:nvSpPr>
        <p:spPr>
          <a:xfrm>
            <a:off x="723900" y="2609850"/>
            <a:ext cx="5076673" cy="15430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Endorsed by the Board, a delegated sub-committee, or CEO/COO level.</a:t>
            </a:r>
            <a:endParaRPr lang="en-US" sz="2000" dirty="0"/>
          </a:p>
        </p:txBody>
      </p:sp>
      <p:sp>
        <p:nvSpPr>
          <p:cNvPr id="8" name="Shape 6"/>
          <p:cNvSpPr/>
          <p:nvPr/>
        </p:nvSpPr>
        <p:spPr>
          <a:xfrm>
            <a:off x="6200623" y="1847850"/>
            <a:ext cx="5457673" cy="28575"/>
          </a:xfrm>
          <a:prstGeom prst="rect">
            <a:avLst/>
          </a:prstGeom>
          <a:solidFill>
            <a:srgbClr val="1A1A1A"/>
          </a:solidFill>
          <a:ln/>
        </p:spPr>
        <p:txBody>
          <a:bodyPr/>
          <a:lstStyle/>
          <a:p>
            <a:endParaRPr lang="en-US"/>
          </a:p>
        </p:txBody>
      </p:sp>
      <p:sp>
        <p:nvSpPr>
          <p:cNvPr id="9" name="Shape 7"/>
          <p:cNvSpPr/>
          <p:nvPr/>
        </p:nvSpPr>
        <p:spPr>
          <a:xfrm>
            <a:off x="6200623" y="1876425"/>
            <a:ext cx="5457673" cy="23526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6391123" y="2000250"/>
            <a:ext cx="5076673"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§7.2.2 — the emergency response plan</a:t>
            </a:r>
            <a:endParaRPr lang="en-US" sz="2000" dirty="0"/>
          </a:p>
        </p:txBody>
      </p:sp>
      <p:sp>
        <p:nvSpPr>
          <p:cNvPr id="11" name="Text 9"/>
          <p:cNvSpPr/>
          <p:nvPr/>
        </p:nvSpPr>
        <p:spPr>
          <a:xfrm>
            <a:off x="6391123" y="2609850"/>
            <a:ext cx="5076673" cy="15430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Identical wording. Identical review rule.</a:t>
            </a:r>
            <a:endParaRPr lang="en-US" sz="2000" dirty="0"/>
          </a:p>
        </p:txBody>
      </p:sp>
      <p:sp>
        <p:nvSpPr>
          <p:cNvPr id="12" name="Shape 10"/>
          <p:cNvSpPr/>
          <p:nvPr/>
        </p:nvSpPr>
        <p:spPr>
          <a:xfrm>
            <a:off x="533400" y="4419600"/>
            <a:ext cx="11124895" cy="28575"/>
          </a:xfrm>
          <a:prstGeom prst="rect">
            <a:avLst/>
          </a:prstGeom>
          <a:solidFill>
            <a:srgbClr val="D04A02"/>
          </a:solidFill>
          <a:ln/>
        </p:spPr>
        <p:txBody>
          <a:bodyPr/>
          <a:lstStyle/>
          <a:p>
            <a:endParaRPr lang="en-US"/>
          </a:p>
        </p:txBody>
      </p:sp>
      <p:sp>
        <p:nvSpPr>
          <p:cNvPr id="13" name="Shape 11"/>
          <p:cNvSpPr/>
          <p:nvPr/>
        </p:nvSpPr>
        <p:spPr>
          <a:xfrm>
            <a:off x="533400" y="4448175"/>
            <a:ext cx="11124895" cy="1609725"/>
          </a:xfrm>
          <a:prstGeom prst="rect">
            <a:avLst/>
          </a:prstGeom>
          <a:solidFill>
            <a:srgbClr val="FDF0E6"/>
          </a:solidFill>
          <a:ln w="6350">
            <a:solidFill>
              <a:srgbClr val="FDF0E6"/>
            </a:solidFill>
            <a:prstDash val="solid"/>
          </a:ln>
        </p:spPr>
        <p:txBody>
          <a:bodyPr/>
          <a:lstStyle/>
          <a:p>
            <a:endParaRPr lang="en-US"/>
          </a:p>
        </p:txBody>
      </p:sp>
      <p:sp>
        <p:nvSpPr>
          <p:cNvPr id="14" name="Text 12"/>
          <p:cNvSpPr/>
          <p:nvPr/>
        </p:nvSpPr>
        <p:spPr>
          <a:xfrm>
            <a:off x="723900" y="45720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These two are the ones you submit</a:t>
            </a:r>
            <a:endParaRPr lang="en-US" sz="2000" dirty="0"/>
          </a:p>
        </p:txBody>
      </p:sp>
      <p:sp>
        <p:nvSpPr>
          <p:cNvPr id="15" name="Text 13"/>
          <p:cNvSpPr/>
          <p:nvPr/>
        </p:nvSpPr>
        <p:spPr>
          <a:xfrm>
            <a:off x="723900" y="4924425"/>
            <a:ext cx="10743895" cy="10572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Far more may be requested at the biennial audit, and there is no published list of what will be asked for.</a:t>
            </a:r>
            <a:endParaRPr lang="en-US" sz="2000" dirty="0"/>
          </a:p>
        </p:txBody>
      </p:sp>
      <p:sp>
        <p:nvSpPr>
          <p:cNvPr id="16" name="Text 1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§6.2.2 and §7.2.2 — verbatim  ·  Audit obligation: Cap. 653 s.25, Code §6.4</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58</a:t>
            </a:r>
            <a:endParaRPr lang="en-US" sz="13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AND EACH ONE TESTS SOMETHING DIFFERENT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 Drill Runs in Three Phases</a:t>
            </a:r>
            <a:endParaRPr lang="en-US" sz="3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191000"/>
        </p:xfrm>
        <a:graphic>
          <a:graphicData uri="http://schemas.openxmlformats.org/drawingml/2006/table">
            <a:tbl>
              <a:tblPr/>
              <a:tblGrid>
                <a:gridCol w="3143250">
                  <a:extLst>
                    <a:ext uri="{9D8B030D-6E8A-4147-A177-3AD203B41FA5}">
                      <a16:colId xmlns:a16="http://schemas.microsoft.com/office/drawing/2014/main" val="20000"/>
                    </a:ext>
                  </a:extLst>
                </a:gridCol>
                <a:gridCol w="7905750">
                  <a:extLst>
                    <a:ext uri="{9D8B030D-6E8A-4147-A177-3AD203B41FA5}">
                      <a16:colId xmlns:a16="http://schemas.microsoft.com/office/drawing/2014/main" val="20001"/>
                    </a:ext>
                  </a:extLst>
                </a:gridCol>
              </a:tblGrid>
              <a:tr h="10477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Phase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What is being tested</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47750">
                <a:tc>
                  <a:txBody>
                    <a:bodyPr/>
                    <a:lstStyle/>
                    <a:p>
                      <a:pPr marL="0" indent="0" algn="l">
                        <a:buNone/>
                      </a:pPr>
                      <a:r>
                        <a:rPr lang="en-US" sz="1800" b="1" dirty="0">
                          <a:solidFill>
                            <a:srgbClr val="3D3D3D"/>
                          </a:solidFill>
                          <a:latin typeface="Arial" pitchFamily="34" charset="0"/>
                          <a:ea typeface="Arial" pitchFamily="34" charset="-122"/>
                          <a:cs typeface="Arial" pitchFamily="34" charset="-120"/>
                        </a:rPr>
                        <a:t>1  ·  Triage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Do they know how to classify it? Serious or not serious? Which form? Do they trigger the response team, or not?</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47750">
                <a:tc>
                  <a:txBody>
                    <a:bodyPr/>
                    <a:lstStyle/>
                    <a:p>
                      <a:pPr marL="0" indent="0" algn="l">
                        <a:buNone/>
                      </a:pPr>
                      <a:r>
                        <a:rPr lang="en-US" sz="1800" b="1" dirty="0">
                          <a:solidFill>
                            <a:srgbClr val="3D3D3D"/>
                          </a:solidFill>
                          <a:latin typeface="Arial" pitchFamily="34" charset="0"/>
                          <a:ea typeface="Arial" pitchFamily="34" charset="-122"/>
                          <a:cs typeface="Arial" pitchFamily="34" charset="-120"/>
                        </a:rPr>
                        <a:t>2  ·  Known knowns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What they wrote in the plan. Do they have muscle memory for their own procedure, or are they reading it for the first time?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47750">
                <a:tc>
                  <a:txBody>
                    <a:bodyPr/>
                    <a:lstStyle/>
                    <a:p>
                      <a:pPr marL="0" indent="0" algn="l">
                        <a:buNone/>
                      </a:pPr>
                      <a:r>
                        <a:rPr lang="en-US" sz="1800" b="1" dirty="0">
                          <a:solidFill>
                            <a:srgbClr val="3D3D3D"/>
                          </a:solidFill>
                          <a:latin typeface="Arial" pitchFamily="34" charset="0"/>
                          <a:ea typeface="Arial" pitchFamily="34" charset="-122"/>
                          <a:cs typeface="Arial" pitchFamily="34" charset="-120"/>
                        </a:rPr>
                        <a:t>3  ·  Unknown unknowns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The curveball. Something the plan does not cover — because the regulator will eventually throw one.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33400" y="28860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s.26  ·  Code of Practice v1.0 §7.1 — the drill tests "the validity and effectiveness of the emergency response plan"</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59</a:t>
            </a:r>
            <a:endParaRPr lang="en-US" sz="13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WHERE EXPERIENCE SHOWS AND PROCESS DOES NOT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Phase Three Is the Point</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20097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A WORKED EXAMPLE</a:t>
            </a:r>
            <a:endParaRPr lang="en-US" sz="1600" dirty="0"/>
          </a:p>
        </p:txBody>
      </p:sp>
      <p:sp>
        <p:nvSpPr>
          <p:cNvPr id="7" name="Text 5"/>
          <p:cNvSpPr/>
          <p:nvPr/>
        </p:nvSpPr>
        <p:spPr>
          <a:xfrm>
            <a:off x="723900" y="2276475"/>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scenario is ransomware. The plan says nothing about negotiation.</a:t>
            </a:r>
            <a:endParaRPr lang="en-US" sz="2000" dirty="0"/>
          </a:p>
        </p:txBody>
      </p:sp>
      <p:sp>
        <p:nvSpPr>
          <p:cNvPr id="8" name="Text 6"/>
          <p:cNvSpPr/>
          <p:nvPr/>
        </p:nvSpPr>
        <p:spPr>
          <a:xfrm>
            <a:off x="723900" y="2628900"/>
            <a:ext cx="10743895" cy="11811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So the exercise asks: who engages a professional negotiator? Who is authorised to decide whether to engage at all? And if a payment were ever contemplated, who procures the cryptocurrency, and under what approval?</a:t>
            </a:r>
            <a:endParaRPr lang="en-US" sz="2000" dirty="0"/>
          </a:p>
        </p:txBody>
      </p:sp>
      <p:sp>
        <p:nvSpPr>
          <p:cNvPr id="9" name="Shape 7"/>
          <p:cNvSpPr/>
          <p:nvPr/>
        </p:nvSpPr>
        <p:spPr>
          <a:xfrm>
            <a:off x="533400" y="4114800"/>
            <a:ext cx="5457673" cy="28575"/>
          </a:xfrm>
          <a:prstGeom prst="rect">
            <a:avLst/>
          </a:prstGeom>
          <a:solidFill>
            <a:srgbClr val="D04A02"/>
          </a:solidFill>
          <a:ln/>
        </p:spPr>
        <p:txBody>
          <a:bodyPr/>
          <a:lstStyle/>
          <a:p>
            <a:endParaRPr lang="en-US"/>
          </a:p>
        </p:txBody>
      </p:sp>
      <p:sp>
        <p:nvSpPr>
          <p:cNvPr id="10" name="Shape 8"/>
          <p:cNvSpPr/>
          <p:nvPr/>
        </p:nvSpPr>
        <p:spPr>
          <a:xfrm>
            <a:off x="533400" y="4143375"/>
            <a:ext cx="5457673" cy="1933575"/>
          </a:xfrm>
          <a:prstGeom prst="rect">
            <a:avLst/>
          </a:prstGeom>
          <a:solidFill>
            <a:srgbClr val="FDF0E6"/>
          </a:solidFill>
          <a:ln w="6350">
            <a:solidFill>
              <a:srgbClr val="FDF0E6"/>
            </a:solidFill>
            <a:prstDash val="solid"/>
          </a:ln>
        </p:spPr>
        <p:txBody>
          <a:bodyPr/>
          <a:lstStyle/>
          <a:p>
            <a:endParaRPr lang="en-US"/>
          </a:p>
        </p:txBody>
      </p:sp>
      <p:sp>
        <p:nvSpPr>
          <p:cNvPr id="11" name="Text 9"/>
          <p:cNvSpPr/>
          <p:nvPr/>
        </p:nvSpPr>
        <p:spPr>
          <a:xfrm>
            <a:off x="723900" y="42672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you are watching</a:t>
            </a:r>
            <a:endParaRPr lang="en-US" sz="2000" dirty="0"/>
          </a:p>
        </p:txBody>
      </p:sp>
      <p:sp>
        <p:nvSpPr>
          <p:cNvPr id="12" name="Text 10"/>
          <p:cNvSpPr/>
          <p:nvPr/>
        </p:nvSpPr>
        <p:spPr>
          <a:xfrm>
            <a:off x="723900" y="4619625"/>
            <a:ext cx="5076673" cy="13811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Not whether they get it right. Whether they stay calm, escalate cleanly, and say out loud that they do not know.</a:t>
            </a:r>
            <a:endParaRPr lang="en-US" sz="2000" dirty="0"/>
          </a:p>
        </p:txBody>
      </p:sp>
      <p:sp>
        <p:nvSpPr>
          <p:cNvPr id="13" name="Shape 11"/>
          <p:cNvSpPr/>
          <p:nvPr/>
        </p:nvSpPr>
        <p:spPr>
          <a:xfrm>
            <a:off x="6200623" y="4114800"/>
            <a:ext cx="5457673" cy="28575"/>
          </a:xfrm>
          <a:prstGeom prst="rect">
            <a:avLst/>
          </a:prstGeom>
          <a:solidFill>
            <a:srgbClr val="1A1A1A"/>
          </a:solidFill>
          <a:ln/>
        </p:spPr>
        <p:txBody>
          <a:bodyPr/>
          <a:lstStyle/>
          <a:p>
            <a:endParaRPr lang="en-US"/>
          </a:p>
        </p:txBody>
      </p:sp>
      <p:sp>
        <p:nvSpPr>
          <p:cNvPr id="14" name="Shape 12"/>
          <p:cNvSpPr/>
          <p:nvPr/>
        </p:nvSpPr>
        <p:spPr>
          <a:xfrm>
            <a:off x="6200623" y="4143375"/>
            <a:ext cx="5457673" cy="1933575"/>
          </a:xfrm>
          <a:prstGeom prst="rect">
            <a:avLst/>
          </a:prstGeom>
          <a:solidFill>
            <a:srgbClr val="F2F2F2"/>
          </a:solidFill>
          <a:ln w="6350">
            <a:solidFill>
              <a:srgbClr val="F2F2F2"/>
            </a:solidFill>
            <a:prstDash val="solid"/>
          </a:ln>
        </p:spPr>
        <p:txBody>
          <a:bodyPr/>
          <a:lstStyle/>
          <a:p>
            <a:endParaRPr lang="en-US"/>
          </a:p>
        </p:txBody>
      </p:sp>
      <p:sp>
        <p:nvSpPr>
          <p:cNvPr id="15" name="Text 13"/>
          <p:cNvSpPr/>
          <p:nvPr/>
        </p:nvSpPr>
        <p:spPr>
          <a:xfrm>
            <a:off x="6391123" y="42672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you write up</a:t>
            </a:r>
            <a:endParaRPr lang="en-US" sz="2000" dirty="0"/>
          </a:p>
        </p:txBody>
      </p:sp>
      <p:sp>
        <p:nvSpPr>
          <p:cNvPr id="16" name="Text 14"/>
          <p:cNvSpPr/>
          <p:nvPr/>
        </p:nvSpPr>
        <p:spPr>
          <a:xfrm>
            <a:off x="6391123" y="4619625"/>
            <a:ext cx="5076673" cy="13811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gap, against people, process and technology — and a recommendation for each.</a:t>
            </a:r>
            <a:endParaRPr lang="en-US" sz="2000" dirty="0"/>
          </a:p>
        </p:txBody>
      </p:sp>
      <p:sp>
        <p:nvSpPr>
          <p:cNvPr id="17" name="Text 15"/>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§7.1  ·  §7.2.1 requires the plan to cover incident management and business continuity — a gap in either is a finding</a:t>
            </a:r>
            <a:endParaRPr lang="en-US" sz="1300" dirty="0"/>
          </a:p>
        </p:txBody>
      </p:sp>
      <p:sp>
        <p:nvSpPr>
          <p:cNvPr id="18" name="Text 16"/>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60</a:t>
            </a:r>
            <a:endParaRPr lang="en-US" sz="13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HOW A DRILL GETS BUILT</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Four Steps, Six Weeks, One Exercise</a:t>
            </a:r>
            <a:endParaRPr lang="en-US" sz="3000" dirty="0"/>
          </a:p>
        </p:txBody>
      </p:sp>
      <p:sp>
        <p:nvSpPr>
          <p:cNvPr id="4" name="Shape 2"/>
          <p:cNvSpPr/>
          <p:nvPr/>
        </p:nvSpPr>
        <p:spPr>
          <a:xfrm>
            <a:off x="533400" y="1847850"/>
            <a:ext cx="2638349" cy="28575"/>
          </a:xfrm>
          <a:prstGeom prst="rect">
            <a:avLst/>
          </a:prstGeom>
          <a:solidFill>
            <a:srgbClr val="1A1A1A"/>
          </a:solidFill>
          <a:ln/>
        </p:spPr>
        <p:txBody>
          <a:bodyPr/>
          <a:lstStyle/>
          <a:p>
            <a:endParaRPr lang="en-US"/>
          </a:p>
        </p:txBody>
      </p:sp>
      <p:sp>
        <p:nvSpPr>
          <p:cNvPr id="5" name="Shape 3"/>
          <p:cNvSpPr/>
          <p:nvPr/>
        </p:nvSpPr>
        <p:spPr>
          <a:xfrm>
            <a:off x="533400" y="1876425"/>
            <a:ext cx="2638349" cy="349567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2257349" cy="200025"/>
          </a:xfrm>
          <a:prstGeom prst="rect">
            <a:avLst/>
          </a:prstGeom>
          <a:noFill/>
          <a:ln/>
        </p:spPr>
        <p:txBody>
          <a:bodyPr wrap="square" rtlCol="0" anchor="ctr"/>
          <a:lstStyle/>
          <a:p>
            <a:pPr marL="0" indent="0">
              <a:buNone/>
            </a:pPr>
            <a:r>
              <a:rPr lang="en-US" sz="1600" b="1" kern="0" spc="110" dirty="0">
                <a:solidFill>
                  <a:srgbClr val="7A7A7A"/>
                </a:solidFill>
                <a:latin typeface="Arial" pitchFamily="34" charset="0"/>
                <a:ea typeface="Arial" pitchFamily="34" charset="-122"/>
                <a:cs typeface="Arial" pitchFamily="34" charset="-120"/>
              </a:rPr>
              <a:t>STEP 01</a:t>
            </a:r>
            <a:endParaRPr lang="en-US" sz="1600" dirty="0"/>
          </a:p>
        </p:txBody>
      </p:sp>
      <p:sp>
        <p:nvSpPr>
          <p:cNvPr id="7" name="Text 5"/>
          <p:cNvSpPr/>
          <p:nvPr/>
        </p:nvSpPr>
        <p:spPr>
          <a:xfrm>
            <a:off x="723900" y="2276475"/>
            <a:ext cx="2257349"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Understand the organisation</a:t>
            </a:r>
            <a:endParaRPr lang="en-US" sz="2000" dirty="0"/>
          </a:p>
        </p:txBody>
      </p:sp>
      <p:sp>
        <p:nvSpPr>
          <p:cNvPr id="8" name="Text 6"/>
          <p:cNvSpPr/>
          <p:nvPr/>
        </p:nvSpPr>
        <p:spPr>
          <a:xfrm>
            <a:off x="723900" y="2886075"/>
            <a:ext cx="2257349" cy="24098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Interview stakeholders. Read the response and continuity documents.</a:t>
            </a:r>
            <a:endParaRPr lang="en-US" sz="2000" dirty="0"/>
          </a:p>
        </p:txBody>
      </p:sp>
      <p:sp>
        <p:nvSpPr>
          <p:cNvPr id="9" name="Shape 7"/>
          <p:cNvSpPr/>
          <p:nvPr/>
        </p:nvSpPr>
        <p:spPr>
          <a:xfrm>
            <a:off x="3362249" y="1847850"/>
            <a:ext cx="2638349" cy="28575"/>
          </a:xfrm>
          <a:prstGeom prst="rect">
            <a:avLst/>
          </a:prstGeom>
          <a:solidFill>
            <a:srgbClr val="1A1A1A"/>
          </a:solidFill>
          <a:ln/>
        </p:spPr>
        <p:txBody>
          <a:bodyPr/>
          <a:lstStyle/>
          <a:p>
            <a:endParaRPr lang="en-US"/>
          </a:p>
        </p:txBody>
      </p:sp>
      <p:sp>
        <p:nvSpPr>
          <p:cNvPr id="10" name="Shape 8"/>
          <p:cNvSpPr/>
          <p:nvPr/>
        </p:nvSpPr>
        <p:spPr>
          <a:xfrm>
            <a:off x="3362249" y="1876425"/>
            <a:ext cx="2638349" cy="3495675"/>
          </a:xfrm>
          <a:prstGeom prst="rect">
            <a:avLst/>
          </a:prstGeom>
          <a:solidFill>
            <a:srgbClr val="F2F2F2"/>
          </a:solidFill>
          <a:ln w="6350">
            <a:solidFill>
              <a:srgbClr val="F2F2F2"/>
            </a:solidFill>
            <a:prstDash val="solid"/>
          </a:ln>
        </p:spPr>
        <p:txBody>
          <a:bodyPr/>
          <a:lstStyle/>
          <a:p>
            <a:endParaRPr lang="en-US"/>
          </a:p>
        </p:txBody>
      </p:sp>
      <p:sp>
        <p:nvSpPr>
          <p:cNvPr id="11" name="Text 9"/>
          <p:cNvSpPr/>
          <p:nvPr/>
        </p:nvSpPr>
        <p:spPr>
          <a:xfrm>
            <a:off x="3552749" y="2000250"/>
            <a:ext cx="2257349" cy="200025"/>
          </a:xfrm>
          <a:prstGeom prst="rect">
            <a:avLst/>
          </a:prstGeom>
          <a:noFill/>
          <a:ln/>
        </p:spPr>
        <p:txBody>
          <a:bodyPr wrap="square" rtlCol="0" anchor="ctr"/>
          <a:lstStyle/>
          <a:p>
            <a:pPr marL="0" indent="0">
              <a:buNone/>
            </a:pPr>
            <a:r>
              <a:rPr lang="en-US" sz="1600" b="1" kern="0" spc="110" dirty="0">
                <a:solidFill>
                  <a:srgbClr val="7A7A7A"/>
                </a:solidFill>
                <a:latin typeface="Arial" pitchFamily="34" charset="0"/>
                <a:ea typeface="Arial" pitchFamily="34" charset="-122"/>
                <a:cs typeface="Arial" pitchFamily="34" charset="-120"/>
              </a:rPr>
              <a:t>STEP 02</a:t>
            </a:r>
            <a:endParaRPr lang="en-US" sz="1600" dirty="0"/>
          </a:p>
        </p:txBody>
      </p:sp>
      <p:sp>
        <p:nvSpPr>
          <p:cNvPr id="12" name="Text 10"/>
          <p:cNvSpPr/>
          <p:nvPr/>
        </p:nvSpPr>
        <p:spPr>
          <a:xfrm>
            <a:off x="3552749" y="2276475"/>
            <a:ext cx="2257349"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Design the scenario</a:t>
            </a:r>
            <a:endParaRPr lang="en-US" sz="2000" dirty="0"/>
          </a:p>
        </p:txBody>
      </p:sp>
      <p:sp>
        <p:nvSpPr>
          <p:cNvPr id="13" name="Text 11"/>
          <p:cNvSpPr/>
          <p:nvPr/>
        </p:nvSpPr>
        <p:spPr>
          <a:xfrm>
            <a:off x="3552749" y="2886075"/>
            <a:ext cx="2257349" cy="24098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Build from the organisation's own threat landscape, so it is recognisable.</a:t>
            </a:r>
            <a:endParaRPr lang="en-US" sz="2000" dirty="0"/>
          </a:p>
        </p:txBody>
      </p:sp>
      <p:sp>
        <p:nvSpPr>
          <p:cNvPr id="14" name="Shape 12"/>
          <p:cNvSpPr/>
          <p:nvPr/>
        </p:nvSpPr>
        <p:spPr>
          <a:xfrm>
            <a:off x="6191098" y="1847850"/>
            <a:ext cx="2638349" cy="28575"/>
          </a:xfrm>
          <a:prstGeom prst="rect">
            <a:avLst/>
          </a:prstGeom>
          <a:solidFill>
            <a:srgbClr val="1A1A1A"/>
          </a:solidFill>
          <a:ln/>
        </p:spPr>
        <p:txBody>
          <a:bodyPr/>
          <a:lstStyle/>
          <a:p>
            <a:endParaRPr lang="en-US"/>
          </a:p>
        </p:txBody>
      </p:sp>
      <p:sp>
        <p:nvSpPr>
          <p:cNvPr id="15" name="Shape 13"/>
          <p:cNvSpPr/>
          <p:nvPr/>
        </p:nvSpPr>
        <p:spPr>
          <a:xfrm>
            <a:off x="6191098" y="1876425"/>
            <a:ext cx="2638349" cy="3495675"/>
          </a:xfrm>
          <a:prstGeom prst="rect">
            <a:avLst/>
          </a:prstGeom>
          <a:solidFill>
            <a:srgbClr val="F2F2F2"/>
          </a:solidFill>
          <a:ln w="6350">
            <a:solidFill>
              <a:srgbClr val="F2F2F2"/>
            </a:solidFill>
            <a:prstDash val="solid"/>
          </a:ln>
        </p:spPr>
        <p:txBody>
          <a:bodyPr/>
          <a:lstStyle/>
          <a:p>
            <a:endParaRPr lang="en-US"/>
          </a:p>
        </p:txBody>
      </p:sp>
      <p:sp>
        <p:nvSpPr>
          <p:cNvPr id="16" name="Text 14"/>
          <p:cNvSpPr/>
          <p:nvPr/>
        </p:nvSpPr>
        <p:spPr>
          <a:xfrm>
            <a:off x="6381598" y="2000250"/>
            <a:ext cx="2257349" cy="200025"/>
          </a:xfrm>
          <a:prstGeom prst="rect">
            <a:avLst/>
          </a:prstGeom>
          <a:noFill/>
          <a:ln/>
        </p:spPr>
        <p:txBody>
          <a:bodyPr wrap="square" rtlCol="0" anchor="ctr"/>
          <a:lstStyle/>
          <a:p>
            <a:pPr marL="0" indent="0">
              <a:buNone/>
            </a:pPr>
            <a:r>
              <a:rPr lang="en-US" sz="1600" b="1" kern="0" spc="110" dirty="0">
                <a:solidFill>
                  <a:srgbClr val="7A7A7A"/>
                </a:solidFill>
                <a:latin typeface="Arial" pitchFamily="34" charset="0"/>
                <a:ea typeface="Arial" pitchFamily="34" charset="-122"/>
                <a:cs typeface="Arial" pitchFamily="34" charset="-120"/>
              </a:rPr>
              <a:t>STEP 03</a:t>
            </a:r>
            <a:endParaRPr lang="en-US" sz="1600" dirty="0"/>
          </a:p>
        </p:txBody>
      </p:sp>
      <p:sp>
        <p:nvSpPr>
          <p:cNvPr id="17" name="Text 15"/>
          <p:cNvSpPr/>
          <p:nvPr/>
        </p:nvSpPr>
        <p:spPr>
          <a:xfrm>
            <a:off x="6381598" y="2276475"/>
            <a:ext cx="2257349"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Run the three phases</a:t>
            </a:r>
            <a:endParaRPr lang="en-US" sz="2000" dirty="0"/>
          </a:p>
        </p:txBody>
      </p:sp>
      <p:sp>
        <p:nvSpPr>
          <p:cNvPr id="18" name="Text 16"/>
          <p:cNvSpPr/>
          <p:nvPr/>
        </p:nvSpPr>
        <p:spPr>
          <a:xfrm>
            <a:off x="6381598" y="2886075"/>
            <a:ext cx="2257349" cy="24098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facilitated discussion, not a test. Observe decisions, escalation and communication.</a:t>
            </a:r>
            <a:endParaRPr lang="en-US" sz="2000" dirty="0"/>
          </a:p>
        </p:txBody>
      </p:sp>
      <p:sp>
        <p:nvSpPr>
          <p:cNvPr id="19" name="Shape 17"/>
          <p:cNvSpPr/>
          <p:nvPr/>
        </p:nvSpPr>
        <p:spPr>
          <a:xfrm>
            <a:off x="9019946" y="1847850"/>
            <a:ext cx="2638349" cy="28575"/>
          </a:xfrm>
          <a:prstGeom prst="rect">
            <a:avLst/>
          </a:prstGeom>
          <a:solidFill>
            <a:srgbClr val="D04A02"/>
          </a:solidFill>
          <a:ln/>
        </p:spPr>
        <p:txBody>
          <a:bodyPr/>
          <a:lstStyle/>
          <a:p>
            <a:endParaRPr lang="en-US"/>
          </a:p>
        </p:txBody>
      </p:sp>
      <p:sp>
        <p:nvSpPr>
          <p:cNvPr id="20" name="Shape 18"/>
          <p:cNvSpPr/>
          <p:nvPr/>
        </p:nvSpPr>
        <p:spPr>
          <a:xfrm>
            <a:off x="9019946" y="1876425"/>
            <a:ext cx="2638349" cy="3495675"/>
          </a:xfrm>
          <a:prstGeom prst="rect">
            <a:avLst/>
          </a:prstGeom>
          <a:solidFill>
            <a:srgbClr val="FDF0E6"/>
          </a:solidFill>
          <a:ln w="6350">
            <a:solidFill>
              <a:srgbClr val="FDF0E6"/>
            </a:solidFill>
            <a:prstDash val="solid"/>
          </a:ln>
        </p:spPr>
        <p:txBody>
          <a:bodyPr/>
          <a:lstStyle/>
          <a:p>
            <a:endParaRPr lang="en-US"/>
          </a:p>
        </p:txBody>
      </p:sp>
      <p:sp>
        <p:nvSpPr>
          <p:cNvPr id="21" name="Text 19"/>
          <p:cNvSpPr/>
          <p:nvPr/>
        </p:nvSpPr>
        <p:spPr>
          <a:xfrm>
            <a:off x="9210446" y="2000250"/>
            <a:ext cx="2257349"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STEP 04</a:t>
            </a:r>
            <a:endParaRPr lang="en-US" sz="1600" dirty="0"/>
          </a:p>
        </p:txBody>
      </p:sp>
      <p:sp>
        <p:nvSpPr>
          <p:cNvPr id="22" name="Text 20"/>
          <p:cNvSpPr/>
          <p:nvPr/>
        </p:nvSpPr>
        <p:spPr>
          <a:xfrm>
            <a:off x="9210446" y="2276475"/>
            <a:ext cx="2257349"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Report and share</a:t>
            </a:r>
            <a:endParaRPr lang="en-US" sz="2000" dirty="0"/>
          </a:p>
        </p:txBody>
      </p:sp>
      <p:sp>
        <p:nvSpPr>
          <p:cNvPr id="23" name="Text 21"/>
          <p:cNvSpPr/>
          <p:nvPr/>
        </p:nvSpPr>
        <p:spPr>
          <a:xfrm>
            <a:off x="9210446" y="2886075"/>
            <a:ext cx="2257349" cy="24098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Observations, leading practice, prioritised actions.</a:t>
            </a:r>
            <a:endParaRPr lang="en-US" sz="2000" dirty="0"/>
          </a:p>
        </p:txBody>
      </p:sp>
      <p:sp>
        <p:nvSpPr>
          <p:cNvPr id="24" name="Text 22"/>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Design principle: advocacy, not "gotcha". An exercise that humiliates its participants produces one honest answer and then silence.</a:t>
            </a:r>
            <a:endParaRPr lang="en-US" sz="1300" dirty="0"/>
          </a:p>
        </p:txBody>
      </p:sp>
      <p:sp>
        <p:nvSpPr>
          <p:cNvPr id="25" name="Text 2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61</a:t>
            </a:r>
            <a:endParaRPr lang="en-US" sz="13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THE PLAN IS THE SPECIMEN</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Build Each Scenario From a Clause</a:t>
            </a:r>
            <a:endParaRPr lang="en-US" sz="3000" dirty="0"/>
          </a:p>
        </p:txBody>
      </p:sp>
      <p:graphicFrame>
        <p:nvGraphicFramePr>
          <p:cNvPr id="63"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191000"/>
        </p:xfrm>
        <a:graphic>
          <a:graphicData uri="http://schemas.openxmlformats.org/drawingml/2006/table">
            <a:tbl>
              <a:tblPr/>
              <a:tblGrid>
                <a:gridCol w="4381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tblGrid>
              <a:tr h="10477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The plan says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So the scenario is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477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Activation is decided by a named role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05:41 on a Sunday, and that person is unreachable. Is deputation written down anywhere?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477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Maximum tolerable downtime is eight hours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The restore estimate comes back at 18 to 26 hours, with Monday peak approaching. Does the room notice?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477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Public statements come from pre-approved lines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A journalist has the story before anything has been filed. Does the sequence hold?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33400" y="28860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§7.1 — the drill tests the validity and effectiveness of the plan, so the plan's own clauses are the target list</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62</a:t>
            </a:r>
            <a:endParaRPr lang="en-US" sz="13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marL="0" indent="0">
              <a:buNone/>
            </a:pPr>
            <a:r>
              <a:rPr lang="en-US" sz="1600" b="1" kern="0" spc="140" dirty="0">
                <a:solidFill>
                  <a:srgbClr val="7A7A7A"/>
                </a:solidFill>
                <a:latin typeface="Arial" pitchFamily="34" charset="0"/>
                <a:ea typeface="Arial" pitchFamily="34" charset="-122"/>
                <a:cs typeface="Arial" pitchFamily="34" charset="-120"/>
              </a:rPr>
              <a:t>DOCUMENT 4 OF 4  ·  15 MINUTES</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Security Risk</a:t>
            </a:r>
            <a:endParaRPr lang="en-US" sz="4400" dirty="0"/>
          </a:p>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Assessment</a:t>
            </a:r>
            <a:endParaRPr lang="en-US" sz="4400" dirty="0"/>
          </a:p>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and Audit</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marL="0" indent="0">
              <a:lnSpc>
                <a:spcPct val="135000"/>
              </a:lnSpc>
              <a:buNone/>
            </a:pPr>
            <a:r>
              <a:rPr lang="en-US" sz="2000" dirty="0">
                <a:solidFill>
                  <a:srgbClr val="7A7A7A"/>
                </a:solidFill>
                <a:latin typeface="Arial" pitchFamily="34" charset="0"/>
                <a:ea typeface="Arial" pitchFamily="34" charset="-122"/>
                <a:cs typeface="Arial" pitchFamily="34" charset="-120"/>
              </a:rPr>
              <a:t>The only obligation in Cap. 653 that requires somebody from outside the organisation. It is also the one this course is about.</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63</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SECTIONS 24 AND 25</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One Acronym, Two Obligations</a:t>
            </a:r>
            <a:endParaRPr lang="en-US" sz="3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430000" cy="3600450"/>
        </p:xfrm>
        <a:graphic>
          <a:graphicData uri="http://schemas.openxmlformats.org/drawingml/2006/table">
            <a:tbl>
              <a:tblPr/>
              <a:tblGrid>
                <a:gridCol w="3810000">
                  <a:extLst>
                    <a:ext uri="{9D8B030D-6E8A-4147-A177-3AD203B41FA5}">
                      <a16:colId xmlns:a16="http://schemas.microsoft.com/office/drawing/2014/main" val="20000"/>
                    </a:ext>
                  </a:extLst>
                </a:gridCol>
                <a:gridCol w="3810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514350">
                <a:tc>
                  <a:txBody>
                    <a:bodyPr/>
                    <a:lstStyle/>
                    <a:p>
                      <a:pPr marL="0" indent="0" algn="l">
                        <a:buNone/>
                      </a:pP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Risk assessment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Audit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Ordinance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s.24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s.25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Code of Practice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§6.3</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§6.4 + Annex G</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First due</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12 months from designation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24 months from designation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Then</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Every 12 months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Every 24 months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Report to Commissioner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Within 3 months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Within 3 months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43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Who may do it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 qualified professional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An independent auditor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33400" y="23526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Part 4 Div. 2 s.24, s.25  ·  Code of Practice v1.0 §6.3, §6.4, Annex G  ·  deadlines per Pinsent Masons and Tanner De Witt analyses, Aug 2025</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64</a:t>
            </a:r>
            <a:endParaRPr lang="en-US" sz="13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WHAT §6.3 PUTS IN SCOPE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Not a Sample. All of Them.</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14001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CODE OF PRACTICE V1.0 §6.3</a:t>
            </a:r>
            <a:endParaRPr lang="en-US" sz="1600" dirty="0"/>
          </a:p>
        </p:txBody>
      </p:sp>
      <p:sp>
        <p:nvSpPr>
          <p:cNvPr id="7" name="Text 5"/>
          <p:cNvSpPr/>
          <p:nvPr/>
        </p:nvSpPr>
        <p:spPr>
          <a:xfrm>
            <a:off x="723900" y="2276475"/>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“all applications, hosts, and network devices of the CCSs”</a:t>
            </a:r>
            <a:endParaRPr lang="en-US" sz="2000" dirty="0"/>
          </a:p>
        </p:txBody>
      </p:sp>
      <p:sp>
        <p:nvSpPr>
          <p:cNvPr id="8" name="Shape 6"/>
          <p:cNvSpPr/>
          <p:nvPr/>
        </p:nvSpPr>
        <p:spPr>
          <a:xfrm>
            <a:off x="533400" y="3505200"/>
            <a:ext cx="3568598" cy="28575"/>
          </a:xfrm>
          <a:prstGeom prst="rect">
            <a:avLst/>
          </a:prstGeom>
          <a:solidFill>
            <a:srgbClr val="1A1A1A"/>
          </a:solidFill>
          <a:ln/>
        </p:spPr>
        <p:txBody>
          <a:bodyPr/>
          <a:lstStyle/>
          <a:p>
            <a:endParaRPr lang="en-US"/>
          </a:p>
        </p:txBody>
      </p:sp>
      <p:sp>
        <p:nvSpPr>
          <p:cNvPr id="9" name="Shape 7"/>
          <p:cNvSpPr/>
          <p:nvPr/>
        </p:nvSpPr>
        <p:spPr>
          <a:xfrm>
            <a:off x="533400" y="3533775"/>
            <a:ext cx="3568598" cy="21621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723900" y="36576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Not the crown jewels</a:t>
            </a:r>
            <a:endParaRPr lang="en-US" sz="2000" dirty="0"/>
          </a:p>
        </p:txBody>
      </p:sp>
      <p:sp>
        <p:nvSpPr>
          <p:cNvPr id="11" name="Text 9"/>
          <p:cNvSpPr/>
          <p:nvPr/>
        </p:nvSpPr>
        <p:spPr>
          <a:xfrm>
            <a:off x="723900" y="4010025"/>
            <a:ext cx="3187598"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You do not get to assess the three systems that matter and stop there.</a:t>
            </a:r>
            <a:endParaRPr lang="en-US" sz="2000" dirty="0"/>
          </a:p>
        </p:txBody>
      </p:sp>
      <p:sp>
        <p:nvSpPr>
          <p:cNvPr id="12" name="Shape 10"/>
          <p:cNvSpPr/>
          <p:nvPr/>
        </p:nvSpPr>
        <p:spPr>
          <a:xfrm>
            <a:off x="4311548" y="3505200"/>
            <a:ext cx="3568598" cy="28575"/>
          </a:xfrm>
          <a:prstGeom prst="rect">
            <a:avLst/>
          </a:prstGeom>
          <a:solidFill>
            <a:srgbClr val="1A1A1A"/>
          </a:solidFill>
          <a:ln/>
        </p:spPr>
        <p:txBody>
          <a:bodyPr/>
          <a:lstStyle/>
          <a:p>
            <a:endParaRPr lang="en-US"/>
          </a:p>
        </p:txBody>
      </p:sp>
      <p:sp>
        <p:nvSpPr>
          <p:cNvPr id="13" name="Shape 11"/>
          <p:cNvSpPr/>
          <p:nvPr/>
        </p:nvSpPr>
        <p:spPr>
          <a:xfrm>
            <a:off x="4311548" y="3533775"/>
            <a:ext cx="3568598" cy="216217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4502048" y="36576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Not a sample</a:t>
            </a:r>
            <a:endParaRPr lang="en-US" sz="2000" dirty="0"/>
          </a:p>
        </p:txBody>
      </p:sp>
      <p:sp>
        <p:nvSpPr>
          <p:cNvPr id="15" name="Text 13"/>
          <p:cNvSpPr/>
          <p:nvPr/>
        </p:nvSpPr>
        <p:spPr>
          <a:xfrm>
            <a:off x="4502048" y="4010025"/>
            <a:ext cx="3187598"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Sampling is an audit technique. This obligation names the population.</a:t>
            </a:r>
            <a:endParaRPr lang="en-US" sz="2000" dirty="0"/>
          </a:p>
        </p:txBody>
      </p:sp>
      <p:sp>
        <p:nvSpPr>
          <p:cNvPr id="16" name="Shape 14"/>
          <p:cNvSpPr/>
          <p:nvPr/>
        </p:nvSpPr>
        <p:spPr>
          <a:xfrm>
            <a:off x="8089697" y="3505200"/>
            <a:ext cx="3568598" cy="28575"/>
          </a:xfrm>
          <a:prstGeom prst="rect">
            <a:avLst/>
          </a:prstGeom>
          <a:solidFill>
            <a:srgbClr val="D04A02"/>
          </a:solidFill>
          <a:ln/>
        </p:spPr>
        <p:txBody>
          <a:bodyPr/>
          <a:lstStyle/>
          <a:p>
            <a:endParaRPr lang="en-US"/>
          </a:p>
        </p:txBody>
      </p:sp>
      <p:sp>
        <p:nvSpPr>
          <p:cNvPr id="17" name="Shape 15"/>
          <p:cNvSpPr/>
          <p:nvPr/>
        </p:nvSpPr>
        <p:spPr>
          <a:xfrm>
            <a:off x="8089697" y="3533775"/>
            <a:ext cx="3568598" cy="2162175"/>
          </a:xfrm>
          <a:prstGeom prst="rect">
            <a:avLst/>
          </a:prstGeom>
          <a:solidFill>
            <a:srgbClr val="FDF0E6"/>
          </a:solidFill>
          <a:ln w="6350">
            <a:solidFill>
              <a:srgbClr val="FDF0E6"/>
            </a:solidFill>
            <a:prstDash val="solid"/>
          </a:ln>
        </p:spPr>
        <p:txBody>
          <a:bodyPr/>
          <a:lstStyle/>
          <a:p>
            <a:endParaRPr lang="en-US"/>
          </a:p>
        </p:txBody>
      </p:sp>
      <p:sp>
        <p:nvSpPr>
          <p:cNvPr id="18" name="Text 16"/>
          <p:cNvSpPr/>
          <p:nvPr/>
        </p:nvSpPr>
        <p:spPr>
          <a:xfrm>
            <a:off x="8280197" y="365760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Everything designated</a:t>
            </a:r>
            <a:endParaRPr lang="en-US" sz="2000" dirty="0"/>
          </a:p>
        </p:txBody>
      </p:sp>
      <p:sp>
        <p:nvSpPr>
          <p:cNvPr id="19" name="Text 17"/>
          <p:cNvSpPr/>
          <p:nvPr/>
        </p:nvSpPr>
        <p:spPr>
          <a:xfrm>
            <a:off x="8280197" y="4010025"/>
            <a:ext cx="3187598"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Which is why the CCS list you drew at 20:15 decides the size of this bill.</a:t>
            </a:r>
            <a:endParaRPr lang="en-US" sz="2000" dirty="0"/>
          </a:p>
        </p:txBody>
      </p:sp>
      <p:sp>
        <p:nvSpPr>
          <p:cNvPr id="20" name="Text 18"/>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§6.3 — scope of computer-system security risk assessment</a:t>
            </a:r>
            <a:endParaRPr lang="en-US" sz="1300" dirty="0"/>
          </a:p>
        </p:txBody>
      </p:sp>
      <p:sp>
        <p:nvSpPr>
          <p:cNvPr id="21" name="Text 19"/>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65</a:t>
            </a:r>
            <a:endParaRPr lang="en-US" sz="13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YOU DO NOT GET TO INVENT A METHOD</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Code Names Its Standards</a:t>
            </a:r>
            <a:endParaRPr lang="en-US" sz="3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314700"/>
        </p:xfrm>
        <a:graphic>
          <a:graphicData uri="http://schemas.openxmlformats.org/drawingml/2006/table">
            <a:tbl>
              <a:tblPr/>
              <a:tblGrid>
                <a:gridCol w="342900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tblGrid>
              <a:tr h="5524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Family</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Named in §6.3</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524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Management systems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ISO/IEC 27001  ·  GB/T 22080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524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Risk management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ISO/IEC 27005  ·  GB/T 31722  ·  NIST SP 800-30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24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Industrial control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IEC 62443-3-2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24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AI management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ISO/IEC 42001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245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Hong Kong government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DPO Practice Guide ISPG-SM01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33400" y="2390775"/>
            <a:ext cx="11124895" cy="19050"/>
          </a:xfrm>
          <a:prstGeom prst="rect">
            <a:avLst/>
          </a:prstGeom>
          <a:solidFill>
            <a:srgbClr val="1A1A1A"/>
          </a:solidFill>
          <a:ln/>
        </p:spPr>
        <p:txBody>
          <a:bodyPr/>
          <a:lstStyle/>
          <a:p>
            <a:endParaRPr lang="en-US"/>
          </a:p>
        </p:txBody>
      </p:sp>
      <p:sp>
        <p:nvSpPr>
          <p:cNvPr id="6" name="Text 3"/>
          <p:cNvSpPr/>
          <p:nvPr/>
        </p:nvSpPr>
        <p:spPr>
          <a:xfrm>
            <a:off x="533400" y="5410200"/>
            <a:ext cx="11124895" cy="749300"/>
          </a:xfrm>
          <a:prstGeom prst="rect">
            <a:avLst/>
          </a:prstGeom>
          <a:noFill/>
          <a:ln/>
        </p:spPr>
        <p:txBody>
          <a:bodyPr wrap="square" rtlCol="0" anchor="t"/>
          <a:lstStyle/>
          <a:p>
            <a:pPr marL="0" indent="0">
              <a:lnSpc>
                <a:spcPct val="125000"/>
              </a:lnSpc>
              <a:buNone/>
            </a:pPr>
            <a:r>
              <a:rPr lang="en-US" sz="2000" i="1" dirty="0">
                <a:solidFill>
                  <a:srgbClr val="3D3D3D"/>
                </a:solidFill>
                <a:latin typeface="Arial" pitchFamily="34" charset="0"/>
                <a:ea typeface="Arial" pitchFamily="34" charset="-122"/>
                <a:cs typeface="Arial" pitchFamily="34" charset="-120"/>
              </a:rPr>
              <a:t>Both mainland GB/T and international ISO standards are named as acceptable. That duality is deliberate, and it is worth noticing.</a:t>
            </a:r>
            <a:endParaRPr lang="en-US" sz="2000" dirty="0"/>
          </a:p>
        </p:txBody>
      </p:sp>
      <p:sp>
        <p:nvSpPr>
          <p:cNvPr id="7" name="Text 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§6.3  ·  ISPG-SM01, “Security Risk Assessment &amp; Audit”, at digitalpolicy.gov.hk</a:t>
            </a:r>
            <a:endParaRPr lang="en-US" sz="1300" dirty="0"/>
          </a:p>
        </p:txBody>
      </p:sp>
      <p:sp>
        <p:nvSpPr>
          <p:cNvPr id="8" name="Text 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66</a:t>
            </a:r>
            <a:endParaRPr lang="en-US" sz="13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§6.3 REQUIRES BOTH</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Two Activities, Not One</a:t>
            </a:r>
            <a:endParaRPr lang="en-US" sz="3000" dirty="0"/>
          </a:p>
        </p:txBody>
      </p:sp>
      <p:sp>
        <p:nvSpPr>
          <p:cNvPr id="4" name="Shape 2"/>
          <p:cNvSpPr/>
          <p:nvPr/>
        </p:nvSpPr>
        <p:spPr>
          <a:xfrm>
            <a:off x="533400" y="1847850"/>
            <a:ext cx="5457673" cy="28575"/>
          </a:xfrm>
          <a:prstGeom prst="rect">
            <a:avLst/>
          </a:prstGeom>
          <a:solidFill>
            <a:srgbClr val="1A1A1A"/>
          </a:solidFill>
          <a:ln/>
        </p:spPr>
        <p:txBody>
          <a:bodyPr/>
          <a:lstStyle/>
          <a:p>
            <a:endParaRPr lang="en-US"/>
          </a:p>
        </p:txBody>
      </p:sp>
      <p:sp>
        <p:nvSpPr>
          <p:cNvPr id="5" name="Shape 3"/>
          <p:cNvSpPr/>
          <p:nvPr/>
        </p:nvSpPr>
        <p:spPr>
          <a:xfrm>
            <a:off x="533400" y="1876425"/>
            <a:ext cx="5457673" cy="282892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Vulnerability assessment</a:t>
            </a:r>
            <a:endParaRPr lang="en-US" sz="2000" dirty="0"/>
          </a:p>
        </p:txBody>
      </p:sp>
      <p:sp>
        <p:nvSpPr>
          <p:cNvPr id="7" name="Text 5"/>
          <p:cNvSpPr/>
          <p:nvPr/>
        </p:nvSpPr>
        <p:spPr>
          <a:xfrm>
            <a:off x="723900" y="2352675"/>
            <a:ext cx="5076673" cy="2276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Scanning, source-code review and configuration review.</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Supervised by a holder of CISP, CISA, CISM or CISSP.</a:t>
            </a:r>
            <a:endParaRPr lang="en-US" sz="2000" dirty="0"/>
          </a:p>
        </p:txBody>
      </p:sp>
      <p:sp>
        <p:nvSpPr>
          <p:cNvPr id="8" name="Shape 6"/>
          <p:cNvSpPr/>
          <p:nvPr/>
        </p:nvSpPr>
        <p:spPr>
          <a:xfrm>
            <a:off x="6200623" y="1847850"/>
            <a:ext cx="5457673" cy="28575"/>
          </a:xfrm>
          <a:prstGeom prst="rect">
            <a:avLst/>
          </a:prstGeom>
          <a:solidFill>
            <a:srgbClr val="D04A02"/>
          </a:solidFill>
          <a:ln/>
        </p:spPr>
        <p:txBody>
          <a:bodyPr/>
          <a:lstStyle/>
          <a:p>
            <a:endParaRPr lang="en-US"/>
          </a:p>
        </p:txBody>
      </p:sp>
      <p:sp>
        <p:nvSpPr>
          <p:cNvPr id="9" name="Shape 7"/>
          <p:cNvSpPr/>
          <p:nvPr/>
        </p:nvSpPr>
        <p:spPr>
          <a:xfrm>
            <a:off x="6200623" y="1876425"/>
            <a:ext cx="5457673" cy="2828925"/>
          </a:xfrm>
          <a:prstGeom prst="rect">
            <a:avLst/>
          </a:prstGeom>
          <a:solidFill>
            <a:srgbClr val="FDF0E6"/>
          </a:solidFill>
          <a:ln w="6350">
            <a:solidFill>
              <a:srgbClr val="FDF0E6"/>
            </a:solidFill>
            <a:prstDash val="solid"/>
          </a:ln>
        </p:spPr>
        <p:txBody>
          <a:bodyPr/>
          <a:lstStyle/>
          <a:p>
            <a:endParaRPr lang="en-US"/>
          </a:p>
        </p:txBody>
      </p:sp>
      <p:sp>
        <p:nvSpPr>
          <p:cNvPr id="10" name="Text 8"/>
          <p:cNvSpPr/>
          <p:nvPr/>
        </p:nvSpPr>
        <p:spPr>
          <a:xfrm>
            <a:off x="6391123"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Penetration testing</a:t>
            </a:r>
            <a:endParaRPr lang="en-US" sz="2000" dirty="0"/>
          </a:p>
        </p:txBody>
      </p:sp>
      <p:sp>
        <p:nvSpPr>
          <p:cNvPr id="11" name="Text 9"/>
          <p:cNvSpPr/>
          <p:nvPr/>
        </p:nvSpPr>
        <p:spPr>
          <a:xfrm>
            <a:off x="6391123" y="2352675"/>
            <a:ext cx="5076673" cy="2276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Network, system software, client-side application and server-side application.</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Tester qualified per §6.3.6.</a:t>
            </a:r>
            <a:endParaRPr lang="en-US" sz="2000" dirty="0"/>
          </a:p>
        </p:txBody>
      </p:sp>
      <p:sp>
        <p:nvSpPr>
          <p:cNvPr id="12" name="Text 10"/>
          <p:cNvSpPr/>
          <p:nvPr/>
        </p:nvSpPr>
        <p:spPr>
          <a:xfrm>
            <a:off x="533400" y="4914900"/>
            <a:ext cx="11124895" cy="749300"/>
          </a:xfrm>
          <a:prstGeom prst="rect">
            <a:avLst/>
          </a:prstGeom>
          <a:noFill/>
          <a:ln/>
        </p:spPr>
        <p:txBody>
          <a:bodyPr wrap="square" rtlCol="0" anchor="t"/>
          <a:lstStyle/>
          <a:p>
            <a:pPr marL="0" indent="0">
              <a:lnSpc>
                <a:spcPct val="125000"/>
              </a:lnSpc>
              <a:buNone/>
            </a:pPr>
            <a:r>
              <a:rPr lang="en-US" sz="2000" i="1" dirty="0">
                <a:solidFill>
                  <a:srgbClr val="3D3D3D"/>
                </a:solidFill>
                <a:latin typeface="Arial" pitchFamily="34" charset="0"/>
                <a:ea typeface="Arial" pitchFamily="34" charset="-122"/>
                <a:cs typeface="Arial" pitchFamily="34" charset="-120"/>
              </a:rPr>
              <a:t>A scan is not a penetration test, and a penetration test of the perimeter is not an assessment of the CCS. Clients conflate all three.</a:t>
            </a:r>
            <a:endParaRPr lang="en-US" sz="2000" dirty="0"/>
          </a:p>
        </p:txBody>
      </p:sp>
      <p:sp>
        <p:nvSpPr>
          <p:cNvPr id="13" name="Text 11"/>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§6.3 — vulnerability identification activities and penetration testing</a:t>
            </a:r>
            <a:endParaRPr lang="en-US" sz="1300" dirty="0"/>
          </a:p>
        </p:txBody>
      </p:sp>
      <p:sp>
        <p:nvSpPr>
          <p:cNvPr id="14" name="Text 12"/>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67</a:t>
            </a:r>
            <a:endParaRPr lang="en-US" sz="13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SANITISED — AN INTERNET EXCHANGE, 179 ASSETS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the Scope Table Looks Like</a:t>
            </a:r>
            <a:endParaRPr lang="en-US" sz="3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943350"/>
        </p:xfrm>
        <a:graphic>
          <a:graphicData uri="http://schemas.openxmlformats.org/drawingml/2006/table">
            <a:tbl>
              <a:tblPr/>
              <a:tblGrid>
                <a:gridCol w="419100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gridCol w="3524250">
                  <a:extLst>
                    <a:ext uri="{9D8B030D-6E8A-4147-A177-3AD203B41FA5}">
                      <a16:colId xmlns:a16="http://schemas.microsoft.com/office/drawing/2014/main" val="20003"/>
                    </a:ext>
                  </a:extLst>
                </a:gridCol>
              </a:tblGrid>
              <a:tr h="4381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Asset type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Count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Criticality</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Status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381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Router as route server</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4</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B3261E"/>
                          </a:solidFill>
                          <a:latin typeface="Arial" pitchFamily="34" charset="0"/>
                          <a:ea typeface="Arial" pitchFamily="34" charset="-122"/>
                          <a:cs typeface="Arial" pitchFamily="34" charset="-120"/>
                        </a:rPr>
                        <a:t>1</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Scanned · fixing</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1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Network switch</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50</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B3261E"/>
                          </a:solidFill>
                          <a:latin typeface="Arial" pitchFamily="34" charset="0"/>
                          <a:ea typeface="Arial" pitchFamily="34" charset="-122"/>
                          <a:cs typeface="Arial" pitchFamily="34" charset="-120"/>
                        </a:rPr>
                        <a:t>1</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Scanned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1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DNS · AD · RADIUS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5</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Scanned · fixing</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1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ESXi hosting critical apps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2 VM</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Scanned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381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Network management system</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5 VM</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Scanned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1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Firewall</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4</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2</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1E7A46"/>
                          </a:solidFill>
                          <a:latin typeface="Arial" pitchFamily="34" charset="0"/>
                          <a:ea typeface="Arial" pitchFamily="34" charset="-122"/>
                          <a:cs typeface="Arial" pitchFamily="34" charset="-120"/>
                        </a:rPr>
                        <a:t>Scanned · fixed · validated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381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VDI infrastructure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31</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Scanned · fixing</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815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Network-capable endpoints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20</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3</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In discussion</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5" name="Shape 2"/>
          <p:cNvSpPr/>
          <p:nvPr/>
        </p:nvSpPr>
        <p:spPr>
          <a:xfrm>
            <a:off x="533400" y="227647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from a live engagement, Oct 2025  ·  scope per Code of Practice v1.0 §6.3</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68</a:t>
            </a:r>
            <a:endParaRPr lang="en-US" sz="13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THREE COLUMNS, NOT ONE</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Scan. Fix. Validate.</a:t>
            </a:r>
            <a:endParaRPr lang="en-US" sz="3000" dirty="0"/>
          </a:p>
        </p:txBody>
      </p:sp>
      <p:sp>
        <p:nvSpPr>
          <p:cNvPr id="4" name="Shape 2"/>
          <p:cNvSpPr/>
          <p:nvPr/>
        </p:nvSpPr>
        <p:spPr>
          <a:xfrm>
            <a:off x="533400" y="1847850"/>
            <a:ext cx="3568598" cy="28575"/>
          </a:xfrm>
          <a:prstGeom prst="rect">
            <a:avLst/>
          </a:prstGeom>
          <a:solidFill>
            <a:srgbClr val="1A1A1A"/>
          </a:solidFill>
          <a:ln/>
        </p:spPr>
        <p:txBody>
          <a:bodyPr/>
          <a:lstStyle/>
          <a:p>
            <a:endParaRPr lang="en-US"/>
          </a:p>
        </p:txBody>
      </p:sp>
      <p:sp>
        <p:nvSpPr>
          <p:cNvPr id="5" name="Shape 3"/>
          <p:cNvSpPr/>
          <p:nvPr/>
        </p:nvSpPr>
        <p:spPr>
          <a:xfrm>
            <a:off x="533400" y="1876425"/>
            <a:ext cx="3568598" cy="235267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Scan</a:t>
            </a:r>
            <a:endParaRPr lang="en-US" sz="2000" dirty="0"/>
          </a:p>
        </p:txBody>
      </p:sp>
      <p:sp>
        <p:nvSpPr>
          <p:cNvPr id="7" name="Text 5"/>
          <p:cNvSpPr/>
          <p:nvPr/>
        </p:nvSpPr>
        <p:spPr>
          <a:xfrm>
            <a:off x="723900" y="2352675"/>
            <a:ext cx="3187598"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Ours. Dated, tool-named, credentialed where possible.</a:t>
            </a:r>
            <a:endParaRPr lang="en-US" sz="2000" dirty="0"/>
          </a:p>
        </p:txBody>
      </p:sp>
      <p:sp>
        <p:nvSpPr>
          <p:cNvPr id="8" name="Shape 6"/>
          <p:cNvSpPr/>
          <p:nvPr/>
        </p:nvSpPr>
        <p:spPr>
          <a:xfrm>
            <a:off x="4311548" y="1847850"/>
            <a:ext cx="3568598" cy="28575"/>
          </a:xfrm>
          <a:prstGeom prst="rect">
            <a:avLst/>
          </a:prstGeom>
          <a:solidFill>
            <a:srgbClr val="1A1A1A"/>
          </a:solidFill>
          <a:ln/>
        </p:spPr>
        <p:txBody>
          <a:bodyPr/>
          <a:lstStyle/>
          <a:p>
            <a:endParaRPr lang="en-US"/>
          </a:p>
        </p:txBody>
      </p:sp>
      <p:sp>
        <p:nvSpPr>
          <p:cNvPr id="9" name="Shape 7"/>
          <p:cNvSpPr/>
          <p:nvPr/>
        </p:nvSpPr>
        <p:spPr>
          <a:xfrm>
            <a:off x="4311548" y="1876425"/>
            <a:ext cx="3568598" cy="23526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4502048" y="200025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Fix</a:t>
            </a:r>
            <a:endParaRPr lang="en-US" sz="2000" dirty="0"/>
          </a:p>
        </p:txBody>
      </p:sp>
      <p:sp>
        <p:nvSpPr>
          <p:cNvPr id="11" name="Text 9"/>
          <p:cNvSpPr/>
          <p:nvPr/>
        </p:nvSpPr>
        <p:spPr>
          <a:xfrm>
            <a:off x="4502048" y="2352675"/>
            <a:ext cx="3187598"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Theirs. With an owner and a date, or it does not happen.</a:t>
            </a:r>
            <a:endParaRPr lang="en-US" sz="2000" dirty="0"/>
          </a:p>
        </p:txBody>
      </p:sp>
      <p:sp>
        <p:nvSpPr>
          <p:cNvPr id="12" name="Shape 10"/>
          <p:cNvSpPr/>
          <p:nvPr/>
        </p:nvSpPr>
        <p:spPr>
          <a:xfrm>
            <a:off x="8089697" y="1847850"/>
            <a:ext cx="3568598" cy="28575"/>
          </a:xfrm>
          <a:prstGeom prst="rect">
            <a:avLst/>
          </a:prstGeom>
          <a:solidFill>
            <a:srgbClr val="D04A02"/>
          </a:solidFill>
          <a:ln/>
        </p:spPr>
        <p:txBody>
          <a:bodyPr/>
          <a:lstStyle/>
          <a:p>
            <a:endParaRPr lang="en-US"/>
          </a:p>
        </p:txBody>
      </p:sp>
      <p:sp>
        <p:nvSpPr>
          <p:cNvPr id="13" name="Shape 11"/>
          <p:cNvSpPr/>
          <p:nvPr/>
        </p:nvSpPr>
        <p:spPr>
          <a:xfrm>
            <a:off x="8089697" y="1876425"/>
            <a:ext cx="3568598" cy="2352675"/>
          </a:xfrm>
          <a:prstGeom prst="rect">
            <a:avLst/>
          </a:prstGeom>
          <a:solidFill>
            <a:srgbClr val="FDF0E6"/>
          </a:solidFill>
          <a:ln w="6350">
            <a:solidFill>
              <a:srgbClr val="FDF0E6"/>
            </a:solidFill>
            <a:prstDash val="solid"/>
          </a:ln>
        </p:spPr>
        <p:txBody>
          <a:bodyPr/>
          <a:lstStyle/>
          <a:p>
            <a:endParaRPr lang="en-US"/>
          </a:p>
        </p:txBody>
      </p:sp>
      <p:sp>
        <p:nvSpPr>
          <p:cNvPr id="14" name="Text 12"/>
          <p:cNvSpPr/>
          <p:nvPr/>
        </p:nvSpPr>
        <p:spPr>
          <a:xfrm>
            <a:off x="8280197" y="2000250"/>
            <a:ext cx="3187598"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Validate</a:t>
            </a:r>
            <a:endParaRPr lang="en-US" sz="2000" dirty="0"/>
          </a:p>
        </p:txBody>
      </p:sp>
      <p:sp>
        <p:nvSpPr>
          <p:cNvPr id="15" name="Text 13"/>
          <p:cNvSpPr/>
          <p:nvPr/>
        </p:nvSpPr>
        <p:spPr>
          <a:xfrm>
            <a:off x="8280197" y="2352675"/>
            <a:ext cx="3187598" cy="18002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Ours again. A finding is not closed because somebody said so.</a:t>
            </a:r>
            <a:endParaRPr lang="en-US" sz="2000" dirty="0"/>
          </a:p>
        </p:txBody>
      </p:sp>
      <p:sp>
        <p:nvSpPr>
          <p:cNvPr id="16" name="Shape 14"/>
          <p:cNvSpPr/>
          <p:nvPr/>
        </p:nvSpPr>
        <p:spPr>
          <a:xfrm>
            <a:off x="533400" y="4457700"/>
            <a:ext cx="11124895" cy="28575"/>
          </a:xfrm>
          <a:prstGeom prst="rect">
            <a:avLst/>
          </a:prstGeom>
          <a:solidFill>
            <a:srgbClr val="1A1A1A"/>
          </a:solidFill>
          <a:ln/>
        </p:spPr>
        <p:txBody>
          <a:bodyPr/>
          <a:lstStyle/>
          <a:p>
            <a:endParaRPr lang="en-US"/>
          </a:p>
        </p:txBody>
      </p:sp>
      <p:sp>
        <p:nvSpPr>
          <p:cNvPr id="17" name="Shape 15"/>
          <p:cNvSpPr/>
          <p:nvPr/>
        </p:nvSpPr>
        <p:spPr>
          <a:xfrm>
            <a:off x="533400" y="4486275"/>
            <a:ext cx="11124895" cy="1400175"/>
          </a:xfrm>
          <a:prstGeom prst="rect">
            <a:avLst/>
          </a:prstGeom>
          <a:solidFill>
            <a:srgbClr val="F2F2F2"/>
          </a:solidFill>
          <a:ln w="6350">
            <a:solidFill>
              <a:srgbClr val="F2F2F2"/>
            </a:solidFill>
            <a:prstDash val="solid"/>
          </a:ln>
        </p:spPr>
        <p:txBody>
          <a:bodyPr/>
          <a:lstStyle/>
          <a:p>
            <a:endParaRPr lang="en-US"/>
          </a:p>
        </p:txBody>
      </p:sp>
      <p:sp>
        <p:nvSpPr>
          <p:cNvPr id="18" name="Text 16"/>
          <p:cNvSpPr/>
          <p:nvPr/>
        </p:nvSpPr>
        <p:spPr>
          <a:xfrm>
            <a:off x="723900" y="461010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In the engagement above, only one asset class had all three columns green.</a:t>
            </a:r>
            <a:endParaRPr lang="en-US" sz="2000" dirty="0"/>
          </a:p>
        </p:txBody>
      </p:sp>
      <p:sp>
        <p:nvSpPr>
          <p:cNvPr id="19" name="Text 17"/>
          <p:cNvSpPr/>
          <p:nvPr/>
        </p:nvSpPr>
        <p:spPr>
          <a:xfrm>
            <a:off x="723900" y="4962525"/>
            <a:ext cx="10743895" cy="847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Nine months after the first scan. That is the honest pace of remediation on a live network.</a:t>
            </a:r>
            <a:endParaRPr lang="en-US" sz="2000" dirty="0"/>
          </a:p>
        </p:txBody>
      </p:sp>
      <p:sp>
        <p:nvSpPr>
          <p:cNvPr id="20" name="Text 18"/>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engagement status, Oct 2025</a:t>
            </a:r>
            <a:endParaRPr lang="en-US" sz="1300" dirty="0"/>
          </a:p>
        </p:txBody>
      </p:sp>
      <p:sp>
        <p:nvSpPr>
          <p:cNvPr id="21" name="Text 19"/>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69</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ONE SCAN CYCLE, 179 ASSETS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Comes Back</a:t>
            </a:r>
            <a:endParaRPr lang="en-US" sz="30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657600"/>
        </p:xfrm>
        <a:graphic>
          <a:graphicData uri="http://schemas.openxmlformats.org/drawingml/2006/table">
            <a:tbl>
              <a:tblPr/>
              <a:tblGrid>
                <a:gridCol w="400050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1428750">
                  <a:extLst>
                    <a:ext uri="{9D8B030D-6E8A-4147-A177-3AD203B41FA5}">
                      <a16:colId xmlns:a16="http://schemas.microsoft.com/office/drawing/2014/main" val="20002"/>
                    </a:ext>
                  </a:extLst>
                </a:gridCol>
                <a:gridCol w="1428750">
                  <a:extLst>
                    <a:ext uri="{9D8B030D-6E8A-4147-A177-3AD203B41FA5}">
                      <a16:colId xmlns:a16="http://schemas.microsoft.com/office/drawing/2014/main" val="20003"/>
                    </a:ext>
                  </a:extLst>
                </a:gridCol>
                <a:gridCol w="1428750">
                  <a:extLst>
                    <a:ext uri="{9D8B030D-6E8A-4147-A177-3AD203B41FA5}">
                      <a16:colId xmlns:a16="http://schemas.microsoft.com/office/drawing/2014/main" val="20004"/>
                    </a:ext>
                  </a:extLst>
                </a:gridCol>
                <a:gridCol w="1333500">
                  <a:extLst>
                    <a:ext uri="{9D8B030D-6E8A-4147-A177-3AD203B41FA5}">
                      <a16:colId xmlns:a16="http://schemas.microsoft.com/office/drawing/2014/main" val="20005"/>
                    </a:ext>
                  </a:extLst>
                </a:gridCol>
              </a:tblGrid>
              <a:tr h="4572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Vulnerability family</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Critical</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Medium</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Low</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Total</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572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Windows / Microsoft</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B3261E"/>
                          </a:solidFill>
                          <a:latin typeface="Arial" pitchFamily="34" charset="0"/>
                          <a:ea typeface="Arial" pitchFamily="34" charset="-122"/>
                          <a:cs typeface="Arial" pitchFamily="34" charset="-120"/>
                        </a:rPr>
                        <a:t>250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689</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98</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1,037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RHEL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B3261E"/>
                          </a:solidFill>
                          <a:latin typeface="Arial" pitchFamily="34" charset="0"/>
                          <a:ea typeface="Arial" pitchFamily="34" charset="-122"/>
                          <a:cs typeface="Arial" pitchFamily="34" charset="-120"/>
                        </a:rPr>
                        <a:t>91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310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95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511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OpenSSH / SSH</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93</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SSL / TLS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37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Cisco</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24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39</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VMware · Apache · other</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21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85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57200">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Total</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347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1,036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342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82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b="1" dirty="0">
                          <a:solidFill>
                            <a:srgbClr val="3D3D3D"/>
                          </a:solidFill>
                          <a:latin typeface="Arial" pitchFamily="34" charset="0"/>
                          <a:ea typeface="Arial" pitchFamily="34" charset="-122"/>
                          <a:cs typeface="Arial" pitchFamily="34" charset="-120"/>
                        </a:rPr>
                        <a:t>1,807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Shape 2"/>
          <p:cNvSpPr/>
          <p:nvPr/>
        </p:nvSpPr>
        <p:spPr>
          <a:xfrm>
            <a:off x="533400" y="229552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engagement, scan of 18 Oct 2025  ·  scope per Code of Practice v1.0 §6.3</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70</a:t>
            </a:r>
            <a:endParaRPr lang="en-US" sz="13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THE DISTRIBUTION IS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Number Is Not the Finding</a:t>
            </a:r>
            <a:endParaRPr lang="en-US" sz="3000" dirty="0"/>
          </a:p>
        </p:txBody>
      </p:sp>
      <p:graphicFrame>
        <p:nvGraphicFramePr>
          <p:cNvPr id="72" name="Table 0"/>
          <p:cNvGraphicFramePr>
            <a:graphicFrameLocks noGrp="1"/>
          </p:cNvGraphicFramePr>
          <p:nvPr>
            <p:extLst>
              <p:ext uri="{D42A27DB-BD31-4B8C-83A1-F6EECF244321}">
                <p14:modId xmlns:p14="http://schemas.microsoft.com/office/powerpoint/2010/main" val="489497052"/>
              </p:ext>
            </p:extLst>
          </p:nvPr>
        </p:nvGraphicFramePr>
        <p:xfrm>
          <a:off x="533400" y="1847850"/>
          <a:ext cx="11124895" cy="2667000"/>
        </p:xfrm>
        <a:graphic>
          <a:graphicData uri="http://schemas.openxmlformats.org/drawingml/2006/table">
            <a:tbl>
              <a:tblPr/>
              <a:tblGrid>
                <a:gridCol w="2865503">
                  <a:extLst>
                    <a:ext uri="{9D8B030D-6E8A-4147-A177-3AD203B41FA5}">
                      <a16:colId xmlns:a16="http://schemas.microsoft.com/office/drawing/2014/main" val="20000"/>
                    </a:ext>
                  </a:extLst>
                </a:gridCol>
                <a:gridCol w="3371180">
                  <a:extLst>
                    <a:ext uri="{9D8B030D-6E8A-4147-A177-3AD203B41FA5}">
                      <a16:colId xmlns:a16="http://schemas.microsoft.com/office/drawing/2014/main" val="20001"/>
                    </a:ext>
                  </a:extLst>
                </a:gridCol>
                <a:gridCol w="1601311">
                  <a:extLst>
                    <a:ext uri="{9D8B030D-6E8A-4147-A177-3AD203B41FA5}">
                      <a16:colId xmlns:a16="http://schemas.microsoft.com/office/drawing/2014/main" val="20002"/>
                    </a:ext>
                  </a:extLst>
                </a:gridCol>
                <a:gridCol w="1601311">
                  <a:extLst>
                    <a:ext uri="{9D8B030D-6E8A-4147-A177-3AD203B41FA5}">
                      <a16:colId xmlns:a16="http://schemas.microsoft.com/office/drawing/2014/main" val="20003"/>
                    </a:ext>
                  </a:extLst>
                </a:gridCol>
                <a:gridCol w="1685590">
                  <a:extLst>
                    <a:ext uri="{9D8B030D-6E8A-4147-A177-3AD203B41FA5}">
                      <a16:colId xmlns:a16="http://schemas.microsoft.com/office/drawing/2014/main" val="20004"/>
                    </a:ext>
                  </a:extLst>
                </a:gridCol>
              </a:tblGrid>
              <a:tr h="5334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Host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System</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Critical</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High</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Total</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334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srv-ad-01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Active Directory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467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930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1,466</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34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srv-ad-02</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Active Directory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467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928</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1,464</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34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srv-auth-legacy</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RADIUS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441</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527</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1,345</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3400">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Ten further hosts</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Portals, DNS, syslog, RPKI</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~180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~290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2000" dirty="0">
                          <a:solidFill>
                            <a:srgbClr val="3D3D3D"/>
                          </a:solidFill>
                          <a:latin typeface="Arial" pitchFamily="34" charset="0"/>
                          <a:ea typeface="Arial" pitchFamily="34" charset="-122"/>
                          <a:cs typeface="Arial" pitchFamily="34" charset="-120"/>
                        </a:rPr>
                        <a:t>~700</a:t>
                      </a:r>
                      <a:endParaRPr lang="en-US" sz="20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hape 2"/>
          <p:cNvSpPr/>
          <p:nvPr/>
        </p:nvSpPr>
        <p:spPr>
          <a:xfrm>
            <a:off x="533400" y="2371725"/>
            <a:ext cx="11124895" cy="19050"/>
          </a:xfrm>
          <a:prstGeom prst="rect">
            <a:avLst/>
          </a:prstGeom>
          <a:solidFill>
            <a:srgbClr val="1A1A1A"/>
          </a:solidFill>
          <a:ln/>
        </p:spPr>
        <p:txBody>
          <a:bodyPr/>
          <a:lstStyle/>
          <a:p>
            <a:endParaRPr lang="en-US"/>
          </a:p>
        </p:txBody>
      </p:sp>
      <p:sp>
        <p:nvSpPr>
          <p:cNvPr id="6" name="Shape 3"/>
          <p:cNvSpPr/>
          <p:nvPr/>
        </p:nvSpPr>
        <p:spPr>
          <a:xfrm>
            <a:off x="533400" y="4667250"/>
            <a:ext cx="11124895" cy="28575"/>
          </a:xfrm>
          <a:prstGeom prst="rect">
            <a:avLst/>
          </a:prstGeom>
          <a:solidFill>
            <a:srgbClr val="D04A02"/>
          </a:solidFill>
          <a:ln/>
        </p:spPr>
        <p:txBody>
          <a:bodyPr/>
          <a:lstStyle/>
          <a:p>
            <a:endParaRPr lang="en-US"/>
          </a:p>
        </p:txBody>
      </p:sp>
      <p:sp>
        <p:nvSpPr>
          <p:cNvPr id="7" name="Shape 4"/>
          <p:cNvSpPr/>
          <p:nvPr/>
        </p:nvSpPr>
        <p:spPr>
          <a:xfrm>
            <a:off x="533400" y="4695825"/>
            <a:ext cx="11124895" cy="1400175"/>
          </a:xfrm>
          <a:prstGeom prst="rect">
            <a:avLst/>
          </a:prstGeom>
          <a:solidFill>
            <a:srgbClr val="FDF0E6"/>
          </a:solidFill>
          <a:ln w="6350">
            <a:solidFill>
              <a:srgbClr val="FDF0E6"/>
            </a:solidFill>
            <a:prstDash val="solid"/>
          </a:ln>
        </p:spPr>
        <p:txBody>
          <a:bodyPr/>
          <a:lstStyle/>
          <a:p>
            <a:endParaRPr lang="en-US"/>
          </a:p>
        </p:txBody>
      </p:sp>
      <p:sp>
        <p:nvSpPr>
          <p:cNvPr id="8" name="Text 5"/>
          <p:cNvSpPr/>
          <p:nvPr/>
        </p:nvSpPr>
        <p:spPr>
          <a:xfrm>
            <a:off x="723900" y="48196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Three hosts carry roughly 75% of everything found.</a:t>
            </a:r>
            <a:endParaRPr lang="en-US" sz="2000" dirty="0"/>
          </a:p>
        </p:txBody>
      </p:sp>
      <p:sp>
        <p:nvSpPr>
          <p:cNvPr id="9" name="Text 6"/>
          <p:cNvSpPr/>
          <p:nvPr/>
        </p:nvSpPr>
        <p:spPr>
          <a:xfrm>
            <a:off x="723900" y="5172075"/>
            <a:ext cx="10743895" cy="847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A board sees 1,807 and panics. An auditor sees a patching process that stopped running.</a:t>
            </a:r>
            <a:endParaRPr lang="en-US" sz="2000" dirty="0"/>
          </a:p>
        </p:txBody>
      </p:sp>
      <p:sp>
        <p:nvSpPr>
          <p:cNvPr id="10" name="Text 7"/>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engagement, Oct 2025</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71</a:t>
            </a:r>
            <a:endParaRPr lang="en-US" sz="13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THREE FINDINGS, NOT 347</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the Criticals Actually Were</a:t>
            </a:r>
            <a:endParaRPr lang="en-US" sz="3000" dirty="0"/>
          </a:p>
        </p:txBody>
      </p:sp>
      <p:sp>
        <p:nvSpPr>
          <p:cNvPr id="4" name="Shape 2"/>
          <p:cNvSpPr/>
          <p:nvPr/>
        </p:nvSpPr>
        <p:spPr>
          <a:xfrm>
            <a:off x="533400" y="1847850"/>
            <a:ext cx="3568598" cy="28575"/>
          </a:xfrm>
          <a:prstGeom prst="rect">
            <a:avLst/>
          </a:prstGeom>
          <a:solidFill>
            <a:srgbClr val="D04A02"/>
          </a:solidFill>
          <a:ln/>
        </p:spPr>
        <p:txBody>
          <a:bodyPr/>
          <a:lstStyle/>
          <a:p>
            <a:endParaRPr lang="en-US"/>
          </a:p>
        </p:txBody>
      </p:sp>
      <p:sp>
        <p:nvSpPr>
          <p:cNvPr id="5" name="Shape 3"/>
          <p:cNvSpPr/>
          <p:nvPr/>
        </p:nvSpPr>
        <p:spPr>
          <a:xfrm>
            <a:off x="533400" y="1876425"/>
            <a:ext cx="3568598" cy="359092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3187598"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An end-of-life auth server</a:t>
            </a:r>
            <a:endParaRPr lang="en-US" sz="2000" dirty="0"/>
          </a:p>
        </p:txBody>
      </p:sp>
      <p:sp>
        <p:nvSpPr>
          <p:cNvPr id="7" name="Text 5"/>
          <p:cNvSpPr/>
          <p:nvPr/>
        </p:nvSpPr>
        <p:spPr>
          <a:xfrm>
            <a:off x="723900" y="2609850"/>
            <a:ext cx="3187598" cy="27813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RHEL 6. No vendor support, no patches. 1,345 findings on one box.</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A replacement was already being built. The finding is the delay.</a:t>
            </a:r>
            <a:endParaRPr lang="en-US" sz="2000" dirty="0"/>
          </a:p>
        </p:txBody>
      </p:sp>
      <p:sp>
        <p:nvSpPr>
          <p:cNvPr id="8" name="Shape 6"/>
          <p:cNvSpPr/>
          <p:nvPr/>
        </p:nvSpPr>
        <p:spPr>
          <a:xfrm>
            <a:off x="4311548" y="1847850"/>
            <a:ext cx="3568598" cy="28575"/>
          </a:xfrm>
          <a:prstGeom prst="rect">
            <a:avLst/>
          </a:prstGeom>
          <a:solidFill>
            <a:srgbClr val="1A1A1A"/>
          </a:solidFill>
          <a:ln/>
        </p:spPr>
        <p:txBody>
          <a:bodyPr/>
          <a:lstStyle/>
          <a:p>
            <a:endParaRPr lang="en-US"/>
          </a:p>
        </p:txBody>
      </p:sp>
      <p:sp>
        <p:nvSpPr>
          <p:cNvPr id="9" name="Shape 7"/>
          <p:cNvSpPr/>
          <p:nvPr/>
        </p:nvSpPr>
        <p:spPr>
          <a:xfrm>
            <a:off x="4311548" y="1876425"/>
            <a:ext cx="3568598" cy="359092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4502048" y="2000250"/>
            <a:ext cx="3187598"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Domain controllers behind</a:t>
            </a:r>
            <a:endParaRPr lang="en-US" sz="2000" dirty="0"/>
          </a:p>
        </p:txBody>
      </p:sp>
      <p:sp>
        <p:nvSpPr>
          <p:cNvPr id="11" name="Text 9"/>
          <p:cNvSpPr/>
          <p:nvPr/>
        </p:nvSpPr>
        <p:spPr>
          <a:xfrm>
            <a:off x="4502048" y="2609850"/>
            <a:ext cx="3187598" cy="27813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Security updates from 2021–2023 unapplied, including on a browser on every domain-joined machine.</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Nobody owned it.</a:t>
            </a:r>
            <a:endParaRPr lang="en-US" sz="2000" dirty="0"/>
          </a:p>
        </p:txBody>
      </p:sp>
      <p:sp>
        <p:nvSpPr>
          <p:cNvPr id="12" name="Shape 10"/>
          <p:cNvSpPr/>
          <p:nvPr/>
        </p:nvSpPr>
        <p:spPr>
          <a:xfrm>
            <a:off x="8089697" y="1847850"/>
            <a:ext cx="3568598" cy="28575"/>
          </a:xfrm>
          <a:prstGeom prst="rect">
            <a:avLst/>
          </a:prstGeom>
          <a:solidFill>
            <a:srgbClr val="1A1A1A"/>
          </a:solidFill>
          <a:ln/>
        </p:spPr>
        <p:txBody>
          <a:bodyPr/>
          <a:lstStyle/>
          <a:p>
            <a:endParaRPr lang="en-US"/>
          </a:p>
        </p:txBody>
      </p:sp>
      <p:sp>
        <p:nvSpPr>
          <p:cNvPr id="13" name="Shape 11"/>
          <p:cNvSpPr/>
          <p:nvPr/>
        </p:nvSpPr>
        <p:spPr>
          <a:xfrm>
            <a:off x="8089697" y="1876425"/>
            <a:ext cx="3568598" cy="359092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8280197" y="2000250"/>
            <a:ext cx="3187598"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Ten hosts, the same CVEs</a:t>
            </a:r>
            <a:endParaRPr lang="en-US" sz="2000" dirty="0"/>
          </a:p>
        </p:txBody>
      </p:sp>
      <p:sp>
        <p:nvSpPr>
          <p:cNvPr id="15" name="Text 13"/>
          <p:cNvSpPr/>
          <p:nvPr/>
        </p:nvSpPr>
        <p:spPr>
          <a:xfrm>
            <a:off x="8280197" y="2609850"/>
            <a:ext cx="3187598" cy="278130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Identical missing updates across the estate.</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That is not ten problems. It is one process that is not running.</a:t>
            </a:r>
            <a:endParaRPr lang="en-US" sz="2000" dirty="0"/>
          </a:p>
        </p:txBody>
      </p:sp>
      <p:sp>
        <p:nvSpPr>
          <p:cNvPr id="16" name="Text 14"/>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engagement findings, Oct 2025  ·  CVE detail withheld</a:t>
            </a:r>
            <a:endParaRPr lang="en-US" sz="1300" dirty="0"/>
          </a:p>
        </p:txBody>
      </p:sp>
      <p:sp>
        <p:nvSpPr>
          <p:cNvPr id="17" name="Text 15"/>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72</a:t>
            </a:r>
            <a:endParaRPr lang="en-US" sz="13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CREDENTIALED AND MANUAL CONFIGURATION REVIEW</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What a Scanner Cannot Find</a:t>
            </a:r>
            <a:endParaRPr lang="en-US" sz="30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4000500"/>
        </p:xfrm>
        <a:graphic>
          <a:graphicData uri="http://schemas.openxmlformats.org/drawingml/2006/table">
            <a:tbl>
              <a:tblPr/>
              <a:tblGrid>
                <a:gridCol w="3810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2857500">
                  <a:extLst>
                    <a:ext uri="{9D8B030D-6E8A-4147-A177-3AD203B41FA5}">
                      <a16:colId xmlns:a16="http://schemas.microsoft.com/office/drawing/2014/main" val="20003"/>
                    </a:ext>
                  </a:extLst>
                </a:gridCol>
              </a:tblGrid>
              <a:tr h="57150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Issue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Impact</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Priority</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Outcome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150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HA monitor interface wrong</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Failover may fail</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B3261E"/>
                          </a:solidFill>
                          <a:latin typeface="Arial" pitchFamily="34" charset="0"/>
                          <a:ea typeface="Arial" pitchFamily="34" charset="-122"/>
                          <a:cs typeface="Arial" pitchFamily="34" charset="-120"/>
                        </a:rPr>
                        <a:t>High</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E7A46"/>
                          </a:solidFill>
                          <a:latin typeface="Arial" pitchFamily="34" charset="0"/>
                          <a:ea typeface="Arial" pitchFamily="34" charset="-122"/>
                          <a:cs typeface="Arial" pitchFamily="34" charset="-120"/>
                        </a:rPr>
                        <a:t>Remediated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150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No zone protection profile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Recon and evasion</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Medium</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E7A46"/>
                          </a:solidFill>
                          <a:latin typeface="Arial" pitchFamily="34" charset="0"/>
                          <a:ea typeface="Arial" pitchFamily="34" charset="-122"/>
                          <a:cs typeface="Arial" pitchFamily="34" charset="-120"/>
                        </a:rPr>
                        <a:t>Remediated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150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AAA accounting off</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No audit trail</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Medium</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1E7A46"/>
                          </a:solidFill>
                          <a:latin typeface="Arial" pitchFamily="34" charset="0"/>
                          <a:ea typeface="Arial" pitchFamily="34" charset="-122"/>
                          <a:cs typeface="Arial" pitchFamily="34" charset="-120"/>
                        </a:rPr>
                        <a:t>Remediated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150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SNMPv2 in use</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No encryption</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Low</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D04A02"/>
                          </a:solidFill>
                          <a:latin typeface="Arial" pitchFamily="34" charset="0"/>
                          <a:ea typeface="Arial" pitchFamily="34" charset="-122"/>
                          <a:cs typeface="Arial" pitchFamily="34" charset="-120"/>
                        </a:rPr>
                        <a:t>Mitigating control</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7150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NTP without authentication</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Time spoofing</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Low</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D04A02"/>
                          </a:solidFill>
                          <a:latin typeface="Arial" pitchFamily="34" charset="0"/>
                          <a:ea typeface="Arial" pitchFamily="34" charset="-122"/>
                          <a:cs typeface="Arial" pitchFamily="34" charset="-120"/>
                        </a:rPr>
                        <a:t>In progress</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71500">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Password recovery on</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Physical reset</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D3D3D"/>
                          </a:solidFill>
                          <a:latin typeface="Arial" pitchFamily="34" charset="0"/>
                          <a:ea typeface="Arial" pitchFamily="34" charset="-122"/>
                          <a:cs typeface="Arial" pitchFamily="34" charset="-120"/>
                        </a:rPr>
                        <a:t>Info</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800" dirty="0">
                          <a:solidFill>
                            <a:srgbClr val="7A7A7A"/>
                          </a:solidFill>
                          <a:latin typeface="Arial" pitchFamily="34" charset="0"/>
                          <a:ea typeface="Arial" pitchFamily="34" charset="-122"/>
                          <a:cs typeface="Arial" pitchFamily="34" charset="-120"/>
                        </a:rPr>
                        <a:t>Risk accepted</a:t>
                      </a:r>
                      <a:endParaRPr lang="en-US" sz="18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5" name="Shape 2"/>
          <p:cNvSpPr/>
          <p:nvPr/>
        </p:nvSpPr>
        <p:spPr>
          <a:xfrm>
            <a:off x="533400" y="2409825"/>
            <a:ext cx="11124895" cy="19050"/>
          </a:xfrm>
          <a:prstGeom prst="rect">
            <a:avLst/>
          </a:prstGeom>
          <a:solidFill>
            <a:srgbClr val="1A1A1A"/>
          </a:solidFill>
          <a:ln/>
        </p:spPr>
        <p:txBody>
          <a:bodyPr/>
          <a:lstStyle/>
          <a:p>
            <a:endParaRPr lang="en-US"/>
          </a:p>
        </p:txBody>
      </p:sp>
      <p:sp>
        <p:nvSpPr>
          <p:cNvPr id="6"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firewall and network configuration review, Sep 2025  ·  method per Code of Practice v1.0 §6.3</a:t>
            </a:r>
            <a:endParaRPr lang="en-US" sz="1300" dirty="0"/>
          </a:p>
        </p:txBody>
      </p:sp>
      <p:sp>
        <p:nvSpPr>
          <p:cNvPr id="7"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73</a:t>
            </a:r>
            <a:endParaRPr lang="en-US" sz="13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IF — AND ONLY IF — IT WENT THROUGH THE PROCESS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“Risk Accepted” Is a Real Answer</a:t>
            </a:r>
            <a:endParaRPr lang="en-US" sz="3000" dirty="0"/>
          </a:p>
        </p:txBody>
      </p:sp>
      <p:sp>
        <p:nvSpPr>
          <p:cNvPr id="4" name="Shape 2"/>
          <p:cNvSpPr/>
          <p:nvPr/>
        </p:nvSpPr>
        <p:spPr>
          <a:xfrm>
            <a:off x="533400" y="1847850"/>
            <a:ext cx="5457673" cy="28575"/>
          </a:xfrm>
          <a:prstGeom prst="rect">
            <a:avLst/>
          </a:prstGeom>
          <a:solidFill>
            <a:srgbClr val="1A1A1A"/>
          </a:solidFill>
          <a:ln/>
        </p:spPr>
        <p:txBody>
          <a:bodyPr/>
          <a:lstStyle/>
          <a:p>
            <a:endParaRPr lang="en-US"/>
          </a:p>
        </p:txBody>
      </p:sp>
      <p:sp>
        <p:nvSpPr>
          <p:cNvPr id="5" name="Shape 3"/>
          <p:cNvSpPr/>
          <p:nvPr/>
        </p:nvSpPr>
        <p:spPr>
          <a:xfrm>
            <a:off x="533400" y="1876425"/>
            <a:ext cx="5457673" cy="149542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the client said</a:t>
            </a:r>
            <a:endParaRPr lang="en-US" sz="2000" dirty="0"/>
          </a:p>
        </p:txBody>
      </p:sp>
      <p:sp>
        <p:nvSpPr>
          <p:cNvPr id="7" name="Text 5"/>
          <p:cNvSpPr/>
          <p:nvPr/>
        </p:nvSpPr>
        <p:spPr>
          <a:xfrm>
            <a:off x="723900" y="2352675"/>
            <a:ext cx="5076673" cy="9429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Password recovery stays on. The devices sit in a locked cage.</a:t>
            </a:r>
            <a:endParaRPr lang="en-US" sz="2000" dirty="0"/>
          </a:p>
        </p:txBody>
      </p:sp>
      <p:sp>
        <p:nvSpPr>
          <p:cNvPr id="8" name="Shape 6"/>
          <p:cNvSpPr/>
          <p:nvPr/>
        </p:nvSpPr>
        <p:spPr>
          <a:xfrm>
            <a:off x="6200623" y="1847850"/>
            <a:ext cx="5457673" cy="28575"/>
          </a:xfrm>
          <a:prstGeom prst="rect">
            <a:avLst/>
          </a:prstGeom>
          <a:solidFill>
            <a:srgbClr val="D04A02"/>
          </a:solidFill>
          <a:ln/>
        </p:spPr>
        <p:txBody>
          <a:bodyPr/>
          <a:lstStyle/>
          <a:p>
            <a:endParaRPr lang="en-US"/>
          </a:p>
        </p:txBody>
      </p:sp>
      <p:sp>
        <p:nvSpPr>
          <p:cNvPr id="9" name="Shape 7"/>
          <p:cNvSpPr/>
          <p:nvPr/>
        </p:nvSpPr>
        <p:spPr>
          <a:xfrm>
            <a:off x="6200623" y="1876425"/>
            <a:ext cx="5457673" cy="1495425"/>
          </a:xfrm>
          <a:prstGeom prst="rect">
            <a:avLst/>
          </a:prstGeom>
          <a:solidFill>
            <a:srgbClr val="FDF0E6"/>
          </a:solidFill>
          <a:ln w="6350">
            <a:solidFill>
              <a:srgbClr val="FDF0E6"/>
            </a:solidFill>
            <a:prstDash val="solid"/>
          </a:ln>
        </p:spPr>
        <p:txBody>
          <a:bodyPr/>
          <a:lstStyle/>
          <a:p>
            <a:endParaRPr lang="en-US"/>
          </a:p>
        </p:txBody>
      </p:sp>
      <p:sp>
        <p:nvSpPr>
          <p:cNvPr id="10" name="Text 8"/>
          <p:cNvSpPr/>
          <p:nvPr/>
        </p:nvSpPr>
        <p:spPr>
          <a:xfrm>
            <a:off x="6391123"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What the auditor must do</a:t>
            </a:r>
            <a:endParaRPr lang="en-US" sz="2000" dirty="0"/>
          </a:p>
        </p:txBody>
      </p:sp>
      <p:sp>
        <p:nvSpPr>
          <p:cNvPr id="11" name="Text 9"/>
          <p:cNvSpPr/>
          <p:nvPr/>
        </p:nvSpPr>
        <p:spPr>
          <a:xfrm>
            <a:off x="6391123" y="2352675"/>
            <a:ext cx="5076673" cy="9429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Test the cage exists — then that the acceptance ran the risk process.</a:t>
            </a:r>
            <a:endParaRPr lang="en-US" sz="20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33400" y="3600450"/>
          <a:ext cx="11049000" cy="2190750"/>
        </p:xfrm>
        <a:graphic>
          <a:graphicData uri="http://schemas.openxmlformats.org/drawingml/2006/table">
            <a:tbl>
              <a:tblPr/>
              <a:tblGrid>
                <a:gridCol w="895350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tblGrid>
              <a:tr h="438150">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To stand up, the acceptance needs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4381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To have run through the risk process in the security management plan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§6.2.7</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1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A named owner, at a level entitled to accept it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§6.2.7</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381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A description of how the compensating control mitigates the risk</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§6.2.4</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15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A review date — acceptance is not closure, and it is not permanent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§6.2.7</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3" name="Shape 10"/>
          <p:cNvSpPr/>
          <p:nvPr/>
        </p:nvSpPr>
        <p:spPr>
          <a:xfrm>
            <a:off x="533400" y="4029075"/>
            <a:ext cx="11124895" cy="19050"/>
          </a:xfrm>
          <a:prstGeom prst="rect">
            <a:avLst/>
          </a:prstGeom>
          <a:solidFill>
            <a:srgbClr val="1A1A1A"/>
          </a:solidFill>
          <a:ln/>
        </p:spPr>
        <p:txBody>
          <a:bodyPr/>
          <a:lstStyle/>
          <a:p>
            <a:endParaRPr lang="en-US"/>
          </a:p>
        </p:txBody>
      </p:sp>
      <p:sp>
        <p:nvSpPr>
          <p:cNvPr id="14" name="Text 11"/>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§6.2.4 (alternative controls) and §6.2.7 (risk management approach)  ·  an undocumented acceptance is a finding</a:t>
            </a:r>
            <a:endParaRPr lang="en-US" sz="1300" dirty="0"/>
          </a:p>
        </p:txBody>
      </p:sp>
      <p:sp>
        <p:nvSpPr>
          <p:cNvPr id="15" name="Text 12"/>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74</a:t>
            </a:r>
            <a:endParaRPr lang="en-US" sz="13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CODE OF PRACTICE V1.0 §6.3</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 Report Is Specified</a:t>
            </a:r>
            <a:endParaRPr lang="en-US" sz="3000" dirty="0"/>
          </a:p>
        </p:txBody>
      </p:sp>
      <p:sp>
        <p:nvSpPr>
          <p:cNvPr id="4" name="Text 2"/>
          <p:cNvSpPr/>
          <p:nvPr/>
        </p:nvSpPr>
        <p:spPr>
          <a:xfrm>
            <a:off x="533400" y="1847850"/>
            <a:ext cx="11124895" cy="4286250"/>
          </a:xfrm>
          <a:prstGeom prst="rect">
            <a:avLst/>
          </a:prstGeom>
          <a:noFill/>
          <a:ln/>
        </p:spPr>
        <p:txBody>
          <a:bodyPr wrap="square" rtlCol="0" anchor="t"/>
          <a:lstStyle/>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Executive summary</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Scope and methodology</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Description of the environment, with network diagrams</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Security requirements, and the personnel involved</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Findings, and a risk analysis: assets, threats, vulnerabilities, impact, likelihood, risk level</a:t>
            </a:r>
            <a:endParaRPr lang="en-US" sz="2000" dirty="0"/>
          </a:p>
          <a:p>
            <a:pPr marL="342900" indent="-342900">
              <a:lnSpc>
                <a:spcPct val="140000"/>
              </a:lnSpc>
              <a:spcAft>
                <a:spcPts val="1000"/>
              </a:spcAft>
              <a:buSzPct val="100000"/>
              <a:buChar char="—"/>
            </a:pPr>
            <a:r>
              <a:rPr lang="en-US" sz="2000" b="1" dirty="0">
                <a:solidFill>
                  <a:srgbClr val="3D3D3D"/>
                </a:solidFill>
                <a:latin typeface="Arial" pitchFamily="34" charset="0"/>
                <a:ea typeface="Arial" pitchFamily="34" charset="-122"/>
                <a:cs typeface="Arial" pitchFamily="34" charset="-120"/>
              </a:rPr>
              <a:t>Recommended safeguards, with a cost-benefit analysis</a:t>
            </a:r>
            <a:endParaRPr lang="en-US" sz="2000" dirty="0"/>
          </a:p>
          <a:p>
            <a:pPr marL="342900" indent="-342900">
              <a:lnSpc>
                <a:spcPct val="140000"/>
              </a:lnSpc>
              <a:spcAft>
                <a:spcPts val="1000"/>
              </a:spcAft>
              <a:buSzPct val="100000"/>
              <a:buChar char="—"/>
            </a:pPr>
            <a:r>
              <a:rPr lang="en-US" sz="2000" dirty="0">
                <a:solidFill>
                  <a:srgbClr val="3D3D3D"/>
                </a:solidFill>
                <a:latin typeface="Arial" pitchFamily="34" charset="0"/>
                <a:ea typeface="Arial" pitchFamily="34" charset="-122"/>
                <a:cs typeface="Arial" pitchFamily="34" charset="-120"/>
              </a:rPr>
              <a:t>Annexes: the VA report, the penetration test report, the asset inventory</a:t>
            </a:r>
            <a:endParaRPr lang="en-US" sz="2000" dirty="0"/>
          </a:p>
        </p:txBody>
      </p:sp>
      <p:sp>
        <p:nvSpPr>
          <p:cNvPr id="5"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§6.3 — required contents of the risk assessment report</a:t>
            </a:r>
            <a:endParaRPr lang="en-US" sz="1300" dirty="0"/>
          </a:p>
        </p:txBody>
      </p:sp>
      <p:sp>
        <p:nvSpPr>
          <p:cNvPr id="6"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75</a:t>
            </a:r>
            <a:endParaRPr lang="en-US" sz="13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THE LINE MOST PEOPLE MISS</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Weigh It, Govern It, Evidence It</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77152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CODE OF PRACTICE V1.0 §6.3</a:t>
            </a:r>
            <a:endParaRPr lang="en-US" sz="1600" dirty="0"/>
          </a:p>
        </p:txBody>
      </p:sp>
      <p:sp>
        <p:nvSpPr>
          <p:cNvPr id="7" name="Text 5"/>
          <p:cNvSpPr/>
          <p:nvPr/>
        </p:nvSpPr>
        <p:spPr>
          <a:xfrm>
            <a:off x="723900" y="2276475"/>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Recommended safeguards must come with a cost-benefit analysis.</a:t>
            </a:r>
            <a:endParaRPr lang="en-US" sz="200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33400" y="2838450"/>
          <a:ext cx="11049000" cy="3048000"/>
        </p:xfrm>
        <a:graphic>
          <a:graphicData uri="http://schemas.openxmlformats.org/drawingml/2006/table">
            <a:tbl>
              <a:tblPr/>
              <a:tblGrid>
                <a:gridCol w="2286000">
                  <a:extLst>
                    <a:ext uri="{9D8B030D-6E8A-4147-A177-3AD203B41FA5}">
                      <a16:colId xmlns:a16="http://schemas.microsoft.com/office/drawing/2014/main" val="20000"/>
                    </a:ext>
                  </a:extLst>
                </a:gridCol>
                <a:gridCol w="8763000">
                  <a:extLst>
                    <a:ext uri="{9D8B030D-6E8A-4147-A177-3AD203B41FA5}">
                      <a16:colId xmlns:a16="http://schemas.microsoft.com/office/drawing/2014/main" val="20001"/>
                    </a:ext>
                  </a:extLst>
                </a:gridCol>
              </a:tblGrid>
              <a:tr h="762000">
                <a:tc>
                  <a:txBody>
                    <a:bodyPr/>
                    <a:lstStyle/>
                    <a:p>
                      <a:pPr marL="0" indent="0" algn="l">
                        <a:buNone/>
                      </a:pP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What it actually means</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62000">
                <a:tc>
                  <a:txBody>
                    <a:bodyPr/>
                    <a:lstStyle/>
                    <a:p>
                      <a:pPr marL="0" indent="0" algn="l">
                        <a:buNone/>
                      </a:pPr>
                      <a:r>
                        <a:rPr lang="en-US" sz="1700" b="1" dirty="0">
                          <a:solidFill>
                            <a:srgbClr val="3D3D3D"/>
                          </a:solidFill>
                          <a:latin typeface="Arial" pitchFamily="34" charset="0"/>
                          <a:ea typeface="Arial" pitchFamily="34" charset="-122"/>
                          <a:cs typeface="Arial" pitchFamily="34" charset="-120"/>
                        </a:rPr>
                        <a:t>Weigh it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Not "price it". What the safeguard costs, against the risk it retires. A control costing more than the exposure is a finding of its own.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62000">
                <a:tc>
                  <a:txBody>
                    <a:bodyPr/>
                    <a:lstStyle/>
                    <a:p>
                      <a:pPr marL="0" indent="0" algn="l">
                        <a:buNone/>
                      </a:pPr>
                      <a:r>
                        <a:rPr lang="en-US" sz="1700" b="1" dirty="0">
                          <a:solidFill>
                            <a:srgbClr val="3D3D3D"/>
                          </a:solidFill>
                          <a:latin typeface="Arial" pitchFamily="34" charset="0"/>
                          <a:ea typeface="Arial" pitchFamily="34" charset="-122"/>
                          <a:cs typeface="Arial" pitchFamily="34" charset="-120"/>
                        </a:rPr>
                        <a:t>Govern it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The weighing happens somewhere with a name — the risk process, a committee, a decision with an owner and a date.</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62000">
                <a:tc>
                  <a:txBody>
                    <a:bodyPr/>
                    <a:lstStyle/>
                    <a:p>
                      <a:pPr marL="0" indent="0" algn="l">
                        <a:buNone/>
                      </a:pPr>
                      <a:r>
                        <a:rPr lang="en-US" sz="1700" b="1" dirty="0">
                          <a:solidFill>
                            <a:srgbClr val="3D3D3D"/>
                          </a:solidFill>
                          <a:latin typeface="Arial" pitchFamily="34" charset="0"/>
                          <a:ea typeface="Arial" pitchFamily="34" charset="-122"/>
                          <a:cs typeface="Arial" pitchFamily="34" charset="-120"/>
                        </a:rPr>
                        <a:t>Evidence it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At the audit you will be asked to show it happened. A decision nobody recorded did not happen.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Shape 6"/>
          <p:cNvSpPr/>
          <p:nvPr/>
        </p:nvSpPr>
        <p:spPr>
          <a:xfrm>
            <a:off x="533400" y="3590925"/>
            <a:ext cx="11124895" cy="19050"/>
          </a:xfrm>
          <a:prstGeom prst="rect">
            <a:avLst/>
          </a:prstGeom>
          <a:solidFill>
            <a:srgbClr val="1A1A1A"/>
          </a:solidFill>
          <a:ln/>
        </p:spPr>
        <p:txBody>
          <a:bodyPr/>
          <a:lstStyle/>
          <a:p>
            <a:endParaRPr lang="en-US"/>
          </a:p>
        </p:txBody>
      </p:sp>
      <p:sp>
        <p:nvSpPr>
          <p:cNvPr id="10" name="Text 7"/>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Week 1 again — design says the control was well chosen; operating effectiveness says it ran.  ·  Code of Practice v1.0 §6.3 and §6.4</a:t>
            </a:r>
            <a:endParaRPr lang="en-US" sz="1300" dirty="0"/>
          </a:p>
        </p:txBody>
      </p:sp>
      <p:sp>
        <p:nvSpPr>
          <p:cNvPr id="11" name="Text 8"/>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76</a:t>
            </a:r>
            <a:endParaRPr lang="en-US" sz="13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SECTION 25, CODE §6.4</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Then the Audit — and It Is Someone Else</a:t>
            </a:r>
            <a:endParaRPr lang="en-US" sz="3000" dirty="0"/>
          </a:p>
        </p:txBody>
      </p:sp>
      <p:graphicFrame>
        <p:nvGraphicFramePr>
          <p:cNvPr id="78" name="Table 0"/>
          <p:cNvGraphicFramePr>
            <a:graphicFrameLocks noGrp="1"/>
          </p:cNvGraphicFramePr>
          <p:nvPr>
            <p:extLst>
              <p:ext uri="{D42A27DB-BD31-4B8C-83A1-F6EECF244321}">
                <p14:modId xmlns:p14="http://schemas.microsoft.com/office/powerpoint/2010/main" val="1579011935"/>
              </p:ext>
            </p:extLst>
          </p:nvPr>
        </p:nvGraphicFramePr>
        <p:xfrm>
          <a:off x="533400" y="1847850"/>
          <a:ext cx="11049000" cy="3200400"/>
        </p:xfrm>
        <a:graphic>
          <a:graphicData uri="http://schemas.openxmlformats.org/drawingml/2006/table">
            <a:tbl>
              <a:tblPr/>
              <a:tblGrid>
                <a:gridCol w="2857500">
                  <a:extLst>
                    <a:ext uri="{9D8B030D-6E8A-4147-A177-3AD203B41FA5}">
                      <a16:colId xmlns:a16="http://schemas.microsoft.com/office/drawing/2014/main" val="20000"/>
                    </a:ext>
                  </a:extLst>
                </a:gridCol>
                <a:gridCol w="43815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800100">
                <a:tc>
                  <a:txBody>
                    <a:bodyPr/>
                    <a:lstStyle/>
                    <a:p>
                      <a:pPr marL="0" indent="0" algn="l">
                        <a:buNone/>
                      </a:pP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Risk assessment  ·  s.24</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Audit  ·  s.25</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80010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Independence required?</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1E7A46"/>
                          </a:solidFill>
                          <a:latin typeface="Arial" pitchFamily="34" charset="0"/>
                          <a:ea typeface="Arial" pitchFamily="34" charset="-122"/>
                          <a:cs typeface="Arial" pitchFamily="34" charset="-120"/>
                        </a:rPr>
                        <a:t>No</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B3261E"/>
                          </a:solidFill>
                          <a:latin typeface="Arial" pitchFamily="34" charset="0"/>
                          <a:ea typeface="Arial" pitchFamily="34" charset="-122"/>
                          <a:cs typeface="Arial" pitchFamily="34" charset="-120"/>
                        </a:rPr>
                        <a:t>Yes</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010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May be done in-house?</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Yes</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Yes — by an internal audit function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00100">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The condition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Qualified supervision of the scan; a qualified penetration tester</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It must not operate or maintain the CCS</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33400" y="2638425"/>
            <a:ext cx="11124895" cy="19050"/>
          </a:xfrm>
          <a:prstGeom prst="rect">
            <a:avLst/>
          </a:prstGeom>
          <a:solidFill>
            <a:srgbClr val="1A1A1A"/>
          </a:solidFill>
          <a:ln/>
        </p:spPr>
        <p:txBody>
          <a:bodyPr/>
          <a:lstStyle/>
          <a:p>
            <a:endParaRPr lang="en-US"/>
          </a:p>
        </p:txBody>
      </p:sp>
      <p:sp>
        <p:nvSpPr>
          <p:cNvPr id="6" name="Shape 3"/>
          <p:cNvSpPr/>
          <p:nvPr/>
        </p:nvSpPr>
        <p:spPr>
          <a:xfrm>
            <a:off x="533400" y="5219700"/>
            <a:ext cx="11124895" cy="28575"/>
          </a:xfrm>
          <a:prstGeom prst="rect">
            <a:avLst/>
          </a:prstGeom>
          <a:solidFill>
            <a:srgbClr val="D04A02"/>
          </a:solidFill>
          <a:ln/>
        </p:spPr>
        <p:txBody>
          <a:bodyPr/>
          <a:lstStyle/>
          <a:p>
            <a:endParaRPr lang="en-US"/>
          </a:p>
        </p:txBody>
      </p:sp>
      <p:sp>
        <p:nvSpPr>
          <p:cNvPr id="7" name="Shape 4"/>
          <p:cNvSpPr/>
          <p:nvPr/>
        </p:nvSpPr>
        <p:spPr>
          <a:xfrm>
            <a:off x="533400" y="5248275"/>
            <a:ext cx="11124895" cy="809625"/>
          </a:xfrm>
          <a:prstGeom prst="rect">
            <a:avLst/>
          </a:prstGeom>
          <a:solidFill>
            <a:srgbClr val="FDF0E6"/>
          </a:solidFill>
          <a:ln w="6350">
            <a:solidFill>
              <a:srgbClr val="FDF0E6"/>
            </a:solidFill>
            <a:prstDash val="solid"/>
          </a:ln>
        </p:spPr>
        <p:txBody>
          <a:bodyPr/>
          <a:lstStyle/>
          <a:p>
            <a:endParaRPr lang="en-US"/>
          </a:p>
        </p:txBody>
      </p:sp>
      <p:sp>
        <p:nvSpPr>
          <p:cNvPr id="8" name="Text 5"/>
          <p:cNvSpPr/>
          <p:nvPr/>
        </p:nvSpPr>
        <p:spPr>
          <a:xfrm>
            <a:off x="723900" y="5372100"/>
            <a:ext cx="10743895"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So the test is not internal versus external. It is whether you built or run the thing you are auditing.</a:t>
            </a:r>
            <a:endParaRPr lang="en-US" sz="2000" dirty="0"/>
          </a:p>
        </p:txBody>
      </p:sp>
      <p:sp>
        <p:nvSpPr>
          <p:cNvPr id="9" name="Text 6"/>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OCCICS operator FAQ Q13 and Q15 — verbatim  ·  Cap. 653 s.24, s.25  ·  Code of Practice v1.0 §6.3, §6.4 and Annex G</a:t>
            </a:r>
            <a:endParaRPr lang="en-US" sz="1300" dirty="0"/>
          </a:p>
        </p:txBody>
      </p:sp>
      <p:sp>
        <p:nvSpPr>
          <p:cNvPr id="10" name="Text 7"/>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77</a:t>
            </a:r>
            <a:endParaRPr lang="en-US" sz="13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FOUR STAGES, AND THEY WILL LOOK FAMILIAR</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Annex G Gives You the Method</a:t>
            </a:r>
            <a:endParaRPr lang="en-US" sz="3000" dirty="0"/>
          </a:p>
        </p:txBody>
      </p:sp>
      <p:sp>
        <p:nvSpPr>
          <p:cNvPr id="4" name="Shape 2"/>
          <p:cNvSpPr/>
          <p:nvPr/>
        </p:nvSpPr>
        <p:spPr>
          <a:xfrm>
            <a:off x="533400" y="1847850"/>
            <a:ext cx="5457673" cy="28575"/>
          </a:xfrm>
          <a:prstGeom prst="rect">
            <a:avLst/>
          </a:prstGeom>
          <a:solidFill>
            <a:srgbClr val="D04A02"/>
          </a:solidFill>
          <a:ln/>
        </p:spPr>
        <p:txBody>
          <a:bodyPr/>
          <a:lstStyle/>
          <a:p>
            <a:endParaRPr lang="en-US"/>
          </a:p>
        </p:txBody>
      </p:sp>
      <p:sp>
        <p:nvSpPr>
          <p:cNvPr id="5" name="Shape 3"/>
          <p:cNvSpPr/>
          <p:nvPr/>
        </p:nvSpPr>
        <p:spPr>
          <a:xfrm>
            <a:off x="533400" y="1876425"/>
            <a:ext cx="5457673" cy="178117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Planning</a:t>
            </a:r>
            <a:endParaRPr lang="en-US" sz="2000" dirty="0"/>
          </a:p>
        </p:txBody>
      </p:sp>
      <p:sp>
        <p:nvSpPr>
          <p:cNvPr id="7" name="Text 5"/>
          <p:cNvSpPr/>
          <p:nvPr/>
        </p:nvSpPr>
        <p:spPr>
          <a:xfrm>
            <a:off x="723900" y="2352675"/>
            <a:ext cx="5076673" cy="1228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Scope, objectives, criteria, and the evidence you will need.</a:t>
            </a:r>
            <a:endParaRPr lang="en-US" sz="2000" dirty="0"/>
          </a:p>
        </p:txBody>
      </p:sp>
      <p:sp>
        <p:nvSpPr>
          <p:cNvPr id="8" name="Shape 6"/>
          <p:cNvSpPr/>
          <p:nvPr/>
        </p:nvSpPr>
        <p:spPr>
          <a:xfrm>
            <a:off x="6200623" y="1847850"/>
            <a:ext cx="5457673" cy="28575"/>
          </a:xfrm>
          <a:prstGeom prst="rect">
            <a:avLst/>
          </a:prstGeom>
          <a:solidFill>
            <a:srgbClr val="1A1A1A"/>
          </a:solidFill>
          <a:ln/>
        </p:spPr>
        <p:txBody>
          <a:bodyPr/>
          <a:lstStyle/>
          <a:p>
            <a:endParaRPr lang="en-US"/>
          </a:p>
        </p:txBody>
      </p:sp>
      <p:sp>
        <p:nvSpPr>
          <p:cNvPr id="9" name="Shape 7"/>
          <p:cNvSpPr/>
          <p:nvPr/>
        </p:nvSpPr>
        <p:spPr>
          <a:xfrm>
            <a:off x="6200623" y="1876425"/>
            <a:ext cx="5457673" cy="178117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6391123" y="20002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Fieldwork</a:t>
            </a:r>
            <a:endParaRPr lang="en-US" sz="2000" dirty="0"/>
          </a:p>
        </p:txBody>
      </p:sp>
      <p:sp>
        <p:nvSpPr>
          <p:cNvPr id="11" name="Text 9"/>
          <p:cNvSpPr/>
          <p:nvPr/>
        </p:nvSpPr>
        <p:spPr>
          <a:xfrm>
            <a:off x="6391123" y="2352675"/>
            <a:ext cx="5076673" cy="1228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Walkthroughs, sampling, testing against the criteria.</a:t>
            </a:r>
            <a:endParaRPr lang="en-US" sz="2000" dirty="0"/>
          </a:p>
        </p:txBody>
      </p:sp>
      <p:sp>
        <p:nvSpPr>
          <p:cNvPr id="12" name="Shape 10"/>
          <p:cNvSpPr/>
          <p:nvPr/>
        </p:nvSpPr>
        <p:spPr>
          <a:xfrm>
            <a:off x="533400" y="3886200"/>
            <a:ext cx="5457673" cy="28575"/>
          </a:xfrm>
          <a:prstGeom prst="rect">
            <a:avLst/>
          </a:prstGeom>
          <a:solidFill>
            <a:srgbClr val="1A1A1A"/>
          </a:solidFill>
          <a:ln/>
        </p:spPr>
        <p:txBody>
          <a:bodyPr/>
          <a:lstStyle/>
          <a:p>
            <a:endParaRPr lang="en-US"/>
          </a:p>
        </p:txBody>
      </p:sp>
      <p:sp>
        <p:nvSpPr>
          <p:cNvPr id="13" name="Shape 11"/>
          <p:cNvSpPr/>
          <p:nvPr/>
        </p:nvSpPr>
        <p:spPr>
          <a:xfrm>
            <a:off x="533400" y="3914775"/>
            <a:ext cx="5457673" cy="216217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723900" y="40386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Findings compilation</a:t>
            </a:r>
            <a:endParaRPr lang="en-US" sz="2000" dirty="0"/>
          </a:p>
        </p:txBody>
      </p:sp>
      <p:sp>
        <p:nvSpPr>
          <p:cNvPr id="15" name="Text 13"/>
          <p:cNvSpPr/>
          <p:nvPr/>
        </p:nvSpPr>
        <p:spPr>
          <a:xfrm>
            <a:off x="723900" y="4391025"/>
            <a:ext cx="5076673"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Rated, with the operator's response recorded alongside.</a:t>
            </a:r>
            <a:endParaRPr lang="en-US" sz="2000" dirty="0"/>
          </a:p>
        </p:txBody>
      </p:sp>
      <p:sp>
        <p:nvSpPr>
          <p:cNvPr id="16" name="Shape 14"/>
          <p:cNvSpPr/>
          <p:nvPr/>
        </p:nvSpPr>
        <p:spPr>
          <a:xfrm>
            <a:off x="6200623" y="3886200"/>
            <a:ext cx="5457673" cy="28575"/>
          </a:xfrm>
          <a:prstGeom prst="rect">
            <a:avLst/>
          </a:prstGeom>
          <a:solidFill>
            <a:srgbClr val="1A1A1A"/>
          </a:solidFill>
          <a:ln/>
        </p:spPr>
        <p:txBody>
          <a:bodyPr/>
          <a:lstStyle/>
          <a:p>
            <a:endParaRPr lang="en-US"/>
          </a:p>
        </p:txBody>
      </p:sp>
      <p:sp>
        <p:nvSpPr>
          <p:cNvPr id="17" name="Shape 15"/>
          <p:cNvSpPr/>
          <p:nvPr/>
        </p:nvSpPr>
        <p:spPr>
          <a:xfrm>
            <a:off x="6200623" y="3914775"/>
            <a:ext cx="5457673" cy="2162175"/>
          </a:xfrm>
          <a:prstGeom prst="rect">
            <a:avLst/>
          </a:prstGeom>
          <a:solidFill>
            <a:srgbClr val="F2F2F2"/>
          </a:solidFill>
          <a:ln w="6350">
            <a:solidFill>
              <a:srgbClr val="F2F2F2"/>
            </a:solidFill>
            <a:prstDash val="solid"/>
          </a:ln>
        </p:spPr>
        <p:txBody>
          <a:bodyPr/>
          <a:lstStyle/>
          <a:p>
            <a:endParaRPr lang="en-US"/>
          </a:p>
        </p:txBody>
      </p:sp>
      <p:sp>
        <p:nvSpPr>
          <p:cNvPr id="18" name="Text 16"/>
          <p:cNvSpPr/>
          <p:nvPr/>
        </p:nvSpPr>
        <p:spPr>
          <a:xfrm>
            <a:off x="6391123" y="403860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Reporting</a:t>
            </a:r>
            <a:endParaRPr lang="en-US" sz="2000" dirty="0"/>
          </a:p>
        </p:txBody>
      </p:sp>
      <p:sp>
        <p:nvSpPr>
          <p:cNvPr id="19" name="Text 17"/>
          <p:cNvSpPr/>
          <p:nvPr/>
        </p:nvSpPr>
        <p:spPr>
          <a:xfrm>
            <a:off x="6391123" y="4391025"/>
            <a:ext cx="5076673" cy="160972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Executive summary, background, objectives, assumptions, limitations, methodology, scope, findings, stakeholders.</a:t>
            </a:r>
            <a:endParaRPr lang="en-US" sz="2000" dirty="0"/>
          </a:p>
        </p:txBody>
      </p:sp>
      <p:sp>
        <p:nvSpPr>
          <p:cNvPr id="20" name="Text 18"/>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Code of Practice v1.0 Annex G — Outline Methodology for the Computer-System Security Audit</a:t>
            </a:r>
            <a:endParaRPr lang="en-US" sz="1300" dirty="0"/>
          </a:p>
        </p:txBody>
      </p:sp>
      <p:sp>
        <p:nvSpPr>
          <p:cNvPr id="21" name="Text 19"/>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78</a:t>
            </a:r>
            <a:endParaRPr lang="en-US" sz="13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2381250"/>
            <a:ext cx="11124895" cy="247650"/>
          </a:xfrm>
          <a:prstGeom prst="rect">
            <a:avLst/>
          </a:prstGeom>
          <a:noFill/>
          <a:ln/>
        </p:spPr>
        <p:txBody>
          <a:bodyPr wrap="square" rtlCol="0" anchor="ctr"/>
          <a:lstStyle/>
          <a:p>
            <a:pPr marL="0" indent="0">
              <a:buNone/>
            </a:pPr>
            <a:r>
              <a:rPr lang="en-US" sz="1600" b="1" kern="0" spc="140" dirty="0">
                <a:solidFill>
                  <a:srgbClr val="D04A02"/>
                </a:solidFill>
                <a:latin typeface="Arial" pitchFamily="34" charset="0"/>
                <a:ea typeface="Arial" pitchFamily="34" charset="-122"/>
                <a:cs typeface="Arial" pitchFamily="34" charset="-120"/>
              </a:rPr>
              <a:t>21:00 – 21:15</a:t>
            </a:r>
            <a:endParaRPr lang="en-US" sz="1600" dirty="0"/>
          </a:p>
        </p:txBody>
      </p:sp>
      <p:sp>
        <p:nvSpPr>
          <p:cNvPr id="3" name="Text 1"/>
          <p:cNvSpPr/>
          <p:nvPr/>
        </p:nvSpPr>
        <p:spPr>
          <a:xfrm>
            <a:off x="533400" y="2743200"/>
            <a:ext cx="8572500" cy="704850"/>
          </a:xfrm>
          <a:prstGeom prst="rect">
            <a:avLst/>
          </a:prstGeom>
          <a:noFill/>
          <a:ln/>
        </p:spPr>
        <p:txBody>
          <a:bodyPr wrap="square" rtlCol="0" anchor="t"/>
          <a:lstStyle/>
          <a:p>
            <a:pPr marL="0" indent="0">
              <a:buNone/>
            </a:pPr>
            <a:r>
              <a:rPr lang="en-US" sz="4400" dirty="0">
                <a:solidFill>
                  <a:srgbClr val="1A1A1A"/>
                </a:solidFill>
                <a:latin typeface="Georgia" pitchFamily="34" charset="0"/>
                <a:ea typeface="Georgia" pitchFamily="34" charset="-122"/>
                <a:cs typeface="Georgia" pitchFamily="34" charset="-120"/>
              </a:rPr>
              <a:t>Break.</a:t>
            </a:r>
            <a:endParaRPr lang="en-US" sz="4400" dirty="0"/>
          </a:p>
        </p:txBody>
      </p:sp>
      <p:sp>
        <p:nvSpPr>
          <p:cNvPr id="4" name="Shape 2"/>
          <p:cNvSpPr/>
          <p:nvPr/>
        </p:nvSpPr>
        <p:spPr>
          <a:xfrm>
            <a:off x="533400" y="3657600"/>
            <a:ext cx="1143000" cy="28575"/>
          </a:xfrm>
          <a:prstGeom prst="rect">
            <a:avLst/>
          </a:prstGeom>
          <a:solidFill>
            <a:srgbClr val="D04A02"/>
          </a:solidFill>
          <a:ln/>
        </p:spPr>
        <p:txBody>
          <a:bodyPr/>
          <a:lstStyle/>
          <a:p>
            <a:endParaRPr lang="en-US"/>
          </a:p>
        </p:txBody>
      </p:sp>
      <p:sp>
        <p:nvSpPr>
          <p:cNvPr id="5" name="Text 3"/>
          <p:cNvSpPr/>
          <p:nvPr/>
        </p:nvSpPr>
        <p:spPr>
          <a:xfrm>
            <a:off x="533400" y="3905250"/>
            <a:ext cx="8382000" cy="857250"/>
          </a:xfrm>
          <a:prstGeom prst="rect">
            <a:avLst/>
          </a:prstGeom>
          <a:noFill/>
          <a:ln/>
        </p:spPr>
        <p:txBody>
          <a:bodyPr wrap="square" rtlCol="0" anchor="ctr"/>
          <a:lstStyle/>
          <a:p>
            <a:pPr marL="0" indent="0">
              <a:lnSpc>
                <a:spcPct val="130000"/>
              </a:lnSpc>
              <a:buNone/>
            </a:pPr>
            <a:r>
              <a:rPr lang="en-US" sz="2000" dirty="0">
                <a:solidFill>
                  <a:srgbClr val="7A7A7A"/>
                </a:solidFill>
                <a:latin typeface="Arial" pitchFamily="34" charset="0"/>
                <a:ea typeface="Arial" pitchFamily="34" charset="-122"/>
                <a:cs typeface="Arial" pitchFamily="34" charset="-120"/>
              </a:rPr>
              <a:t>When you come back you are not students. You are the firm pitching for the work.</a:t>
            </a:r>
            <a:endParaRPr lang="en-US" sz="2000" dirty="0"/>
          </a:p>
        </p:txBody>
      </p:sp>
      <p:sp>
        <p:nvSpPr>
          <p:cNvPr id="6"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79</a:t>
            </a:r>
            <a:endParaRPr lang="en-US" sz="13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marL="0" indent="0">
              <a:buNone/>
            </a:pPr>
            <a:r>
              <a:rPr lang="en-US" sz="1600" b="1" kern="0" spc="140" dirty="0">
                <a:solidFill>
                  <a:srgbClr val="7A7A7A"/>
                </a:solidFill>
                <a:latin typeface="Arial" pitchFamily="34" charset="0"/>
                <a:ea typeface="Arial" pitchFamily="34" charset="-122"/>
                <a:cs typeface="Arial" pitchFamily="34" charset="-120"/>
              </a:rPr>
              <a:t>PART 3  ·  21:15 – 21:30</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Your Turn</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marL="0" indent="0">
              <a:lnSpc>
                <a:spcPct val="135000"/>
              </a:lnSpc>
              <a:buNone/>
            </a:pPr>
            <a:r>
              <a:rPr lang="en-US" sz="2000" dirty="0">
                <a:solidFill>
                  <a:srgbClr val="7A7A7A"/>
                </a:solidFill>
                <a:latin typeface="Arial" pitchFamily="34" charset="0"/>
                <a:ea typeface="Arial" pitchFamily="34" charset="-122"/>
                <a:cs typeface="Arial" pitchFamily="34" charset="-120"/>
              </a:rPr>
              <a:t>A railway operator has just been designated. You are pitching. What scope of work can you actually do — and are you their auditor, or their consultant?</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80</a:t>
            </a:r>
            <a:endParaRPr lang="en-US" sz="13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94">
    <p:bg>
      <p:bgPr>
        <a:solidFill>
          <a:srgbClr val="F5F5F5"/>
        </a:solidFill>
        <a:effectLst/>
      </p:bgPr>
    </p:bg>
    <p:spTree>
      <p:nvGrpSpPr>
        <p:cNvPr id="1" name=""/>
        <p:cNvGrpSpPr/>
        <p:nvPr/>
      </p:nvGrpSpPr>
      <p:grpSpPr>
        <a:xfrm>
          <a:off x="0" y="0"/>
          <a:ext cx="0" cy="0"/>
          <a:chOff x="0" y="0"/>
          <a:chExt cx="0" cy="0"/>
        </a:xfrm>
      </p:grpSpPr>
      <p:sp>
        <p:nvSpPr>
          <p:cNvPr id="2" name="Text 0"/>
          <p:cNvSpPr/>
          <p:nvPr/>
        </p:nvSpPr>
        <p:spPr>
          <a:xfrm>
            <a:off x="533400" y="590550"/>
            <a:ext cx="5715000" cy="209550"/>
          </a:xfrm>
          <a:prstGeom prst="rect">
            <a:avLst/>
          </a:prstGeom>
          <a:noFill/>
          <a:ln/>
        </p:spPr>
        <p:txBody>
          <a:bodyPr wrap="square" rtlCol="0" anchor="ctr"/>
          <a:lstStyle/>
          <a:p>
            <a:pPr marL="0" indent="0">
              <a:buNone/>
            </a:pPr>
            <a:r>
              <a:rPr lang="en-US" sz="1600" b="1" kern="0" spc="140" dirty="0">
                <a:solidFill>
                  <a:srgbClr val="7A7A7A"/>
                </a:solidFill>
                <a:latin typeface="Arial" pitchFamily="34" charset="0"/>
                <a:ea typeface="Arial" pitchFamily="34" charset="-122"/>
                <a:cs typeface="Arial" pitchFamily="34" charset="-120"/>
              </a:rPr>
              <a:t>21:30</a:t>
            </a:r>
            <a:endParaRPr lang="en-US" sz="1600" dirty="0"/>
          </a:p>
        </p:txBody>
      </p:sp>
      <p:sp>
        <p:nvSpPr>
          <p:cNvPr id="3" name="Text 1"/>
          <p:cNvSpPr/>
          <p:nvPr/>
        </p:nvSpPr>
        <p:spPr>
          <a:xfrm>
            <a:off x="533400" y="3581400"/>
            <a:ext cx="7239000" cy="1524000"/>
          </a:xfrm>
          <a:prstGeom prst="rect">
            <a:avLst/>
          </a:prstGeom>
          <a:noFill/>
          <a:ln/>
        </p:spPr>
        <p:txBody>
          <a:bodyPr wrap="square" rtlCol="0" anchor="t"/>
          <a:lstStyle/>
          <a:p>
            <a:pPr marL="0" indent="0">
              <a:lnSpc>
                <a:spcPct val="112000"/>
              </a:lnSpc>
              <a:buNone/>
            </a:pPr>
            <a:r>
              <a:rPr lang="en-US" sz="4400" dirty="0">
                <a:solidFill>
                  <a:srgbClr val="1A1A1A"/>
                </a:solidFill>
                <a:latin typeface="Georgia" pitchFamily="34" charset="0"/>
                <a:ea typeface="Georgia" pitchFamily="34" charset="-122"/>
                <a:cs typeface="Georgia" pitchFamily="34" charset="-120"/>
              </a:rPr>
              <a:t>This Week</a:t>
            </a:r>
            <a:endParaRPr lang="en-US" sz="4400" dirty="0"/>
          </a:p>
        </p:txBody>
      </p:sp>
      <p:sp>
        <p:nvSpPr>
          <p:cNvPr id="4" name="Text 2"/>
          <p:cNvSpPr/>
          <p:nvPr/>
        </p:nvSpPr>
        <p:spPr>
          <a:xfrm>
            <a:off x="7657795" y="666750"/>
            <a:ext cx="4000500" cy="2667000"/>
          </a:xfrm>
          <a:prstGeom prst="rect">
            <a:avLst/>
          </a:prstGeom>
          <a:noFill/>
          <a:ln/>
        </p:spPr>
        <p:txBody>
          <a:bodyPr wrap="square" rtlCol="0" anchor="t"/>
          <a:lstStyle/>
          <a:p>
            <a:pPr marL="0" indent="0">
              <a:lnSpc>
                <a:spcPct val="135000"/>
              </a:lnSpc>
              <a:buNone/>
            </a:pPr>
            <a:r>
              <a:rPr lang="en-US" sz="2000" dirty="0">
                <a:solidFill>
                  <a:srgbClr val="7A7A7A"/>
                </a:solidFill>
                <a:latin typeface="Arial" pitchFamily="34" charset="0"/>
                <a:ea typeface="Arial" pitchFamily="34" charset="-122"/>
                <a:cs typeface="Arial" pitchFamily="34" charset="-120"/>
              </a:rPr>
              <a:t>One artefact, due before Week 3.</a:t>
            </a:r>
            <a:endParaRPr lang="en-US" sz="2000" dirty="0"/>
          </a:p>
        </p:txBody>
      </p:sp>
      <p:sp>
        <p:nvSpPr>
          <p:cNvPr id="5" name="Text 3"/>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94</a:t>
            </a:r>
            <a:endParaRPr lang="en-US" sz="13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HOMEWORK</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Two Artefacts, Due Before Week 3</a:t>
            </a:r>
            <a:endParaRPr lang="en-US" sz="3000" dirty="0"/>
          </a:p>
        </p:txBody>
      </p:sp>
      <p:sp>
        <p:nvSpPr>
          <p:cNvPr id="4" name="Shape 2"/>
          <p:cNvSpPr/>
          <p:nvPr/>
        </p:nvSpPr>
        <p:spPr>
          <a:xfrm>
            <a:off x="533400" y="1847850"/>
            <a:ext cx="5391150" cy="28575"/>
          </a:xfrm>
          <a:prstGeom prst="rect">
            <a:avLst/>
          </a:prstGeom>
          <a:solidFill>
            <a:srgbClr val="D04A02"/>
          </a:solidFill>
          <a:ln/>
        </p:spPr>
        <p:txBody>
          <a:bodyPr/>
          <a:lstStyle/>
          <a:p>
            <a:endParaRPr lang="en-US"/>
          </a:p>
        </p:txBody>
      </p:sp>
      <p:sp>
        <p:nvSpPr>
          <p:cNvPr id="5" name="Shape 3"/>
          <p:cNvSpPr/>
          <p:nvPr/>
        </p:nvSpPr>
        <p:spPr>
          <a:xfrm>
            <a:off x="533400" y="1876425"/>
            <a:ext cx="5391150" cy="320992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5010150"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ONE</a:t>
            </a:r>
            <a:endParaRPr lang="en-US" sz="1600" dirty="0"/>
          </a:p>
        </p:txBody>
      </p:sp>
      <p:sp>
        <p:nvSpPr>
          <p:cNvPr id="7" name="Text 5"/>
          <p:cNvSpPr/>
          <p:nvPr/>
        </p:nvSpPr>
        <p:spPr>
          <a:xfrm>
            <a:off x="723900" y="2276475"/>
            <a:ext cx="501015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 scope of work</a:t>
            </a:r>
            <a:endParaRPr lang="en-US" sz="2000" dirty="0"/>
          </a:p>
        </p:txBody>
      </p:sp>
      <p:sp>
        <p:nvSpPr>
          <p:cNvPr id="8" name="Text 6"/>
          <p:cNvSpPr/>
          <p:nvPr/>
        </p:nvSpPr>
        <p:spPr>
          <a:xfrm>
            <a:off x="723900" y="2628900"/>
            <a:ext cx="5010150" cy="23812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Phases, deliverables, timeline.</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Every line carries its clause.</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Say which lines are audit and which are consulting.</a:t>
            </a:r>
            <a:endParaRPr lang="en-US" sz="2000" dirty="0"/>
          </a:p>
        </p:txBody>
      </p:sp>
      <p:sp>
        <p:nvSpPr>
          <p:cNvPr id="9" name="Shape 7"/>
          <p:cNvSpPr/>
          <p:nvPr/>
        </p:nvSpPr>
        <p:spPr>
          <a:xfrm>
            <a:off x="6191250" y="1847850"/>
            <a:ext cx="5391150" cy="28575"/>
          </a:xfrm>
          <a:prstGeom prst="rect">
            <a:avLst/>
          </a:prstGeom>
          <a:solidFill>
            <a:srgbClr val="1A1A1A"/>
          </a:solidFill>
          <a:ln/>
        </p:spPr>
        <p:txBody>
          <a:bodyPr/>
          <a:lstStyle/>
          <a:p>
            <a:endParaRPr lang="en-US"/>
          </a:p>
        </p:txBody>
      </p:sp>
      <p:sp>
        <p:nvSpPr>
          <p:cNvPr id="10" name="Shape 8"/>
          <p:cNvSpPr/>
          <p:nvPr/>
        </p:nvSpPr>
        <p:spPr>
          <a:xfrm>
            <a:off x="6191250" y="1876425"/>
            <a:ext cx="5391150" cy="3209925"/>
          </a:xfrm>
          <a:prstGeom prst="rect">
            <a:avLst/>
          </a:prstGeom>
          <a:solidFill>
            <a:srgbClr val="F2F2F2"/>
          </a:solidFill>
          <a:ln w="6350">
            <a:solidFill>
              <a:srgbClr val="F2F2F2"/>
            </a:solidFill>
            <a:prstDash val="solid"/>
          </a:ln>
        </p:spPr>
        <p:txBody>
          <a:bodyPr/>
          <a:lstStyle/>
          <a:p>
            <a:endParaRPr lang="en-US"/>
          </a:p>
        </p:txBody>
      </p:sp>
      <p:sp>
        <p:nvSpPr>
          <p:cNvPr id="11" name="Text 9"/>
          <p:cNvSpPr/>
          <p:nvPr/>
        </p:nvSpPr>
        <p:spPr>
          <a:xfrm>
            <a:off x="6381750" y="2000250"/>
            <a:ext cx="5010150" cy="200025"/>
          </a:xfrm>
          <a:prstGeom prst="rect">
            <a:avLst/>
          </a:prstGeom>
          <a:noFill/>
          <a:ln/>
        </p:spPr>
        <p:txBody>
          <a:bodyPr wrap="square" rtlCol="0" anchor="ctr"/>
          <a:lstStyle/>
          <a:p>
            <a:pPr marL="0" indent="0">
              <a:buNone/>
            </a:pPr>
            <a:r>
              <a:rPr lang="en-US" sz="1600" b="1" kern="0" spc="110" dirty="0">
                <a:solidFill>
                  <a:srgbClr val="7A7A7A"/>
                </a:solidFill>
                <a:latin typeface="Arial" pitchFamily="34" charset="0"/>
                <a:ea typeface="Arial" pitchFamily="34" charset="-122"/>
                <a:cs typeface="Arial" pitchFamily="34" charset="-120"/>
              </a:rPr>
              <a:t>TWO</a:t>
            </a:r>
            <a:endParaRPr lang="en-US" sz="1600" dirty="0"/>
          </a:p>
        </p:txBody>
      </p:sp>
      <p:sp>
        <p:nvSpPr>
          <p:cNvPr id="12" name="Text 10"/>
          <p:cNvSpPr/>
          <p:nvPr/>
        </p:nvSpPr>
        <p:spPr>
          <a:xfrm>
            <a:off x="6381750" y="2276475"/>
            <a:ext cx="5010150"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The request for information</a:t>
            </a:r>
            <a:endParaRPr lang="en-US" sz="2000" dirty="0"/>
          </a:p>
        </p:txBody>
      </p:sp>
      <p:sp>
        <p:nvSpPr>
          <p:cNvPr id="13" name="Text 11"/>
          <p:cNvSpPr/>
          <p:nvPr/>
        </p:nvSpPr>
        <p:spPr>
          <a:xfrm>
            <a:off x="6381750" y="2628900"/>
            <a:ext cx="5010150" cy="2381250"/>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What you send in week one.</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15 to 25 numbered requests.</a:t>
            </a:r>
            <a:endParaRPr lang="en-US" sz="2000" dirty="0"/>
          </a:p>
          <a:p>
            <a:pPr marL="0" indent="0">
              <a:lnSpc>
                <a:spcPct val="130000"/>
              </a:lnSpc>
              <a:buNone/>
            </a:pPr>
            <a:endParaRPr lang="en-US" sz="2000" dirty="0"/>
          </a:p>
          <a:p>
            <a:pPr marL="0" indent="0">
              <a:lnSpc>
                <a:spcPct val="130000"/>
              </a:lnSpc>
              <a:buNone/>
            </a:pPr>
            <a:r>
              <a:rPr lang="en-US" sz="2000" dirty="0">
                <a:solidFill>
                  <a:srgbClr val="3D3D3D"/>
                </a:solidFill>
                <a:latin typeface="Arial" pitchFamily="34" charset="0"/>
                <a:ea typeface="Arial" pitchFamily="34" charset="-122"/>
                <a:cs typeface="Arial" pitchFamily="34" charset="-120"/>
              </a:rPr>
              <a:t>A clause reference and a purpose on every line.</a:t>
            </a:r>
            <a:endParaRPr lang="en-US" sz="2000" dirty="0"/>
          </a:p>
        </p:txBody>
      </p:sp>
      <p:sp>
        <p:nvSpPr>
          <p:cNvPr id="14" name="Shape 12"/>
          <p:cNvSpPr/>
          <p:nvPr/>
        </p:nvSpPr>
        <p:spPr>
          <a:xfrm>
            <a:off x="533400" y="5314950"/>
            <a:ext cx="11124895" cy="28575"/>
          </a:xfrm>
          <a:prstGeom prst="rect">
            <a:avLst/>
          </a:prstGeom>
          <a:solidFill>
            <a:srgbClr val="1A1A1A"/>
          </a:solidFill>
          <a:ln/>
        </p:spPr>
        <p:txBody>
          <a:bodyPr/>
          <a:lstStyle/>
          <a:p>
            <a:endParaRPr lang="en-US"/>
          </a:p>
        </p:txBody>
      </p:sp>
      <p:sp>
        <p:nvSpPr>
          <p:cNvPr id="15" name="Shape 13"/>
          <p:cNvSpPr/>
          <p:nvPr/>
        </p:nvSpPr>
        <p:spPr>
          <a:xfrm>
            <a:off x="533400" y="5343525"/>
            <a:ext cx="11124895" cy="733425"/>
          </a:xfrm>
          <a:prstGeom prst="rect">
            <a:avLst/>
          </a:prstGeom>
          <a:solidFill>
            <a:srgbClr val="F2F2F2"/>
          </a:solidFill>
          <a:ln w="6350">
            <a:solidFill>
              <a:srgbClr val="F2F2F2"/>
            </a:solidFill>
            <a:prstDash val="solid"/>
          </a:ln>
        </p:spPr>
        <p:txBody>
          <a:bodyPr/>
          <a:lstStyle/>
          <a:p>
            <a:endParaRPr lang="en-US"/>
          </a:p>
        </p:txBody>
      </p:sp>
      <p:sp>
        <p:nvSpPr>
          <p:cNvPr id="16" name="Text 14"/>
          <p:cNvSpPr/>
          <p:nvPr/>
        </p:nvSpPr>
        <p:spPr>
          <a:xfrm>
            <a:off x="723900" y="5467350"/>
            <a:ext cx="10743895"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And what you expect not to receive — and what you will do instead.</a:t>
            </a:r>
            <a:endParaRPr lang="en-US" sz="2000" dirty="0"/>
          </a:p>
        </p:txBody>
      </p:sp>
      <p:sp>
        <p:nvSpPr>
          <p:cNvPr id="17" name="Text 15"/>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Submit as a single PDF or spreadsheet  ·  Cap. 653 Part 4  ·  Code of Practice v1.0 Chapters 3 and 5–7</a:t>
            </a:r>
            <a:endParaRPr lang="en-US" sz="1300" dirty="0"/>
          </a:p>
        </p:txBody>
      </p:sp>
      <p:sp>
        <p:nvSpPr>
          <p:cNvPr id="18" name="Text 16"/>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95</a:t>
            </a:r>
            <a:endParaRPr lang="en-US" sz="13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DEBRIEF</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Four Things a Client Buys</a:t>
            </a:r>
            <a:endParaRPr lang="en-US" sz="3000" dirty="0"/>
          </a:p>
        </p:txBody>
      </p:sp>
      <p:sp>
        <p:nvSpPr>
          <p:cNvPr id="4" name="Shape 2"/>
          <p:cNvSpPr/>
          <p:nvPr/>
        </p:nvSpPr>
        <p:spPr>
          <a:xfrm>
            <a:off x="533400" y="1847850"/>
            <a:ext cx="2624061" cy="28575"/>
          </a:xfrm>
          <a:prstGeom prst="rect">
            <a:avLst/>
          </a:prstGeom>
          <a:solidFill>
            <a:srgbClr val="1A1A1A"/>
          </a:solidFill>
          <a:ln/>
        </p:spPr>
        <p:txBody>
          <a:bodyPr/>
          <a:lstStyle/>
          <a:p>
            <a:endParaRPr lang="en-US"/>
          </a:p>
        </p:txBody>
      </p:sp>
      <p:sp>
        <p:nvSpPr>
          <p:cNvPr id="5" name="Shape 3"/>
          <p:cNvSpPr/>
          <p:nvPr/>
        </p:nvSpPr>
        <p:spPr>
          <a:xfrm>
            <a:off x="533400" y="1876425"/>
            <a:ext cx="2624061" cy="2828925"/>
          </a:xfrm>
          <a:prstGeom prst="rect">
            <a:avLst/>
          </a:prstGeom>
          <a:solidFill>
            <a:srgbClr val="F2F2F2"/>
          </a:solidFill>
          <a:ln w="6350">
            <a:solidFill>
              <a:srgbClr val="F2F2F2"/>
            </a:solidFill>
            <a:prstDash val="solid"/>
          </a:ln>
        </p:spPr>
        <p:txBody>
          <a:bodyPr/>
          <a:lstStyle/>
          <a:p>
            <a:endParaRPr lang="en-US"/>
          </a:p>
        </p:txBody>
      </p:sp>
      <p:sp>
        <p:nvSpPr>
          <p:cNvPr id="6" name="Text 4"/>
          <p:cNvSpPr/>
          <p:nvPr/>
        </p:nvSpPr>
        <p:spPr>
          <a:xfrm>
            <a:off x="723900" y="200025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1. Define</a:t>
            </a:r>
            <a:endParaRPr lang="en-US" sz="2000" dirty="0"/>
          </a:p>
        </p:txBody>
      </p:sp>
      <p:sp>
        <p:nvSpPr>
          <p:cNvPr id="7" name="Text 5"/>
          <p:cNvSpPr/>
          <p:nvPr/>
        </p:nvSpPr>
        <p:spPr>
          <a:xfrm>
            <a:off x="723900" y="2352675"/>
            <a:ext cx="2243061" cy="2276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Which systems are critical, and on what reasoning?</a:t>
            </a:r>
            <a:endParaRPr lang="en-US" sz="2000" dirty="0"/>
          </a:p>
        </p:txBody>
      </p:sp>
      <p:sp>
        <p:nvSpPr>
          <p:cNvPr id="8" name="Shape 6"/>
          <p:cNvSpPr/>
          <p:nvPr/>
        </p:nvSpPr>
        <p:spPr>
          <a:xfrm>
            <a:off x="3367011" y="1847850"/>
            <a:ext cx="2624061" cy="28575"/>
          </a:xfrm>
          <a:prstGeom prst="rect">
            <a:avLst/>
          </a:prstGeom>
          <a:solidFill>
            <a:srgbClr val="1A1A1A"/>
          </a:solidFill>
          <a:ln/>
        </p:spPr>
        <p:txBody>
          <a:bodyPr/>
          <a:lstStyle/>
          <a:p>
            <a:endParaRPr lang="en-US"/>
          </a:p>
        </p:txBody>
      </p:sp>
      <p:sp>
        <p:nvSpPr>
          <p:cNvPr id="9" name="Shape 7"/>
          <p:cNvSpPr/>
          <p:nvPr/>
        </p:nvSpPr>
        <p:spPr>
          <a:xfrm>
            <a:off x="3367011" y="1876425"/>
            <a:ext cx="2624061" cy="2828925"/>
          </a:xfrm>
          <a:prstGeom prst="rect">
            <a:avLst/>
          </a:prstGeom>
          <a:solidFill>
            <a:srgbClr val="F2F2F2"/>
          </a:solidFill>
          <a:ln w="6350">
            <a:solidFill>
              <a:srgbClr val="F2F2F2"/>
            </a:solidFill>
            <a:prstDash val="solid"/>
          </a:ln>
        </p:spPr>
        <p:txBody>
          <a:bodyPr/>
          <a:lstStyle/>
          <a:p>
            <a:endParaRPr lang="en-US"/>
          </a:p>
        </p:txBody>
      </p:sp>
      <p:sp>
        <p:nvSpPr>
          <p:cNvPr id="10" name="Text 8"/>
          <p:cNvSpPr/>
          <p:nvPr/>
        </p:nvSpPr>
        <p:spPr>
          <a:xfrm>
            <a:off x="3557511" y="200025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2. Review</a:t>
            </a:r>
            <a:endParaRPr lang="en-US" sz="2000" dirty="0"/>
          </a:p>
        </p:txBody>
      </p:sp>
      <p:sp>
        <p:nvSpPr>
          <p:cNvPr id="11" name="Text 9"/>
          <p:cNvSpPr/>
          <p:nvPr/>
        </p:nvSpPr>
        <p:spPr>
          <a:xfrm>
            <a:off x="3557511" y="2352675"/>
            <a:ext cx="2243061" cy="2276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What do the policies actually say?</a:t>
            </a:r>
            <a:endParaRPr lang="en-US" sz="2000" dirty="0"/>
          </a:p>
        </p:txBody>
      </p:sp>
      <p:sp>
        <p:nvSpPr>
          <p:cNvPr id="12" name="Shape 10"/>
          <p:cNvSpPr/>
          <p:nvPr/>
        </p:nvSpPr>
        <p:spPr>
          <a:xfrm>
            <a:off x="6200623" y="1847850"/>
            <a:ext cx="2624061" cy="28575"/>
          </a:xfrm>
          <a:prstGeom prst="rect">
            <a:avLst/>
          </a:prstGeom>
          <a:solidFill>
            <a:srgbClr val="1A1A1A"/>
          </a:solidFill>
          <a:ln/>
        </p:spPr>
        <p:txBody>
          <a:bodyPr/>
          <a:lstStyle/>
          <a:p>
            <a:endParaRPr lang="en-US"/>
          </a:p>
        </p:txBody>
      </p:sp>
      <p:sp>
        <p:nvSpPr>
          <p:cNvPr id="13" name="Shape 11"/>
          <p:cNvSpPr/>
          <p:nvPr/>
        </p:nvSpPr>
        <p:spPr>
          <a:xfrm>
            <a:off x="6200623" y="1876425"/>
            <a:ext cx="2624061" cy="2828925"/>
          </a:xfrm>
          <a:prstGeom prst="rect">
            <a:avLst/>
          </a:prstGeom>
          <a:solidFill>
            <a:srgbClr val="F2F2F2"/>
          </a:solidFill>
          <a:ln w="6350">
            <a:solidFill>
              <a:srgbClr val="F2F2F2"/>
            </a:solidFill>
            <a:prstDash val="solid"/>
          </a:ln>
        </p:spPr>
        <p:txBody>
          <a:bodyPr/>
          <a:lstStyle/>
          <a:p>
            <a:endParaRPr lang="en-US"/>
          </a:p>
        </p:txBody>
      </p:sp>
      <p:sp>
        <p:nvSpPr>
          <p:cNvPr id="14" name="Text 12"/>
          <p:cNvSpPr/>
          <p:nvPr/>
        </p:nvSpPr>
        <p:spPr>
          <a:xfrm>
            <a:off x="6391123" y="200025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3. Assess</a:t>
            </a:r>
            <a:endParaRPr lang="en-US" sz="2000" dirty="0"/>
          </a:p>
        </p:txBody>
      </p:sp>
      <p:sp>
        <p:nvSpPr>
          <p:cNvPr id="15" name="Text 13"/>
          <p:cNvSpPr/>
          <p:nvPr/>
        </p:nvSpPr>
        <p:spPr>
          <a:xfrm>
            <a:off x="6391123" y="2352675"/>
            <a:ext cx="2243061" cy="2276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Clause by clause against the Code.</a:t>
            </a:r>
            <a:endParaRPr lang="en-US" sz="2000" dirty="0"/>
          </a:p>
        </p:txBody>
      </p:sp>
      <p:sp>
        <p:nvSpPr>
          <p:cNvPr id="16" name="Shape 14"/>
          <p:cNvSpPr/>
          <p:nvPr/>
        </p:nvSpPr>
        <p:spPr>
          <a:xfrm>
            <a:off x="9034234" y="1847850"/>
            <a:ext cx="2624061" cy="28575"/>
          </a:xfrm>
          <a:prstGeom prst="rect">
            <a:avLst/>
          </a:prstGeom>
          <a:solidFill>
            <a:srgbClr val="D04A02"/>
          </a:solidFill>
          <a:ln/>
        </p:spPr>
        <p:txBody>
          <a:bodyPr/>
          <a:lstStyle/>
          <a:p>
            <a:endParaRPr lang="en-US"/>
          </a:p>
        </p:txBody>
      </p:sp>
      <p:sp>
        <p:nvSpPr>
          <p:cNvPr id="17" name="Shape 15"/>
          <p:cNvSpPr/>
          <p:nvPr/>
        </p:nvSpPr>
        <p:spPr>
          <a:xfrm>
            <a:off x="9034234" y="1876425"/>
            <a:ext cx="2624061" cy="2828925"/>
          </a:xfrm>
          <a:prstGeom prst="rect">
            <a:avLst/>
          </a:prstGeom>
          <a:solidFill>
            <a:srgbClr val="FDF0E6"/>
          </a:solidFill>
          <a:ln w="6350">
            <a:solidFill>
              <a:srgbClr val="FDF0E6"/>
            </a:solidFill>
            <a:prstDash val="solid"/>
          </a:ln>
        </p:spPr>
        <p:txBody>
          <a:bodyPr/>
          <a:lstStyle/>
          <a:p>
            <a:endParaRPr lang="en-US"/>
          </a:p>
        </p:txBody>
      </p:sp>
      <p:sp>
        <p:nvSpPr>
          <p:cNvPr id="18" name="Text 16"/>
          <p:cNvSpPr/>
          <p:nvPr/>
        </p:nvSpPr>
        <p:spPr>
          <a:xfrm>
            <a:off x="9224734" y="2000250"/>
            <a:ext cx="2243061"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4. Remediate</a:t>
            </a:r>
            <a:endParaRPr lang="en-US" sz="2000" dirty="0"/>
          </a:p>
        </p:txBody>
      </p:sp>
      <p:sp>
        <p:nvSpPr>
          <p:cNvPr id="19" name="Text 17"/>
          <p:cNvSpPr/>
          <p:nvPr/>
        </p:nvSpPr>
        <p:spPr>
          <a:xfrm>
            <a:off x="9224734" y="2352675"/>
            <a:ext cx="2243061" cy="2276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Documentation, and technology.</a:t>
            </a:r>
            <a:endParaRPr lang="en-US" sz="2000" dirty="0"/>
          </a:p>
        </p:txBody>
      </p:sp>
      <p:sp>
        <p:nvSpPr>
          <p:cNvPr id="21" name="Text 19"/>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Engagement shapes observed across Hong Kong CI operator work, 2024–2026</a:t>
            </a:r>
            <a:endParaRPr lang="en-US" sz="1300" dirty="0"/>
          </a:p>
        </p:txBody>
      </p:sp>
      <p:sp>
        <p:nvSpPr>
          <p:cNvPr id="22" name="Text 20"/>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89</a:t>
            </a:r>
            <a:endParaRPr lang="en-US" sz="13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DEBRIEF</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One Sentence Defines the Whole Engagement</a:t>
            </a:r>
            <a:endParaRPr lang="en-US" sz="3000" dirty="0"/>
          </a:p>
        </p:txBody>
      </p:sp>
      <p:sp>
        <p:nvSpPr>
          <p:cNvPr id="4" name="Shape 2"/>
          <p:cNvSpPr/>
          <p:nvPr/>
        </p:nvSpPr>
        <p:spPr>
          <a:xfrm>
            <a:off x="533400" y="1847850"/>
            <a:ext cx="11124895" cy="28575"/>
          </a:xfrm>
          <a:prstGeom prst="rect">
            <a:avLst/>
          </a:prstGeom>
          <a:solidFill>
            <a:srgbClr val="D04A02"/>
          </a:solidFill>
          <a:ln/>
        </p:spPr>
        <p:txBody>
          <a:bodyPr/>
          <a:lstStyle/>
          <a:p>
            <a:endParaRPr lang="en-US"/>
          </a:p>
        </p:txBody>
      </p:sp>
      <p:sp>
        <p:nvSpPr>
          <p:cNvPr id="5" name="Shape 3"/>
          <p:cNvSpPr/>
          <p:nvPr/>
        </p:nvSpPr>
        <p:spPr>
          <a:xfrm>
            <a:off x="533400" y="1876425"/>
            <a:ext cx="11124895" cy="1876425"/>
          </a:xfrm>
          <a:prstGeom prst="rect">
            <a:avLst/>
          </a:prstGeom>
          <a:solidFill>
            <a:srgbClr val="FDF0E6"/>
          </a:solidFill>
          <a:ln w="6350">
            <a:solidFill>
              <a:srgbClr val="FDF0E6"/>
            </a:solidFill>
            <a:prstDash val="solid"/>
          </a:ln>
        </p:spPr>
        <p:txBody>
          <a:bodyPr/>
          <a:lstStyle/>
          <a:p>
            <a:endParaRPr lang="en-US"/>
          </a:p>
        </p:txBody>
      </p:sp>
      <p:sp>
        <p:nvSpPr>
          <p:cNvPr id="6" name="Text 4"/>
          <p:cNvSpPr/>
          <p:nvPr/>
        </p:nvSpPr>
        <p:spPr>
          <a:xfrm>
            <a:off x="723900" y="2000250"/>
            <a:ext cx="10743895" cy="200025"/>
          </a:xfrm>
          <a:prstGeom prst="rect">
            <a:avLst/>
          </a:prstGeom>
          <a:noFill/>
          <a:ln/>
        </p:spPr>
        <p:txBody>
          <a:bodyPr wrap="square" rtlCol="0" anchor="ctr"/>
          <a:lstStyle/>
          <a:p>
            <a:pPr marL="0" indent="0">
              <a:buNone/>
            </a:pPr>
            <a:r>
              <a:rPr lang="en-US" sz="1600" b="1" kern="0" spc="110" dirty="0">
                <a:solidFill>
                  <a:srgbClr val="D04A02"/>
                </a:solidFill>
                <a:latin typeface="Arial" pitchFamily="34" charset="0"/>
                <a:ea typeface="Arial" pitchFamily="34" charset="-122"/>
                <a:cs typeface="Arial" pitchFamily="34" charset="-120"/>
              </a:rPr>
              <a:t>FROM THE SCOPE OF WORK, VERBATIM</a:t>
            </a:r>
            <a:endParaRPr lang="en-US" sz="1600" dirty="0"/>
          </a:p>
        </p:txBody>
      </p:sp>
      <p:sp>
        <p:nvSpPr>
          <p:cNvPr id="7" name="Text 5"/>
          <p:cNvSpPr/>
          <p:nvPr/>
        </p:nvSpPr>
        <p:spPr>
          <a:xfrm>
            <a:off x="723900" y="2276475"/>
            <a:ext cx="10743895"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"This review is not an operational effectiveness assessment as no sampling or control testing will be conducted."</a:t>
            </a:r>
            <a:endParaRPr lang="en-US" sz="2000" dirty="0"/>
          </a:p>
        </p:txBody>
      </p:sp>
      <p:sp>
        <p:nvSpPr>
          <p:cNvPr id="8" name="Text 6"/>
          <p:cNvSpPr/>
          <p:nvPr/>
        </p:nvSpPr>
        <p:spPr>
          <a:xfrm>
            <a:off x="723900" y="2886075"/>
            <a:ext cx="10743895" cy="7905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The focus is on identifying documentation gaps and control design weaknesses.</a:t>
            </a:r>
            <a:endParaRPr lang="en-US" sz="2000" dirty="0"/>
          </a:p>
        </p:txBody>
      </p:sp>
      <p:sp>
        <p:nvSpPr>
          <p:cNvPr id="9" name="Shape 7"/>
          <p:cNvSpPr/>
          <p:nvPr/>
        </p:nvSpPr>
        <p:spPr>
          <a:xfrm>
            <a:off x="533400" y="3981450"/>
            <a:ext cx="5457673" cy="28575"/>
          </a:xfrm>
          <a:prstGeom prst="rect">
            <a:avLst/>
          </a:prstGeom>
          <a:solidFill>
            <a:srgbClr val="D04A02"/>
          </a:solidFill>
          <a:ln/>
        </p:spPr>
        <p:txBody>
          <a:bodyPr/>
          <a:lstStyle/>
          <a:p>
            <a:endParaRPr lang="en-US"/>
          </a:p>
        </p:txBody>
      </p:sp>
      <p:sp>
        <p:nvSpPr>
          <p:cNvPr id="10" name="Shape 8"/>
          <p:cNvSpPr/>
          <p:nvPr/>
        </p:nvSpPr>
        <p:spPr>
          <a:xfrm>
            <a:off x="533400" y="4010025"/>
            <a:ext cx="5457673" cy="2066925"/>
          </a:xfrm>
          <a:prstGeom prst="rect">
            <a:avLst/>
          </a:prstGeom>
          <a:solidFill>
            <a:srgbClr val="FDF0E6"/>
          </a:solidFill>
          <a:ln w="6350">
            <a:solidFill>
              <a:srgbClr val="FDF0E6"/>
            </a:solidFill>
            <a:prstDash val="solid"/>
          </a:ln>
        </p:spPr>
        <p:txBody>
          <a:bodyPr/>
          <a:lstStyle/>
          <a:p>
            <a:endParaRPr lang="en-US"/>
          </a:p>
        </p:txBody>
      </p:sp>
      <p:sp>
        <p:nvSpPr>
          <p:cNvPr id="11" name="Text 9"/>
          <p:cNvSpPr/>
          <p:nvPr/>
        </p:nvSpPr>
        <p:spPr>
          <a:xfrm>
            <a:off x="723900" y="41338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Week 1 all over again</a:t>
            </a:r>
            <a:endParaRPr lang="en-US" sz="2000" dirty="0"/>
          </a:p>
        </p:txBody>
      </p:sp>
      <p:sp>
        <p:nvSpPr>
          <p:cNvPr id="12" name="Text 10"/>
          <p:cNvSpPr/>
          <p:nvPr/>
        </p:nvSpPr>
        <p:spPr>
          <a:xfrm>
            <a:off x="723900" y="4486275"/>
            <a:ext cx="5076673" cy="1514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Design effectiveness is whether the control is the right one. Operating effectiveness is whether it ran.</a:t>
            </a:r>
            <a:endParaRPr lang="en-US" sz="2000" dirty="0"/>
          </a:p>
        </p:txBody>
      </p:sp>
      <p:sp>
        <p:nvSpPr>
          <p:cNvPr id="13" name="Shape 11"/>
          <p:cNvSpPr/>
          <p:nvPr/>
        </p:nvSpPr>
        <p:spPr>
          <a:xfrm>
            <a:off x="6200623" y="3981450"/>
            <a:ext cx="5457673" cy="28575"/>
          </a:xfrm>
          <a:prstGeom prst="rect">
            <a:avLst/>
          </a:prstGeom>
          <a:solidFill>
            <a:srgbClr val="1A1A1A"/>
          </a:solidFill>
          <a:ln/>
        </p:spPr>
        <p:txBody>
          <a:bodyPr/>
          <a:lstStyle/>
          <a:p>
            <a:endParaRPr lang="en-US"/>
          </a:p>
        </p:txBody>
      </p:sp>
      <p:sp>
        <p:nvSpPr>
          <p:cNvPr id="14" name="Shape 12"/>
          <p:cNvSpPr/>
          <p:nvPr/>
        </p:nvSpPr>
        <p:spPr>
          <a:xfrm>
            <a:off x="6200623" y="4010025"/>
            <a:ext cx="5457673" cy="2066925"/>
          </a:xfrm>
          <a:prstGeom prst="rect">
            <a:avLst/>
          </a:prstGeom>
          <a:solidFill>
            <a:srgbClr val="F2F2F2"/>
          </a:solidFill>
          <a:ln w="6350">
            <a:solidFill>
              <a:srgbClr val="F2F2F2"/>
            </a:solidFill>
            <a:prstDash val="solid"/>
          </a:ln>
        </p:spPr>
        <p:txBody>
          <a:bodyPr/>
          <a:lstStyle/>
          <a:p>
            <a:endParaRPr lang="en-US"/>
          </a:p>
        </p:txBody>
      </p:sp>
      <p:sp>
        <p:nvSpPr>
          <p:cNvPr id="15" name="Text 13"/>
          <p:cNvSpPr/>
          <p:nvPr/>
        </p:nvSpPr>
        <p:spPr>
          <a:xfrm>
            <a:off x="6391123" y="4133850"/>
            <a:ext cx="5076673" cy="276225"/>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And it sets the effort and fee</a:t>
            </a:r>
            <a:endParaRPr lang="en-US" sz="2000" dirty="0"/>
          </a:p>
        </p:txBody>
      </p:sp>
      <p:sp>
        <p:nvSpPr>
          <p:cNvPr id="16" name="Text 14"/>
          <p:cNvSpPr/>
          <p:nvPr/>
        </p:nvSpPr>
        <p:spPr>
          <a:xfrm>
            <a:off x="6391123" y="4486275"/>
            <a:ext cx="5076673" cy="1514475"/>
          </a:xfrm>
          <a:prstGeom prst="rect">
            <a:avLst/>
          </a:prstGeom>
          <a:noFill/>
          <a:ln/>
        </p:spPr>
        <p:txBody>
          <a:bodyPr wrap="square" rtlCol="0" anchor="t"/>
          <a:lstStyle/>
          <a:p>
            <a:pPr marL="0" indent="0">
              <a:lnSpc>
                <a:spcPct val="130000"/>
              </a:lnSpc>
              <a:buNone/>
            </a:pPr>
            <a:r>
              <a:rPr lang="en-US" sz="2000" dirty="0">
                <a:solidFill>
                  <a:srgbClr val="3D3D3D"/>
                </a:solidFill>
                <a:latin typeface="Arial" pitchFamily="34" charset="0"/>
                <a:ea typeface="Arial" pitchFamily="34" charset="-122"/>
                <a:cs typeface="Arial" pitchFamily="34" charset="-120"/>
              </a:rPr>
              <a:t>No sampling, no testing, no evidence review. A tenth of the effort — and a tenth of the assurance.</a:t>
            </a:r>
            <a:endParaRPr lang="en-US" sz="2000" dirty="0"/>
          </a:p>
        </p:txBody>
      </p:sp>
      <p:sp>
        <p:nvSpPr>
          <p:cNvPr id="17" name="Text 15"/>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engagement letter, Jan 2026 — verbatim</a:t>
            </a:r>
            <a:endParaRPr lang="en-US" sz="1300" dirty="0"/>
          </a:p>
        </p:txBody>
      </p:sp>
      <p:sp>
        <p:nvSpPr>
          <p:cNvPr id="18" name="Text 16"/>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88</a:t>
            </a:r>
            <a:endParaRPr lang="en-US" sz="13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DEBRIEF</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And the Work Steps Underneath</a:t>
            </a:r>
            <a:endParaRPr lang="en-US" sz="3000" dirty="0"/>
          </a:p>
        </p:txBody>
      </p:sp>
      <p:sp>
        <p:nvSpPr>
          <p:cNvPr id="4" name="Text 2"/>
          <p:cNvSpPr/>
          <p:nvPr/>
        </p:nvSpPr>
        <p:spPr>
          <a:xfrm>
            <a:off x="533400" y="1847850"/>
            <a:ext cx="11124895" cy="4000500"/>
          </a:xfrm>
          <a:prstGeom prst="rect">
            <a:avLst/>
          </a:prstGeom>
          <a:noFill/>
          <a:ln/>
        </p:spPr>
        <p:txBody>
          <a:bodyPr wrap="square" rtlCol="0" anchor="t"/>
          <a:lstStyle/>
          <a:p>
            <a:pPr marL="342900" indent="-342900">
              <a:lnSpc>
                <a:spcPct val="135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Review existing documentation, focused on the two that need board endorsement</a:t>
            </a:r>
            <a:endParaRPr lang="en-US" sz="1800" dirty="0"/>
          </a:p>
          <a:p>
            <a:pPr marL="342900" indent="-342900">
              <a:lnSpc>
                <a:spcPct val="135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Request policies, procedures, playbooks, continuity and recovery plans, risk processes</a:t>
            </a:r>
            <a:endParaRPr lang="en-US" sz="1800" dirty="0"/>
          </a:p>
          <a:p>
            <a:pPr marL="342900" indent="-342900">
              <a:lnSpc>
                <a:spcPct val="135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Request architecture and network diagrams of the CCSs and their supporting ecosystem</a:t>
            </a:r>
            <a:endParaRPr lang="en-US" sz="1800" dirty="0"/>
          </a:p>
          <a:p>
            <a:pPr marL="342900" indent="-342900">
              <a:lnSpc>
                <a:spcPct val="135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Interview key personnel to validate the documents and surface undocumented practice</a:t>
            </a:r>
            <a:endParaRPr lang="en-US" sz="1800" dirty="0"/>
          </a:p>
          <a:p>
            <a:pPr marL="342900" indent="-342900">
              <a:lnSpc>
                <a:spcPct val="135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Map current documentation against the requirements, and review the client's own cross-reference</a:t>
            </a:r>
            <a:endParaRPr lang="en-US" sz="1800" dirty="0"/>
          </a:p>
          <a:p>
            <a:pPr marL="342900" indent="-342900">
              <a:lnSpc>
                <a:spcPct val="135000"/>
              </a:lnSpc>
              <a:spcAft>
                <a:spcPts val="1000"/>
              </a:spcAft>
              <a:buSzPct val="100000"/>
              <a:buChar char="—"/>
            </a:pPr>
            <a:r>
              <a:rPr lang="en-US" sz="1800" b="1" dirty="0">
                <a:solidFill>
                  <a:srgbClr val="3D3D3D"/>
                </a:solidFill>
                <a:latin typeface="Arial" pitchFamily="34" charset="0"/>
                <a:ea typeface="Arial" pitchFamily="34" charset="-122"/>
                <a:cs typeface="Arial" pitchFamily="34" charset="-120"/>
              </a:rPr>
              <a:t>Identify control design gaps, rated critical, high, medium or low</a:t>
            </a:r>
            <a:endParaRPr lang="en-US" sz="1800" dirty="0"/>
          </a:p>
          <a:p>
            <a:pPr marL="342900" indent="-342900">
              <a:lnSpc>
                <a:spcPct val="135000"/>
              </a:lnSpc>
              <a:spcAft>
                <a:spcPts val="1000"/>
              </a:spcAft>
              <a:buSzPct val="100000"/>
              <a:buChar char="—"/>
            </a:pPr>
            <a:r>
              <a:rPr lang="en-US" sz="1800" dirty="0">
                <a:solidFill>
                  <a:srgbClr val="3D3D3D"/>
                </a:solidFill>
                <a:latin typeface="Arial" pitchFamily="34" charset="0"/>
                <a:ea typeface="Arial" pitchFamily="34" charset="-122"/>
                <a:cs typeface="Arial" pitchFamily="34" charset="-120"/>
              </a:rPr>
              <a:t>Recommend remediation as quick fixes, medium-term fixes and long-term initiatives</a:t>
            </a:r>
            <a:endParaRPr lang="en-US" sz="1800" dirty="0"/>
          </a:p>
        </p:txBody>
      </p:sp>
      <p:sp>
        <p:nvSpPr>
          <p:cNvPr id="5" name="Text 3"/>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Sanitised engagement letter, Jan 2026 — work steps as written  ·  Code of Practice v1.0 §6.2.3 cross-reference requirement</a:t>
            </a:r>
            <a:endParaRPr lang="en-US" sz="1300" dirty="0"/>
          </a:p>
        </p:txBody>
      </p:sp>
      <p:sp>
        <p:nvSpPr>
          <p:cNvPr id="6"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87</a:t>
            </a:r>
            <a:endParaRPr lang="en-US" sz="13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33400" y="704850"/>
            <a:ext cx="11124895" cy="209550"/>
          </a:xfrm>
          <a:prstGeom prst="rect">
            <a:avLst/>
          </a:prstGeom>
          <a:noFill/>
          <a:ln/>
        </p:spPr>
        <p:txBody>
          <a:bodyPr wrap="square" rtlCol="0" anchor="ctr"/>
          <a:lstStyle/>
          <a:p>
            <a:pPr marL="0" indent="0">
              <a:buNone/>
            </a:pPr>
            <a:r>
              <a:rPr lang="en-US" sz="1600" b="1" kern="0" spc="120" dirty="0">
                <a:solidFill>
                  <a:srgbClr val="D04A02"/>
                </a:solidFill>
                <a:latin typeface="Arial" pitchFamily="34" charset="0"/>
                <a:ea typeface="Arial" pitchFamily="34" charset="-122"/>
                <a:cs typeface="Arial" pitchFamily="34" charset="-120"/>
              </a:rPr>
              <a:t>DEBRIEF</a:t>
            </a:r>
            <a:endParaRPr lang="en-US" sz="1600" dirty="0"/>
          </a:p>
        </p:txBody>
      </p:sp>
      <p:sp>
        <p:nvSpPr>
          <p:cNvPr id="3" name="Text 1"/>
          <p:cNvSpPr/>
          <p:nvPr/>
        </p:nvSpPr>
        <p:spPr>
          <a:xfrm>
            <a:off x="533400" y="990600"/>
            <a:ext cx="11124895" cy="533400"/>
          </a:xfrm>
          <a:prstGeom prst="rect">
            <a:avLst/>
          </a:prstGeom>
          <a:noFill/>
          <a:ln/>
        </p:spPr>
        <p:txBody>
          <a:bodyPr wrap="square" rtlCol="0" anchor="t"/>
          <a:lstStyle/>
          <a:p>
            <a:pPr marL="0" indent="0">
              <a:buNone/>
            </a:pPr>
            <a:r>
              <a:rPr lang="en-US" sz="3000" dirty="0">
                <a:solidFill>
                  <a:srgbClr val="1A1A1A"/>
                </a:solidFill>
                <a:latin typeface="Georgia" pitchFamily="34" charset="0"/>
                <a:ea typeface="Georgia" pitchFamily="34" charset="-122"/>
                <a:cs typeface="Georgia" pitchFamily="34" charset="-120"/>
              </a:rPr>
              <a:t>Listen to Your Own Verbs</a:t>
            </a:r>
            <a:endParaRPr lang="en-US" sz="3000" dirty="0"/>
          </a:p>
        </p:txBody>
      </p:sp>
      <p:graphicFrame>
        <p:nvGraphicFramePr>
          <p:cNvPr id="86" name="Table 0"/>
          <p:cNvGraphicFramePr>
            <a:graphicFrameLocks noGrp="1"/>
          </p:cNvGraphicFramePr>
          <p:nvPr/>
        </p:nvGraphicFramePr>
        <p:xfrm>
          <a:off x="533400" y="1847850"/>
          <a:ext cx="11049000" cy="2809875"/>
        </p:xfrm>
        <a:graphic>
          <a:graphicData uri="http://schemas.openxmlformats.org/drawingml/2006/table">
            <a:tbl>
              <a:tblPr/>
              <a:tblGrid>
                <a:gridCol w="4572000">
                  <a:extLst>
                    <a:ext uri="{9D8B030D-6E8A-4147-A177-3AD203B41FA5}">
                      <a16:colId xmlns:a16="http://schemas.microsoft.com/office/drawing/2014/main" val="20000"/>
                    </a:ext>
                  </a:extLst>
                </a:gridCol>
                <a:gridCol w="2667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936625">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If you wrote</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You proposed</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600" b="1" kern="0" spc="110" dirty="0">
                          <a:solidFill>
                            <a:srgbClr val="7A7A7A"/>
                          </a:solidFill>
                          <a:latin typeface="Arial" pitchFamily="34" charset="0"/>
                          <a:ea typeface="Arial" pitchFamily="34" charset="-122"/>
                          <a:cs typeface="Arial" pitchFamily="34" charset="-120"/>
                        </a:rPr>
                        <a:t>And then</a:t>
                      </a:r>
                      <a:endParaRPr lang="en-US" sz="1600" dirty="0">
                        <a:latin typeface="Arial" charset="0"/>
                        <a:ea typeface="Arial" charset="0"/>
                        <a:cs typeface="Arial" charset="0"/>
                      </a:endParaRPr>
                    </a:p>
                  </a:txBody>
                  <a:tcPr anchor="ctr">
                    <a:lnL w="0" cap="flat" cmpd="sng" algn="ctr">
                      <a:noFill/>
                    </a:lnL>
                    <a:lnR w="0" cap="flat" cmpd="sng" algn="ctr">
                      <a:noFill/>
                    </a:lnR>
                    <a:lnT w="0" cap="flat" cmpd="sng" algn="ctr">
                      <a:noFill/>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936625">
                <a:tc>
                  <a:txBody>
                    <a:bodyPr/>
                    <a:lstStyle/>
                    <a:p>
                      <a:pPr marL="0" indent="0" algn="l">
                        <a:buNone/>
                      </a:pPr>
                      <a:r>
                        <a:rPr lang="en-US" sz="1700" b="1" dirty="0">
                          <a:solidFill>
                            <a:srgbClr val="3D3D3D"/>
                          </a:solidFill>
                          <a:latin typeface="Arial" pitchFamily="34" charset="0"/>
                          <a:ea typeface="Arial" pitchFamily="34" charset="-122"/>
                          <a:cs typeface="Arial" pitchFamily="34" charset="-120"/>
                        </a:rPr>
                        <a:t>Assess · review · validate · test · verify · report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D04A02"/>
                          </a:solidFill>
                          <a:latin typeface="Arial" pitchFamily="34" charset="0"/>
                          <a:ea typeface="Arial" pitchFamily="34" charset="-122"/>
                          <a:cs typeface="Arial" pitchFamily="34" charset="-120"/>
                        </a:rPr>
                        <a:t>Audit work</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You keep your independence, and the biennial audit stays open to you</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36625">
                <a:tc>
                  <a:txBody>
                    <a:bodyPr/>
                    <a:lstStyle/>
                    <a:p>
                      <a:pPr marL="0" indent="0" algn="l">
                        <a:buNone/>
                      </a:pPr>
                      <a:r>
                        <a:rPr lang="en-US" sz="1700" b="1" dirty="0">
                          <a:solidFill>
                            <a:srgbClr val="3D3D3D"/>
                          </a:solidFill>
                          <a:latin typeface="Arial" pitchFamily="34" charset="0"/>
                          <a:ea typeface="Arial" pitchFamily="34" charset="-122"/>
                          <a:cs typeface="Arial" pitchFamily="34" charset="-120"/>
                        </a:rPr>
                        <a:t>Design · implement · build · configure · operate · run</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b="1" dirty="0">
                          <a:solidFill>
                            <a:srgbClr val="1E7A46"/>
                          </a:solidFill>
                          <a:latin typeface="Arial" pitchFamily="34" charset="0"/>
                          <a:ea typeface="Arial" pitchFamily="34" charset="-122"/>
                          <a:cs typeface="Arial" pitchFamily="34" charset="-120"/>
                        </a:rPr>
                        <a:t>Consulting work</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tc>
                  <a:txBody>
                    <a:bodyPr/>
                    <a:lstStyle/>
                    <a:p>
                      <a:pPr marL="0" indent="0" algn="l">
                        <a:buNone/>
                      </a:pPr>
                      <a:r>
                        <a:rPr lang="en-US" sz="1700" dirty="0">
                          <a:solidFill>
                            <a:srgbClr val="3D3D3D"/>
                          </a:solidFill>
                          <a:latin typeface="Arial" pitchFamily="34" charset="0"/>
                          <a:ea typeface="Arial" pitchFamily="34" charset="-122"/>
                          <a:cs typeface="Arial" pitchFamily="34" charset="-120"/>
                        </a:rPr>
                        <a:t>Bigger, longer, more valuable — and §6.4 now shuts you out of the audit</a:t>
                      </a:r>
                      <a:endParaRPr lang="en-US" sz="1700" dirty="0">
                        <a:latin typeface="Arial" charset="0"/>
                        <a:ea typeface="Arial" charset="0"/>
                        <a:cs typeface="Arial" charset="0"/>
                      </a:endParaRPr>
                    </a:p>
                  </a:txBody>
                  <a:tcPr anchor="ctr">
                    <a:lnL w="0" cap="flat" cmpd="sng" algn="ctr">
                      <a:noFill/>
                    </a:lnL>
                    <a:lnR w="0" cap="flat" cmpd="sng" algn="ctr">
                      <a:noFill/>
                    </a:lnR>
                    <a:lnT w="6350" cap="flat" cmpd="sng" algn="ctr">
                      <a:solidFill>
                        <a:srgbClr val="D8D8D8"/>
                      </a:solidFill>
                      <a:prstDash val="solid"/>
                      <a:round/>
                      <a:headEnd type="none" w="med" len="med"/>
                      <a:tailEnd type="none" w="med" len="med"/>
                    </a:lnT>
                    <a:lnB w="6350" cap="flat" cmpd="sng" algn="ctr">
                      <a:solidFill>
                        <a:srgbClr val="D8D8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5" name="Shape 2"/>
          <p:cNvSpPr/>
          <p:nvPr/>
        </p:nvSpPr>
        <p:spPr>
          <a:xfrm>
            <a:off x="533400" y="2760889"/>
            <a:ext cx="11124895" cy="19050"/>
          </a:xfrm>
          <a:prstGeom prst="rect">
            <a:avLst/>
          </a:prstGeom>
          <a:solidFill>
            <a:srgbClr val="1A1A1A"/>
          </a:solidFill>
          <a:ln/>
        </p:spPr>
        <p:txBody>
          <a:bodyPr/>
          <a:lstStyle/>
          <a:p>
            <a:endParaRPr lang="en-US"/>
          </a:p>
        </p:txBody>
      </p:sp>
      <p:sp>
        <p:nvSpPr>
          <p:cNvPr id="6" name="Shape 3"/>
          <p:cNvSpPr/>
          <p:nvPr/>
        </p:nvSpPr>
        <p:spPr>
          <a:xfrm>
            <a:off x="533400" y="4895850"/>
            <a:ext cx="11124895" cy="28575"/>
          </a:xfrm>
          <a:prstGeom prst="rect">
            <a:avLst/>
          </a:prstGeom>
          <a:solidFill>
            <a:srgbClr val="D04A02"/>
          </a:solidFill>
          <a:ln/>
        </p:spPr>
        <p:txBody>
          <a:bodyPr/>
          <a:lstStyle/>
          <a:p>
            <a:endParaRPr lang="en-US"/>
          </a:p>
        </p:txBody>
      </p:sp>
      <p:sp>
        <p:nvSpPr>
          <p:cNvPr id="7" name="Shape 4"/>
          <p:cNvSpPr/>
          <p:nvPr/>
        </p:nvSpPr>
        <p:spPr>
          <a:xfrm>
            <a:off x="533400" y="4924425"/>
            <a:ext cx="11124895" cy="1152525"/>
          </a:xfrm>
          <a:prstGeom prst="rect">
            <a:avLst/>
          </a:prstGeom>
          <a:solidFill>
            <a:srgbClr val="FDF0E6"/>
          </a:solidFill>
          <a:ln w="6350">
            <a:solidFill>
              <a:srgbClr val="FDF0E6"/>
            </a:solidFill>
            <a:prstDash val="solid"/>
          </a:ln>
        </p:spPr>
        <p:txBody>
          <a:bodyPr/>
          <a:lstStyle/>
          <a:p>
            <a:endParaRPr lang="en-US"/>
          </a:p>
        </p:txBody>
      </p:sp>
      <p:sp>
        <p:nvSpPr>
          <p:cNvPr id="8" name="Text 5"/>
          <p:cNvSpPr/>
          <p:nvPr/>
        </p:nvSpPr>
        <p:spPr>
          <a:xfrm>
            <a:off x="723900" y="5048250"/>
            <a:ext cx="10743895" cy="533400"/>
          </a:xfrm>
          <a:prstGeom prst="rect">
            <a:avLst/>
          </a:prstGeom>
          <a:noFill/>
          <a:ln/>
        </p:spPr>
        <p:txBody>
          <a:bodyPr wrap="square" rtlCol="0" anchor="t"/>
          <a:lstStyle/>
          <a:p>
            <a:pPr marL="0" indent="0">
              <a:buNone/>
            </a:pPr>
            <a:r>
              <a:rPr lang="en-US" sz="2000" b="1" dirty="0">
                <a:solidFill>
                  <a:srgbClr val="1A1A1A"/>
                </a:solidFill>
                <a:latin typeface="Arial" pitchFamily="34" charset="0"/>
                <a:ea typeface="Arial" pitchFamily="34" charset="-122"/>
                <a:cs typeface="Arial" pitchFamily="34" charset="-120"/>
              </a:rPr>
              <a:t>Both are honest work. Neither is better. But you cannot sell both to the same client for the same systems.</a:t>
            </a:r>
            <a:endParaRPr lang="en-US" sz="2000" dirty="0"/>
          </a:p>
        </p:txBody>
      </p:sp>
      <p:sp>
        <p:nvSpPr>
          <p:cNvPr id="9" name="Text 6"/>
          <p:cNvSpPr/>
          <p:nvPr/>
        </p:nvSpPr>
        <p:spPr>
          <a:xfrm>
            <a:off x="533400" y="6229350"/>
            <a:ext cx="11124895" cy="247650"/>
          </a:xfrm>
          <a:prstGeom prst="rect">
            <a:avLst/>
          </a:prstGeom>
          <a:noFill/>
          <a:ln/>
        </p:spPr>
        <p:txBody>
          <a:bodyPr wrap="square" rtlCol="0" anchor="ctr"/>
          <a:lstStyle/>
          <a:p>
            <a:pPr marL="0" indent="0">
              <a:buNone/>
            </a:pPr>
            <a:r>
              <a:rPr lang="en-US" sz="1300" dirty="0">
                <a:solidFill>
                  <a:srgbClr val="7A7A7A"/>
                </a:solidFill>
                <a:latin typeface="Arial" pitchFamily="34" charset="0"/>
                <a:ea typeface="Arial" pitchFamily="34" charset="-122"/>
                <a:cs typeface="Arial" pitchFamily="34" charset="-120"/>
              </a:rPr>
              <a:t>Cap. 653 s.25  ·  Code of Practice v1.0 §6.4.2 — the auditor may not be the designer or maintainer of the controls under audit</a:t>
            </a:r>
            <a:endParaRPr lang="en-US" sz="1300" dirty="0"/>
          </a:p>
        </p:txBody>
      </p:sp>
      <p:sp>
        <p:nvSpPr>
          <p:cNvPr id="10" name="Text 7"/>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85</a:t>
            </a:r>
            <a:endParaRPr lang="en-US" sz="1300" dirty="0"/>
          </a:p>
        </p:txBody>
      </p:sp>
    </p:spTree>
    <p:extLst>
      <p:ext uri="{BB962C8B-B14F-4D97-AF65-F5344CB8AC3E}">
        <p14:creationId xmlns:p14="http://schemas.microsoft.com/office/powerpoint/2010/main" val="420201755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33400" y="2196060"/>
            <a:ext cx="11124895" cy="247650"/>
          </a:xfrm>
          <a:prstGeom prst="rect">
            <a:avLst/>
          </a:prstGeom>
          <a:noFill/>
          <a:ln/>
        </p:spPr>
        <p:txBody>
          <a:bodyPr wrap="square" rtlCol="0" anchor="ctr"/>
          <a:lstStyle/>
          <a:p>
            <a:pPr marL="0" indent="0">
              <a:buNone/>
            </a:pPr>
            <a:r>
              <a:rPr lang="en-US" sz="1600" b="1" kern="0" spc="140" dirty="0">
                <a:solidFill>
                  <a:srgbClr val="D04A02"/>
                </a:solidFill>
                <a:latin typeface="Arial" pitchFamily="34" charset="0"/>
                <a:ea typeface="Arial" pitchFamily="34" charset="-122"/>
                <a:cs typeface="Arial" pitchFamily="34" charset="-120"/>
              </a:rPr>
              <a:t>NEXT WEEK</a:t>
            </a:r>
            <a:endParaRPr lang="en-US" sz="1600" dirty="0"/>
          </a:p>
        </p:txBody>
      </p:sp>
      <p:sp>
        <p:nvSpPr>
          <p:cNvPr id="3" name="Text 1"/>
          <p:cNvSpPr/>
          <p:nvPr/>
        </p:nvSpPr>
        <p:spPr>
          <a:xfrm>
            <a:off x="533400" y="2381250"/>
            <a:ext cx="10096500" cy="1905000"/>
          </a:xfrm>
          <a:prstGeom prst="rect">
            <a:avLst/>
          </a:prstGeom>
          <a:noFill/>
          <a:ln/>
        </p:spPr>
        <p:txBody>
          <a:bodyPr wrap="square" rtlCol="0" anchor="t"/>
          <a:lstStyle/>
          <a:p>
            <a:pPr marL="0" indent="0">
              <a:lnSpc>
                <a:spcPct val="120000"/>
              </a:lnSpc>
              <a:buNone/>
            </a:pPr>
            <a:r>
              <a:rPr lang="en-US" sz="3400" dirty="0">
                <a:solidFill>
                  <a:srgbClr val="1A1A1A"/>
                </a:solidFill>
                <a:latin typeface="Georgia" pitchFamily="34" charset="0"/>
                <a:ea typeface="Georgia" pitchFamily="34" charset="-122"/>
                <a:cs typeface="Georgia" pitchFamily="34" charset="-120"/>
              </a:rPr>
              <a:t>The law tells you what must be true.</a:t>
            </a:r>
            <a:endParaRPr lang="en-US" sz="3400" dirty="0"/>
          </a:p>
          <a:p>
            <a:pPr marL="0" indent="0">
              <a:lnSpc>
                <a:spcPct val="120000"/>
              </a:lnSpc>
              <a:buNone/>
            </a:pPr>
            <a:r>
              <a:rPr lang="en-US" sz="3400" dirty="0">
                <a:solidFill>
                  <a:srgbClr val="1A1A1A"/>
                </a:solidFill>
                <a:latin typeface="Georgia" pitchFamily="34" charset="0"/>
                <a:ea typeface="Georgia" pitchFamily="34" charset="-122"/>
                <a:cs typeface="Georgia" pitchFamily="34" charset="-120"/>
              </a:rPr>
              <a:t>It does not tell you how to know</a:t>
            </a:r>
            <a:endParaRPr lang="en-US" sz="3400" dirty="0"/>
          </a:p>
          <a:p>
            <a:pPr marL="0" indent="0">
              <a:lnSpc>
                <a:spcPct val="120000"/>
              </a:lnSpc>
              <a:buNone/>
            </a:pPr>
            <a:r>
              <a:rPr lang="en-US" sz="3400" dirty="0">
                <a:solidFill>
                  <a:srgbClr val="1A1A1A"/>
                </a:solidFill>
                <a:latin typeface="Georgia" pitchFamily="34" charset="0"/>
                <a:ea typeface="Georgia" pitchFamily="34" charset="-122"/>
                <a:cs typeface="Georgia" pitchFamily="34" charset="-120"/>
              </a:rPr>
              <a:t>whether it is.</a:t>
            </a:r>
            <a:endParaRPr lang="en-US" sz="3400" dirty="0"/>
          </a:p>
        </p:txBody>
      </p:sp>
      <p:sp>
        <p:nvSpPr>
          <p:cNvPr id="4" name="Shape 2"/>
          <p:cNvSpPr/>
          <p:nvPr/>
        </p:nvSpPr>
        <p:spPr>
          <a:xfrm>
            <a:off x="533400" y="4457700"/>
            <a:ext cx="1143000" cy="28575"/>
          </a:xfrm>
          <a:prstGeom prst="rect">
            <a:avLst/>
          </a:prstGeom>
          <a:solidFill>
            <a:srgbClr val="D04A02"/>
          </a:solidFill>
          <a:ln/>
        </p:spPr>
        <p:txBody>
          <a:bodyPr/>
          <a:lstStyle/>
          <a:p>
            <a:endParaRPr lang="en-US"/>
          </a:p>
        </p:txBody>
      </p:sp>
      <p:sp>
        <p:nvSpPr>
          <p:cNvPr id="5" name="Text 3"/>
          <p:cNvSpPr/>
          <p:nvPr/>
        </p:nvSpPr>
        <p:spPr>
          <a:xfrm>
            <a:off x="533400" y="4705350"/>
            <a:ext cx="8572500" cy="666750"/>
          </a:xfrm>
          <a:prstGeom prst="rect">
            <a:avLst/>
          </a:prstGeom>
          <a:noFill/>
          <a:ln/>
        </p:spPr>
        <p:txBody>
          <a:bodyPr wrap="square" rtlCol="0" anchor="ctr"/>
          <a:lstStyle/>
          <a:p>
            <a:pPr marL="0" indent="0">
              <a:lnSpc>
                <a:spcPct val="130000"/>
              </a:lnSpc>
              <a:buNone/>
            </a:pPr>
            <a:r>
              <a:rPr lang="en-US" sz="2000" dirty="0">
                <a:solidFill>
                  <a:srgbClr val="7A7A7A"/>
                </a:solidFill>
                <a:latin typeface="Arial" pitchFamily="34" charset="0"/>
                <a:ea typeface="Arial" pitchFamily="34" charset="-122"/>
                <a:cs typeface="Arial" pitchFamily="34" charset="-120"/>
              </a:rPr>
              <a:t>Week 3 — personal data, the PCPD, and what happens when the regulator publishes your investigation.</a:t>
            </a:r>
            <a:endParaRPr lang="en-US" sz="2000" dirty="0"/>
          </a:p>
        </p:txBody>
      </p:sp>
      <p:sp>
        <p:nvSpPr>
          <p:cNvPr id="6" name="Text 4"/>
          <p:cNvSpPr/>
          <p:nvPr/>
        </p:nvSpPr>
        <p:spPr>
          <a:xfrm>
            <a:off x="1104900" y="6553200"/>
            <a:ext cx="6667500" cy="209550"/>
          </a:xfrm>
          <a:prstGeom prst="rect">
            <a:avLst/>
          </a:prstGeom>
          <a:noFill/>
          <a:ln/>
        </p:spPr>
        <p:txBody>
          <a:bodyPr wrap="square" rtlCol="0" anchor="ctr"/>
          <a:lstStyle/>
          <a:p>
            <a:pPr marL="0" indent="0" algn="l">
              <a:buNone/>
            </a:pPr>
            <a:r>
              <a:rPr lang="en-US" sz="1300" dirty="0">
                <a:solidFill>
                  <a:srgbClr val="7A7A7A"/>
                </a:solidFill>
                <a:latin typeface="Arial" pitchFamily="34" charset="0"/>
                <a:ea typeface="Arial" pitchFamily="34" charset="-122"/>
                <a:cs typeface="Arial" pitchFamily="34" charset="-120"/>
              </a:rPr>
              <a:t>CS5292 · Week 2 · Cap. 653  ·  96</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2091</TotalTime>
  <Words>22692</Words>
  <Application>Microsoft Macintosh PowerPoint</Application>
  <PresentationFormat>Widescreen</PresentationFormat>
  <Paragraphs>2130</Paragraphs>
  <Slides>87</Slides>
  <Notes>87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87</vt:i4>
      </vt:variant>
    </vt:vector>
  </HeadingPairs>
  <TitlesOfParts>
    <vt:vector size="90"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CS5292 Week 2 — Hong Kong Cyber Law</dc:title>
  <dc:subject>PptxGenJS Presentation</dc:subject>
  <dc:creator>Jason Lee</dc:creator>
  <cp:lastModifiedBy>Jason KA Lee (HK - ADVS)</cp:lastModifiedBy>
  <cp:revision>5</cp:revision>
  <dcterms:created xsi:type="dcterms:W3CDTF">2026-09-09T10:34:31Z</dcterms:created>
  <dcterms:modified xsi:type="dcterms:W3CDTF">2026-09-10T21:35:53Z</dcterms:modified>
</cp:coreProperties>
</file>