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Notifications</c:v>
                </c:pt>
              </c:strCache>
            </c:strRef>
          </c:tx>
          <c:spPr>
            <a:solidFill>
              <a:srgbClr val="D04A0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140</c:v>
                </c:pt>
                <c:pt idx="1">
                  <c:v>105</c:v>
                </c:pt>
                <c:pt idx="2">
                  <c:v>157</c:v>
                </c:pt>
                <c:pt idx="3">
                  <c:v>203</c:v>
                </c:pt>
                <c:pt idx="4">
                  <c:v>246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8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8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Notifications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D8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Investigation reports</c:v>
                </c:pt>
              </c:strCache>
            </c:strRef>
          </c:tx>
          <c:spPr>
            <a:solidFill>
              <a:srgbClr val="D04A0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D8D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8D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Reports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8D8D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809750"/>
            <a:ext cx="7239000" cy="266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5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Cap. 486,</a:t>
            </a:r>
            <a:endParaRPr lang="en-US" sz="5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Twenty Years On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33400" y="4305300"/>
            <a:ext cx="1143000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533900"/>
            <a:ext cx="8572500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PDPO came to be, how it changed, and the three tools PCPD actually has to enforce 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33400" y="5295900"/>
            <a:ext cx="8572500" cy="800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Week 3 · Part 1 of 2 — 90 minutes (one break mid-way)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Data (Privacy) Ordinance and the PCPD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4900" y="6553200"/>
            <a:ext cx="666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3 · Part 1  ·  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905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HALF  ·  45 MINUTES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3581400"/>
            <a:ext cx="72390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Law,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Trend.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657795" y="666750"/>
            <a:ext cx="4000500" cy="266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PDPO came from, what actually changed it over 30 years, and what the last five years of breach data say about why the regulator is leaning in harder.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04900" y="6553200"/>
            <a:ext cx="666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3 · Part 1  ·  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we’ll cover in the next 90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2000250"/>
            <a:ext cx="507667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" y="2276475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law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3900" y="2628900"/>
            <a:ext cx="5076673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Enacted 1995/96 — why, and what it actually asks of a "data user."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00623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6200623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123" y="2000250"/>
            <a:ext cx="507667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91123" y="2276475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changed 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91123" y="2628900"/>
            <a:ext cx="5076673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real amendments, each triggered by a real Hong Kong scandal.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33400" y="426720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533400" y="4295775"/>
            <a:ext cx="5457673" cy="18288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900" y="4419600"/>
            <a:ext cx="507667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3900" y="4695825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trend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3900" y="5048250"/>
            <a:ext cx="5076673" cy="1000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PCPD’s own five-year numbers on breaches and enforcement.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00623" y="426720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00623" y="4295775"/>
            <a:ext cx="5457673" cy="18288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123" y="4419600"/>
            <a:ext cx="507667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+ TOOLS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1123" y="4695825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Close to home, then the tools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91123" y="5048250"/>
            <a:ext cx="5076673" cy="1000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PowerSchool, Canvas — then the three PCPD tools, case by case.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of Asia’s oldest data-protection statutes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200025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Enacted 3 Aug 1995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3900" y="2352675"/>
            <a:ext cx="5076673" cy="1609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Legislative Council passed the Personal Data (Privacy) Ordinance, Cap. 486 — pre-dating the GDPR by roughly two decades.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00623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6200623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123" y="200025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PCPD stood up 1 Aug 1996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91123" y="2352675"/>
            <a:ext cx="5076673" cy="1609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 statutory regulator — the Privacy Commissioner for Personal Data — not a government department.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3400" y="426720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4295775"/>
            <a:ext cx="5457673" cy="18288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900" y="441960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force 20 Dec 1996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3900" y="4772025"/>
            <a:ext cx="5076673" cy="1276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Data Protection Principles — collection, retention, security, access. Still the spine of the law today.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00623" y="4267200"/>
            <a:ext cx="5457673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0623" y="4295775"/>
            <a:ext cx="5457673" cy="1828800"/>
          </a:xfrm>
          <a:prstGeom prst="rect">
            <a:avLst/>
          </a:prstGeom>
          <a:solidFill>
            <a:srgbClr val="FDF0E6"/>
          </a:solidFill>
          <a:ln w="6350">
            <a:solidFill>
              <a:srgbClr val="FDF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123" y="441960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broadly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91123" y="4772025"/>
            <a:ext cx="5076673" cy="1276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"data user" controlling personal data in or from Hong Kong. No sector carve-out.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amendments in 30 years — both after a scandal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1847850"/>
          <a:ext cx="11124895" cy="914400"/>
        </p:xfrm>
        <a:graphic>
          <a:graphicData uri="http://schemas.openxmlformats.org/drawingml/2006/table">
            <a:tbl>
              <a:tblPr/>
              <a:tblGrid>
                <a:gridCol w="1557485"/>
                <a:gridCol w="5117452"/>
                <a:gridCol w="4449958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changed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trigger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Opt-in consent required for direct marketing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Octopus Rewards — ~2.4M records sold for HK$44M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Anti-doxxing offences; search-warrant, cessation-notice powers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5,800+ doxxing complaints, 2019–21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3400" y="2886075"/>
            <a:ext cx="11124895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533400" y="5162550"/>
            <a:ext cx="11124895" cy="749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substantive change to this law has followed a concrete, named Hong Kong incident — not a policy exercise in the abstract.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AMENDMENT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scandal that got direct marketing regulated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records sold by Octopus to third-party marketers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5198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8" name="Text 6"/>
          <p:cNvSpPr/>
          <p:nvPr/>
        </p:nvSpPr>
        <p:spPr>
          <a:xfrm>
            <a:off x="4305198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HK$44M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05198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to Octopus for that data — the number that made headlines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6997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11" name="Text 9"/>
          <p:cNvSpPr/>
          <p:nvPr/>
        </p:nvSpPr>
        <p:spPr>
          <a:xfrm>
            <a:off x="8076997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Opt-in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76997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the 2012 amendment introduced: consent before use in direct marketing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3752850"/>
            <a:ext cx="11124895" cy="2000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1 Oct 2012 (most provisions); direct-marketing rules from 1 Apr 2013.</a:t>
            </a:r>
            <a:endParaRPr lang="en-US" sz="20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added a legal-assistance scheme so complainants could pursue civil claims with PCPD support.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AMENDMENT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 threat the 1995 law never anticipated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5,800+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doxxing complaints received by PCPD, Jun 2019 – 2021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5198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8" name="Text 6"/>
          <p:cNvSpPr/>
          <p:nvPr/>
        </p:nvSpPr>
        <p:spPr>
          <a:xfrm>
            <a:off x="4305198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tiers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05198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criminal offences — summary (HK$100k / 2 yrs) and indictable (HK$1M / 5 yrs)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6997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11" name="Text 9"/>
          <p:cNvSpPr/>
          <p:nvPr/>
        </p:nvSpPr>
        <p:spPr>
          <a:xfrm>
            <a:off x="8076997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76997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compliance with cessation notices by 2025, up from ~70% early 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3752850"/>
            <a:ext cx="11124895" cy="2000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skewed toward officers, judicial staff, hospital patients, and their families — intimidation, not just harassment.</a:t>
            </a:r>
            <a:endParaRPr lang="en-US" sz="20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PCPD powers: search warrants, evidence seizure, cessation notices to platforms — none existed under the original 1995 statute.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905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CHECK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3400" y="895350"/>
            <a:ext cx="609600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2098518"/>
            <a:ext cx="9906000" cy="18989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law written in 1995 has now been substantially amended twice in 30 years. Is that fast or slow, for technology regulation?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3400" y="4264182"/>
            <a:ext cx="857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THINK — RAISE YOUR HAND IF YOU’D CALL THAT SLOW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900" y="6553200"/>
            <a:ext cx="666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3 · Part 1  ·  03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 TREND · 1 OF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PCPD is seeing more breaches, not fewer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3400" y="1847850"/>
            <a:ext cx="11124895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BREACH NOTIFICATIONS RECEIVED BY PCPD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33400" y="2114550"/>
          <a:ext cx="11124895" cy="26860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33400" y="6229350"/>
            <a:ext cx="11124895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PCPD annual work statistics, press statements 2022–26 (pcpd.org.hk/english/news_events/media_statements)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 TREND · 2 OF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971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PCPD is publishing more findings, not just receiving more notices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3400" y="2286000"/>
            <a:ext cx="6897435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REPORTS PUBLISHED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33400" y="2552700"/>
          <a:ext cx="6897435" cy="2590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40385" y="2286000"/>
            <a:ext cx="4017910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7" name="Shape 4"/>
          <p:cNvSpPr/>
          <p:nvPr/>
        </p:nvSpPr>
        <p:spPr>
          <a:xfrm>
            <a:off x="7640385" y="2314575"/>
            <a:ext cx="4017910" cy="2828925"/>
          </a:xfrm>
          <a:prstGeom prst="rect">
            <a:avLst/>
          </a:prstGeom>
          <a:solidFill>
            <a:srgbClr val="FDF0E6"/>
          </a:solidFill>
          <a:ln w="6350">
            <a:solidFill>
              <a:srgbClr val="FDF0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30885" y="2438400"/>
            <a:ext cx="3636910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CAREFULLY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830885" y="2714625"/>
            <a:ext cx="363691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2024: six reports in one year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830885" y="3324225"/>
            <a:ext cx="3636910" cy="17430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orgs, one year — up from one before. Most were ransomware-triggered.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33400" y="5295900"/>
            <a:ext cx="11124895" cy="749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notices: 2021 · 1 (Nikkei) — 2022 · 1 (HKIB) — 2024 · 1 (Oxfam) — 2025 · 2 + 1 warning letter, from 3 incidents reported.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 TREND · 3 OF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971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handful of root causes, across very different organisations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2286000"/>
          <a:ext cx="11124895" cy="914400"/>
        </p:xfrm>
        <a:graphic>
          <a:graphicData uri="http://schemas.openxmlformats.org/drawingml/2006/table">
            <a:tbl>
              <a:tblPr/>
              <a:tblGrid>
                <a:gridCol w="2892473"/>
                <a:gridCol w="2669975"/>
                <a:gridCol w="3337469"/>
                <a:gridCol w="2224979"/>
              </a:tblGrid>
              <a:tr h="49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Organisation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cause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Cyberport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 + theft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MFA; excess retention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 Council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MFA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Advocacy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China Athletic Assoc.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MFA; weak policy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Sports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HK Ballet · EMSD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Breach / ransomware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Vendor oversight gap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Arts · Govt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Oxfam HK (2025)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 ("DarkHack")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Unpatched firewall; no MFA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Non-profit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3400" y="2771775"/>
            <a:ext cx="11124895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533400" y="5391150"/>
            <a:ext cx="11124895" cy="749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rarely novel. MFA never on, a policy never enforced, a vendor nobody watched. PCPD’s own Readiness Index: 52.8/100 — "basic."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HONG KONG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pattern shows up in the global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6425"/>
            <a:ext cx="5457673" cy="263842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200025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Cost of a Data Breach, 2025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3900" y="2352675"/>
            <a:ext cx="5076673" cy="2085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 cost: US$4.44M — first decline in 5 years. Causes: malicious attack 51%, human error 26%, IT failure 23%. Education bucked the trend — cost still rose.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00623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6200623" y="1876425"/>
            <a:ext cx="5457673" cy="263842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123" y="200025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Verizon DBIR, 2026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91123" y="2352675"/>
            <a:ext cx="5076673" cy="2085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of breaches involved the human element. Exploited vulnerabilities now lead initial access (31%). Third parties involved in 48% — up 60% year on year.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3400" y="4705350"/>
            <a:ext cx="11124895" cy="749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global counter of "breaches per year" exists the way PCPD publishes one for Hong Kong — these are benchmarks, not a directly comparable series.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905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TO HOME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3581400"/>
            <a:ext cx="72390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Happened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 Classroom.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657795" y="666750"/>
            <a:ext cx="4000500" cy="266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global incidents in the last 18 months, both in the education sector — the sector most directly relevant to almost everyone in this room.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04900" y="6553200"/>
            <a:ext cx="666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3 · Part 1  ·  04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POWERSCHOOL · DEC 2024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stolen support-portal credential, 62 million records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~62M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and teachers with data exposed, across thousands of US K-12 districts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5198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8" name="Text 6"/>
          <p:cNvSpPr/>
          <p:nvPr/>
        </p:nvSpPr>
        <p:spPr>
          <a:xfrm>
            <a:off x="4305198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05198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compromised credential to PowerSchool’s own support portal (PowerSource) — the entire entry point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6997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11" name="Text 9"/>
          <p:cNvSpPr/>
          <p:nvPr/>
        </p:nvSpPr>
        <p:spPr>
          <a:xfrm>
            <a:off x="8076997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SSN + health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76997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categories taken, plus academic records and contact info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3752850"/>
            <a:ext cx="11124895" cy="2095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occurred Dec 2024; disclosed Jan 2025 once districts began receiving extortion demands.</a:t>
            </a:r>
            <a:endParaRPr lang="en-US" sz="20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PowerSchool is a student-information-system vendor — one compromise cascaded into thousands of districts at once.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3400" y="6229350"/>
            <a:ext cx="11124895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TechTarget, "PowerSchool data breach: Explaining how it happened" — techtarget.com/whatis/feature/PowerSchool-data-breach-Explaining-how-it-happened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POWERSCHOOL · THE TWIST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Paying ~US$2.85M didn’t end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200025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3900" y="2352675"/>
            <a:ext cx="5076673" cy="1609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PowerSchool paid roughly US$2.85 million to the attacker, on a promise the stolen data would be deleted.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00623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6200623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123" y="200025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91123" y="2352675"/>
            <a:ext cx="5076673" cy="1609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extortion wave followed — the same data, used to demand ransom directly from individual school districts.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3400" y="426720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4295775"/>
            <a:ext cx="5457673" cy="18288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900" y="441960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outcome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3900" y="4772025"/>
            <a:ext cx="5076673" cy="1276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19-year-old in the US pled guilty; a DOJ investigation into co-conspirators is ongoing.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00623" y="4267200"/>
            <a:ext cx="5457673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0623" y="4295775"/>
            <a:ext cx="5457673" cy="1828800"/>
          </a:xfrm>
          <a:prstGeom prst="rect">
            <a:avLst/>
          </a:prstGeom>
          <a:solidFill>
            <a:srgbClr val="FDF0E6"/>
          </a:solidFill>
          <a:ln w="6350">
            <a:solidFill>
              <a:srgbClr val="FDF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123" y="441960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teaching point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91123" y="4772025"/>
            <a:ext cx="5076673" cy="1276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a ransom buys a promise, not a guarantee. Deletion is not verifiable, and it does not stop re-extortion.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905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CHECK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3400" y="895350"/>
            <a:ext cx="609600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2098518"/>
            <a:ext cx="9906000" cy="18989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PowerSchool paid the ransom, and the attacker still came back for a second round with the same stolen data.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3400" y="4264182"/>
            <a:ext cx="857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HAND IF YOU THINK PAYING A RANSOM IS EVER THE RIGHT CALL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900" y="6553200"/>
            <a:ext cx="666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3 · Part 1  ·  05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· 2026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second education breach, 18 months later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8,809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affected — the attacker claims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5198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8" name="Text 6"/>
          <p:cNvSpPr/>
          <p:nvPr/>
        </p:nvSpPr>
        <p:spPr>
          <a:xfrm>
            <a:off x="4305198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~275M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05198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accounts, across a "Free-For-Teacher" account vulnerability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6997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11" name="Text 9"/>
          <p:cNvSpPr/>
          <p:nvPr/>
        </p:nvSpPr>
        <p:spPr>
          <a:xfrm>
            <a:off x="8076997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3.65TB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76997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claimed exfiltrated, by the group ShinyHunters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3752850"/>
            <a:ext cx="11124895" cy="2381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April–May 2026. Hong Kong is named among the affected countries. A reported US$10M was paid; a class action and Congressional inquiry followed.</a:t>
            </a:r>
            <a:endParaRPr lang="en-US" sz="20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for the trend, not dissected in the same depth — recent enough some of you may have a closer connection to it than to PowerSchool.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BREAK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ties the whole first half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3400" y="1847850"/>
            <a:ext cx="11124895" cy="3238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PDPO changes when a real incident forces it — Octopus Rewards 2012, the doxxing wave 2021.</a:t>
            </a:r>
            <a:endParaRPr lang="en-US" sz="22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PCPD’s own numbers show more notifications, more published findings, year over year.</a:t>
            </a:r>
            <a:endParaRPr lang="en-US" sz="22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PowerSchool and Canvas: the same root causes as the HK 2024 reports, larger scale.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3400" y="5276850"/>
            <a:ext cx="11124895" cy="749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Next, after the break: PCPD’s three tools — inspection, investigation, enforcement notice — and three cases that show the difference.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HALF · WRAP-UP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and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3400" y="1847850"/>
            <a:ext cx="11124895" cy="2762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amendments in 30 years, both triggered by a named, real Hong Kong incident.</a:t>
            </a:r>
            <a:endParaRPr lang="en-US" sz="22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notifications to PCPD: 140 → 105 → 157 → 203 → 246, 2021–25.</a:t>
            </a:r>
            <a:endParaRPr lang="en-US" sz="22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PowerSchool and Canvas: one compromised credential or vulnerability, tens of millions of records, payment that didn’t end it.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3400" y="4800600"/>
            <a:ext cx="11124895" cy="374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— 15-minute break follows.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905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HALF  ·  45 MINUTES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3581400"/>
            <a:ext cx="72390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Ladder,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Rung by Rung.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657795" y="666750"/>
            <a:ext cx="4000500" cy="266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regulator, three different tools — each with its own trigger, its own powers, and its own consequence. We’ll compare them, then walk three real cases that escalate through all three.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04900" y="6553200"/>
            <a:ext cx="666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3 · Part 1  ·  06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we’ll cover in the next 45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2000250"/>
            <a:ext cx="507667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3900" y="2276475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Compare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3900" y="2628900"/>
            <a:ext cx="5076673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vs investigation vs enforcement notice — the PDPO clauses behind each.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00623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6200623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123" y="2000250"/>
            <a:ext cx="507667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SEVERE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91123" y="2276475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Inspection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391123" y="2628900"/>
            <a:ext cx="5076673" cy="133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Authority, 2008 — the least severe tool, and what it still achieved.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33400" y="426720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533400" y="4295775"/>
            <a:ext cx="5457673" cy="18288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900" y="4419600"/>
            <a:ext cx="507667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SEVERE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3900" y="4695825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Investigation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3900" y="5048250"/>
            <a:ext cx="5076673" cy="1000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Cathay Pacific, 2019 — five months, 2,200+ pages, and how it became an EN.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00623" y="426720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00623" y="4295775"/>
            <a:ext cx="5457673" cy="18288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123" y="4419600"/>
            <a:ext cx="5076673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SEVERE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1123" y="4695825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Enforcement Notice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91123" y="5048250"/>
            <a:ext cx="5076673" cy="1000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Oxfam Hong Kong, 2024/25 — the most severe tool in the ladder.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FIRST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Least severe to most severe — read left to right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1847850"/>
          <a:ext cx="11124895" cy="914400"/>
        </p:xfrm>
        <a:graphic>
          <a:graphicData uri="http://schemas.openxmlformats.org/drawingml/2006/table">
            <a:tbl>
              <a:tblPr/>
              <a:tblGrid>
                <a:gridCol w="1779983"/>
                <a:gridCol w="1446236"/>
                <a:gridCol w="3782464"/>
                <a:gridCol w="4116211"/>
              </a:tblGrid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produces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36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complaint needed — examines a class of data users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Recommendations only, no sanction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38 / 43(1)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complaint, breach notification, or PCPD’s own motion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report — a finding of contravention, or not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Enforcement Notice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s. 50 / 50A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an investigation finds an ongoing or recurring contravention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Remedial steps, a deadline — non-compliance is itself an offence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3400" y="2676525"/>
            <a:ext cx="11124895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533400" y="5314950"/>
            <a:ext cx="11124895" cy="749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strenuous → most severe, left to right. Investigation can lead directly into an EN.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905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CHECK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3400" y="895350"/>
            <a:ext cx="609600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2098518"/>
            <a:ext cx="9906000" cy="18989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ran a data user’s compliance team, which of these three would actually worry you the most?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3400" y="4264182"/>
            <a:ext cx="857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HAND FOR ENFORCEMENT NOTICE — THEN FOR INVESTIGATION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900" y="6553200"/>
            <a:ext cx="666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3 · Part 1  ·  07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905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SEVERE  ·  INSPECTION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3581400"/>
            <a:ext cx="72390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Hospital Authority,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657795" y="666750"/>
            <a:ext cx="4000500" cy="266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lost portable devices in three months. No complaint required — PCPD used its inspection power under s.36(b) to examine the whole system, not just the incidents.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04900" y="6553200"/>
            <a:ext cx="666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3 · Part 1  ·  08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· TRIGGER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lost devices, ~16,000 patients affected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portable-device loss incidents across HA hospitals, Mar–May 2008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5198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8" name="Text 6"/>
          <p:cNvSpPr/>
          <p:nvPr/>
        </p:nvSpPr>
        <p:spPr>
          <a:xfrm>
            <a:off x="4305198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~16,000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05198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whose data was on those devices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6997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11" name="Text 9"/>
          <p:cNvSpPr/>
          <p:nvPr/>
        </p:nvSpPr>
        <p:spPr>
          <a:xfrm>
            <a:off x="8076997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s. 36(b)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76997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statutory basis PCPD used to open a system-wide inspection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3752850"/>
            <a:ext cx="11124895" cy="2000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incident — a pattern, across multiple HA clusters, in a three-month window.</a:t>
            </a:r>
            <a:endParaRPr lang="en-US" sz="20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it’s an inspection, PCPD didn’t need a complaint or a finding of wrongdoing to start looking at the whole system.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· APPROACH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Sampling the system, not chasing ten incidents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200025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Sampled across clusters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3900" y="2352675"/>
            <a:ext cx="5076673" cy="1609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PCPD examined device-encryption practice and staff data-handling procedures across a sample of HA hospitals — not just the ten incident sites.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00623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6200623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123" y="200025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Systemic, not punitive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91123" y="2352675"/>
            <a:ext cx="5076673" cy="1609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inspection asked "how does this keep happening," not "who is at fault for these ten cases."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3400" y="426720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4295775"/>
            <a:ext cx="5457673" cy="18288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900" y="441960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compulsion needed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3900" y="4772025"/>
            <a:ext cx="5076673" cy="1276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cooperated voluntarily — inspection doesn’t carry investigation’s compelled-document powers.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00623" y="4267200"/>
            <a:ext cx="5457673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0623" y="4295775"/>
            <a:ext cx="5457673" cy="1828800"/>
          </a:xfrm>
          <a:prstGeom prst="rect">
            <a:avLst/>
          </a:prstGeom>
          <a:solidFill>
            <a:srgbClr val="FDF0E6"/>
          </a:solidFill>
          <a:ln w="6350">
            <a:solidFill>
              <a:srgbClr val="FDF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123" y="441960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recommendations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91123" y="4772025"/>
            <a:ext cx="5076673" cy="1276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could only recommend — it could not find a contravention or issue a notice.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· OUTCOME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recommendations, seven categories, zero sanctions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issued, across encryption, training, and device-handling policy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5198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8" name="Text 6"/>
          <p:cNvSpPr/>
          <p:nvPr/>
        </p:nvSpPr>
        <p:spPr>
          <a:xfrm>
            <a:off x="4305198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05198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of recommendation — a full systemic review, not a patch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6997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11" name="Text 9"/>
          <p:cNvSpPr/>
          <p:nvPr/>
        </p:nvSpPr>
        <p:spPr>
          <a:xfrm>
            <a:off x="8076997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76997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sanctions — inspection cannot make a contravention finding, by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3752850"/>
            <a:ext cx="11124895" cy="2000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ceiling of what an inspection can do: it can name a systemic weakness in detail, but it cannot punish it.</a:t>
            </a:r>
            <a:endParaRPr lang="en-US" sz="20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the contrast we’ll build toward — Cathay Pacific and Oxfam both went further, into findings and sanctions.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905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SEVERE  ·  INVESTIGATION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3581400"/>
            <a:ext cx="72390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Cathay Pacific,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657795" y="666750"/>
            <a:ext cx="4000500" cy="266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 million passengers’ data, a five-month investigation under s.38(b), and — unlike the HA inspection — a formal finding of contravention.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04900" y="6553200"/>
            <a:ext cx="666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3 · Part 1  ·  09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· TRIGGER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breach notification became a formal investigation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9.4M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passengers’ data unauthorised access, disclosed 24 Oct 2018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5198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8" name="Text 6"/>
          <p:cNvSpPr/>
          <p:nvPr/>
        </p:nvSpPr>
        <p:spPr>
          <a:xfrm>
            <a:off x="4305198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s. 38(b)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05198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statutory basis — PCPD found "reasonable grounds" after an initial compliance check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6997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11" name="Text 9"/>
          <p:cNvSpPr/>
          <p:nvPr/>
        </p:nvSpPr>
        <p:spPr>
          <a:xfrm>
            <a:off x="8076997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s. 43(1)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76997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actually used — compel information, documents, and inquiries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3752850"/>
            <a:ext cx="11124895" cy="2000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step an inspection can’t take: PCPD could compel Cathay to produce documents, not just ask nicely.</a:t>
            </a:r>
            <a:endParaRPr lang="en-US" sz="20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Cathay claimed legal-professional privilege over its own forensic firm’s report — a real friction point in how far "compel" reaches.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· PROCESS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"compelled information" looked like in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200025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written responses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3900" y="2352675"/>
            <a:ext cx="5076673" cy="1609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Cathay produced over 2,200 pages in response to PCPD’s document requests.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00623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6200623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123" y="200025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independent expert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91123" y="2352675"/>
            <a:ext cx="5076673" cy="1609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PCPD engaged its own technical expert as a "second opinion" — the system was too complex to take Cathay’s word for it.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3400" y="426720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4295775"/>
            <a:ext cx="5457673" cy="1828800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900" y="441960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months to gather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3900" y="4772025"/>
            <a:ext cx="5076673" cy="1276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PCPD said gathering the necessary information took five months — granting every extension Cathay requested.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00623" y="4267200"/>
            <a:ext cx="5457673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00623" y="4295775"/>
            <a:ext cx="5457673" cy="1828800"/>
          </a:xfrm>
          <a:prstGeom prst="rect">
            <a:avLst/>
          </a:prstGeom>
          <a:solidFill>
            <a:srgbClr val="FDF0E6"/>
          </a:solidFill>
          <a:ln w="6350">
            <a:solidFill>
              <a:srgbClr val="FDF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123" y="441960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 6 Jun 2019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91123" y="4772025"/>
            <a:ext cx="5076673" cy="12763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24 Oct 2018 disclosure to a published report — a very different timescale from a compliance check.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· FINDINGS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contraventions — not just "there was a breach"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1847850"/>
          <a:ext cx="11124895" cy="914400"/>
        </p:xfrm>
        <a:graphic>
          <a:graphicData uri="http://schemas.openxmlformats.org/drawingml/2006/table">
            <a:tbl>
              <a:tblPr/>
              <a:tblGrid>
                <a:gridCol w="2669975"/>
                <a:gridCol w="8454920"/>
              </a:tblGrid>
              <a:tr h="10953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Principle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PCPD found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DPP4(1) · Security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Unpatched known vulnerability since 2007; annual-only scanning; exposed admin port; MFA for IT staff only (41 stolen credentials used over VPN); unencrypted backups; no data inventory until Aug 2017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DPP2(2) · Retention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~240,000 HKID numbers kept 13+ years after the purpose for collecting them had ended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3400" y="2933700"/>
            <a:ext cx="11124895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533400" y="5286375"/>
            <a:ext cx="11124895" cy="749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an investigation can do that an inspection can’t: name specific, dated contraventions of specific principles — not just "improve your practices."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· THE BUILD-UP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didn’t stop at a report — it became an 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3400" y="1847850"/>
            <a:ext cx="11124895" cy="3619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investigation found a contravention, PCPD issued an Enforcement Notice under s.50(1) — the tool above investigation on the ladder.</a:t>
            </a:r>
            <a:endParaRPr lang="en-US" sz="20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Directed: independent expert remediation; MFA for all remote users; scheduled vulnerability scans; periodic testing; a written retention policy; proof of compliance within 6 months; elimination of unnecessary HKID numbers; certification 3 months after that.</a:t>
            </a:r>
            <a:endParaRPr lang="en-US" sz="20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to hold onto: investigation finds the contravention, enforcement notice forces the fix.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905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CHECK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33400" y="895350"/>
            <a:ext cx="609600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1797898"/>
            <a:ext cx="9906000" cy="2500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Cathay Pacific had two-factor authentication — but only for its IT support staff, not for the other remote users whose stolen credentials were used.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3400" y="4564802"/>
            <a:ext cx="85725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1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HAND IF YOU THINK THAT COUNTS AS "ALL REASONABLY PRACTICABLE STEPS"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4900" y="6553200"/>
            <a:ext cx="666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3 · Part 1  ·  10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590550"/>
            <a:ext cx="57150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4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SEVERE  ·  ENFORCEMENT NOTICE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3581400"/>
            <a:ext cx="7239000" cy="152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Oxfam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Hong Kong.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657795" y="666750"/>
            <a:ext cx="4000500" cy="266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self-reported ransomware attack, the same two contraventions we just saw at Cathay Pacific, and an Enforcement Notice with far less public detail than Cathay’s.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04900" y="6553200"/>
            <a:ext cx="6667500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CS5292 · Week 3 · Part 1  ·  11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NOTICE · TRIGGER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Self-reported ransomware, seven identified deficiencies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~550,000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400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subjects affected — 330GB+ exfiltrated from 37 servers, 24 workstations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5198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8" name="Text 6"/>
          <p:cNvSpPr/>
          <p:nvPr/>
        </p:nvSpPr>
        <p:spPr>
          <a:xfrm>
            <a:off x="4305198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"DarkHack"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05198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ransomware; deployed 10 Jul 2024, self-reported to PCPD 13 Jul 2024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76997" y="1847850"/>
            <a:ext cx="3581298" cy="28575"/>
          </a:xfrm>
          <a:prstGeom prst="rect">
            <a:avLst/>
          </a:prstGeom>
          <a:solidFill>
            <a:srgbClr val="D04A02"/>
          </a:solidFill>
          <a:ln/>
        </p:spPr>
      </p:sp>
      <p:sp>
        <p:nvSpPr>
          <p:cNvPr id="11" name="Text 9"/>
          <p:cNvSpPr/>
          <p:nvPr/>
        </p:nvSpPr>
        <p:spPr>
          <a:xfrm>
            <a:off x="8076997" y="1981200"/>
            <a:ext cx="358129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076997" y="2571750"/>
            <a:ext cx="3581298" cy="857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deficiencies PCPD identified — unpatched firewall, no MFA on the VPN, among them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400" y="3752850"/>
            <a:ext cx="11124895" cy="2000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two Data Protection Principles as Cathay Pacific — DPP4(1) security and DPP2(2) retention. Not a coincidence: these are the two PCPD reaches for most often.</a:t>
            </a:r>
            <a:endParaRPr lang="en-US" sz="20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unpatched since June 2023, brute-forced; some records retained 7+ years beyond need.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NOTICE · WHAT’S PUBLIC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enforcement notice, with a catch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3400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00" y="200025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PCPD published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23900" y="2352675"/>
            <a:ext cx="5076673" cy="1609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confirms an Enforcement Notice was served, "directing [Oxfam] to take measures to remedy the contravention and prevent recurrence."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00623" y="1847850"/>
            <a:ext cx="5457673" cy="285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6200623" y="1876425"/>
            <a:ext cx="5457673" cy="2162175"/>
          </a:xfrm>
          <a:prstGeom prst="rect">
            <a:avLst/>
          </a:prstGeom>
          <a:solidFill>
            <a:srgbClr val="F2F2F2"/>
          </a:solidFill>
          <a:ln w="635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123" y="2000250"/>
            <a:ext cx="5076673" cy="27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publish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91123" y="2352675"/>
            <a:ext cx="5076673" cy="1609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the Cathay Pacific report, Oxfam’s does not reproduce the specific numbered directions or a compliance deadline.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3400" y="4267200"/>
            <a:ext cx="11124895" cy="1123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real, useful data-honesty point for this course: how much PCPD discloses publicly varies case to case. Don’t assume every Enforcement Notice is as documented as Cathay Pacific’s.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regulator, escalating tools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" y="1847850"/>
          <a:ext cx="11124895" cy="914400"/>
        </p:xfrm>
        <a:graphic>
          <a:graphicData uri="http://schemas.openxmlformats.org/drawingml/2006/table">
            <a:tbl>
              <a:tblPr/>
              <a:tblGrid>
                <a:gridCol w="2224979"/>
                <a:gridCol w="3003722"/>
                <a:gridCol w="3003722"/>
                <a:gridCol w="2892473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Hospital Authority (2008)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Cathay Pacific (2019)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spc="110" kern="0" dirty="0">
                          <a:solidFill>
                            <a:srgbClr val="7A7A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Oxfam HK (2024/25)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Inspection · s.36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Investigation · s.38/43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Enforcement Notice · s.50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Needed a complaint?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own motion after a DBN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self-reported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Compelled documents?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2,200+ pages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detailed publicly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Contravention found?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can’t, by design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DPP4(1), DPP2(2)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DPP4(1), DPP2(2)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 recommendations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Investigation report + 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3D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Enforcement Notice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3400" y="2295525"/>
            <a:ext cx="11124895" cy="1905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70485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20" kern="0" dirty="0">
                <a:solidFill>
                  <a:srgbClr val="D04A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WRAP-UP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33400" y="990600"/>
            <a:ext cx="11124895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and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3400" y="1847850"/>
            <a:ext cx="11124895" cy="285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(s.36): no complaint needed, recommendations only — HA 2008, 23 recommendations, no sanction.</a:t>
            </a:r>
            <a:endParaRPr lang="en-US" sz="20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(s.38/43): compelled documents, a contravention finding — Cathay Pacific, 5 months, DPP4(1) + DPP2(2).</a:t>
            </a:r>
            <a:endParaRPr lang="en-US" sz="20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—"/>
            </a:pPr>
            <a:r>
              <a:rPr lang="en-US" sz="2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Enforcement Notice (s.50/50A): specific directions, a deadline, non-compliance is itself an offence — Oxfam, same two principles.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33400" y="4895850"/>
            <a:ext cx="11124895" cy="749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— 15-minute break follows, then Part 2: three of my own PwC engagement cases.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CS5292 Week 3 — Part 1: The PDPO, the Trend, and the Three Tools</dc:title>
  <dc:subject>PptxGenJS Presentation</dc:subject>
  <dc:creator>Jason Lee</dc:creator>
  <cp:lastModifiedBy>Jason Lee</cp:lastModifiedBy>
  <cp:revision>1</cp:revision>
  <dcterms:created xsi:type="dcterms:W3CDTF">2026-09-14T13:22:02Z</dcterms:created>
  <dcterms:modified xsi:type="dcterms:W3CDTF">2026-09-14T13:22:02Z</dcterms:modified>
</cp:coreProperties>
</file>