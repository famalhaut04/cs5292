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1809750"/>
            <a:ext cx="7239000" cy="2667000"/>
          </a:xfrm>
          <a:prstGeom prst="rect">
            <a:avLst/>
          </a:prstGeom>
          <a:noFill/>
          <a:ln/>
        </p:spPr>
        <p:txBody>
          <a:bodyPr wrap="square" rtlCol="0" anchor="t"/>
          <a:lstStyle/>
          <a:p>
            <a:pPr indent="0" marL="0">
              <a:lnSpc>
                <a:spcPct val="112000"/>
              </a:lnSpc>
              <a:buNone/>
            </a:pPr>
            <a:r>
              <a:rPr lang="en-US" sz="5000" dirty="0">
                <a:solidFill>
                  <a:srgbClr val="1A1A1A"/>
                </a:solidFill>
                <a:latin typeface="Georgia" pitchFamily="34" charset="0"/>
                <a:ea typeface="Georgia" pitchFamily="34" charset="-122"/>
                <a:cs typeface="Georgia" pitchFamily="34" charset="-120"/>
              </a:rPr>
              <a:t>Three Cases,</a:t>
            </a:r>
            <a:endParaRPr lang="en-US" sz="5000" dirty="0"/>
          </a:p>
          <a:p>
            <a:pPr indent="0" marL="0">
              <a:lnSpc>
                <a:spcPct val="112000"/>
              </a:lnSpc>
              <a:buNone/>
            </a:pPr>
            <a:r>
              <a:rPr lang="en-US" sz="5000" dirty="0">
                <a:solidFill>
                  <a:srgbClr val="1A1A1A"/>
                </a:solidFill>
                <a:latin typeface="Georgia" pitchFamily="34" charset="0"/>
                <a:ea typeface="Georgia" pitchFamily="34" charset="-122"/>
                <a:cs typeface="Georgia" pitchFamily="34" charset="-120"/>
              </a:rPr>
              <a:t>From the Field.</a:t>
            </a:r>
            <a:endParaRPr lang="en-US" sz="5000" dirty="0"/>
          </a:p>
        </p:txBody>
      </p:sp>
      <p:sp>
        <p:nvSpPr>
          <p:cNvPr id="3" name="Shape 1"/>
          <p:cNvSpPr/>
          <p:nvPr/>
        </p:nvSpPr>
        <p:spPr>
          <a:xfrm>
            <a:off x="533400" y="4305300"/>
            <a:ext cx="1143000" cy="28575"/>
          </a:xfrm>
          <a:prstGeom prst="rect">
            <a:avLst/>
          </a:prstGeom>
          <a:solidFill>
            <a:srgbClr val="D04A02"/>
          </a:solidFill>
          <a:ln/>
        </p:spPr>
      </p:sp>
      <p:sp>
        <p:nvSpPr>
          <p:cNvPr id="4" name="Text 2"/>
          <p:cNvSpPr/>
          <p:nvPr/>
        </p:nvSpPr>
        <p:spPr>
          <a:xfrm>
            <a:off x="533400" y="4533900"/>
            <a:ext cx="8572500" cy="857250"/>
          </a:xfrm>
          <a:prstGeom prst="rect">
            <a:avLst/>
          </a:prstGeom>
          <a:noFill/>
          <a:ln/>
        </p:spPr>
        <p:txBody>
          <a:bodyPr wrap="square" rtlCol="0" anchor="t"/>
          <a:lstStyle/>
          <a:p>
            <a:pPr indent="0" marL="0">
              <a:lnSpc>
                <a:spcPct val="125000"/>
              </a:lnSpc>
              <a:buNone/>
            </a:pPr>
            <a:r>
              <a:rPr lang="en-US" sz="2000" b="1" dirty="0">
                <a:solidFill>
                  <a:srgbClr val="3D3D3D"/>
                </a:solidFill>
                <a:latin typeface="Arial" pitchFamily="34" charset="0"/>
                <a:ea typeface="Arial" pitchFamily="34" charset="-122"/>
                <a:cs typeface="Arial" pitchFamily="34" charset="-120"/>
              </a:rPr>
              <a:t>CNCBI, HKIB, and Cyberport — three incidents I worked on the PwC response team, from initial access to what regulators found</a:t>
            </a:r>
            <a:endParaRPr lang="en-US" sz="2000" dirty="0"/>
          </a:p>
        </p:txBody>
      </p:sp>
      <p:sp>
        <p:nvSpPr>
          <p:cNvPr id="5" name="Text 3"/>
          <p:cNvSpPr/>
          <p:nvPr/>
        </p:nvSpPr>
        <p:spPr>
          <a:xfrm>
            <a:off x="533400" y="5295900"/>
            <a:ext cx="8572500" cy="800100"/>
          </a:xfrm>
          <a:prstGeom prst="rect">
            <a:avLst/>
          </a:prstGeom>
          <a:noFill/>
          <a:ln/>
        </p:spPr>
        <p:txBody>
          <a:bodyPr wrap="square" rtlCol="0" anchor="t"/>
          <a:lstStyle/>
          <a:p>
            <a:pPr indent="0" marL="0">
              <a:lnSpc>
                <a:spcPct val="130000"/>
              </a:lnSpc>
              <a:buNone/>
            </a:pPr>
            <a:r>
              <a:rPr lang="en-US" sz="2000" dirty="0">
                <a:solidFill>
                  <a:srgbClr val="7A7A7A"/>
                </a:solidFill>
                <a:latin typeface="Arial" pitchFamily="34" charset="0"/>
                <a:ea typeface="Arial" pitchFamily="34" charset="-122"/>
                <a:cs typeface="Arial" pitchFamily="34" charset="-120"/>
              </a:rPr>
              <a:t>CS5292 Week 3 · Part 2 of 2</a:t>
            </a:r>
            <a:endParaRPr lang="en-US" sz="2000" dirty="0"/>
          </a:p>
          <a:p>
            <a:pPr indent="0" marL="0">
              <a:lnSpc>
                <a:spcPct val="130000"/>
              </a:lnSpc>
              <a:buNone/>
            </a:pPr>
            <a:r>
              <a:rPr lang="en-US" sz="2000" dirty="0">
                <a:solidFill>
                  <a:srgbClr val="7A7A7A"/>
                </a:solidFill>
                <a:latin typeface="Arial" pitchFamily="34" charset="0"/>
                <a:ea typeface="Arial" pitchFamily="34" charset="-122"/>
                <a:cs typeface="Arial" pitchFamily="34" charset="-120"/>
              </a:rPr>
              <a:t>TLP:RED — classroom use only, not for redistribution.</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01</a:t>
            </a:r>
            <a:endParaRPr lang="en-US" sz="1300" dirty="0"/>
          </a:p>
        </p:txBody>
      </p:sp>
      <p:sp>
        <p:nvSpPr>
          <p:cNvPr id="7" name="Text 5"/>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PART 2</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What You’re</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About to Hear.</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Three escalating cases. CNCBI first, then HKIB, then Cyberport — the most detailed, covered from two real angles: the technical incident response, and the independent review against its Enforcement Notice.</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02</a:t>
            </a:r>
            <a:endParaRPr lang="en-US" sz="1300" dirty="0"/>
          </a:p>
        </p:txBody>
      </p:sp>
      <p:sp>
        <p:nvSpPr>
          <p:cNvPr id="6" name="Text 4"/>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BEFORE WE START</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Real organisations, sanitized specifics — and this is itself a compliance lesson</a:t>
            </a:r>
            <a:endParaRPr lang="en-US" sz="3000" dirty="0"/>
          </a:p>
        </p:txBody>
      </p:sp>
      <p:sp>
        <p:nvSpPr>
          <p:cNvPr id="5" name="Shape 3"/>
          <p:cNvSpPr/>
          <p:nvPr/>
        </p:nvSpPr>
        <p:spPr>
          <a:xfrm>
            <a:off x="533400" y="2286000"/>
            <a:ext cx="5457673" cy="28575"/>
          </a:xfrm>
          <a:prstGeom prst="rect">
            <a:avLst/>
          </a:prstGeom>
          <a:solidFill>
            <a:srgbClr val="1A1A1A"/>
          </a:solidFill>
          <a:ln/>
        </p:spPr>
      </p:sp>
      <p:sp>
        <p:nvSpPr>
          <p:cNvPr id="6" name="Shape 4"/>
          <p:cNvSpPr/>
          <p:nvPr/>
        </p:nvSpPr>
        <p:spPr>
          <a:xfrm>
            <a:off x="533400" y="2314575"/>
            <a:ext cx="5457673" cy="1781175"/>
          </a:xfrm>
          <a:prstGeom prst="rect">
            <a:avLst/>
          </a:prstGeom>
          <a:solidFill>
            <a:srgbClr val="F2F2F2"/>
          </a:solidFill>
          <a:ln w="6350">
            <a:solidFill>
              <a:srgbClr val="F2F2F2"/>
            </a:solidFill>
            <a:prstDash val="solid"/>
          </a:ln>
        </p:spPr>
      </p:sp>
      <p:sp>
        <p:nvSpPr>
          <p:cNvPr id="7" name="Text 5"/>
          <p:cNvSpPr/>
          <p:nvPr/>
        </p:nvSpPr>
        <p:spPr>
          <a:xfrm>
            <a:off x="723900" y="243840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What stays real</a:t>
            </a:r>
            <a:endParaRPr lang="en-US" sz="2000" dirty="0"/>
          </a:p>
        </p:txBody>
      </p:sp>
      <p:sp>
        <p:nvSpPr>
          <p:cNvPr id="8" name="Text 6"/>
          <p:cNvSpPr/>
          <p:nvPr/>
        </p:nvSpPr>
        <p:spPr>
          <a:xfrm>
            <a:off x="723900" y="2790825"/>
            <a:ext cx="5076673" cy="1228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Org and threat-actor names, CVEs, anything independently published — fair game, citable.</a:t>
            </a:r>
            <a:endParaRPr lang="en-US" sz="2000" dirty="0"/>
          </a:p>
        </p:txBody>
      </p:sp>
      <p:sp>
        <p:nvSpPr>
          <p:cNvPr id="9" name="Shape 7"/>
          <p:cNvSpPr/>
          <p:nvPr/>
        </p:nvSpPr>
        <p:spPr>
          <a:xfrm>
            <a:off x="6200623" y="2286000"/>
            <a:ext cx="5457673" cy="28575"/>
          </a:xfrm>
          <a:prstGeom prst="rect">
            <a:avLst/>
          </a:prstGeom>
          <a:solidFill>
            <a:srgbClr val="1A1A1A"/>
          </a:solidFill>
          <a:ln/>
        </p:spPr>
      </p:sp>
      <p:sp>
        <p:nvSpPr>
          <p:cNvPr id="10" name="Shape 8"/>
          <p:cNvSpPr/>
          <p:nvPr/>
        </p:nvSpPr>
        <p:spPr>
          <a:xfrm>
            <a:off x="6200623" y="2314575"/>
            <a:ext cx="5457673" cy="1781175"/>
          </a:xfrm>
          <a:prstGeom prst="rect">
            <a:avLst/>
          </a:prstGeom>
          <a:solidFill>
            <a:srgbClr val="F2F2F2"/>
          </a:solidFill>
          <a:ln w="6350">
            <a:solidFill>
              <a:srgbClr val="F2F2F2"/>
            </a:solidFill>
            <a:prstDash val="solid"/>
          </a:ln>
        </p:spPr>
      </p:sp>
      <p:sp>
        <p:nvSpPr>
          <p:cNvPr id="11" name="Text 9"/>
          <p:cNvSpPr/>
          <p:nvPr/>
        </p:nvSpPr>
        <p:spPr>
          <a:xfrm>
            <a:off x="6391123" y="243840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What’s relativized</a:t>
            </a:r>
            <a:endParaRPr lang="en-US" sz="2000" dirty="0"/>
          </a:p>
        </p:txBody>
      </p:sp>
      <p:sp>
        <p:nvSpPr>
          <p:cNvPr id="12" name="Text 10"/>
          <p:cNvSpPr/>
          <p:nvPr/>
        </p:nvSpPr>
        <p:spPr>
          <a:xfrm>
            <a:off x="6391123" y="2790825"/>
            <a:ext cx="5076673" cy="1228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Our own timelines become Day 0, Day 1, Day N — never a calendar date or clock time.</a:t>
            </a:r>
            <a:endParaRPr lang="en-US" sz="2000" dirty="0"/>
          </a:p>
        </p:txBody>
      </p:sp>
      <p:sp>
        <p:nvSpPr>
          <p:cNvPr id="13" name="Shape 11"/>
          <p:cNvSpPr/>
          <p:nvPr/>
        </p:nvSpPr>
        <p:spPr>
          <a:xfrm>
            <a:off x="533400" y="4324350"/>
            <a:ext cx="5457673" cy="28575"/>
          </a:xfrm>
          <a:prstGeom prst="rect">
            <a:avLst/>
          </a:prstGeom>
          <a:solidFill>
            <a:srgbClr val="1A1A1A"/>
          </a:solidFill>
          <a:ln/>
        </p:spPr>
      </p:sp>
      <p:sp>
        <p:nvSpPr>
          <p:cNvPr id="14" name="Shape 12"/>
          <p:cNvSpPr/>
          <p:nvPr/>
        </p:nvSpPr>
        <p:spPr>
          <a:xfrm>
            <a:off x="533400" y="4352925"/>
            <a:ext cx="5457673" cy="1743075"/>
          </a:xfrm>
          <a:prstGeom prst="rect">
            <a:avLst/>
          </a:prstGeom>
          <a:solidFill>
            <a:srgbClr val="F2F2F2"/>
          </a:solidFill>
          <a:ln w="6350">
            <a:solidFill>
              <a:srgbClr val="F2F2F2"/>
            </a:solidFill>
            <a:prstDash val="solid"/>
          </a:ln>
        </p:spPr>
      </p:sp>
      <p:sp>
        <p:nvSpPr>
          <p:cNvPr id="15" name="Text 13"/>
          <p:cNvSpPr/>
          <p:nvPr/>
        </p:nvSpPr>
        <p:spPr>
          <a:xfrm>
            <a:off x="723900" y="44767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Left out entirely</a:t>
            </a:r>
            <a:endParaRPr lang="en-US" sz="2000" dirty="0"/>
          </a:p>
        </p:txBody>
      </p:sp>
      <p:sp>
        <p:nvSpPr>
          <p:cNvPr id="16" name="Text 14"/>
          <p:cNvSpPr/>
          <p:nvPr/>
        </p:nvSpPr>
        <p:spPr>
          <a:xfrm>
            <a:off x="723900" y="4829175"/>
            <a:ext cx="5076673" cy="11906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Exact IPs, hostnames, account names, individual names — some material is legally privileged.</a:t>
            </a:r>
            <a:endParaRPr lang="en-US" sz="2000" dirty="0"/>
          </a:p>
        </p:txBody>
      </p:sp>
      <p:sp>
        <p:nvSpPr>
          <p:cNvPr id="17" name="Shape 15"/>
          <p:cNvSpPr/>
          <p:nvPr/>
        </p:nvSpPr>
        <p:spPr>
          <a:xfrm>
            <a:off x="6200623" y="4324350"/>
            <a:ext cx="5457673" cy="28575"/>
          </a:xfrm>
          <a:prstGeom prst="rect">
            <a:avLst/>
          </a:prstGeom>
          <a:solidFill>
            <a:srgbClr val="D04A02"/>
          </a:solidFill>
          <a:ln/>
        </p:spPr>
      </p:sp>
      <p:sp>
        <p:nvSpPr>
          <p:cNvPr id="18" name="Shape 16"/>
          <p:cNvSpPr/>
          <p:nvPr/>
        </p:nvSpPr>
        <p:spPr>
          <a:xfrm>
            <a:off x="6200623" y="4352925"/>
            <a:ext cx="5457673" cy="1743075"/>
          </a:xfrm>
          <a:prstGeom prst="rect">
            <a:avLst/>
          </a:prstGeom>
          <a:solidFill>
            <a:srgbClr val="FDF0E6"/>
          </a:solidFill>
          <a:ln w="6350">
            <a:solidFill>
              <a:srgbClr val="FDF0E6"/>
            </a:solidFill>
            <a:prstDash val="solid"/>
          </a:ln>
        </p:spPr>
      </p:sp>
      <p:sp>
        <p:nvSpPr>
          <p:cNvPr id="19" name="Text 17"/>
          <p:cNvSpPr/>
          <p:nvPr/>
        </p:nvSpPr>
        <p:spPr>
          <a:xfrm>
            <a:off x="6391123" y="44767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Why it’s TLP:RED</a:t>
            </a:r>
            <a:endParaRPr lang="en-US" sz="2000" dirty="0"/>
          </a:p>
        </p:txBody>
      </p:sp>
      <p:sp>
        <p:nvSpPr>
          <p:cNvPr id="20" name="Text 18"/>
          <p:cNvSpPr/>
          <p:nvPr/>
        </p:nvSpPr>
        <p:spPr>
          <a:xfrm>
            <a:off x="6391123" y="4829175"/>
            <a:ext cx="5076673" cy="11906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This deck carries real public-research screenshots — classroom only, not for redistribution.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ROADMAP</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Three cases, same four-part spine each time</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2009775"/>
          </a:xfrm>
          <a:prstGeom prst="rect">
            <a:avLst/>
          </a:prstGeom>
          <a:solidFill>
            <a:srgbClr val="F2F2F2"/>
          </a:solidFill>
          <a:ln w="6350">
            <a:solidFill>
              <a:srgbClr val="F2F2F2"/>
            </a:solidFill>
            <a:prstDash val="solid"/>
          </a:ln>
        </p:spPr>
      </p:sp>
      <p:sp>
        <p:nvSpPr>
          <p:cNvPr id="7" name="Text 5"/>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CASE 1</a:t>
            </a:r>
            <a:endParaRPr lang="en-US" sz="1600" dirty="0"/>
          </a:p>
        </p:txBody>
      </p:sp>
      <p:sp>
        <p:nvSpPr>
          <p:cNvPr id="8" name="Text 6"/>
          <p:cNvSpPr/>
          <p:nvPr/>
        </p:nvSpPr>
        <p:spPr>
          <a:xfrm>
            <a:off x="723900"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1. CNCBI</a:t>
            </a:r>
            <a:endParaRPr lang="en-US" sz="2000" dirty="0"/>
          </a:p>
        </p:txBody>
      </p:sp>
      <p:sp>
        <p:nvSpPr>
          <p:cNvPr id="9" name="Text 7"/>
          <p:cNvSpPr/>
          <p:nvPr/>
        </p:nvSpPr>
        <p:spPr>
          <a:xfrm>
            <a:off x="723900" y="2628900"/>
            <a:ext cx="5076673" cy="11811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A zero-day, an asset list before an RFI, and a case that never reached PCPD.</a:t>
            </a:r>
            <a:endParaRPr lang="en-US" sz="2000" dirty="0"/>
          </a:p>
        </p:txBody>
      </p:sp>
      <p:sp>
        <p:nvSpPr>
          <p:cNvPr id="10" name="Shape 8"/>
          <p:cNvSpPr/>
          <p:nvPr/>
        </p:nvSpPr>
        <p:spPr>
          <a:xfrm>
            <a:off x="6200623" y="1847850"/>
            <a:ext cx="5457673" cy="28575"/>
          </a:xfrm>
          <a:prstGeom prst="rect">
            <a:avLst/>
          </a:prstGeom>
          <a:solidFill>
            <a:srgbClr val="1A1A1A"/>
          </a:solidFill>
          <a:ln/>
        </p:spPr>
      </p:sp>
      <p:sp>
        <p:nvSpPr>
          <p:cNvPr id="11" name="Shape 9"/>
          <p:cNvSpPr/>
          <p:nvPr/>
        </p:nvSpPr>
        <p:spPr>
          <a:xfrm>
            <a:off x="6200623" y="1876425"/>
            <a:ext cx="5457673" cy="2009775"/>
          </a:xfrm>
          <a:prstGeom prst="rect">
            <a:avLst/>
          </a:prstGeom>
          <a:solidFill>
            <a:srgbClr val="F2F2F2"/>
          </a:solidFill>
          <a:ln w="6350">
            <a:solidFill>
              <a:srgbClr val="F2F2F2"/>
            </a:solidFill>
            <a:prstDash val="solid"/>
          </a:ln>
        </p:spPr>
      </p:sp>
      <p:sp>
        <p:nvSpPr>
          <p:cNvPr id="12" name="Text 10"/>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CASE 2</a:t>
            </a:r>
            <a:endParaRPr lang="en-US" sz="1600" dirty="0"/>
          </a:p>
        </p:txBody>
      </p:sp>
      <p:sp>
        <p:nvSpPr>
          <p:cNvPr id="13" name="Text 11"/>
          <p:cNvSpPr/>
          <p:nvPr/>
        </p:nvSpPr>
        <p:spPr>
          <a:xfrm>
            <a:off x="6391123"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2. HKIB</a:t>
            </a:r>
            <a:endParaRPr lang="en-US" sz="2000" dirty="0"/>
          </a:p>
        </p:txBody>
      </p:sp>
      <p:sp>
        <p:nvSpPr>
          <p:cNvPr id="14" name="Text 12"/>
          <p:cNvSpPr/>
          <p:nvPr/>
        </p:nvSpPr>
        <p:spPr>
          <a:xfrm>
            <a:off x="6391123" y="2628900"/>
            <a:ext cx="5076673" cy="11811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A 2.5-year-old patch gap, credential theft to full ransomware in about a day.</a:t>
            </a:r>
            <a:endParaRPr lang="en-US" sz="2000" dirty="0"/>
          </a:p>
        </p:txBody>
      </p:sp>
      <p:sp>
        <p:nvSpPr>
          <p:cNvPr id="15" name="Shape 13"/>
          <p:cNvSpPr/>
          <p:nvPr/>
        </p:nvSpPr>
        <p:spPr>
          <a:xfrm>
            <a:off x="533400" y="4019550"/>
            <a:ext cx="5457673" cy="28575"/>
          </a:xfrm>
          <a:prstGeom prst="rect">
            <a:avLst/>
          </a:prstGeom>
          <a:solidFill>
            <a:srgbClr val="1A1A1A"/>
          </a:solidFill>
          <a:ln/>
        </p:spPr>
      </p:sp>
      <p:sp>
        <p:nvSpPr>
          <p:cNvPr id="16" name="Shape 14"/>
          <p:cNvSpPr/>
          <p:nvPr/>
        </p:nvSpPr>
        <p:spPr>
          <a:xfrm>
            <a:off x="533400" y="4048125"/>
            <a:ext cx="5457673" cy="1628775"/>
          </a:xfrm>
          <a:prstGeom prst="rect">
            <a:avLst/>
          </a:prstGeom>
          <a:solidFill>
            <a:srgbClr val="F2F2F2"/>
          </a:solidFill>
          <a:ln w="6350">
            <a:solidFill>
              <a:srgbClr val="F2F2F2"/>
            </a:solidFill>
            <a:prstDash val="solid"/>
          </a:ln>
        </p:spPr>
      </p:sp>
      <p:sp>
        <p:nvSpPr>
          <p:cNvPr id="17" name="Text 15"/>
          <p:cNvSpPr/>
          <p:nvPr/>
        </p:nvSpPr>
        <p:spPr>
          <a:xfrm>
            <a:off x="723900" y="41719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CASE 3A</a:t>
            </a:r>
            <a:endParaRPr lang="en-US" sz="1600" dirty="0"/>
          </a:p>
        </p:txBody>
      </p:sp>
      <p:sp>
        <p:nvSpPr>
          <p:cNvPr id="18" name="Text 16"/>
          <p:cNvSpPr/>
          <p:nvPr/>
        </p:nvSpPr>
        <p:spPr>
          <a:xfrm>
            <a:off x="723900" y="44481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3. Cyberport, Angle A</a:t>
            </a:r>
            <a:endParaRPr lang="en-US" sz="2000" dirty="0"/>
          </a:p>
        </p:txBody>
      </p:sp>
      <p:sp>
        <p:nvSpPr>
          <p:cNvPr id="19" name="Text 17"/>
          <p:cNvSpPr/>
          <p:nvPr/>
        </p:nvSpPr>
        <p:spPr>
          <a:xfrm>
            <a:off x="723900" y="4800600"/>
            <a:ext cx="5076673" cy="8001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Technical incident response — access, containment, eradication, root cause.</a:t>
            </a:r>
            <a:endParaRPr lang="en-US" sz="2000" dirty="0"/>
          </a:p>
        </p:txBody>
      </p:sp>
      <p:sp>
        <p:nvSpPr>
          <p:cNvPr id="20" name="Shape 18"/>
          <p:cNvSpPr/>
          <p:nvPr/>
        </p:nvSpPr>
        <p:spPr>
          <a:xfrm>
            <a:off x="6200623" y="4019550"/>
            <a:ext cx="5457673" cy="28575"/>
          </a:xfrm>
          <a:prstGeom prst="rect">
            <a:avLst/>
          </a:prstGeom>
          <a:solidFill>
            <a:srgbClr val="1A1A1A"/>
          </a:solidFill>
          <a:ln/>
        </p:spPr>
      </p:sp>
      <p:sp>
        <p:nvSpPr>
          <p:cNvPr id="21" name="Shape 19"/>
          <p:cNvSpPr/>
          <p:nvPr/>
        </p:nvSpPr>
        <p:spPr>
          <a:xfrm>
            <a:off x="6200623" y="4048125"/>
            <a:ext cx="5457673" cy="1628775"/>
          </a:xfrm>
          <a:prstGeom prst="rect">
            <a:avLst/>
          </a:prstGeom>
          <a:solidFill>
            <a:srgbClr val="F2F2F2"/>
          </a:solidFill>
          <a:ln w="6350">
            <a:solidFill>
              <a:srgbClr val="F2F2F2"/>
            </a:solidFill>
            <a:prstDash val="solid"/>
          </a:ln>
        </p:spPr>
      </p:sp>
      <p:sp>
        <p:nvSpPr>
          <p:cNvPr id="22" name="Text 20"/>
          <p:cNvSpPr/>
          <p:nvPr/>
        </p:nvSpPr>
        <p:spPr>
          <a:xfrm>
            <a:off x="6391123" y="41719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CASE 3B</a:t>
            </a:r>
            <a:endParaRPr lang="en-US" sz="1600" dirty="0"/>
          </a:p>
        </p:txBody>
      </p:sp>
      <p:sp>
        <p:nvSpPr>
          <p:cNvPr id="23" name="Text 21"/>
          <p:cNvSpPr/>
          <p:nvPr/>
        </p:nvSpPr>
        <p:spPr>
          <a:xfrm>
            <a:off x="6391123" y="44481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3. Cyberport, Angle B</a:t>
            </a:r>
            <a:endParaRPr lang="en-US" sz="2000" dirty="0"/>
          </a:p>
        </p:txBody>
      </p:sp>
      <p:sp>
        <p:nvSpPr>
          <p:cNvPr id="24" name="Text 22"/>
          <p:cNvSpPr/>
          <p:nvPr/>
        </p:nvSpPr>
        <p:spPr>
          <a:xfrm>
            <a:off x="6391123" y="4800600"/>
            <a:ext cx="5076673" cy="8001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Independent review against the EN — a completely different job.</a:t>
            </a:r>
            <a:endParaRPr lang="en-US" sz="2000" dirty="0"/>
          </a:p>
        </p:txBody>
      </p:sp>
      <p:sp>
        <p:nvSpPr>
          <p:cNvPr id="25" name="Text 23"/>
          <p:cNvSpPr/>
          <p:nvPr/>
        </p:nvSpPr>
        <p:spPr>
          <a:xfrm>
            <a:off x="533400" y="5734050"/>
            <a:ext cx="11124895" cy="280988"/>
          </a:xfrm>
          <a:prstGeom prst="rect">
            <a:avLst/>
          </a:prstGeom>
          <a:noFill/>
          <a:ln/>
        </p:spPr>
        <p:txBody>
          <a:bodyPr wrap="square" rtlCol="0" anchor="t"/>
          <a:lstStyle/>
          <a:p>
            <a:pPr indent="0" marL="0">
              <a:lnSpc>
                <a:spcPct val="125000"/>
              </a:lnSpc>
              <a:buNone/>
            </a:pPr>
            <a:r>
              <a:rPr lang="en-US" sz="1500" i="1" dirty="0">
                <a:solidFill>
                  <a:srgbClr val="3D3D3D"/>
                </a:solidFill>
                <a:latin typeface="Arial" pitchFamily="34" charset="0"/>
                <a:ea typeface="Arial" pitchFamily="34" charset="-122"/>
                <a:cs typeface="Arial" pitchFamily="34" charset="-120"/>
              </a:rPr>
              <a:t>Background → timeline → recommendations → PCPD alignment, every time.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CASE 1</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China CITIC Bank</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International.</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A globally famous zero-day, a narrow blast radius, and a case that — unlike the other two — never became a public PCPD matter. Worth asking why.</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03</a:t>
            </a:r>
            <a:endParaRPr lang="en-US" sz="1300" dirty="0"/>
          </a:p>
        </p:txBody>
      </p:sp>
      <p:sp>
        <p:nvSpPr>
          <p:cNvPr id="6" name="Text 4"/>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THREAT ACTOR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Who is CL0P, and what do they want</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RaaS since 2019</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a Ransomware-as-a-Service group with roots in malware delivery dating to 2014</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Financial gain</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not state-sponsored, not hacktivist — the leak site is a collections tool</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File-transfer focus</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Accellion (2020), GoAnywhere MFT (2023), then MOVEit — their signature move</a:t>
            </a:r>
            <a:endParaRPr lang="en-US" sz="1600" dirty="0"/>
          </a:p>
        </p:txBody>
      </p:sp>
      <p:sp>
        <p:nvSpPr>
          <p:cNvPr id="14" name="Text 12"/>
          <p:cNvSpPr/>
          <p:nvPr/>
        </p:nvSpPr>
        <p:spPr>
          <a:xfrm>
            <a:off x="533400" y="3752850"/>
            <a:ext cx="11124895" cy="2305050"/>
          </a:xfrm>
          <a:prstGeom prst="rect">
            <a:avLst/>
          </a:prstGeom>
          <a:noFill/>
          <a:ln/>
        </p:spPr>
        <p:txBody>
          <a:bodyPr wrap="square" rtlCol="0" anchor="t"/>
          <a:lstStyle/>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CL0P’s usual playbook is double extortion: encrypt the network and threaten to leak stolen data if the ransom isn’t paid. For the MOVEit campaign, they broke from that pattern entirely — more on that shortly.</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CISA and FBI jointly attributed the MOVEit campaign to CL0P; independent research (Dark Lab, and others) corroborated it via leak-site analysis.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THREAT ACTOR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leak-site campaign, not one attack</a:t>
            </a:r>
            <a:endParaRPr lang="en-US" sz="3000" dirty="0"/>
          </a:p>
        </p:txBody>
      </p:sp>
      <p:sp>
        <p:nvSpPr>
          <p:cNvPr id="5" name="Text 3"/>
          <p:cNvSpPr/>
          <p:nvPr/>
        </p:nvSpPr>
        <p:spPr>
          <a:xfrm>
            <a:off x="533400" y="1847850"/>
            <a:ext cx="11124895" cy="742950"/>
          </a:xfrm>
          <a:prstGeom prst="rect">
            <a:avLst/>
          </a:prstGeom>
          <a:noFill/>
          <a:ln/>
        </p:spPr>
        <p:txBody>
          <a:bodyPr wrap="square" rtlCol="0" anchor="t"/>
          <a:lstStyle/>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By 1 August 2023, CL0P had listed 262 organisations on its leak site from this one campaign — and actually posted data for 94% of them.</a:t>
            </a:r>
            <a:endParaRPr lang="en-US" sz="1600" dirty="0"/>
          </a:p>
        </p:txBody>
      </p:sp>
      <p:sp>
        <p:nvSpPr>
          <p:cNvPr id="6" name="Shape 4"/>
          <p:cNvSpPr/>
          <p:nvPr/>
        </p:nvSpPr>
        <p:spPr>
          <a:xfrm>
            <a:off x="533400" y="2705100"/>
            <a:ext cx="11124895" cy="28575"/>
          </a:xfrm>
          <a:prstGeom prst="rect">
            <a:avLst/>
          </a:prstGeom>
          <a:solidFill>
            <a:srgbClr val="1A1A1A"/>
          </a:solidFill>
          <a:ln/>
        </p:spPr>
      </p:sp>
      <p:pic>
        <p:nvPicPr>
          <p:cNvPr id="7" name="Image 0" descr="/home/claude/pcpd-course-content/deck-harness/assets/cl0p-victim-leakage-chart.png">    </p:cNvPr>
          <p:cNvPicPr>
            <a:picLocks noChangeAspect="1"/>
          </p:cNvPicPr>
          <p:nvPr/>
        </p:nvPicPr>
        <p:blipFill>
          <a:blip r:embed="rId1"/>
          <a:srcRect l="0" r="0" t="0" b="0"/>
          <a:stretch/>
        </p:blipFill>
        <p:spPr>
          <a:xfrm>
            <a:off x="533400" y="2800350"/>
            <a:ext cx="11124895" cy="3320864"/>
          </a:xfrm>
          <a:prstGeom prst="rect">
            <a:avLst/>
          </a:prstGeom>
        </p:spPr>
      </p:pic>
      <p:sp>
        <p:nvSpPr>
          <p:cNvPr id="8" name="Text 5"/>
          <p:cNvSpPr/>
          <p:nvPr/>
        </p:nvSpPr>
        <p:spPr>
          <a:xfrm>
            <a:off x="533400" y="6578414"/>
            <a:ext cx="11124895" cy="438150"/>
          </a:xfrm>
          <a:prstGeom prst="rect">
            <a:avLst/>
          </a:prstGeom>
          <a:noFill/>
          <a:ln/>
        </p:spPr>
        <p:txBody>
          <a:bodyPr wrap="square" rtlCol="0" anchor="t"/>
          <a:lstStyle/>
          <a:p>
            <a:pPr indent="0" marL="0">
              <a:buNone/>
            </a:pPr>
            <a:r>
              <a:rPr lang="en-US" sz="1600" i="1" dirty="0">
                <a:solidFill>
                  <a:srgbClr val="7A7A7A"/>
                </a:solidFill>
                <a:latin typeface="Arial" pitchFamily="34" charset="0"/>
                <a:ea typeface="Arial" pitchFamily="34" charset="-122"/>
                <a:cs typeface="Arial" pitchFamily="34" charset="-120"/>
              </a:rPr>
              <a:t>Cl0p’s MOVEit leak-site listings over time. Source: Dark Lab, “MOVEit Cl0p: You’re Not The Only One” (Sept 2023).</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THREAT ACTOR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Opportunistic, not targeted</a:t>
            </a:r>
            <a:endParaRPr lang="en-US" sz="3000" dirty="0"/>
          </a:p>
        </p:txBody>
      </p:sp>
      <p:sp>
        <p:nvSpPr>
          <p:cNvPr id="5" name="Shape 3"/>
          <p:cNvSpPr/>
          <p:nvPr/>
        </p:nvSpPr>
        <p:spPr>
          <a:xfrm>
            <a:off x="533400" y="1847850"/>
            <a:ext cx="5334000" cy="28575"/>
          </a:xfrm>
          <a:prstGeom prst="rect">
            <a:avLst/>
          </a:prstGeom>
          <a:solidFill>
            <a:srgbClr val="1A1A1A"/>
          </a:solidFill>
          <a:ln/>
        </p:spPr>
      </p:sp>
      <p:pic>
        <p:nvPicPr>
          <p:cNvPr id="6" name="Image 0" descr="/home/claude/pcpd-course-content/deck-harness/assets/cl0p-victim-distribution-pie.png">    </p:cNvPr>
          <p:cNvPicPr>
            <a:picLocks noChangeAspect="1"/>
          </p:cNvPicPr>
          <p:nvPr/>
        </p:nvPicPr>
        <p:blipFill>
          <a:blip r:embed="rId1"/>
          <a:srcRect l="0" r="0" t="0" b="0"/>
          <a:stretch/>
        </p:blipFill>
        <p:spPr>
          <a:xfrm>
            <a:off x="533400" y="1943100"/>
            <a:ext cx="5334000" cy="2996629"/>
          </a:xfrm>
          <a:prstGeom prst="rect">
            <a:avLst/>
          </a:prstGeom>
        </p:spPr>
      </p:pic>
      <p:sp>
        <p:nvSpPr>
          <p:cNvPr id="7" name="Text 4"/>
          <p:cNvSpPr/>
          <p:nvPr/>
        </p:nvSpPr>
        <p:spPr>
          <a:xfrm>
            <a:off x="533400" y="5396929"/>
            <a:ext cx="5334000" cy="438150"/>
          </a:xfrm>
          <a:prstGeom prst="rect">
            <a:avLst/>
          </a:prstGeom>
          <a:noFill/>
          <a:ln/>
        </p:spPr>
        <p:txBody>
          <a:bodyPr wrap="square" rtlCol="0" anchor="t"/>
          <a:lstStyle/>
          <a:p>
            <a:pPr indent="0" marL="0">
              <a:buNone/>
            </a:pPr>
            <a:r>
              <a:rPr lang="en-US" sz="1600" i="1" dirty="0">
                <a:solidFill>
                  <a:srgbClr val="7A7A7A"/>
                </a:solidFill>
                <a:latin typeface="Arial" pitchFamily="34" charset="0"/>
                <a:ea typeface="Arial" pitchFamily="34" charset="-122"/>
                <a:cs typeface="Arial" pitchFamily="34" charset="-120"/>
              </a:rPr>
              <a:t>Top-5 victim countries by count. Source: Dark Lab (Sept 2023).</a:t>
            </a:r>
            <a:endParaRPr lang="en-US" sz="1600" dirty="0"/>
          </a:p>
        </p:txBody>
      </p:sp>
      <p:sp>
        <p:nvSpPr>
          <p:cNvPr id="8" name="Text 5"/>
          <p:cNvSpPr/>
          <p:nvPr/>
        </p:nvSpPr>
        <p:spPr>
          <a:xfrm>
            <a:off x="6153150" y="1847850"/>
            <a:ext cx="5505145" cy="4019550"/>
          </a:xfrm>
          <a:prstGeom prst="rect">
            <a:avLst/>
          </a:prstGeom>
          <a:noFill/>
          <a:ln/>
        </p:spPr>
        <p:txBody>
          <a:bodyPr wrap="square" rtlCol="0" anchor="t"/>
          <a:lstStyle/>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Roughly two-thirds of disclosed victims were US-based — that tracks with where internet-facing MOVEit instances are concentrated, not a deliberate US focus.</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CL0P’s targeting here was opportunistic: whoever ran MOVEit exposed to the internet was in scope, regardless of sector or size.</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Some victims appeared in the leak site more than once, in up to six separate data “parts” — CL0P’s own operational backlog processing hundreds of victims at once.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THE PLATFORM</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MOVEit: built to face the internet</a:t>
            </a:r>
            <a:endParaRPr lang="en-US" sz="3000" dirty="0"/>
          </a:p>
        </p:txBody>
      </p:sp>
      <p:sp>
        <p:nvSpPr>
          <p:cNvPr id="5" name="Text 3"/>
          <p:cNvSpPr/>
          <p:nvPr/>
        </p:nvSpPr>
        <p:spPr>
          <a:xfrm>
            <a:off x="533400" y="1847850"/>
            <a:ext cx="11124895" cy="4114800"/>
          </a:xfrm>
          <a:prstGeom prst="rect">
            <a:avLst/>
          </a:prstGeom>
          <a:noFill/>
          <a:ln/>
        </p:spPr>
        <p:txBody>
          <a:bodyPr wrap="square" rtlCol="0" anchor="t"/>
          <a:lstStyle/>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MOVEit Transfer is enterprise managed file-transfer software — its whole purpose is exchanging files with external partners, so by design it has to be internet-facing. That’s exactly what made it attractive.</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CVE-2023-34362: a SQL-injection zero-day, actively exploited since 27 May 2023, giving an unauthenticated attacker direct access to the underlying database — no phishing, no stolen credentials required.</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The shift: CL0P’s usual move is double extortion. Hitting hundreds of victims in one campaign, they went single-extortion instead — steal the data, skip the encryption. Faster to run at that scale, across that many victims, simultaneously.</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Same playbook as their prior hits (Accellion 2020, GoAnywhere MFT Feb 2023): one zero-day in the right file-transfer product reaches hundreds of organisations at once, everywhere, because that class of software is deployed almost identically wherever it runs.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THE NOTICE</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CNCBI, listed among roughly 260 others</a:t>
            </a:r>
            <a:endParaRPr lang="en-US" sz="3000" dirty="0"/>
          </a:p>
        </p:txBody>
      </p:sp>
      <p:sp>
        <p:nvSpPr>
          <p:cNvPr id="5" name="Shape 3"/>
          <p:cNvSpPr/>
          <p:nvPr/>
        </p:nvSpPr>
        <p:spPr>
          <a:xfrm>
            <a:off x="533400" y="1847850"/>
            <a:ext cx="4095750" cy="28575"/>
          </a:xfrm>
          <a:prstGeom prst="rect">
            <a:avLst/>
          </a:prstGeom>
          <a:solidFill>
            <a:srgbClr val="1A1A1A"/>
          </a:solidFill>
          <a:ln/>
        </p:spPr>
      </p:sp>
      <p:pic>
        <p:nvPicPr>
          <p:cNvPr id="6" name="Image 0" descr="/home/claude/pcpd-course-content/deck-harness/assets/cl0p-ransom-note.png">    </p:cNvPr>
          <p:cNvPicPr>
            <a:picLocks noChangeAspect="1"/>
          </p:cNvPicPr>
          <p:nvPr/>
        </p:nvPicPr>
        <p:blipFill>
          <a:blip r:embed="rId1"/>
          <a:srcRect l="0" r="0" t="0" b="0"/>
          <a:stretch/>
        </p:blipFill>
        <p:spPr>
          <a:xfrm>
            <a:off x="533400" y="1943100"/>
            <a:ext cx="4095750" cy="4095750"/>
          </a:xfrm>
          <a:prstGeom prst="rect">
            <a:avLst/>
          </a:prstGeom>
        </p:spPr>
      </p:pic>
      <p:sp>
        <p:nvSpPr>
          <p:cNvPr id="7" name="Text 4"/>
          <p:cNvSpPr/>
          <p:nvPr/>
        </p:nvSpPr>
        <p:spPr>
          <a:xfrm>
            <a:off x="4914900" y="1847850"/>
            <a:ext cx="6743395" cy="3810000"/>
          </a:xfrm>
          <a:prstGeom prst="rect">
            <a:avLst/>
          </a:prstGeom>
          <a:noFill/>
          <a:ln/>
        </p:spPr>
        <p:txBody>
          <a:bodyPr wrap="square" rtlCol="0" anchor="t"/>
          <a:lstStyle/>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This is the generic note CL0P posted for every MOVEit victim once listed — not a message planted on CNCBI’s own systems. There was no on-host ransom note here.</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CNCBI’s attribution came from exactly this: the leak-site listing and this note, plus TTP overlap — not a forensic artefact confirming CL0P by name.</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The ask is blunt: pay, or a 10% proof sample goes up, then the rest after a stated deadline.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THE NOTICE</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being listed looked like</a:t>
            </a:r>
            <a:endParaRPr lang="en-US" sz="3000" dirty="0"/>
          </a:p>
        </p:txBody>
      </p:sp>
      <p:sp>
        <p:nvSpPr>
          <p:cNvPr id="5" name="Shape 3"/>
          <p:cNvSpPr/>
          <p:nvPr/>
        </p:nvSpPr>
        <p:spPr>
          <a:xfrm>
            <a:off x="533400" y="1847850"/>
            <a:ext cx="5905500" cy="28575"/>
          </a:xfrm>
          <a:prstGeom prst="rect">
            <a:avLst/>
          </a:prstGeom>
          <a:solidFill>
            <a:srgbClr val="1A1A1A"/>
          </a:solidFill>
          <a:ln/>
        </p:spPr>
      </p:sp>
      <p:pic>
        <p:nvPicPr>
          <p:cNvPr id="6" name="Image 0" descr="/home/claude/pcpd-course-content/deck-harness/assets/cl0p-leaksite-warning-banner.png">    </p:cNvPr>
          <p:cNvPicPr>
            <a:picLocks noChangeAspect="1"/>
          </p:cNvPicPr>
          <p:nvPr/>
        </p:nvPicPr>
        <p:blipFill>
          <a:blip r:embed="rId1"/>
          <a:srcRect l="0" r="0" t="0" b="0"/>
          <a:stretch/>
        </p:blipFill>
        <p:spPr>
          <a:xfrm>
            <a:off x="533400" y="1943100"/>
            <a:ext cx="5905500" cy="1167095"/>
          </a:xfrm>
          <a:prstGeom prst="rect">
            <a:avLst/>
          </a:prstGeom>
        </p:spPr>
      </p:pic>
      <p:sp>
        <p:nvSpPr>
          <p:cNvPr id="7" name="Text 4"/>
          <p:cNvSpPr/>
          <p:nvPr/>
        </p:nvSpPr>
        <p:spPr>
          <a:xfrm>
            <a:off x="533400" y="3567395"/>
            <a:ext cx="5905500" cy="628650"/>
          </a:xfrm>
          <a:prstGeom prst="rect">
            <a:avLst/>
          </a:prstGeom>
          <a:noFill/>
          <a:ln/>
        </p:spPr>
        <p:txBody>
          <a:bodyPr wrap="square" rtlCol="0" anchor="t"/>
          <a:lstStyle/>
          <a:p>
            <a:pPr indent="0" marL="0">
              <a:buNone/>
            </a:pPr>
            <a:r>
              <a:rPr lang="en-US" sz="1600" i="1" dirty="0">
                <a:solidFill>
                  <a:srgbClr val="7A7A7A"/>
                </a:solidFill>
                <a:latin typeface="Arial" pitchFamily="34" charset="0"/>
                <a:ea typeface="Arial" pitchFamily="34" charset="-122"/>
                <a:cs typeface="Arial" pitchFamily="34" charset="-120"/>
              </a:rPr>
              <a:t>CL0P’s public-shaming banner on a victim’s leak-site page — generic wording, not specific to any one organisation.</a:t>
            </a:r>
            <a:endParaRPr lang="en-US" sz="1600" dirty="0"/>
          </a:p>
        </p:txBody>
      </p:sp>
      <p:sp>
        <p:nvSpPr>
          <p:cNvPr id="8" name="Text 5"/>
          <p:cNvSpPr/>
          <p:nvPr/>
        </p:nvSpPr>
        <p:spPr>
          <a:xfrm>
            <a:off x="6705600" y="1847850"/>
            <a:ext cx="4952695" cy="3429000"/>
          </a:xfrm>
          <a:prstGeom prst="rect">
            <a:avLst/>
          </a:prstGeom>
          <a:noFill/>
          <a:ln/>
        </p:spPr>
        <p:txBody>
          <a:bodyPr wrap="square" rtlCol="0" anchor="t"/>
          <a:lstStyle/>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CL0P’s stated policy: publish incrementally if a victim doesn’t pay — a small proof first, then more, then everything after the deadline. In practice, the deadlines shifted, and some victims’ data appeared early.</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CNCBI’s own review of what was actually published found no customer data among it — a materially different outcome from simply being listed.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ATTACK PATH</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Access to exfiltration in under an hour, published a month later</a:t>
            </a:r>
            <a:endParaRPr lang="en-US" sz="3000" dirty="0"/>
          </a:p>
        </p:txBody>
      </p:sp>
      <p:sp>
        <p:nvSpPr>
          <p:cNvPr id="5" name="Shape 3"/>
          <p:cNvSpPr/>
          <p:nvPr/>
        </p:nvSpPr>
        <p:spPr>
          <a:xfrm>
            <a:off x="533400" y="2286000"/>
            <a:ext cx="11124895" cy="28575"/>
          </a:xfrm>
          <a:prstGeom prst="rect">
            <a:avLst/>
          </a:prstGeom>
          <a:solidFill>
            <a:srgbClr val="1A1A1A"/>
          </a:solidFill>
          <a:ln/>
        </p:spPr>
      </p:sp>
      <p:pic>
        <p:nvPicPr>
          <p:cNvPr id="6" name="Image 0" descr="/home/claude/pcpd-course-content/deck-harness/assets/moveit-attack-path.png">    </p:cNvPr>
          <p:cNvPicPr>
            <a:picLocks noChangeAspect="1"/>
          </p:cNvPicPr>
          <p:nvPr/>
        </p:nvPicPr>
        <p:blipFill>
          <a:blip r:embed="rId1"/>
          <a:srcRect l="0" r="0" t="0" b="0"/>
          <a:stretch/>
        </p:blipFill>
        <p:spPr>
          <a:xfrm>
            <a:off x="533400" y="2381250"/>
            <a:ext cx="11124895" cy="3142626"/>
          </a:xfrm>
          <a:prstGeom prst="rect">
            <a:avLst/>
          </a:prstGeom>
        </p:spPr>
      </p:pic>
      <p:sp>
        <p:nvSpPr>
          <p:cNvPr id="7" name="Text 4"/>
          <p:cNvSpPr/>
          <p:nvPr/>
        </p:nvSpPr>
        <p:spPr>
          <a:xfrm>
            <a:off x="533400" y="5981076"/>
            <a:ext cx="11124895" cy="438150"/>
          </a:xfrm>
          <a:prstGeom prst="rect">
            <a:avLst/>
          </a:prstGeom>
          <a:noFill/>
          <a:ln/>
        </p:spPr>
        <p:txBody>
          <a:bodyPr wrap="square" rtlCol="0" anchor="t"/>
          <a:lstStyle/>
          <a:p>
            <a:pPr indent="0" marL="0">
              <a:buNone/>
            </a:pPr>
            <a:r>
              <a:rPr lang="en-US" sz="1600" i="1" dirty="0">
                <a:solidFill>
                  <a:srgbClr val="7A7A7A"/>
                </a:solidFill>
                <a:latin typeface="Arial" pitchFamily="34" charset="0"/>
                <a:ea typeface="Arial" pitchFamily="34" charset="-122"/>
                <a:cs typeface="Arial" pitchFamily="34" charset="-120"/>
              </a:rPr>
              <a:t>Day 0: exploit, web-shell, and exfiltration — all in the same session, under an hour. Day 31: CL0P publishes on its leak site.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ATTRIBUTION</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Why attribution mattered here</a:t>
            </a:r>
            <a:endParaRPr lang="en-US" sz="3000" dirty="0"/>
          </a:p>
        </p:txBody>
      </p:sp>
      <p:sp>
        <p:nvSpPr>
          <p:cNvPr id="5" name="Text 3"/>
          <p:cNvSpPr/>
          <p:nvPr/>
        </p:nvSpPr>
        <p:spPr>
          <a:xfrm>
            <a:off x="533400" y="1847850"/>
            <a:ext cx="11124895" cy="34290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Knowing it was CL0P — not just “a zero-day hit us” — told us what to expect: single extortion, no lateral movement typically, exfiltration via the platform itself rather than a foothold across the network.</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That shaped where we focused forensics: the MOVEit host and its own logs first, rather than a domain-wide hunt — consistent with how CL0P has run every one of its file-transfer campaigns.</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Attribution came from the leak-site claim plus TTP overlap with known CL0P activity — not a ransom note, not a forensic signature unique to CL0P on this host.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METHODOLOGY</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to ask for, and why</a:t>
            </a:r>
            <a:endParaRPr lang="en-US" sz="3000" dirty="0"/>
          </a:p>
        </p:txBody>
      </p:sp>
      <p:sp>
        <p:nvSpPr>
          <p:cNvPr id="5" name="Text 3"/>
          <p:cNvSpPr/>
          <p:nvPr/>
        </p:nvSpPr>
        <p:spPr>
          <a:xfrm>
            <a:off x="533400" y="1847850"/>
            <a:ext cx="11124895" cy="3810000"/>
          </a:xfrm>
          <a:prstGeom prst="rect">
            <a:avLst/>
          </a:prstGeom>
          <a:noFill/>
          <a:ln/>
        </p:spPr>
        <p:txBody>
          <a:bodyPr wrap="square" rtlCol="0" anchor="t"/>
          <a:lstStyle/>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The asset list, first: perimeter firewall, a handful of file/database/application servers, and a handful of domain controllers — before anything else, we needed to know what existed.</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Then targeted logs: only once scoped could we ask by name — perimeter firewall traffic, MOVEit’s own web logs, database logs, host forensics.</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CL0P’s own playbook helped prioritize the ask: their MOVEit campaigns typically show no lateral movement, so host forensics could focus on the MOVEit server itself first, rather than a domain-wide sweep — informed by threat intel, not guesswork.</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Why iterative mattered: the firewall traffic spike told us which host to pull forensics from next — each answer generated the next specific ask, not a blanket “send us everything.”</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RECOMMENDATIONS</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Fixes: hygiene first, then maturity</a:t>
            </a:r>
            <a:endParaRPr lang="en-US" sz="3000" dirty="0"/>
          </a:p>
        </p:txBody>
      </p:sp>
      <p:sp>
        <p:nvSpPr>
          <p:cNvPr id="5" name="Text 3"/>
          <p:cNvSpPr/>
          <p:nvPr/>
        </p:nvSpPr>
        <p:spPr>
          <a:xfrm>
            <a:off x="533400" y="1847850"/>
            <a:ext cx="5419573" cy="190500"/>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HYGIENE — DO THIS FIRST</a:t>
            </a:r>
            <a:endParaRPr lang="en-US" sz="1600" dirty="0"/>
          </a:p>
        </p:txBody>
      </p:sp>
      <p:sp>
        <p:nvSpPr>
          <p:cNvPr id="6" name="Text 4"/>
          <p:cNvSpPr/>
          <p:nvPr/>
        </p:nvSpPr>
        <p:spPr>
          <a:xfrm>
            <a:off x="6238723" y="1847850"/>
            <a:ext cx="5419573" cy="190500"/>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BEST PRACTICE — THEN THIS</a:t>
            </a:r>
            <a:endParaRPr lang="en-US" sz="1600" dirty="0"/>
          </a:p>
        </p:txBody>
      </p:sp>
      <p:sp>
        <p:nvSpPr>
          <p:cNvPr id="7" name="Text 5"/>
          <p:cNvSpPr/>
          <p:nvPr/>
        </p:nvSpPr>
        <p:spPr>
          <a:xfrm>
            <a:off x="533400" y="2114550"/>
            <a:ext cx="5419573" cy="3238500"/>
          </a:xfrm>
          <a:prstGeom prst="rect">
            <a:avLst/>
          </a:prstGeom>
          <a:noFill/>
          <a:ln/>
        </p:spPr>
        <p:txBody>
          <a:bodyPr wrap="square" rtlCol="0" anchor="t"/>
          <a:lstStyle/>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Reset every credential; revoke active sessions</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MFA on the file-transfer platform itself</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Patch on vendor advisory, not on convenience</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Restrict MOVEit’s exposure to trusted IPs only</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Endpoint detection on the hosting servers</a:t>
            </a:r>
            <a:endParaRPr lang="en-US" sz="1500" dirty="0"/>
          </a:p>
        </p:txBody>
      </p:sp>
      <p:sp>
        <p:nvSpPr>
          <p:cNvPr id="8" name="Text 6"/>
          <p:cNvSpPr/>
          <p:nvPr/>
        </p:nvSpPr>
        <p:spPr>
          <a:xfrm>
            <a:off x="6238723" y="2114550"/>
            <a:ext cx="5419573" cy="3238500"/>
          </a:xfrm>
          <a:prstGeom prst="rect">
            <a:avLst/>
          </a:prstGeom>
          <a:noFill/>
          <a:ln/>
        </p:spPr>
        <p:txBody>
          <a:bodyPr wrap="square" rtlCol="0" anchor="t"/>
          <a:lstStyle/>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File-integrity monitoring on the platform</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Red-team exercises against file-transfer paths</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SIEM and EDR uplift across the estate</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Secure, clean rebuild before returning to service</a:t>
            </a:r>
            <a:endParaRPr lang="en-US" sz="1500" dirty="0"/>
          </a:p>
          <a:p>
            <a:pPr marL="342900" indent="-342900">
              <a:lnSpc>
                <a:spcPct val="125000"/>
              </a:lnSpc>
              <a:spcAft>
                <a:spcPts val="600"/>
              </a:spcAft>
              <a:buSzPct val="100000"/>
              <a:buChar char="—"/>
            </a:pPr>
            <a:r>
              <a:rPr lang="en-US" sz="1500" dirty="0">
                <a:solidFill>
                  <a:srgbClr val="3D3D3D"/>
                </a:solidFill>
                <a:latin typeface="Arial" pitchFamily="34" charset="0"/>
                <a:ea typeface="Arial" pitchFamily="34" charset="-122"/>
                <a:cs typeface="Arial" pitchFamily="34" charset="-120"/>
              </a:rPr>
              <a:t>Regular independent security assessment, not one-off</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CNCBI · PCPD ALIGNMENT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No PCPD case doesn’t mean no risk</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2162175"/>
          </a:xfrm>
          <a:prstGeom prst="rect">
            <a:avLst/>
          </a:prstGeom>
          <a:solidFill>
            <a:srgbClr val="F2F2F2"/>
          </a:solidFill>
          <a:ln w="6350">
            <a:solidFill>
              <a:srgbClr val="F2F2F2"/>
            </a:solidFill>
            <a:prstDash val="solid"/>
          </a:ln>
        </p:spPr>
      </p:sp>
      <p:sp>
        <p:nvSpPr>
          <p:cNvPr id="7" name="Text 5"/>
          <p:cNvSpPr/>
          <p:nvPr/>
        </p:nvSpPr>
        <p:spPr>
          <a:xfrm>
            <a:off x="723900"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Not selected, not exempt</a:t>
            </a:r>
            <a:endParaRPr lang="en-US" sz="2000" dirty="0"/>
          </a:p>
        </p:txBody>
      </p:sp>
      <p:sp>
        <p:nvSpPr>
          <p:cNvPr id="8" name="Text 6"/>
          <p:cNvSpPr/>
          <p:nvPr/>
        </p:nvSpPr>
        <p:spPr>
          <a:xfrm>
            <a:off x="723900" y="2352675"/>
            <a:ext cx="5076673"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PCPD doesn’t investigate every breach — this one simply wasn’t chosen. That’s a selection reality, not a clean bill of health.</a:t>
            </a:r>
            <a:endParaRPr lang="en-US" sz="20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216217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Same exposure, no enforcement</a:t>
            </a:r>
            <a:endParaRPr lang="en-US" sz="2000" dirty="0"/>
          </a:p>
        </p:txBody>
      </p:sp>
      <p:sp>
        <p:nvSpPr>
          <p:cNvPr id="12" name="Text 10"/>
          <p:cNvSpPr/>
          <p:nvPr/>
        </p:nvSpPr>
        <p:spPr>
          <a:xfrm>
            <a:off x="6391123" y="2352675"/>
            <a:ext cx="5076673"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CNCBI’s gap here (no MFA on the platform) mirrors exactly what PCPD flags when it does act on other cases.</a:t>
            </a:r>
            <a:endParaRPr lang="en-US" sz="2000" dirty="0"/>
          </a:p>
        </p:txBody>
      </p:sp>
      <p:sp>
        <p:nvSpPr>
          <p:cNvPr id="13" name="Text 11"/>
          <p:cNvSpPr/>
          <p:nvPr/>
        </p:nvSpPr>
        <p:spPr>
          <a:xfrm>
            <a:off x="533400" y="4267200"/>
            <a:ext cx="11124895" cy="749300"/>
          </a:xfrm>
          <a:prstGeom prst="rect">
            <a:avLst/>
          </a:prstGeom>
          <a:noFill/>
          <a:ln/>
        </p:spPr>
        <p:txBody>
          <a:bodyPr wrap="square" rtlCol="0" anchor="t"/>
          <a:lstStyle/>
          <a:p>
            <a:pPr indent="0" marL="0">
              <a:lnSpc>
                <a:spcPct val="125000"/>
              </a:lnSpc>
              <a:buNone/>
            </a:pPr>
            <a:r>
              <a:rPr lang="en-US" sz="2000" i="1" dirty="0">
                <a:solidFill>
                  <a:srgbClr val="3D3D3D"/>
                </a:solidFill>
                <a:latin typeface="Arial" pitchFamily="34" charset="0"/>
                <a:ea typeface="Arial" pitchFamily="34" charset="-122"/>
                <a:cs typeface="Arial" pitchFamily="34" charset="-120"/>
              </a:rPr>
              <a:t>The lesson for compliance work: build your control environment as if every incident could be selected — you don’t control PCPD’s selection criteria.</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CASE 2</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The Hong Kong</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Institute of Bankers.</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The textbook patch-management failure you already met in Part 1 — now with the practitioner-side detail behind the public PCPD report.</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04</a:t>
            </a:r>
            <a:endParaRPr lang="en-US" sz="1300" dirty="0"/>
          </a:p>
        </p:txBody>
      </p:sp>
      <p:sp>
        <p:nvSpPr>
          <p:cNvPr id="6" name="Text 4"/>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THREAT ACTOR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Who is LockBit</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RaaS, “old guard”</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one of the longest-running ransomware-as-a-service operations, active since around 2019</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Double extortion</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the classic playbook — encrypt, then threaten to leak, unlike CL0P’s MOVEit approach</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Under 100 → 1,000+</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LockBit 2.0’s victim count from 2020 to 2021, on the affiliate model</a:t>
            </a:r>
            <a:endParaRPr lang="en-US" sz="1600" dirty="0"/>
          </a:p>
        </p:txBody>
      </p:sp>
      <p:sp>
        <p:nvSpPr>
          <p:cNvPr id="14" name="Text 12"/>
          <p:cNvSpPr/>
          <p:nvPr/>
        </p:nvSpPr>
        <p:spPr>
          <a:xfrm>
            <a:off x="533400" y="3752850"/>
            <a:ext cx="11124895" cy="1905000"/>
          </a:xfrm>
          <a:prstGeom prst="rect">
            <a:avLst/>
          </a:prstGeom>
          <a:noFill/>
          <a:ln/>
        </p:spPr>
        <p:txBody>
          <a:bodyPr wrap="square" rtlCol="0" anchor="t"/>
          <a:lstStyle/>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Affiliates buy or brute-force access, then deploy a common toolkit — the model is volume, not bespoke targeting.</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 recurring pattern in LockBit cases generally: a weak or reused credential on a perimeter device is the way in, not a sophisticated exploit chain.</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THE VULNERABILITY</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vulnerability nobody worried about</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CVSS 5.0</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the original 2019 score (CVSS v2) — “Medium,” a path-traversal information-disclosure bug</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CVSS 9.8</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the same vulnerability, re-scored under CVSS v3.1 by NVD once its real impact was understood</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2019 → 2021</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from a quiet patch to a mass credential-harvesting campaign</a:t>
            </a:r>
            <a:endParaRPr lang="en-US" sz="1600" dirty="0"/>
          </a:p>
        </p:txBody>
      </p:sp>
      <p:sp>
        <p:nvSpPr>
          <p:cNvPr id="14" name="Text 12"/>
          <p:cNvSpPr/>
          <p:nvPr/>
        </p:nvSpPr>
        <p:spPr>
          <a:xfrm>
            <a:off x="533400" y="3752850"/>
            <a:ext cx="11124895" cy="20574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CVE-2018-13379: an unauthenticated attacker could read files off a FortiGate SSL-VPN portal — including session credential files — via a crafted URL. Fortinet patched it in 2019.</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At CVSS 5.0, almost nobody rushed. Then COVID-19 hit, and internet-facing SSL-VPN became every organisation’s remote-access lifeline overnight — including systems still on the vulnerable version.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THE VULNERABILITY</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2021 dump</a:t>
            </a:r>
            <a:endParaRPr lang="en-US" sz="3000" dirty="0"/>
          </a:p>
        </p:txBody>
      </p:sp>
      <p:sp>
        <p:nvSpPr>
          <p:cNvPr id="5" name="Shape 3"/>
          <p:cNvSpPr/>
          <p:nvPr/>
        </p:nvSpPr>
        <p:spPr>
          <a:xfrm>
            <a:off x="533400" y="1847850"/>
            <a:ext cx="5143500" cy="28575"/>
          </a:xfrm>
          <a:prstGeom prst="rect">
            <a:avLst/>
          </a:prstGeom>
          <a:solidFill>
            <a:srgbClr val="1A1A1A"/>
          </a:solidFill>
          <a:ln/>
        </p:spPr>
      </p:sp>
      <p:pic>
        <p:nvPicPr>
          <p:cNvPr id="6" name="Image 0" descr="/home/claude/pcpd-course-content/deck-harness/assets/fortibleed-terminal.png">    </p:cNvPr>
          <p:cNvPicPr>
            <a:picLocks noChangeAspect="1"/>
          </p:cNvPicPr>
          <p:nvPr/>
        </p:nvPicPr>
        <p:blipFill>
          <a:blip r:embed="rId1"/>
          <a:srcRect l="0" r="0" t="0" b="0"/>
          <a:stretch/>
        </p:blipFill>
        <p:spPr>
          <a:xfrm>
            <a:off x="533400" y="1943100"/>
            <a:ext cx="5143500" cy="3214688"/>
          </a:xfrm>
          <a:prstGeom prst="rect">
            <a:avLst/>
          </a:prstGeom>
        </p:spPr>
      </p:pic>
      <p:sp>
        <p:nvSpPr>
          <p:cNvPr id="7" name="Text 4"/>
          <p:cNvSpPr/>
          <p:nvPr/>
        </p:nvSpPr>
        <p:spPr>
          <a:xfrm>
            <a:off x="533400" y="5614988"/>
            <a:ext cx="5143500" cy="628650"/>
          </a:xfrm>
          <a:prstGeom prst="rect">
            <a:avLst/>
          </a:prstGeom>
          <a:noFill/>
          <a:ln/>
        </p:spPr>
        <p:txBody>
          <a:bodyPr wrap="square" rtlCol="0" anchor="t"/>
          <a:lstStyle/>
          <a:p>
            <a:pPr indent="0" marL="0">
              <a:buNone/>
            </a:pPr>
            <a:r>
              <a:rPr lang="en-US" sz="1600" i="1" dirty="0">
                <a:solidFill>
                  <a:srgbClr val="7A7A7A"/>
                </a:solidFill>
                <a:latin typeface="Arial" pitchFamily="34" charset="0"/>
                <a:ea typeface="Arial" pitchFamily="34" charset="-122"/>
                <a:cs typeface="Arial" pitchFamily="34" charset="-120"/>
              </a:rPr>
              <a:t>A researcher’s replay of the leaked-credential dataset — full administrative access from a single reused password.</a:t>
            </a:r>
            <a:endParaRPr lang="en-US" sz="1600" dirty="0"/>
          </a:p>
        </p:txBody>
      </p:sp>
      <p:sp>
        <p:nvSpPr>
          <p:cNvPr id="8" name="Text 5"/>
          <p:cNvSpPr/>
          <p:nvPr/>
        </p:nvSpPr>
        <p:spPr>
          <a:xfrm>
            <a:off x="5943600" y="1847850"/>
            <a:ext cx="5714695" cy="3619500"/>
          </a:xfrm>
          <a:prstGeom prst="rect">
            <a:avLst/>
          </a:prstGeom>
          <a:noFill/>
          <a:ln/>
        </p:spPr>
        <p:txBody>
          <a:bodyPr wrap="square" rtlCol="0" anchor="t"/>
          <a:lstStyle/>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In September 2021, a threat actor published SSL-VPN access details for roughly 87,000 FortiGate devices — usernames and passwords scraped from systems still unpatched at the time of scanning.</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Patching alone wasn’t enough after the fact: a password scraped before the patch stayed valid until someone reset it. Fortinet’s own advice was patch, reset, and turn on MFA — all three, not one.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THE VULNERABILITY</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scale of it</a:t>
            </a:r>
            <a:endParaRPr lang="en-US" sz="3000" dirty="0"/>
          </a:p>
        </p:txBody>
      </p:sp>
      <p:sp>
        <p:nvSpPr>
          <p:cNvPr id="5" name="Shape 3"/>
          <p:cNvSpPr/>
          <p:nvPr/>
        </p:nvSpPr>
        <p:spPr>
          <a:xfrm>
            <a:off x="533400" y="1847850"/>
            <a:ext cx="4095750" cy="28575"/>
          </a:xfrm>
          <a:prstGeom prst="rect">
            <a:avLst/>
          </a:prstGeom>
          <a:solidFill>
            <a:srgbClr val="1A1A1A"/>
          </a:solidFill>
          <a:ln/>
        </p:spPr>
      </p:sp>
      <p:pic>
        <p:nvPicPr>
          <p:cNvPr id="6" name="Image 0" descr="/home/claude/pcpd-course-content/deck-harness/assets/fortibleed-domain-list.png">    </p:cNvPr>
          <p:cNvPicPr>
            <a:picLocks noChangeAspect="1"/>
          </p:cNvPicPr>
          <p:nvPr/>
        </p:nvPicPr>
        <p:blipFill>
          <a:blip r:embed="rId1"/>
          <a:srcRect l="0" r="0" t="0" b="0"/>
          <a:stretch/>
        </p:blipFill>
        <p:spPr>
          <a:xfrm>
            <a:off x="533400" y="1943100"/>
            <a:ext cx="4095750" cy="3413125"/>
          </a:xfrm>
          <a:prstGeom prst="rect">
            <a:avLst/>
          </a:prstGeom>
        </p:spPr>
      </p:pic>
      <p:sp>
        <p:nvSpPr>
          <p:cNvPr id="7" name="Text 4"/>
          <p:cNvSpPr/>
          <p:nvPr/>
        </p:nvSpPr>
        <p:spPr>
          <a:xfrm>
            <a:off x="533400" y="5813425"/>
            <a:ext cx="4095750" cy="628650"/>
          </a:xfrm>
          <a:prstGeom prst="rect">
            <a:avLst/>
          </a:prstGeom>
          <a:noFill/>
          <a:ln/>
        </p:spPr>
        <p:txBody>
          <a:bodyPr wrap="square" rtlCol="0" anchor="t"/>
          <a:lstStyle/>
          <a:p>
            <a:pPr indent="0" marL="0">
              <a:buNone/>
            </a:pPr>
            <a:r>
              <a:rPr lang="en-US" sz="1600" i="1" dirty="0">
                <a:solidFill>
                  <a:srgbClr val="7A7A7A"/>
                </a:solidFill>
                <a:latin typeface="Arial" pitchFamily="34" charset="0"/>
                <a:ea typeface="Arial" pitchFamily="34" charset="-122"/>
                <a:cs typeface="Arial" pitchFamily="34" charset="-120"/>
              </a:rPr>
              <a:t>The leaked dataset spanned industries and geographies indiscriminately.</a:t>
            </a:r>
            <a:endParaRPr lang="en-US" sz="1600" dirty="0"/>
          </a:p>
        </p:txBody>
      </p:sp>
      <p:sp>
        <p:nvSpPr>
          <p:cNvPr id="8" name="Text 5"/>
          <p:cNvSpPr/>
          <p:nvPr/>
        </p:nvSpPr>
        <p:spPr>
          <a:xfrm>
            <a:off x="4914900" y="1847850"/>
            <a:ext cx="6743395" cy="3429000"/>
          </a:xfrm>
          <a:prstGeom prst="rect">
            <a:avLst/>
          </a:prstGeom>
          <a:noFill/>
          <a:ln/>
        </p:spPr>
        <p:txBody>
          <a:bodyPr wrap="square" rtlCol="0" anchor="t"/>
          <a:lstStyle/>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Oil &amp; gas, telecoms, automotive, electronics, government-linked entities — this was opportunistic mass scanning, not a targeted intrusion against any one sector.</a:t>
            </a:r>
            <a:endParaRPr lang="en-US" sz="1600" dirty="0"/>
          </a:p>
          <a:p>
            <a:pPr marL="342900" indent="-342900">
              <a:lnSpc>
                <a:spcPct val="140000"/>
              </a:lnSpc>
              <a:spcAft>
                <a:spcPts val="1000"/>
              </a:spcAft>
              <a:buSzPct val="100000"/>
              <a:buChar char="—"/>
            </a:pPr>
            <a:r>
              <a:rPr lang="en-US" sz="1600" dirty="0">
                <a:solidFill>
                  <a:srgbClr val="3D3D3D"/>
                </a:solidFill>
                <a:latin typeface="Arial" pitchFamily="34" charset="0"/>
                <a:ea typeface="Arial" pitchFamily="34" charset="-122"/>
                <a:cs typeface="Arial" pitchFamily="34" charset="-120"/>
              </a:rPr>
              <a:t>HKIB — a financial-sector training body, not a bank itself — was simply one more internet-facing SSL-VPN in that same exposed population.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BACKGROUND</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Two and a half years later, still exposed</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2.5 years</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between the 2019 patch and exploitation here — the same gap PCPD’s report calls out</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Day 0 → Day 1</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from stolen VPN credentials to ransomware executed across the domain — well under 24 hours</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113,000+</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individuals affected, per PCPD’s own published report (R23-6319)</a:t>
            </a:r>
            <a:endParaRPr lang="en-US" sz="1600" dirty="0"/>
          </a:p>
        </p:txBody>
      </p:sp>
      <p:sp>
        <p:nvSpPr>
          <p:cNvPr id="14" name="Text 12"/>
          <p:cNvSpPr/>
          <p:nvPr/>
        </p:nvSpPr>
        <p:spPr>
          <a:xfrm>
            <a:off x="533400" y="3752850"/>
            <a:ext cx="11124895" cy="1905000"/>
          </a:xfrm>
          <a:prstGeom prst="rect">
            <a:avLst/>
          </a:prstGeom>
          <a:noFill/>
          <a:ln/>
        </p:spPr>
        <p:txBody>
          <a:bodyPr wrap="square" rtlCol="0" anchor="t"/>
          <a:lstStyle/>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This is the same case already on the enforcement-notice count you saw in Part 1: 2022 · 1 (HKIB).</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CVE-2018-13379 — a FortiGate SSL-VPN information-disclosure flaw that leaks valid session credentials to an unauthenticated attacker.</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TIMELINE (SANITIZED)</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Four stages, one very fast escalation</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447477"/>
                <a:gridCol w="8677418"/>
              </a:tblGrid>
              <a:tr h="8001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Stage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happened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001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Infiltration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Stolen SSL-VPN session credentials, obtained via the FortiGate vulnerability, used to log in as a valid user — no malware needed to get in the door</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001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Privilege Escalation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 privilege-escalation attempt against the domain controller failed — a patch HKIB had applied actually held. The attacker fell back to password spraying and succeeded on a different account.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001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Lateral Movement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RDP used to move to multiple servers and endpoints; a new account added to a privileged group for persistence; endpoint anti-virus disabled ahead of deployment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001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Ransomware Execution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Deployed across servers and endpoints the same day — LockBit 2.0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638425"/>
            <a:ext cx="11124895" cy="19050"/>
          </a:xfrm>
          <a:prstGeom prst="rect">
            <a:avLst/>
          </a:prstGeom>
          <a:solidFill>
            <a:srgbClr val="1A1A1A"/>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RECOMMENDATIONS</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Seventeen findings, two kinds of gap</a:t>
            </a:r>
            <a:endParaRPr lang="en-US" sz="3000" dirty="0"/>
          </a:p>
        </p:txBody>
      </p:sp>
      <p:sp>
        <p:nvSpPr>
          <p:cNvPr id="5" name="Text 3"/>
          <p:cNvSpPr/>
          <p:nvPr/>
        </p:nvSpPr>
        <p:spPr>
          <a:xfrm>
            <a:off x="533400" y="1847850"/>
            <a:ext cx="5419573" cy="190500"/>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HYGIENE</a:t>
            </a:r>
            <a:endParaRPr lang="en-US" sz="1600" dirty="0"/>
          </a:p>
        </p:txBody>
      </p:sp>
      <p:sp>
        <p:nvSpPr>
          <p:cNvPr id="6" name="Text 4"/>
          <p:cNvSpPr/>
          <p:nvPr/>
        </p:nvSpPr>
        <p:spPr>
          <a:xfrm>
            <a:off x="6238723" y="1847850"/>
            <a:ext cx="5419573" cy="190500"/>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BEST PRACTICE</a:t>
            </a:r>
            <a:endParaRPr lang="en-US" sz="1600" dirty="0"/>
          </a:p>
        </p:txBody>
      </p:sp>
      <p:sp>
        <p:nvSpPr>
          <p:cNvPr id="7" name="Text 5"/>
          <p:cNvSpPr/>
          <p:nvPr/>
        </p:nvSpPr>
        <p:spPr>
          <a:xfrm>
            <a:off x="533400" y="2114550"/>
            <a:ext cx="5419573" cy="3619500"/>
          </a:xfrm>
          <a:prstGeom prst="rect">
            <a:avLst/>
          </a:prstGeom>
          <a:noFill/>
          <a:ln/>
        </p:spPr>
        <p:txBody>
          <a:bodyPr wrap="square" rtlCol="0" anchor="t"/>
          <a:lstStyle/>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Stale service-account passwords, unchanged for years</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End-of-life systems still in production</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Domain admin accounts used for daily work</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Weak, crackable passwords in use</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formal patch / vulnerability-management cycle</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Local admin credentials shared across endpoints</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Outstanding containment actions left incomplete</a:t>
            </a:r>
            <a:endParaRPr lang="en-US" sz="1400" dirty="0"/>
          </a:p>
        </p:txBody>
      </p:sp>
      <p:sp>
        <p:nvSpPr>
          <p:cNvPr id="8" name="Text 6"/>
          <p:cNvSpPr/>
          <p:nvPr/>
        </p:nvSpPr>
        <p:spPr>
          <a:xfrm>
            <a:off x="6238723" y="2114550"/>
            <a:ext cx="5419573" cy="3619500"/>
          </a:xfrm>
          <a:prstGeom prst="rect">
            <a:avLst/>
          </a:prstGeom>
          <a:noFill/>
          <a:ln/>
        </p:spPr>
        <p:txBody>
          <a:bodyPr wrap="square" rtlCol="0" anchor="t"/>
          <a:lstStyle/>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dedicated security function or framework</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network segmentation between zones</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24×7 monitoring or threat intelligence</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tested disaster-recovery / BCP plan</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data-loss-prevention controls</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log retention on critical infrastructure</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Incident response never formally documented</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EDR — antivirus only</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No asset inventory or classification</a:t>
            </a:r>
            <a:endParaRPr lang="en-US" sz="1400" dirty="0"/>
          </a:p>
          <a:p>
            <a:pPr marL="342900" indent="-342900">
              <a:lnSpc>
                <a:spcPct val="125000"/>
              </a:lnSpc>
              <a:spcAft>
                <a:spcPts val="600"/>
              </a:spcAft>
              <a:buSzPct val="100000"/>
              <a:buChar char="—"/>
            </a:pPr>
            <a:r>
              <a:rPr lang="en-US" sz="1400" dirty="0">
                <a:solidFill>
                  <a:srgbClr val="3D3D3D"/>
                </a:solidFill>
                <a:latin typeface="Arial" pitchFamily="34" charset="0"/>
                <a:ea typeface="Arial" pitchFamily="34" charset="-122"/>
                <a:cs typeface="Arial" pitchFamily="34" charset="-120"/>
              </a:rPr>
              <a:t>Pen tests never covered internal infrastructure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HKIB · PCPD ALIGNMENT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PCPD recommends what the technical work already found</a:t>
            </a:r>
            <a:endParaRPr lang="en-US" sz="3000" dirty="0"/>
          </a:p>
        </p:txBody>
      </p:sp>
      <p:sp>
        <p:nvSpPr>
          <p:cNvPr id="5" name="Text 3"/>
          <p:cNvSpPr/>
          <p:nvPr/>
        </p:nvSpPr>
        <p:spPr>
          <a:xfrm>
            <a:off x="533400" y="1847850"/>
            <a:ext cx="11124895" cy="34290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This is the pattern worth remembering: PCPD’s public recommendations after an incident are rarely novel — they’re close to what the incident responders already told the client to fix, sometimes months earlier.</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The gap PCPD calls out and the gap our own findings called out are the same gap. The regulator isn’t discovering something new; it’s confirming what internal work already knew.</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One honest limit: limited host-based logging left some lateral-movement questions at “assessed, not confirmed” — a real forensic limit, not a gap papered over.</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PULSE CHECK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797898"/>
            <a:ext cx="9906000" cy="2500203"/>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CNCBI and HKIB were both compromised through a vulnerability, not a phishing email. One triggered a PCPD investigation; the other didn’t.</a:t>
            </a:r>
            <a:endParaRPr lang="en-US" sz="3400" dirty="0"/>
          </a:p>
        </p:txBody>
      </p:sp>
      <p:sp>
        <p:nvSpPr>
          <p:cNvPr id="5" name="Text 3"/>
          <p:cNvSpPr/>
          <p:nvPr/>
        </p:nvSpPr>
        <p:spPr>
          <a:xfrm>
            <a:off x="533400" y="4564802"/>
            <a:ext cx="85725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WHY DO YOU THINK THAT IS THE CASE?</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05</a:t>
            </a:r>
            <a:endParaRPr lang="en-US" sz="1300" dirty="0"/>
          </a:p>
        </p:txBody>
      </p:sp>
      <p:sp>
        <p:nvSpPr>
          <p:cNvPr id="7" name="Text 5"/>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CASE 3</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Cyberport.</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The most detailed case, deliberately last, told from two real angles I worked: Angle A, the technical incident responder chasing the attacker. Angle B, months later, the independent reviewer checking whether the fix actually held.</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06</a:t>
            </a:r>
            <a:endParaRPr lang="en-US" sz="1300" dirty="0"/>
          </a:p>
        </p:txBody>
      </p:sp>
      <p:sp>
        <p:nvSpPr>
          <p:cNvPr id="6" name="Text 4"/>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ANGLE A  ·  TECHNICAL INCIDENT RESPONSE</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Chasing the</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Attacker.</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Same job as CNCBI and HKIB: request the assets, follow the forensics, verify containment and eradication actually held — not just that they were reported as done.</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07</a:t>
            </a:r>
            <a:endParaRPr lang="en-US" sz="1300" dirty="0"/>
          </a:p>
        </p:txBody>
      </p:sp>
      <p:sp>
        <p:nvSpPr>
          <p:cNvPr id="6" name="Text 4"/>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A · BACKGROUND</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Exposed remote access, a recovered credential</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Day 0</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login via exposed remote desktop, a recovered admin credential</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Same day</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remote-access and cloud-sync tools deployed for persistence</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Trigona</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the ransomware group — more on them shortly</a:t>
            </a:r>
            <a:endParaRPr lang="en-US" sz="1600" dirty="0"/>
          </a:p>
        </p:txBody>
      </p:sp>
      <p:sp>
        <p:nvSpPr>
          <p:cNvPr id="14" name="Text 12"/>
          <p:cNvSpPr/>
          <p:nvPr/>
        </p:nvSpPr>
        <p:spPr>
          <a:xfrm>
            <a:off x="533400" y="3752850"/>
            <a:ext cx="11124895" cy="2000250"/>
          </a:xfrm>
          <a:prstGeom prst="rect">
            <a:avLst/>
          </a:prstGeom>
          <a:noFill/>
          <a:ln/>
        </p:spPr>
        <p:txBody>
          <a:bodyPr wrap="square" rtlCol="0" anchor="t"/>
          <a:lstStyle/>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Cyberport discovered the encryption internally, before any outside notification — then, separately, learned the data had also been posted for sale.</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PwC was engaged through Cyberport’s outside counsel once the leak-site posting confirmed this was more than a contained ransomware event.</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A · INITIAL ACCESS</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How they actually got in</a:t>
            </a:r>
            <a:endParaRPr lang="en-US" sz="3000" dirty="0"/>
          </a:p>
        </p:txBody>
      </p:sp>
      <p:sp>
        <p:nvSpPr>
          <p:cNvPr id="5" name="Text 3"/>
          <p:cNvSpPr/>
          <p:nvPr/>
        </p:nvSpPr>
        <p:spPr>
          <a:xfrm>
            <a:off x="533400" y="1847850"/>
            <a:ext cx="11124895" cy="371475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The forensic finding is precise but incomplete: the threat actor logged in through an exposed, internet-facing remote-desktop service using a recovered administrative credential. “Recovered” — not a confirmed live brute-force crack.</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The best explanation on the record: a parallel scan of Cyberport’s wider internet footprint found leaked and reused credentials on other public-facing portals — the kind of exposure that hands an attacker a working password without ever guessing one.</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This matters for how you frame a finding: state what the evidence actually shows, not the version that makes the best story. “Recovered, likely via credential reuse” is honest; “brute-forced” is a guess dressed up as a fact.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Data moved first — encryption came over a week later, in two waves</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33400" y="2000250"/>
          <a:ext cx="11124895" cy="914400"/>
        </p:xfrm>
        <a:graphic>
          <a:graphicData uri="http://schemas.openxmlformats.org/drawingml/2006/table">
            <a:tbl>
              <a:tblPr/>
              <a:tblGrid>
                <a:gridCol w="2447477"/>
                <a:gridCol w="8677418"/>
              </a:tblGrid>
              <a:tr h="5905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happened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Day 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Initial access via the exposed remote-access service; remote-access and cloud-sync tools deployed same day</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Day ~4–5</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Tens of thousands of files staged from one file-server share, synced out via the cloud tool over several days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Day ~7–8</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Wave 1 — Windows servers and domain infrastructure encrypted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Day ~12</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Wave 2 — virtualization hosts encrypted, a deliberate second push</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~Day 30 / ~Day 73</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Cyberport listed on the leak site / months later, pro-Ukraine hacktivists took Trigona’s own leak site offline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581275"/>
            <a:ext cx="11124895" cy="19050"/>
          </a:xfrm>
          <a:prstGeom prst="rect">
            <a:avLst/>
          </a:prstGeom>
          <a:solidFill>
            <a:srgbClr val="1A1A1A"/>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A · RESPONSE</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Eight containment actions, all completed</a:t>
            </a:r>
            <a:endParaRPr lang="en-US" sz="3000" dirty="0"/>
          </a:p>
        </p:txBody>
      </p:sp>
      <p:sp>
        <p:nvSpPr>
          <p:cNvPr id="5" name="Text 3"/>
          <p:cNvSpPr/>
          <p:nvPr/>
        </p:nvSpPr>
        <p:spPr>
          <a:xfrm>
            <a:off x="533400" y="1847850"/>
            <a:ext cx="11124895" cy="3048000"/>
          </a:xfrm>
          <a:prstGeom prst="rect">
            <a:avLst/>
          </a:prstGeom>
          <a:noFill/>
          <a:ln/>
        </p:spPr>
        <p:txBody>
          <a:bodyPr wrap="square" rtlCol="0" anchor="t"/>
          <a:lstStyle/>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Network-wide blocking of the threat actor’s known infrastructure; highest-risk hosts shut down to cut off re-access.</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The remote-access tool the attacker abused was blocked outright; inbound remote-desktop access blocked at the perimeter.</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Every compromised account reset or disabled; IOCs removed host by host; admin ports (RDP, SSH, FTP) closed externally.</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Findings from a parallel perimeter scan addressed in the same pass, not deferred.</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A · THREAT ACTOR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Who is Trigona</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RaaS since 2022</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a newer ransomware-as-a-service operation, active from mid-2022</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Double extortion</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encrypt and threaten to leak — the classic playbook, unlike CL0P’s MOVEit approach</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Opportunistic</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exposed remote-access and database services, not a specific sector or region</a:t>
            </a:r>
            <a:endParaRPr lang="en-US" sz="1600" dirty="0"/>
          </a:p>
        </p:txBody>
      </p:sp>
      <p:sp>
        <p:nvSpPr>
          <p:cNvPr id="14" name="Text 12"/>
          <p:cNvSpPr/>
          <p:nvPr/>
        </p:nvSpPr>
        <p:spPr>
          <a:xfrm>
            <a:off x="533400" y="3752850"/>
            <a:ext cx="11124895" cy="1905000"/>
          </a:xfrm>
          <a:prstGeom prst="rect">
            <a:avLst/>
          </a:prstGeom>
          <a:noFill/>
          <a:ln/>
        </p:spPr>
        <p:txBody>
          <a:bodyPr wrap="square" rtlCol="0" anchor="t"/>
          <a:lstStyle/>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Trigona affiliates are known to exploit a mix of known vulnerabilities and weak or reused credentials on exposed services — consistent with what happened here.</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Financially motivated, double-extortion by design: encrypt and threaten to leak, rather than either alone.</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A · THREAT INTEL</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Mapped against MITRE ATT&amp;CK, not just prose</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6897435"/>
                <a:gridCol w="4227460"/>
              </a:tblGrid>
              <a:tr h="7239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Tool observed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MITRE ATT&amp;CK technique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239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 network-discovery utility, run to enumerate hosts and services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T1046 — Network Service Discovery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239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 log-cleaning tool, used to clear Windows event logs on multiple hosts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T1070.001 — Indicator Removal: Clear Windows Event Logs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239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 remote-access utility, installed across multiple endpoints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T1570 — Lateral Tool Transfer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562225"/>
            <a:ext cx="11124895" cy="19050"/>
          </a:xfrm>
          <a:prstGeom prst="rect">
            <a:avLst/>
          </a:prstGeom>
          <a:solidFill>
            <a:srgbClr val="1A1A1A"/>
          </a:solidFill>
          <a:ln/>
        </p:spPr>
      </p:sp>
      <p:sp>
        <p:nvSpPr>
          <p:cNvPr id="7" name="Text 4"/>
          <p:cNvSpPr/>
          <p:nvPr/>
        </p:nvSpPr>
        <p:spPr>
          <a:xfrm>
            <a:off x="533400" y="4876800"/>
            <a:ext cx="11124895" cy="749300"/>
          </a:xfrm>
          <a:prstGeom prst="rect">
            <a:avLst/>
          </a:prstGeom>
          <a:noFill/>
          <a:ln/>
        </p:spPr>
        <p:txBody>
          <a:bodyPr wrap="square" rtlCol="0" anchor="t"/>
          <a:lstStyle/>
          <a:p>
            <a:pPr indent="0" marL="0">
              <a:lnSpc>
                <a:spcPct val="125000"/>
              </a:lnSpc>
              <a:buNone/>
            </a:pPr>
            <a:r>
              <a:rPr lang="en-US" sz="2000" i="1" dirty="0">
                <a:solidFill>
                  <a:srgbClr val="3D3D3D"/>
                </a:solidFill>
                <a:latin typeface="Arial" pitchFamily="34" charset="0"/>
                <a:ea typeface="Arial" pitchFamily="34" charset="-122"/>
                <a:cs typeface="Arial" pitchFamily="34" charset="-120"/>
              </a:rPr>
              <a:t>All tools here are legitimate, publicly available software, repurposed for malicious use.</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A · RECOMMENDATIONS</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Four categories, one theme underneath all of them</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892473"/>
                <a:gridCol w="8232422"/>
              </a:tblGrid>
              <a:tr h="6667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Category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we found, and recommended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Perimeter housekeeping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 remote-access service was exposed with no additional hardening (SSO/VPN, MFA, IP allow-listing) — add it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Endpoint &amp; identity controls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Security software lacked tamper protection — enable it, and build in defense-in-depth</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Network segmentation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Core infrastructure sat reachable from the general environment — isolate production from hypervisors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Privileged-account hygiene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20 domain admin accounts found; 4 hadn’t rotated in 1–2 years — house-keep and tier access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505075"/>
            <a:ext cx="11124895" cy="19050"/>
          </a:xfrm>
          <a:prstGeom prst="rect">
            <a:avLst/>
          </a:prstGeom>
          <a:solidFill>
            <a:srgbClr val="1A1A1A"/>
          </a:solidFill>
          <a:ln/>
        </p:spPr>
      </p:sp>
      <p:sp>
        <p:nvSpPr>
          <p:cNvPr id="7" name="Text 4"/>
          <p:cNvSpPr/>
          <p:nvPr/>
        </p:nvSpPr>
        <p:spPr>
          <a:xfrm>
            <a:off x="533400" y="5295900"/>
            <a:ext cx="11124895" cy="749300"/>
          </a:xfrm>
          <a:prstGeom prst="rect">
            <a:avLst/>
          </a:prstGeom>
          <a:noFill/>
          <a:ln/>
        </p:spPr>
        <p:txBody>
          <a:bodyPr wrap="square" rtlCol="0" anchor="t"/>
          <a:lstStyle/>
          <a:p>
            <a:pPr indent="0" marL="0">
              <a:lnSpc>
                <a:spcPct val="125000"/>
              </a:lnSpc>
              <a:buNone/>
            </a:pPr>
            <a:r>
              <a:rPr lang="en-US" sz="2000" i="1" dirty="0">
                <a:solidFill>
                  <a:srgbClr val="3D3D3D"/>
                </a:solidFill>
                <a:latin typeface="Arial" pitchFamily="34" charset="0"/>
                <a:ea typeface="Arial" pitchFamily="34" charset="-122"/>
                <a:cs typeface="Arial" pitchFamily="34" charset="-120"/>
              </a:rPr>
              <a:t>That last row should sound familiar — the same stale-privileged-account pattern shows up across nearly every case in this course, this engagement included.</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PULSE CHECK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797898"/>
            <a:ext cx="9906000" cy="2500203"/>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Cyberport completed all 8 containment actions and 16 recommendations from the incident report — and still ended up with a public PCPD Enforcement Notice.</a:t>
            </a:r>
            <a:endParaRPr lang="en-US" sz="3400" dirty="0"/>
          </a:p>
        </p:txBody>
      </p:sp>
      <p:sp>
        <p:nvSpPr>
          <p:cNvPr id="5" name="Text 3"/>
          <p:cNvSpPr/>
          <p:nvPr/>
        </p:nvSpPr>
        <p:spPr>
          <a:xfrm>
            <a:off x="533400" y="4564802"/>
            <a:ext cx="85725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RAISE YOUR HAND IF “WE FIXED IT AFTER” SHOULD COUNT FOR ANYTHING IN HOW PCPD WEIGHS A CASE</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08</a:t>
            </a:r>
            <a:endParaRPr lang="en-US" sz="1300" dirty="0"/>
          </a:p>
        </p:txBody>
      </p:sp>
      <p:sp>
        <p:nvSpPr>
          <p:cNvPr id="7" name="Text 5"/>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ANGLE B  ·  REVIEWING AGAINST THE EN</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Checking</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the Fix.</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Months later, a different engagement entirely. Not “what happened” but “does this control actually work” — documentation, interviews, and samples, not forensic artefacts.</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2 · TLP:RED  ·  09</a:t>
            </a:r>
            <a:endParaRPr lang="en-US" sz="1300" dirty="0"/>
          </a:p>
        </p:txBody>
      </p:sp>
      <p:sp>
        <p:nvSpPr>
          <p:cNvPr id="6" name="Text 4"/>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THE SHIFT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Control design vs. operating effectiveness</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2009775"/>
          </a:xfrm>
          <a:prstGeom prst="rect">
            <a:avLst/>
          </a:prstGeom>
          <a:solidFill>
            <a:srgbClr val="F2F2F2"/>
          </a:solidFill>
          <a:ln w="6350">
            <a:solidFill>
              <a:srgbClr val="F2F2F2"/>
            </a:solidFill>
            <a:prstDash val="solid"/>
          </a:ln>
        </p:spPr>
      </p:sp>
      <p:sp>
        <p:nvSpPr>
          <p:cNvPr id="7" name="Text 5"/>
          <p:cNvSpPr/>
          <p:nvPr/>
        </p:nvSpPr>
        <p:spPr>
          <a:xfrm>
            <a:off x="723900"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As incident responder (Angle A)</a:t>
            </a:r>
            <a:endParaRPr lang="en-US" sz="2000" dirty="0"/>
          </a:p>
        </p:txBody>
      </p:sp>
      <p:sp>
        <p:nvSpPr>
          <p:cNvPr id="8" name="Text 6"/>
          <p:cNvSpPr/>
          <p:nvPr/>
        </p:nvSpPr>
        <p:spPr>
          <a:xfrm>
            <a:off x="723900" y="2352675"/>
            <a:ext cx="5076673" cy="1457325"/>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I request assets, follow forensic evidence, and keep asking questions until containment and eradication are actually verified.</a:t>
            </a:r>
            <a:endParaRPr lang="en-US" sz="17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200977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As independent reviewer (Angle B)</a:t>
            </a:r>
            <a:endParaRPr lang="en-US" sz="2000" dirty="0"/>
          </a:p>
        </p:txBody>
      </p:sp>
      <p:sp>
        <p:nvSpPr>
          <p:cNvPr id="12" name="Text 10"/>
          <p:cNvSpPr/>
          <p:nvPr/>
        </p:nvSpPr>
        <p:spPr>
          <a:xfrm>
            <a:off x="6391123" y="2352675"/>
            <a:ext cx="5076673" cy="1457325"/>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I request documentation and samples, and ask a different question: is the control well designed, and is there evidence it actually operates that way in practice.</a:t>
            </a:r>
            <a:endParaRPr lang="en-US" sz="1700" dirty="0"/>
          </a:p>
        </p:txBody>
      </p:sp>
      <p:sp>
        <p:nvSpPr>
          <p:cNvPr id="13" name="Text 11"/>
          <p:cNvSpPr/>
          <p:nvPr/>
        </p:nvSpPr>
        <p:spPr>
          <a:xfrm>
            <a:off x="533400" y="4038600"/>
            <a:ext cx="11124895" cy="1752600"/>
          </a:xfrm>
          <a:prstGeom prst="rect">
            <a:avLst/>
          </a:prstGeom>
          <a:noFill/>
          <a:ln/>
        </p:spPr>
        <p:txBody>
          <a:bodyPr wrap="square" rtlCol="0" anchor="t"/>
          <a:lstStyle/>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The gap between the two is real: a forensic investigator pulls the control’s actual output directly. A reviewer, months later, is one step removed — asking for evidence of that output instead.</a:t>
            </a:r>
            <a:endParaRPr lang="en-US" sz="1500" dirty="0"/>
          </a:p>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The job is closing that gap as much as possible: asking for the sample that sits as close to the real control output as you can get. That takes real technical know-how — knowing what evidence would actually prove the point, not just what’s easy to hand over.</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THE ENFORCEMENT NOTICE</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PCPD actually ordered Cyberport to do</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889992"/>
                <a:gridCol w="10234904"/>
              </a:tblGrid>
              <a:tr h="4572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Requirement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Thoroughly review the security of every system holding personal data, with effective detection in place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Implement MFA for all remote users accessing its information systems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Engage an independent expert for an annual risk assessment and security audit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Put in place clear, comprehensive information-security policies covering prevention, detection, and response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Delete all personal data already held past its retention period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Set a clear, specific data-retention policy with defined deletion procedures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Implement measures to ensure staff actually comply with the above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295525"/>
            <a:ext cx="11124895" cy="19050"/>
          </a:xfrm>
          <a:prstGeom prst="rect">
            <a:avLst/>
          </a:prstGeom>
          <a:solidFill>
            <a:srgbClr val="1A1A1A"/>
          </a:solidFill>
          <a:ln/>
        </p:spPr>
      </p:sp>
      <p:sp>
        <p:nvSpPr>
          <p:cNvPr id="7" name="Text 4"/>
          <p:cNvSpPr/>
          <p:nvPr/>
        </p:nvSpPr>
        <p:spPr>
          <a:xfrm>
            <a:off x="533400" y="5505450"/>
            <a:ext cx="11124895" cy="524510"/>
          </a:xfrm>
          <a:prstGeom prst="rect">
            <a:avLst/>
          </a:prstGeom>
          <a:noFill/>
          <a:ln/>
        </p:spPr>
        <p:txBody>
          <a:bodyPr wrap="square" rtlCol="0" anchor="t"/>
          <a:lstStyle/>
          <a:p>
            <a:pPr indent="0" marL="0">
              <a:lnSpc>
                <a:spcPct val="125000"/>
              </a:lnSpc>
              <a:buNone/>
            </a:pPr>
            <a:r>
              <a:rPr lang="en-US" sz="1400" i="1" dirty="0">
                <a:solidFill>
                  <a:srgbClr val="3D3D3D"/>
                </a:solidFill>
                <a:latin typeface="Arial" pitchFamily="34" charset="0"/>
                <a:ea typeface="Arial" pitchFamily="34" charset="-122"/>
                <a:cs typeface="Arial" pitchFamily="34" charset="-120"/>
              </a:rPr>
              <a:t>Two months from the date of the notice to comply — and to prove it. Source: PCPD Investigation Report R24-12170 (public).</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THE RFI</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Turning each order into a real ask</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114971"/>
                <a:gridCol w="8009925"/>
              </a:tblGrid>
              <a:tr h="7429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PCPD’s requirement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I’d actually request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429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MFA, all remote users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The full list of remote-access paths, then per path: enrollment logs proving MFA on every account, plus the exception list and how exceptions are compensated for</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429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Annual risk assessment</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The assessment report itself, its scope statement, and the reviewer’s engagement letter — is the scope as wide as the notice implies?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429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Delete + retention policy</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The retention policy document, then a sample of actual deletion logs or disposal records — not a description of the policy</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429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Staff compliance measures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Training completion records or attestations, sampled across business units — not just the training deck</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581275"/>
            <a:ext cx="11124895" cy="19050"/>
          </a:xfrm>
          <a:prstGeom prst="rect">
            <a:avLst/>
          </a:prstGeom>
          <a:solidFill>
            <a:srgbClr val="1A1A1A"/>
          </a:solidFill>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BACKGROUND</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Same client, a different scope entirely</a:t>
            </a:r>
            <a:endParaRPr lang="en-US" sz="3000" dirty="0"/>
          </a:p>
        </p:txBody>
      </p:sp>
      <p:sp>
        <p:nvSpPr>
          <p:cNvPr id="5" name="Shape 3"/>
          <p:cNvSpPr/>
          <p:nvPr/>
        </p:nvSpPr>
        <p:spPr>
          <a:xfrm>
            <a:off x="533400" y="1847850"/>
            <a:ext cx="3568598" cy="28575"/>
          </a:xfrm>
          <a:prstGeom prst="rect">
            <a:avLst/>
          </a:prstGeom>
          <a:solidFill>
            <a:srgbClr val="1A1A1A"/>
          </a:solidFill>
          <a:ln/>
        </p:spPr>
      </p:sp>
      <p:sp>
        <p:nvSpPr>
          <p:cNvPr id="6" name="Shape 4"/>
          <p:cNvSpPr/>
          <p:nvPr/>
        </p:nvSpPr>
        <p:spPr>
          <a:xfrm>
            <a:off x="533400" y="1876425"/>
            <a:ext cx="3568598" cy="2162175"/>
          </a:xfrm>
          <a:prstGeom prst="rect">
            <a:avLst/>
          </a:prstGeom>
          <a:solidFill>
            <a:srgbClr val="F2F2F2"/>
          </a:solidFill>
          <a:ln w="6350">
            <a:solidFill>
              <a:srgbClr val="F2F2F2"/>
            </a:solidFill>
            <a:prstDash val="solid"/>
          </a:ln>
        </p:spPr>
      </p:sp>
      <p:sp>
        <p:nvSpPr>
          <p:cNvPr id="7" name="Text 5"/>
          <p:cNvSpPr/>
          <p:nvPr/>
        </p:nvSpPr>
        <p:spPr>
          <a:xfrm>
            <a:off x="723900" y="2000250"/>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Same client</a:t>
            </a:r>
            <a:endParaRPr lang="en-US" sz="2000" dirty="0"/>
          </a:p>
        </p:txBody>
      </p:sp>
      <p:sp>
        <p:nvSpPr>
          <p:cNvPr id="8" name="Text 6"/>
          <p:cNvSpPr/>
          <p:nvPr/>
        </p:nvSpPr>
        <p:spPr>
          <a:xfrm>
            <a:off x="723900" y="2352675"/>
            <a:ext cx="3187598"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A separate engagement, months after the incident-response work above had already concluded.</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216217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Documentation-led</a:t>
            </a:r>
            <a:endParaRPr lang="en-US" sz="2000" dirty="0"/>
          </a:p>
        </p:txBody>
      </p:sp>
      <p:sp>
        <p:nvSpPr>
          <p:cNvPr id="12" name="Text 10"/>
          <p:cNvSpPr/>
          <p:nvPr/>
        </p:nvSpPr>
        <p:spPr>
          <a:xfrm>
            <a:off x="4502048" y="2352675"/>
            <a:ext cx="3187598"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Policies, interview notes, and evidence samples this time — not forensic artefacts.</a:t>
            </a:r>
            <a:endParaRPr lang="en-US" sz="2000" dirty="0"/>
          </a:p>
        </p:txBody>
      </p:sp>
      <p:sp>
        <p:nvSpPr>
          <p:cNvPr id="13" name="Shape 11"/>
          <p:cNvSpPr/>
          <p:nvPr/>
        </p:nvSpPr>
        <p:spPr>
          <a:xfrm>
            <a:off x="8089697" y="1847850"/>
            <a:ext cx="3568598" cy="28575"/>
          </a:xfrm>
          <a:prstGeom prst="rect">
            <a:avLst/>
          </a:prstGeom>
          <a:solidFill>
            <a:srgbClr val="1A1A1A"/>
          </a:solidFill>
          <a:ln/>
        </p:spPr>
      </p:sp>
      <p:sp>
        <p:nvSpPr>
          <p:cNvPr id="14" name="Shape 12"/>
          <p:cNvSpPr/>
          <p:nvPr/>
        </p:nvSpPr>
        <p:spPr>
          <a:xfrm>
            <a:off x="8089697" y="1876425"/>
            <a:ext cx="3568598" cy="2162175"/>
          </a:xfrm>
          <a:prstGeom prst="rect">
            <a:avLst/>
          </a:prstGeom>
          <a:solidFill>
            <a:srgbClr val="F2F2F2"/>
          </a:solidFill>
          <a:ln w="6350">
            <a:solidFill>
              <a:srgbClr val="F2F2F2"/>
            </a:solidFill>
            <a:prstDash val="solid"/>
          </a:ln>
        </p:spPr>
      </p:sp>
      <p:sp>
        <p:nvSpPr>
          <p:cNvPr id="15" name="Text 13"/>
          <p:cNvSpPr/>
          <p:nvPr/>
        </p:nvSpPr>
        <p:spPr>
          <a:xfrm>
            <a:off x="8280197" y="2000250"/>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Built around the EN</a:t>
            </a:r>
            <a:endParaRPr lang="en-US" sz="2000" dirty="0"/>
          </a:p>
        </p:txBody>
      </p:sp>
      <p:sp>
        <p:nvSpPr>
          <p:cNvPr id="16" name="Text 14"/>
          <p:cNvSpPr/>
          <p:nvPr/>
        </p:nvSpPr>
        <p:spPr>
          <a:xfrm>
            <a:off x="8280197" y="2352675"/>
            <a:ext cx="3187598"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Scoped directly to what the Enforcement Notice required Cyberport to demonstrate.</a:t>
            </a:r>
            <a:endParaRPr lang="en-US" sz="2000" dirty="0"/>
          </a:p>
        </p:txBody>
      </p:sp>
      <p:sp>
        <p:nvSpPr>
          <p:cNvPr id="17" name="Text 15"/>
          <p:cNvSpPr/>
          <p:nvPr/>
        </p:nvSpPr>
        <p:spPr>
          <a:xfrm>
            <a:off x="533400" y="4267200"/>
            <a:ext cx="11124895" cy="1600200"/>
          </a:xfrm>
          <a:prstGeom prst="rect">
            <a:avLst/>
          </a:prstGeom>
          <a:noFill/>
          <a:ln/>
        </p:spPr>
        <p:txBody>
          <a:bodyPr wrap="square" rtlCol="0" anchor="t"/>
          <a:lstStyle/>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Engaged through the same outside counsel as the incident response, once containment and eradication work had already concluded.</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The question an Enforcement Notice actually poses isn’t “did you fix it” — it’s “show us the evidence that you did.”</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METHODOLOGY</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How you actually test operating effectiveness</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2162175"/>
          </a:xfrm>
          <a:prstGeom prst="rect">
            <a:avLst/>
          </a:prstGeom>
          <a:solidFill>
            <a:srgbClr val="F2F2F2"/>
          </a:solidFill>
          <a:ln w="6350">
            <a:solidFill>
              <a:srgbClr val="F2F2F2"/>
            </a:solidFill>
            <a:prstDash val="solid"/>
          </a:ln>
        </p:spPr>
      </p:sp>
      <p:sp>
        <p:nvSpPr>
          <p:cNvPr id="7" name="Text 5"/>
          <p:cNvSpPr/>
          <p:nvPr/>
        </p:nvSpPr>
        <p:spPr>
          <a:xfrm>
            <a:off x="723900"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Read the policies</a:t>
            </a:r>
            <a:endParaRPr lang="en-US" sz="2000" dirty="0"/>
          </a:p>
        </p:txBody>
      </p:sp>
      <p:sp>
        <p:nvSpPr>
          <p:cNvPr id="8" name="Text 6"/>
          <p:cNvSpPr/>
          <p:nvPr/>
        </p:nvSpPr>
        <p:spPr>
          <a:xfrm>
            <a:off x="723900" y="2352675"/>
            <a:ext cx="5076673"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Plans, procedures, standards, technical specs — this establishes design, not proof of practice.</a:t>
            </a:r>
            <a:endParaRPr lang="en-US" sz="20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216217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Interview the owners</a:t>
            </a:r>
            <a:endParaRPr lang="en-US" sz="2000" dirty="0"/>
          </a:p>
        </p:txBody>
      </p:sp>
      <p:sp>
        <p:nvSpPr>
          <p:cNvPr id="12" name="Text 10"/>
          <p:cNvSpPr/>
          <p:nvPr/>
        </p:nvSpPr>
        <p:spPr>
          <a:xfrm>
            <a:off x="6391123" y="2352675"/>
            <a:ext cx="5076673"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The people who actually designed and run each control — not just the policy’s author.</a:t>
            </a:r>
            <a:endParaRPr lang="en-US" sz="2000" dirty="0"/>
          </a:p>
        </p:txBody>
      </p:sp>
      <p:sp>
        <p:nvSpPr>
          <p:cNvPr id="13" name="Shape 11"/>
          <p:cNvSpPr/>
          <p:nvPr/>
        </p:nvSpPr>
        <p:spPr>
          <a:xfrm>
            <a:off x="533400" y="4267200"/>
            <a:ext cx="5457673" cy="28575"/>
          </a:xfrm>
          <a:prstGeom prst="rect">
            <a:avLst/>
          </a:prstGeom>
          <a:solidFill>
            <a:srgbClr val="1A1A1A"/>
          </a:solidFill>
          <a:ln/>
        </p:spPr>
      </p:sp>
      <p:sp>
        <p:nvSpPr>
          <p:cNvPr id="14" name="Shape 12"/>
          <p:cNvSpPr/>
          <p:nvPr/>
        </p:nvSpPr>
        <p:spPr>
          <a:xfrm>
            <a:off x="533400" y="4295775"/>
            <a:ext cx="5457673" cy="1828800"/>
          </a:xfrm>
          <a:prstGeom prst="rect">
            <a:avLst/>
          </a:prstGeom>
          <a:solidFill>
            <a:srgbClr val="F2F2F2"/>
          </a:solidFill>
          <a:ln w="6350">
            <a:solidFill>
              <a:srgbClr val="F2F2F2"/>
            </a:solidFill>
            <a:prstDash val="solid"/>
          </a:ln>
        </p:spPr>
      </p:sp>
      <p:sp>
        <p:nvSpPr>
          <p:cNvPr id="15" name="Text 13"/>
          <p:cNvSpPr/>
          <p:nvPr/>
        </p:nvSpPr>
        <p:spPr>
          <a:xfrm>
            <a:off x="723900" y="441960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Pull a sample, not a claim</a:t>
            </a:r>
            <a:endParaRPr lang="en-US" sz="2000" dirty="0"/>
          </a:p>
        </p:txBody>
      </p:sp>
      <p:sp>
        <p:nvSpPr>
          <p:cNvPr id="16" name="Text 14"/>
          <p:cNvSpPr/>
          <p:nvPr/>
        </p:nvSpPr>
        <p:spPr>
          <a:xfrm>
            <a:off x="723900" y="4772025"/>
            <a:ext cx="5076673" cy="1276350"/>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Actual disposal records, actual sign-offs, actual test results — evidence, not an assertion that it happened.</a:t>
            </a:r>
            <a:endParaRPr lang="en-US" sz="1700" dirty="0"/>
          </a:p>
        </p:txBody>
      </p:sp>
      <p:sp>
        <p:nvSpPr>
          <p:cNvPr id="17" name="Shape 15"/>
          <p:cNvSpPr/>
          <p:nvPr/>
        </p:nvSpPr>
        <p:spPr>
          <a:xfrm>
            <a:off x="6200623" y="4267200"/>
            <a:ext cx="5457673" cy="28575"/>
          </a:xfrm>
          <a:prstGeom prst="rect">
            <a:avLst/>
          </a:prstGeom>
          <a:solidFill>
            <a:srgbClr val="D04A02"/>
          </a:solidFill>
          <a:ln/>
        </p:spPr>
      </p:sp>
      <p:sp>
        <p:nvSpPr>
          <p:cNvPr id="18" name="Shape 16"/>
          <p:cNvSpPr/>
          <p:nvPr/>
        </p:nvSpPr>
        <p:spPr>
          <a:xfrm>
            <a:off x="6200623" y="4295775"/>
            <a:ext cx="5457673" cy="1828800"/>
          </a:xfrm>
          <a:prstGeom prst="rect">
            <a:avLst/>
          </a:prstGeom>
          <a:solidFill>
            <a:srgbClr val="FDF0E6"/>
          </a:solidFill>
          <a:ln w="6350">
            <a:solidFill>
              <a:srgbClr val="FDF0E6"/>
            </a:solidFill>
            <a:prstDash val="solid"/>
          </a:ln>
        </p:spPr>
      </p:sp>
      <p:sp>
        <p:nvSpPr>
          <p:cNvPr id="19" name="Text 17"/>
          <p:cNvSpPr/>
          <p:nvPr/>
        </p:nvSpPr>
        <p:spPr>
          <a:xfrm>
            <a:off x="6391123" y="4419600"/>
            <a:ext cx="5076673"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Get as close to control output as you can</a:t>
            </a:r>
            <a:endParaRPr lang="en-US" sz="2000" dirty="0"/>
          </a:p>
        </p:txBody>
      </p:sp>
      <p:sp>
        <p:nvSpPr>
          <p:cNvPr id="20" name="Text 18"/>
          <p:cNvSpPr/>
          <p:nvPr/>
        </p:nvSpPr>
        <p:spPr>
          <a:xfrm>
            <a:off x="6391123" y="5029200"/>
            <a:ext cx="5076673" cy="1019175"/>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The closer the sample sits to what the control actually produces, the harder it is to fake — see the MFA example next.</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EXAMPLE 1</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MFA isn’t a yes/no question</a:t>
            </a:r>
            <a:endParaRPr lang="en-US" sz="3000" dirty="0"/>
          </a:p>
        </p:txBody>
      </p:sp>
      <p:sp>
        <p:nvSpPr>
          <p:cNvPr id="5" name="Text 3"/>
          <p:cNvSpPr/>
          <p:nvPr/>
        </p:nvSpPr>
        <p:spPr>
          <a:xfrm>
            <a:off x="533400" y="1847850"/>
            <a:ext cx="11124895" cy="371475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Don’t start with “do you have MFA.” Start with “what is every asset reachable remotely from the internet” — VPN, M365, a VDI gateway, but also anything else: an exposed database, an admin portal, a server nobody remembers is internet-facing. Trigona’s own entry point here was exactly that kind of overlooked asset.</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Then drill into each one: is MFA enforced for every account on that asset, with no exceptions? If there are exceptions, what compensates — a strong, rotated password, IP allow-listing, heightened monitoring on that account?</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 single “yes, we have MFA” answer, without the asset-by-asset drill-down, is exactly the kind of claim a reviewer with real technical know-how doesn’t accept at face value.</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EXAMPLE 2</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Proving “yes,” not just claiming it</a:t>
            </a:r>
            <a:endParaRPr lang="en-US" sz="3000" dirty="0"/>
          </a:p>
        </p:txBody>
      </p:sp>
      <p:sp>
        <p:nvSpPr>
          <p:cNvPr id="5" name="Text 3"/>
          <p:cNvSpPr/>
          <p:nvPr/>
        </p:nvSpPr>
        <p:spPr>
          <a:xfrm>
            <a:off x="533400" y="1847850"/>
            <a:ext cx="11124895" cy="34290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Say a notice requires deleting personal data past its retention period. Reading the retention policy only proves the rule exists on paper — it proves nothing about whether it was followed.</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Proving it takes a sample: pulling actual disposal records and checking them against what should already be gone, not accepting a written assurance that it happened.</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That’s the whole distinction in practice: design is “there’s a policy.” Operating effectiveness is “here’s the sample we pulled, and here’s what it showed.”</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THE SHAPE OF A RESULT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a review like this typically concludes</a:t>
            </a:r>
            <a:endParaRPr lang="en-US" sz="3000" dirty="0"/>
          </a:p>
        </p:txBody>
      </p:sp>
      <p:sp>
        <p:nvSpPr>
          <p:cNvPr id="5" name="Text 3"/>
          <p:cNvSpPr/>
          <p:nvPr/>
        </p:nvSpPr>
        <p:spPr>
          <a:xfrm>
            <a:off x="533400" y="1847850"/>
            <a:ext cx="11124895" cy="32385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Across a notice with several requirements, an organisation responding seriously to a regulator tends to land in the middle: most items rated cleanly effective, a handful rated “effective, a different route,” very few rated as outright failing.</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That shape matters for how a regulator weighs a case — a notice met mostly through genuine, verified controls reads very differently than one met on paper only.</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It’s also why this section can’t hand you a scoreboard: the actual ratings are the client’s confidential work product. What’s transferable is the method, not the marks.</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ANGLE B · PCPD ALIGNMENT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Two independent sources, the same underlying picture</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5562448"/>
                <a:gridCol w="5562448"/>
              </a:tblGrid>
              <a:tr h="7429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the incident work found (Angle 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PCPD’s public report found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429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 tamper protection; attacker disabled security software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Single-layer anti-malware, disabled by the attacker</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429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 MFA on the exposed remote-access service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 MFA on remote access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429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Stale privileged accounts, one unrotated over a year</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Related access-control weaknesses in the enforcement findings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581275"/>
            <a:ext cx="11124895" cy="19050"/>
          </a:xfrm>
          <a:prstGeom prst="rect">
            <a:avLst/>
          </a:prstGeom>
          <a:solidFill>
            <a:srgbClr val="1A1A1A"/>
          </a:solidFill>
          <a:ln/>
        </p:spPr>
      </p:sp>
      <p:sp>
        <p:nvSpPr>
          <p:cNvPr id="7" name="Text 4"/>
          <p:cNvSpPr/>
          <p:nvPr/>
        </p:nvSpPr>
        <p:spPr>
          <a:xfrm>
            <a:off x="533400" y="4953000"/>
            <a:ext cx="11124895" cy="1123950"/>
          </a:xfrm>
          <a:prstGeom prst="rect">
            <a:avLst/>
          </a:prstGeom>
          <a:noFill/>
          <a:ln/>
        </p:spPr>
        <p:txBody>
          <a:bodyPr wrap="square" rtlCol="0" anchor="t"/>
          <a:lstStyle/>
          <a:p>
            <a:pPr indent="0" marL="0">
              <a:lnSpc>
                <a:spcPct val="125000"/>
              </a:lnSpc>
              <a:buNone/>
            </a:pPr>
            <a:r>
              <a:rPr lang="en-US" sz="2000" i="1" dirty="0">
                <a:solidFill>
                  <a:srgbClr val="3D3D3D"/>
                </a:solidFill>
                <a:latin typeface="Arial" pitchFamily="34" charset="0"/>
                <a:ea typeface="Arial" pitchFamily="34" charset="-122"/>
                <a:cs typeface="Arial" pitchFamily="34" charset="-120"/>
              </a:rPr>
              <a:t>The EN-compliance review, months later, tested whether these actually got fixed. Its findings are confidential work product — the method behind it (design vs. operating effectiveness, sample testing) is the lesson.</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24795" y="152400"/>
            <a:ext cx="1333500" cy="171450"/>
          </a:xfrm>
          <a:prstGeom prst="rect">
            <a:avLst/>
          </a:prstGeom>
          <a:noFill/>
          <a:ln/>
        </p:spPr>
        <p:txBody>
          <a:bodyPr wrap="square" rtlCol="0" anchor="ctr"/>
          <a:lstStyle/>
          <a:p>
            <a:pPr algn="r" indent="0" marL="0">
              <a:buNone/>
            </a:pPr>
            <a:r>
              <a:rPr lang="en-US" sz="1100" b="1" spc="120" kern="0" dirty="0">
                <a:solidFill>
                  <a:srgbClr val="B3261E"/>
                </a:solidFill>
                <a:latin typeface="Arial" pitchFamily="34" charset="0"/>
                <a:ea typeface="Arial" pitchFamily="34" charset="-122"/>
                <a:cs typeface="Arial" pitchFamily="34" charset="-120"/>
              </a:rPr>
              <a:t>TLP:RED</a:t>
            </a:r>
            <a:endParaRPr lang="en-US" sz="11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PART 2 · CLOSING THOUGHT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Why some breaches become PCPD cases</a:t>
            </a:r>
            <a:endParaRPr lang="en-US" sz="3000" dirty="0"/>
          </a:p>
        </p:txBody>
      </p:sp>
      <p:sp>
        <p:nvSpPr>
          <p:cNvPr id="5" name="Text 3"/>
          <p:cNvSpPr/>
          <p:nvPr/>
        </p:nvSpPr>
        <p:spPr>
          <a:xfrm>
            <a:off x="533400" y="1847850"/>
            <a:ext cx="11124895" cy="3543300"/>
          </a:xfrm>
          <a:prstGeom prst="rect">
            <a:avLst/>
          </a:prstGeom>
          <a:noFill/>
          <a:ln/>
        </p:spPr>
        <p:txBody>
          <a:bodyPr wrap="square" rtlCol="0" anchor="t"/>
          <a:lstStyle/>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PCPD doesn’t investigate or issue an enforcement notice on every breach it hears about. We don’t know their exact selection criteria — only what’s publicly visible: heightened attention when children’s personal data is involved, and cases that started from a complaint tend to get looked at.</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That uncertainty cuts one way, not the other: every organisation has to treat its own breach response as if it could be the one selected, because how you handle containment, evidence, and disclosure is very likely what ends up reflected in PCPD’s findings and recommendations if it is.</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That’s the real takeaway for this course: the quality of your incident work and your compliance posture is what determines how well-prepared you are — whether or not PCPD ever comes knocking.</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CS5292 Week 3 — Part 2: Three Cases From the Field (TLP:RED)</dc:title>
  <dc:subject>PptxGenJS Presentation</dc:subject>
  <dc:creator>Jason Lee</dc:creator>
  <cp:lastModifiedBy>Jason Lee</cp:lastModifiedBy>
  <cp:revision>1</cp:revision>
  <dcterms:created xsi:type="dcterms:W3CDTF">2026-09-15T02:30:22Z</dcterms:created>
  <dcterms:modified xsi:type="dcterms:W3CDTF">2026-09-15T02:30:22Z</dcterms:modified>
</cp:coreProperties>
</file>