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3400" y="1809750"/>
            <a:ext cx="7239000" cy="2667000"/>
          </a:xfrm>
          <a:prstGeom prst="rect">
            <a:avLst/>
          </a:prstGeom>
          <a:noFill/>
          <a:ln/>
        </p:spPr>
        <p:txBody>
          <a:bodyPr wrap="square" rtlCol="0" anchor="t"/>
          <a:lstStyle/>
          <a:p>
            <a:pPr indent="0" marL="0">
              <a:lnSpc>
                <a:spcPct val="112000"/>
              </a:lnSpc>
              <a:buNone/>
            </a:pPr>
            <a:r>
              <a:rPr lang="en-US" sz="5000" dirty="0">
                <a:solidFill>
                  <a:srgbClr val="1A1A1A"/>
                </a:solidFill>
                <a:latin typeface="Georgia" pitchFamily="34" charset="0"/>
                <a:ea typeface="Georgia" pitchFamily="34" charset="-122"/>
                <a:cs typeface="Georgia" pitchFamily="34" charset="-120"/>
              </a:rPr>
              <a:t>Case D.</a:t>
            </a:r>
            <a:endParaRPr lang="en-US" sz="5000" dirty="0"/>
          </a:p>
          <a:p>
            <a:pPr indent="0" marL="0">
              <a:lnSpc>
                <a:spcPct val="112000"/>
              </a:lnSpc>
              <a:buNone/>
            </a:pPr>
            <a:r>
              <a:rPr lang="en-US" sz="5000" dirty="0">
                <a:solidFill>
                  <a:srgbClr val="1A1A1A"/>
                </a:solidFill>
                <a:latin typeface="Georgia" pitchFamily="34" charset="0"/>
                <a:ea typeface="Georgia" pitchFamily="34" charset="-122"/>
                <a:cs typeface="Georgia" pitchFamily="34" charset="-120"/>
              </a:rPr>
              <a:t>The Platform That</a:t>
            </a:r>
            <a:endParaRPr lang="en-US" sz="5000" dirty="0"/>
          </a:p>
          <a:p>
            <a:pPr indent="0" marL="0">
              <a:lnSpc>
                <a:spcPct val="112000"/>
              </a:lnSpc>
              <a:buNone/>
            </a:pPr>
            <a:r>
              <a:rPr lang="en-US" sz="5000" dirty="0">
                <a:solidFill>
                  <a:srgbClr val="1A1A1A"/>
                </a:solidFill>
                <a:latin typeface="Georgia" pitchFamily="34" charset="0"/>
                <a:ea typeface="Georgia" pitchFamily="34" charset="-122"/>
                <a:cs typeface="Georgia" pitchFamily="34" charset="-120"/>
              </a:rPr>
              <a:t>Told On Itself.</a:t>
            </a:r>
            <a:endParaRPr lang="en-US" sz="5000" dirty="0"/>
          </a:p>
        </p:txBody>
      </p:sp>
      <p:sp>
        <p:nvSpPr>
          <p:cNvPr id="3" name="Shape 1"/>
          <p:cNvSpPr/>
          <p:nvPr/>
        </p:nvSpPr>
        <p:spPr>
          <a:xfrm>
            <a:off x="533400" y="4305300"/>
            <a:ext cx="1143000" cy="28575"/>
          </a:xfrm>
          <a:prstGeom prst="rect">
            <a:avLst/>
          </a:prstGeom>
          <a:solidFill>
            <a:srgbClr val="D04A02"/>
          </a:solidFill>
          <a:ln/>
        </p:spPr>
      </p:sp>
      <p:sp>
        <p:nvSpPr>
          <p:cNvPr id="4" name="Text 2"/>
          <p:cNvSpPr/>
          <p:nvPr/>
        </p:nvSpPr>
        <p:spPr>
          <a:xfrm>
            <a:off x="533400" y="4533900"/>
            <a:ext cx="8572500" cy="857250"/>
          </a:xfrm>
          <a:prstGeom prst="rect">
            <a:avLst/>
          </a:prstGeom>
          <a:noFill/>
          <a:ln/>
        </p:spPr>
        <p:txBody>
          <a:bodyPr wrap="square" rtlCol="0" anchor="t"/>
          <a:lstStyle/>
          <a:p>
            <a:pPr indent="0" marL="0">
              <a:lnSpc>
                <a:spcPct val="125000"/>
              </a:lnSpc>
              <a:buNone/>
            </a:pPr>
            <a:r>
              <a:rPr lang="en-US" sz="2000" b="1" dirty="0">
                <a:solidFill>
                  <a:srgbClr val="3D3D3D"/>
                </a:solidFill>
                <a:latin typeface="Arial" pitchFamily="34" charset="0"/>
                <a:ea typeface="Arial" pitchFamily="34" charset="-122"/>
                <a:cs typeface="Arial" pitchFamily="34" charset="-120"/>
              </a:rPr>
              <a:t>Self-reported. Reviewed twice — for root cause, then for Enforcement Notice compliance.</a:t>
            </a:r>
            <a:endParaRPr lang="en-US" sz="2000" dirty="0"/>
          </a:p>
        </p:txBody>
      </p:sp>
      <p:sp>
        <p:nvSpPr>
          <p:cNvPr id="5" name="Text 3"/>
          <p:cNvSpPr/>
          <p:nvPr/>
        </p:nvSpPr>
        <p:spPr>
          <a:xfrm>
            <a:off x="533400" y="5295900"/>
            <a:ext cx="8572500" cy="800100"/>
          </a:xfrm>
          <a:prstGeom prst="rect">
            <a:avLst/>
          </a:prstGeom>
          <a:noFill/>
          <a:ln/>
        </p:spPr>
        <p:txBody>
          <a:bodyPr wrap="square" rtlCol="0" anchor="t"/>
          <a:lstStyle/>
          <a:p>
            <a:pPr indent="0" marL="0">
              <a:lnSpc>
                <a:spcPct val="130000"/>
              </a:lnSpc>
              <a:buNone/>
            </a:pPr>
            <a:r>
              <a:rPr lang="en-US" sz="2000" dirty="0">
                <a:solidFill>
                  <a:srgbClr val="7A7A7A"/>
                </a:solidFill>
                <a:latin typeface="Arial" pitchFamily="34" charset="0"/>
                <a:ea typeface="Arial" pitchFamily="34" charset="-122"/>
                <a:cs typeface="Arial" pitchFamily="34" charset="-120"/>
              </a:rPr>
              <a:t>CS5292 Week 3 · Part 3 of 3</a:t>
            </a:r>
            <a:endParaRPr lang="en-US" sz="2000" dirty="0"/>
          </a:p>
          <a:p>
            <a:pPr indent="0" marL="0">
              <a:lnSpc>
                <a:spcPct val="130000"/>
              </a:lnSpc>
              <a:buNone/>
            </a:pPr>
            <a:r>
              <a:rPr lang="en-US" sz="2000" dirty="0">
                <a:solidFill>
                  <a:srgbClr val="7A7A7A"/>
                </a:solidFill>
                <a:latin typeface="Arial" pitchFamily="34" charset="0"/>
                <a:ea typeface="Arial" pitchFamily="34" charset="-122"/>
                <a:cs typeface="Arial" pitchFamily="34" charset="-120"/>
              </a:rPr>
              <a:t>Anonymized — evidence shown is invented for teaching.</a:t>
            </a:r>
            <a:endParaRPr lang="en-US" sz="2000" dirty="0"/>
          </a:p>
        </p:txBody>
      </p:sp>
      <p:sp>
        <p:nvSpPr>
          <p:cNvPr id="6"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3 · Part 3 · Case D  ·  01</a:t>
            </a:r>
            <a:endParaRPr lang="en-US" sz="1300" dirty="0"/>
          </a:p>
        </p:txBody>
      </p:sp>
      <p:sp>
        <p:nvSpPr>
          <p:cNvPr id="7" name="Text 5"/>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PART 3</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One Breach,</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Two Reviews.</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A breach notice, a root-cause investigation, and — months later — an independent compliance review against a regulator’s Enforcement Notice. Same firm, two different jobs, one throughline: control design vs. operating effectiveness.</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3 · Part 3 · Case D  ·  02</a:t>
            </a:r>
            <a:endParaRPr lang="en-US" sz="1300" dirty="0"/>
          </a:p>
        </p:txBody>
      </p:sp>
      <p:sp>
        <p:nvSpPr>
          <p:cNvPr id="6" name="Text 4"/>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ROADMAP FOR PART 3</a:t>
            </a:r>
            <a:endParaRPr lang="en-US" sz="1600" dirty="0"/>
          </a:p>
        </p:txBody>
      </p:sp>
      <p:sp>
        <p:nvSpPr>
          <p:cNvPr id="4" name="Text 2"/>
          <p:cNvSpPr/>
          <p:nvPr/>
        </p:nvSpPr>
        <p:spPr>
          <a:xfrm>
            <a:off x="533400" y="990600"/>
            <a:ext cx="11124895" cy="97155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Same spine as before, one new layer: proving compliance to a regulator</a:t>
            </a:r>
            <a:endParaRPr lang="en-US" sz="3000" dirty="0"/>
          </a:p>
        </p:txBody>
      </p:sp>
      <p:sp>
        <p:nvSpPr>
          <p:cNvPr id="5" name="Shape 3"/>
          <p:cNvSpPr/>
          <p:nvPr/>
        </p:nvSpPr>
        <p:spPr>
          <a:xfrm>
            <a:off x="533400" y="2286000"/>
            <a:ext cx="5457673" cy="28575"/>
          </a:xfrm>
          <a:prstGeom prst="rect">
            <a:avLst/>
          </a:prstGeom>
          <a:solidFill>
            <a:srgbClr val="1A1A1A"/>
          </a:solidFill>
          <a:ln/>
        </p:spPr>
      </p:sp>
      <p:sp>
        <p:nvSpPr>
          <p:cNvPr id="6" name="Shape 4"/>
          <p:cNvSpPr/>
          <p:nvPr/>
        </p:nvSpPr>
        <p:spPr>
          <a:xfrm>
            <a:off x="533400" y="2314575"/>
            <a:ext cx="5457673" cy="1685925"/>
          </a:xfrm>
          <a:prstGeom prst="rect">
            <a:avLst/>
          </a:prstGeom>
          <a:solidFill>
            <a:srgbClr val="F2F2F2"/>
          </a:solidFill>
          <a:ln w="6350">
            <a:solidFill>
              <a:srgbClr val="F2F2F2"/>
            </a:solidFill>
            <a:prstDash val="solid"/>
          </a:ln>
        </p:spPr>
      </p:sp>
      <p:sp>
        <p:nvSpPr>
          <p:cNvPr id="7" name="Text 5"/>
          <p:cNvSpPr/>
          <p:nvPr/>
        </p:nvSpPr>
        <p:spPr>
          <a:xfrm>
            <a:off x="723900" y="243840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BACKGROUND</a:t>
            </a:r>
            <a:endParaRPr lang="en-US" sz="1600" dirty="0"/>
          </a:p>
        </p:txBody>
      </p:sp>
      <p:sp>
        <p:nvSpPr>
          <p:cNvPr id="8" name="Text 6"/>
          <p:cNvSpPr/>
          <p:nvPr/>
        </p:nvSpPr>
        <p:spPr>
          <a:xfrm>
            <a:off x="723900" y="2714625"/>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1. Set the scene</a:t>
            </a:r>
            <a:endParaRPr lang="en-US" sz="2000" dirty="0"/>
          </a:p>
        </p:txBody>
      </p:sp>
      <p:sp>
        <p:nvSpPr>
          <p:cNvPr id="9" name="Text 7"/>
          <p:cNvSpPr/>
          <p:nvPr/>
        </p:nvSpPr>
        <p:spPr>
          <a:xfrm>
            <a:off x="723900" y="3067050"/>
            <a:ext cx="5076673" cy="8572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What the School told the public, and what it did in the first 48 hours.</a:t>
            </a:r>
            <a:endParaRPr lang="en-US" sz="2000" dirty="0"/>
          </a:p>
        </p:txBody>
      </p:sp>
      <p:sp>
        <p:nvSpPr>
          <p:cNvPr id="10" name="Shape 8"/>
          <p:cNvSpPr/>
          <p:nvPr/>
        </p:nvSpPr>
        <p:spPr>
          <a:xfrm>
            <a:off x="6200623" y="2286000"/>
            <a:ext cx="5457673" cy="28575"/>
          </a:xfrm>
          <a:prstGeom prst="rect">
            <a:avLst/>
          </a:prstGeom>
          <a:solidFill>
            <a:srgbClr val="1A1A1A"/>
          </a:solidFill>
          <a:ln/>
        </p:spPr>
      </p:sp>
      <p:sp>
        <p:nvSpPr>
          <p:cNvPr id="11" name="Shape 9"/>
          <p:cNvSpPr/>
          <p:nvPr/>
        </p:nvSpPr>
        <p:spPr>
          <a:xfrm>
            <a:off x="6200623" y="2314575"/>
            <a:ext cx="5457673" cy="1685925"/>
          </a:xfrm>
          <a:prstGeom prst="rect">
            <a:avLst/>
          </a:prstGeom>
          <a:solidFill>
            <a:srgbClr val="F2F2F2"/>
          </a:solidFill>
          <a:ln w="6350">
            <a:solidFill>
              <a:srgbClr val="F2F2F2"/>
            </a:solidFill>
            <a:prstDash val="solid"/>
          </a:ln>
        </p:spPr>
      </p:sp>
      <p:sp>
        <p:nvSpPr>
          <p:cNvPr id="12" name="Text 10"/>
          <p:cNvSpPr/>
          <p:nvPr/>
        </p:nvSpPr>
        <p:spPr>
          <a:xfrm>
            <a:off x="6391123" y="243840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TIMELINE</a:t>
            </a:r>
            <a:endParaRPr lang="en-US" sz="1600" dirty="0"/>
          </a:p>
        </p:txBody>
      </p:sp>
      <p:sp>
        <p:nvSpPr>
          <p:cNvPr id="13" name="Text 11"/>
          <p:cNvSpPr/>
          <p:nvPr/>
        </p:nvSpPr>
        <p:spPr>
          <a:xfrm>
            <a:off x="6391123" y="2714625"/>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2. Root cause</a:t>
            </a:r>
            <a:endParaRPr lang="en-US" sz="2000" dirty="0"/>
          </a:p>
        </p:txBody>
      </p:sp>
      <p:sp>
        <p:nvSpPr>
          <p:cNvPr id="14" name="Text 12"/>
          <p:cNvSpPr/>
          <p:nvPr/>
        </p:nvSpPr>
        <p:spPr>
          <a:xfrm>
            <a:off x="6391123" y="3067050"/>
            <a:ext cx="5076673" cy="8572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A stolen credential and an account nobody switched off.</a:t>
            </a:r>
            <a:endParaRPr lang="en-US" sz="2000" dirty="0"/>
          </a:p>
        </p:txBody>
      </p:sp>
      <p:sp>
        <p:nvSpPr>
          <p:cNvPr id="15" name="Shape 13"/>
          <p:cNvSpPr/>
          <p:nvPr/>
        </p:nvSpPr>
        <p:spPr>
          <a:xfrm>
            <a:off x="533400" y="4191000"/>
            <a:ext cx="5457673" cy="28575"/>
          </a:xfrm>
          <a:prstGeom prst="rect">
            <a:avLst/>
          </a:prstGeom>
          <a:solidFill>
            <a:srgbClr val="1A1A1A"/>
          </a:solidFill>
          <a:ln/>
        </p:spPr>
      </p:sp>
      <p:sp>
        <p:nvSpPr>
          <p:cNvPr id="16" name="Shape 14"/>
          <p:cNvSpPr/>
          <p:nvPr/>
        </p:nvSpPr>
        <p:spPr>
          <a:xfrm>
            <a:off x="533400" y="4219575"/>
            <a:ext cx="5457673" cy="1685925"/>
          </a:xfrm>
          <a:prstGeom prst="rect">
            <a:avLst/>
          </a:prstGeom>
          <a:solidFill>
            <a:srgbClr val="F2F2F2"/>
          </a:solidFill>
          <a:ln w="6350">
            <a:solidFill>
              <a:srgbClr val="F2F2F2"/>
            </a:solidFill>
            <a:prstDash val="solid"/>
          </a:ln>
        </p:spPr>
      </p:sp>
      <p:sp>
        <p:nvSpPr>
          <p:cNvPr id="17" name="Text 15"/>
          <p:cNvSpPr/>
          <p:nvPr/>
        </p:nvSpPr>
        <p:spPr>
          <a:xfrm>
            <a:off x="723900" y="434340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REGULATION</a:t>
            </a:r>
            <a:endParaRPr lang="en-US" sz="1600" dirty="0"/>
          </a:p>
        </p:txBody>
      </p:sp>
      <p:sp>
        <p:nvSpPr>
          <p:cNvPr id="18" name="Text 16"/>
          <p:cNvSpPr/>
          <p:nvPr/>
        </p:nvSpPr>
        <p:spPr>
          <a:xfrm>
            <a:off x="723900" y="4619625"/>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3. The Enforcement Notice</a:t>
            </a:r>
            <a:endParaRPr lang="en-US" sz="2000" dirty="0"/>
          </a:p>
        </p:txBody>
      </p:sp>
      <p:sp>
        <p:nvSpPr>
          <p:cNvPr id="19" name="Text 17"/>
          <p:cNvSpPr/>
          <p:nvPr/>
        </p:nvSpPr>
        <p:spPr>
          <a:xfrm>
            <a:off x="723900" y="4972050"/>
            <a:ext cx="5076673" cy="8572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What PCPD ordered, and turning that into an RFI.</a:t>
            </a:r>
            <a:endParaRPr lang="en-US" sz="2000" dirty="0"/>
          </a:p>
        </p:txBody>
      </p:sp>
      <p:sp>
        <p:nvSpPr>
          <p:cNvPr id="20" name="Shape 18"/>
          <p:cNvSpPr/>
          <p:nvPr/>
        </p:nvSpPr>
        <p:spPr>
          <a:xfrm>
            <a:off x="6200623" y="4191000"/>
            <a:ext cx="5457673" cy="28575"/>
          </a:xfrm>
          <a:prstGeom prst="rect">
            <a:avLst/>
          </a:prstGeom>
          <a:solidFill>
            <a:srgbClr val="D04A02"/>
          </a:solidFill>
          <a:ln/>
        </p:spPr>
      </p:sp>
      <p:sp>
        <p:nvSpPr>
          <p:cNvPr id="21" name="Shape 19"/>
          <p:cNvSpPr/>
          <p:nvPr/>
        </p:nvSpPr>
        <p:spPr>
          <a:xfrm>
            <a:off x="6200623" y="4219575"/>
            <a:ext cx="5457673" cy="1685925"/>
          </a:xfrm>
          <a:prstGeom prst="rect">
            <a:avLst/>
          </a:prstGeom>
          <a:solidFill>
            <a:srgbClr val="FDF0E6"/>
          </a:solidFill>
          <a:ln w="6350">
            <a:solidFill>
              <a:srgbClr val="FDF0E6"/>
            </a:solidFill>
            <a:prstDash val="solid"/>
          </a:ln>
        </p:spPr>
      </p:sp>
      <p:sp>
        <p:nvSpPr>
          <p:cNvPr id="22" name="Text 20"/>
          <p:cNvSpPr/>
          <p:nvPr/>
        </p:nvSpPr>
        <p:spPr>
          <a:xfrm>
            <a:off x="6391123" y="4343400"/>
            <a:ext cx="5076673" cy="200025"/>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COMPLIANCE</a:t>
            </a:r>
            <a:endParaRPr lang="en-US" sz="1600" dirty="0"/>
          </a:p>
        </p:txBody>
      </p:sp>
      <p:sp>
        <p:nvSpPr>
          <p:cNvPr id="23" name="Text 21"/>
          <p:cNvSpPr/>
          <p:nvPr/>
        </p:nvSpPr>
        <p:spPr>
          <a:xfrm>
            <a:off x="6391123" y="4619625"/>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4. Items 1–4, live</a:t>
            </a:r>
            <a:endParaRPr lang="en-US" sz="2000" dirty="0"/>
          </a:p>
        </p:txBody>
      </p:sp>
      <p:sp>
        <p:nvSpPr>
          <p:cNvPr id="24" name="Text 22"/>
          <p:cNvSpPr/>
          <p:nvPr/>
        </p:nvSpPr>
        <p:spPr>
          <a:xfrm>
            <a:off x="6391123" y="4972050"/>
            <a:ext cx="5076673" cy="85725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Non-compliant → partial → full — why one stayed partial.</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SECTION 1</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Set the</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Scene.</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Who the School is, what it found, and what it told the public — before we get anywhere near a regulator.</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3 · Part 3 · Case D  ·  03</a:t>
            </a:r>
            <a:endParaRPr lang="en-US" sz="1300" dirty="0"/>
          </a:p>
        </p:txBody>
      </p:sp>
      <p:sp>
        <p:nvSpPr>
          <p:cNvPr id="6" name="Text 4"/>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BACKGROUND</a:t>
            </a:r>
            <a:endParaRPr lang="en-US" sz="1600" dirty="0"/>
          </a:p>
        </p:txBody>
      </p:sp>
      <p:sp>
        <p:nvSpPr>
          <p:cNvPr id="4" name="Text 2"/>
          <p:cNvSpPr/>
          <p:nvPr/>
        </p:nvSpPr>
        <p:spPr>
          <a:xfrm>
            <a:off x="533400" y="990600"/>
            <a:ext cx="11124895" cy="97155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A continuing-education school, and the Moodle platform behind it</a:t>
            </a:r>
            <a:endParaRPr lang="en-US" sz="3000" dirty="0"/>
          </a:p>
        </p:txBody>
      </p:sp>
      <p:sp>
        <p:nvSpPr>
          <p:cNvPr id="5" name="Shape 3"/>
          <p:cNvSpPr/>
          <p:nvPr/>
        </p:nvSpPr>
        <p:spPr>
          <a:xfrm>
            <a:off x="533400" y="2286000"/>
            <a:ext cx="5457673" cy="28575"/>
          </a:xfrm>
          <a:prstGeom prst="rect">
            <a:avLst/>
          </a:prstGeom>
          <a:solidFill>
            <a:srgbClr val="1A1A1A"/>
          </a:solidFill>
          <a:ln/>
        </p:spPr>
      </p:sp>
      <p:sp>
        <p:nvSpPr>
          <p:cNvPr id="6" name="Shape 4"/>
          <p:cNvSpPr/>
          <p:nvPr/>
        </p:nvSpPr>
        <p:spPr>
          <a:xfrm>
            <a:off x="533400" y="2314575"/>
            <a:ext cx="5457673" cy="2162175"/>
          </a:xfrm>
          <a:prstGeom prst="rect">
            <a:avLst/>
          </a:prstGeom>
          <a:solidFill>
            <a:srgbClr val="F2F2F2"/>
          </a:solidFill>
          <a:ln w="6350">
            <a:solidFill>
              <a:srgbClr val="F2F2F2"/>
            </a:solidFill>
            <a:prstDash val="solid"/>
          </a:ln>
        </p:spPr>
      </p:sp>
      <p:sp>
        <p:nvSpPr>
          <p:cNvPr id="7" name="Text 5"/>
          <p:cNvSpPr/>
          <p:nvPr/>
        </p:nvSpPr>
        <p:spPr>
          <a:xfrm>
            <a:off x="723900" y="243840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A university’s CE arm</a:t>
            </a:r>
            <a:endParaRPr lang="en-US" sz="2000" dirty="0"/>
          </a:p>
        </p:txBody>
      </p:sp>
      <p:sp>
        <p:nvSpPr>
          <p:cNvPr id="8" name="Text 6"/>
          <p:cNvSpPr/>
          <p:nvPr/>
        </p:nvSpPr>
        <p:spPr>
          <a:xfrm>
            <a:off x="723900" y="2790825"/>
            <a:ext cx="5076673" cy="16097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Part of a Hong Kong university, run as a largely self-contained school — its own IT, its own Moodle instance(s).</a:t>
            </a:r>
            <a:endParaRPr lang="en-US" sz="2000" dirty="0"/>
          </a:p>
        </p:txBody>
      </p:sp>
      <p:sp>
        <p:nvSpPr>
          <p:cNvPr id="9" name="Shape 7"/>
          <p:cNvSpPr/>
          <p:nvPr/>
        </p:nvSpPr>
        <p:spPr>
          <a:xfrm>
            <a:off x="6200623" y="2286000"/>
            <a:ext cx="5457673" cy="28575"/>
          </a:xfrm>
          <a:prstGeom prst="rect">
            <a:avLst/>
          </a:prstGeom>
          <a:solidFill>
            <a:srgbClr val="1A1A1A"/>
          </a:solidFill>
          <a:ln/>
        </p:spPr>
      </p:sp>
      <p:sp>
        <p:nvSpPr>
          <p:cNvPr id="10" name="Shape 8"/>
          <p:cNvSpPr/>
          <p:nvPr/>
        </p:nvSpPr>
        <p:spPr>
          <a:xfrm>
            <a:off x="6200623" y="2314575"/>
            <a:ext cx="5457673" cy="2162175"/>
          </a:xfrm>
          <a:prstGeom prst="rect">
            <a:avLst/>
          </a:prstGeom>
          <a:solidFill>
            <a:srgbClr val="F2F2F2"/>
          </a:solidFill>
          <a:ln w="6350">
            <a:solidFill>
              <a:srgbClr val="F2F2F2"/>
            </a:solidFill>
            <a:prstDash val="solid"/>
          </a:ln>
        </p:spPr>
      </p:sp>
      <p:sp>
        <p:nvSpPr>
          <p:cNvPr id="11" name="Text 9"/>
          <p:cNvSpPr/>
          <p:nvPr/>
        </p:nvSpPr>
        <p:spPr>
          <a:xfrm>
            <a:off x="6391123" y="243840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Everyone touches Moodle</a:t>
            </a:r>
            <a:endParaRPr lang="en-US" sz="2000" dirty="0"/>
          </a:p>
        </p:txBody>
      </p:sp>
      <p:sp>
        <p:nvSpPr>
          <p:cNvPr id="12" name="Text 10"/>
          <p:cNvSpPr/>
          <p:nvPr/>
        </p:nvSpPr>
        <p:spPr>
          <a:xfrm>
            <a:off x="6391123" y="2790825"/>
            <a:ext cx="5076673" cy="1609725"/>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Full-time and part-time students, instructors, staff, and guest users all hold accounts on the same platform.</a:t>
            </a:r>
            <a:endParaRPr lang="en-US" sz="2000" dirty="0"/>
          </a:p>
        </p:txBody>
      </p:sp>
      <p:sp>
        <p:nvSpPr>
          <p:cNvPr id="13" name="Text 11"/>
          <p:cNvSpPr/>
          <p:nvPr/>
        </p:nvSpPr>
        <p:spPr>
          <a:xfrm>
            <a:off x="533400" y="4705350"/>
            <a:ext cx="11124895" cy="262255"/>
          </a:xfrm>
          <a:prstGeom prst="rect">
            <a:avLst/>
          </a:prstGeom>
          <a:noFill/>
          <a:ln/>
        </p:spPr>
        <p:txBody>
          <a:bodyPr wrap="square" rtlCol="0" anchor="t"/>
          <a:lstStyle/>
          <a:p>
            <a:pPr indent="0" marL="0">
              <a:lnSpc>
                <a:spcPct val="125000"/>
              </a:lnSpc>
              <a:buNone/>
            </a:pPr>
            <a:r>
              <a:rPr lang="en-US" sz="1400" i="1" dirty="0">
                <a:solidFill>
                  <a:srgbClr val="3D3D3D"/>
                </a:solidFill>
                <a:latin typeface="Arial" pitchFamily="34" charset="0"/>
                <a:ea typeface="Arial" pitchFamily="34" charset="-122"/>
                <a:cs typeface="Arial" pitchFamily="34" charset="-120"/>
              </a:rPr>
              <a:t>Identity is withheld throughout — you will not see the school named, and shouldn’t need it to follow the lesson.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BACKGROUND · DISCOVERY</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Found compromised, disclosed within days</a:t>
            </a:r>
            <a:endParaRPr lang="en-US" sz="3000" dirty="0"/>
          </a:p>
        </p:txBody>
      </p:sp>
      <p:sp>
        <p:nvSpPr>
          <p:cNvPr id="5" name="Shape 3"/>
          <p:cNvSpPr/>
          <p:nvPr/>
        </p:nvSpPr>
        <p:spPr>
          <a:xfrm>
            <a:off x="533400" y="1847850"/>
            <a:ext cx="3581298" cy="28575"/>
          </a:xfrm>
          <a:prstGeom prst="rect">
            <a:avLst/>
          </a:prstGeom>
          <a:solidFill>
            <a:srgbClr val="D04A02"/>
          </a:solidFill>
          <a:ln/>
        </p:spPr>
      </p:sp>
      <p:sp>
        <p:nvSpPr>
          <p:cNvPr id="6" name="Text 4"/>
          <p:cNvSpPr/>
          <p:nvPr/>
        </p:nvSpPr>
        <p:spPr>
          <a:xfrm>
            <a:off x="533400"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2 instances</a:t>
            </a:r>
            <a:endParaRPr lang="en-US" sz="3400" dirty="0"/>
          </a:p>
        </p:txBody>
      </p:sp>
      <p:sp>
        <p:nvSpPr>
          <p:cNvPr id="7" name="Text 5"/>
          <p:cNvSpPr/>
          <p:nvPr/>
        </p:nvSpPr>
        <p:spPr>
          <a:xfrm>
            <a:off x="533400"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the main e-learning platform, plus a second Moodle instance — same stack</a:t>
            </a:r>
            <a:endParaRPr lang="en-US" sz="1600" dirty="0"/>
          </a:p>
        </p:txBody>
      </p:sp>
      <p:sp>
        <p:nvSpPr>
          <p:cNvPr id="8" name="Shape 6"/>
          <p:cNvSpPr/>
          <p:nvPr/>
        </p:nvSpPr>
        <p:spPr>
          <a:xfrm>
            <a:off x="4305198" y="1847850"/>
            <a:ext cx="3581298" cy="28575"/>
          </a:xfrm>
          <a:prstGeom prst="rect">
            <a:avLst/>
          </a:prstGeom>
          <a:solidFill>
            <a:srgbClr val="D04A02"/>
          </a:solidFill>
          <a:ln/>
        </p:spPr>
      </p:sp>
      <p:sp>
        <p:nvSpPr>
          <p:cNvPr id="9" name="Text 7"/>
          <p:cNvSpPr/>
          <p:nvPr/>
        </p:nvSpPr>
        <p:spPr>
          <a:xfrm>
            <a:off x="4305198"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~21,000 accounts</a:t>
            </a:r>
            <a:endParaRPr lang="en-US" sz="3400" dirty="0"/>
          </a:p>
        </p:txBody>
      </p:sp>
      <p:sp>
        <p:nvSpPr>
          <p:cNvPr id="10" name="Text 8"/>
          <p:cNvSpPr/>
          <p:nvPr/>
        </p:nvSpPr>
        <p:spPr>
          <a:xfrm>
            <a:off x="4305198"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staff, instructors, students, and guest users, per the school’s own disclosure</a:t>
            </a:r>
            <a:endParaRPr lang="en-US" sz="1600" dirty="0"/>
          </a:p>
        </p:txBody>
      </p:sp>
      <p:sp>
        <p:nvSpPr>
          <p:cNvPr id="11" name="Shape 9"/>
          <p:cNvSpPr/>
          <p:nvPr/>
        </p:nvSpPr>
        <p:spPr>
          <a:xfrm>
            <a:off x="8076997" y="1847850"/>
            <a:ext cx="3581298" cy="28575"/>
          </a:xfrm>
          <a:prstGeom prst="rect">
            <a:avLst/>
          </a:prstGeom>
          <a:solidFill>
            <a:srgbClr val="D04A02"/>
          </a:solidFill>
          <a:ln/>
        </p:spPr>
      </p:sp>
      <p:sp>
        <p:nvSpPr>
          <p:cNvPr id="12" name="Text 10"/>
          <p:cNvSpPr/>
          <p:nvPr/>
        </p:nvSpPr>
        <p:spPr>
          <a:xfrm>
            <a:off x="8076997"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~2 weeks</a:t>
            </a:r>
            <a:endParaRPr lang="en-US" sz="3400" dirty="0"/>
          </a:p>
        </p:txBody>
      </p:sp>
      <p:sp>
        <p:nvSpPr>
          <p:cNvPr id="13" name="Text 11"/>
          <p:cNvSpPr/>
          <p:nvPr/>
        </p:nvSpPr>
        <p:spPr>
          <a:xfrm>
            <a:off x="8076997"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discovery, containment, and a public notice, inside the same fortnight</a:t>
            </a:r>
            <a:endParaRPr lang="en-US" sz="1600" dirty="0"/>
          </a:p>
        </p:txBody>
      </p:sp>
      <p:sp>
        <p:nvSpPr>
          <p:cNvPr id="14" name="Text 12"/>
          <p:cNvSpPr/>
          <p:nvPr/>
        </p:nvSpPr>
        <p:spPr>
          <a:xfrm>
            <a:off x="533400" y="3848100"/>
            <a:ext cx="11124895" cy="762000"/>
          </a:xfrm>
          <a:prstGeom prst="rect">
            <a:avLst/>
          </a:prstGeom>
          <a:noFill/>
          <a:ln/>
        </p:spPr>
        <p:txBody>
          <a:bodyPr wrap="square" rtlCol="0" anchor="t"/>
          <a:lstStyle/>
          <a:p>
            <a:pPr marL="342900" indent="-342900">
              <a:lnSpc>
                <a:spcPct val="140000"/>
              </a:lnSpc>
              <a:spcAft>
                <a:spcPts val="1000"/>
              </a:spcAft>
              <a:buSzPct val="100000"/>
              <a:buChar char="—"/>
            </a:pPr>
            <a:r>
              <a:rPr lang="en-US" sz="1500" dirty="0">
                <a:solidFill>
                  <a:srgbClr val="3D3D3D"/>
                </a:solidFill>
                <a:latin typeface="Arial" pitchFamily="34" charset="0"/>
                <a:ea typeface="Arial" pitchFamily="34" charset="-122"/>
                <a:cs typeface="Arial" pitchFamily="34" charset="-120"/>
              </a:rPr>
              <a:t>The headline numbers and the fact of the breach are public record — the school issued its own notice, covered by Hong Kong press. What follows strips its identity but keeps that public shape.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BEFORE WE GO FURTHER</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A stricter rule than CNCBI, HKIB, or Cyberport — and here’s why</a:t>
            </a:r>
            <a:endParaRPr lang="en-US" sz="3000" dirty="0"/>
          </a:p>
        </p:txBody>
      </p:sp>
      <p:sp>
        <p:nvSpPr>
          <p:cNvPr id="5" name="Shape 3"/>
          <p:cNvSpPr/>
          <p:nvPr/>
        </p:nvSpPr>
        <p:spPr>
          <a:xfrm>
            <a:off x="533400" y="1847850"/>
            <a:ext cx="5457673" cy="28575"/>
          </a:xfrm>
          <a:prstGeom prst="rect">
            <a:avLst/>
          </a:prstGeom>
          <a:solidFill>
            <a:srgbClr val="1A1A1A"/>
          </a:solidFill>
          <a:ln/>
        </p:spPr>
      </p:sp>
      <p:sp>
        <p:nvSpPr>
          <p:cNvPr id="6" name="Shape 4"/>
          <p:cNvSpPr/>
          <p:nvPr/>
        </p:nvSpPr>
        <p:spPr>
          <a:xfrm>
            <a:off x="533400" y="1876425"/>
            <a:ext cx="5457673" cy="1876425"/>
          </a:xfrm>
          <a:prstGeom prst="rect">
            <a:avLst/>
          </a:prstGeom>
          <a:solidFill>
            <a:srgbClr val="F2F2F2"/>
          </a:solidFill>
          <a:ln w="6350">
            <a:solidFill>
              <a:srgbClr val="F2F2F2"/>
            </a:solidFill>
            <a:prstDash val="solid"/>
          </a:ln>
        </p:spPr>
      </p:sp>
      <p:sp>
        <p:nvSpPr>
          <p:cNvPr id="7" name="Text 5"/>
          <p:cNvSpPr/>
          <p:nvPr/>
        </p:nvSpPr>
        <p:spPr>
          <a:xfrm>
            <a:off x="723900" y="200025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This one stays anonymous</a:t>
            </a:r>
            <a:endParaRPr lang="en-US" sz="2000" dirty="0"/>
          </a:p>
        </p:txBody>
      </p:sp>
      <p:sp>
        <p:nvSpPr>
          <p:cNvPr id="8" name="Text 6"/>
          <p:cNvSpPr/>
          <p:nvPr/>
        </p:nvSpPr>
        <p:spPr>
          <a:xfrm>
            <a:off x="723900" y="2352675"/>
            <a:ext cx="5076673" cy="1323975"/>
          </a:xfrm>
          <a:prstGeom prst="rect">
            <a:avLst/>
          </a:prstGeom>
          <a:noFill/>
          <a:ln/>
        </p:spPr>
        <p:txBody>
          <a:bodyPr wrap="square" rtlCol="0" anchor="t"/>
          <a:lstStyle/>
          <a:p>
            <a:pPr indent="0" marL="0">
              <a:lnSpc>
                <a:spcPct val="130000"/>
              </a:lnSpc>
              <a:buNone/>
            </a:pPr>
            <a:r>
              <a:rPr lang="en-US" sz="1500" dirty="0">
                <a:solidFill>
                  <a:srgbClr val="3D3D3D"/>
                </a:solidFill>
                <a:latin typeface="Arial" pitchFamily="34" charset="0"/>
                <a:ea typeface="Arial" pitchFamily="34" charset="-122"/>
                <a:cs typeface="Arial" pitchFamily="34" charset="-120"/>
              </a:rPr>
              <a:t>This is a live PwC relationship, more recent than the other three. The org is never named here, even though the breach itself is public record.</a:t>
            </a:r>
            <a:endParaRPr lang="en-US" sz="1500" dirty="0"/>
          </a:p>
        </p:txBody>
      </p:sp>
      <p:sp>
        <p:nvSpPr>
          <p:cNvPr id="9" name="Shape 7"/>
          <p:cNvSpPr/>
          <p:nvPr/>
        </p:nvSpPr>
        <p:spPr>
          <a:xfrm>
            <a:off x="6200623" y="1847850"/>
            <a:ext cx="5457673" cy="28575"/>
          </a:xfrm>
          <a:prstGeom prst="rect">
            <a:avLst/>
          </a:prstGeom>
          <a:solidFill>
            <a:srgbClr val="1A1A1A"/>
          </a:solidFill>
          <a:ln/>
        </p:spPr>
      </p:sp>
      <p:sp>
        <p:nvSpPr>
          <p:cNvPr id="10" name="Shape 8"/>
          <p:cNvSpPr/>
          <p:nvPr/>
        </p:nvSpPr>
        <p:spPr>
          <a:xfrm>
            <a:off x="6200623" y="1876425"/>
            <a:ext cx="5457673" cy="1876425"/>
          </a:xfrm>
          <a:prstGeom prst="rect">
            <a:avLst/>
          </a:prstGeom>
          <a:solidFill>
            <a:srgbClr val="F2F2F2"/>
          </a:solidFill>
          <a:ln w="6350">
            <a:solidFill>
              <a:srgbClr val="F2F2F2"/>
            </a:solidFill>
            <a:prstDash val="solid"/>
          </a:ln>
        </p:spPr>
      </p:sp>
      <p:sp>
        <p:nvSpPr>
          <p:cNvPr id="11" name="Text 9"/>
          <p:cNvSpPr/>
          <p:nvPr/>
        </p:nvSpPr>
        <p:spPr>
          <a:xfrm>
            <a:off x="6391123" y="200025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Public shape, private substance</a:t>
            </a:r>
            <a:endParaRPr lang="en-US" sz="2000" dirty="0"/>
          </a:p>
        </p:txBody>
      </p:sp>
      <p:sp>
        <p:nvSpPr>
          <p:cNvPr id="12" name="Text 10"/>
          <p:cNvSpPr/>
          <p:nvPr/>
        </p:nvSpPr>
        <p:spPr>
          <a:xfrm>
            <a:off x="6391123" y="2352675"/>
            <a:ext cx="5076673" cy="1323975"/>
          </a:xfrm>
          <a:prstGeom prst="rect">
            <a:avLst/>
          </a:prstGeom>
          <a:noFill/>
          <a:ln/>
        </p:spPr>
        <p:txBody>
          <a:bodyPr wrap="square" rtlCol="0" anchor="t"/>
          <a:lstStyle/>
          <a:p>
            <a:pPr indent="0" marL="0">
              <a:lnSpc>
                <a:spcPct val="130000"/>
              </a:lnSpc>
              <a:buNone/>
            </a:pPr>
            <a:r>
              <a:rPr lang="en-US" sz="1500" dirty="0">
                <a:solidFill>
                  <a:srgbClr val="3D3D3D"/>
                </a:solidFill>
                <a:latin typeface="Arial" pitchFamily="34" charset="0"/>
                <a:ea typeface="Arial" pitchFamily="34" charset="-122"/>
                <a:cs typeface="Arial" pitchFamily="34" charset="-120"/>
              </a:rPr>
              <a:t>Discovery, headline numbers, and immediate response actions below are public. The EN review — ratings, evidence, RFI wording — is not, and is never reproduced.</a:t>
            </a:r>
            <a:endParaRPr lang="en-US" sz="1500" dirty="0"/>
          </a:p>
        </p:txBody>
      </p:sp>
      <p:sp>
        <p:nvSpPr>
          <p:cNvPr id="13" name="Text 11"/>
          <p:cNvSpPr/>
          <p:nvPr/>
        </p:nvSpPr>
        <p:spPr>
          <a:xfrm>
            <a:off x="533400" y="3981450"/>
            <a:ext cx="11124895" cy="524510"/>
          </a:xfrm>
          <a:prstGeom prst="rect">
            <a:avLst/>
          </a:prstGeom>
          <a:noFill/>
          <a:ln/>
        </p:spPr>
        <p:txBody>
          <a:bodyPr wrap="square" rtlCol="0" anchor="t"/>
          <a:lstStyle/>
          <a:p>
            <a:pPr indent="0" marL="0">
              <a:lnSpc>
                <a:spcPct val="125000"/>
              </a:lnSpc>
              <a:buNone/>
            </a:pPr>
            <a:r>
              <a:rPr lang="en-US" sz="1400" i="1" dirty="0">
                <a:solidFill>
                  <a:srgbClr val="3D3D3D"/>
                </a:solidFill>
                <a:latin typeface="Arial" pitchFamily="34" charset="0"/>
                <a:ea typeface="Arial" pitchFamily="34" charset="-122"/>
                <a:cs typeface="Arial" pitchFamily="34" charset="-120"/>
              </a:rPr>
              <a:t>Every piece of "evidence" you’ll see for the Enforcement Notice section is an invented specimen — realistic, built to teach the method, not an extract of the real review.</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BACKGROUND · THE NOTICE</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What the school told its users</a:t>
            </a:r>
            <a:endParaRPr lang="en-US" sz="3000" dirty="0"/>
          </a:p>
        </p:txBody>
      </p:sp>
      <p:sp>
        <p:nvSpPr>
          <p:cNvPr id="5" name="Text 3"/>
          <p:cNvSpPr/>
          <p:nvPr/>
        </p:nvSpPr>
        <p:spPr>
          <a:xfrm>
            <a:off x="533400" y="1847850"/>
            <a:ext cx="11124895" cy="171450"/>
          </a:xfrm>
          <a:prstGeom prst="rect">
            <a:avLst/>
          </a:prstGeom>
          <a:noFill/>
          <a:ln/>
        </p:spPr>
        <p:txBody>
          <a:bodyPr wrap="square" rtlCol="0" anchor="ctr"/>
          <a:lstStyle/>
          <a:p>
            <a:pPr indent="0" marL="0">
              <a:buNone/>
            </a:pPr>
            <a:r>
              <a:rPr lang="en-US" sz="1000" b="1" spc="100" kern="0" dirty="0">
                <a:solidFill>
                  <a:srgbClr val="B3261E"/>
                </a:solidFill>
                <a:latin typeface="Arial" pitchFamily="34" charset="0"/>
                <a:ea typeface="Arial" pitchFamily="34" charset="-122"/>
                <a:cs typeface="Arial" pitchFamily="34" charset="-120"/>
              </a:rPr>
              <a:t>SPECIMEN — REBUILT FOR TEACHING, NOT THE ORIGINAL DOCUMENT</a:t>
            </a:r>
            <a:endParaRPr lang="en-US" sz="1000" dirty="0"/>
          </a:p>
        </p:txBody>
      </p:sp>
      <p:sp>
        <p:nvSpPr>
          <p:cNvPr id="6" name="Shape 4"/>
          <p:cNvSpPr/>
          <p:nvPr/>
        </p:nvSpPr>
        <p:spPr>
          <a:xfrm>
            <a:off x="533400" y="2095500"/>
            <a:ext cx="11124895" cy="28575"/>
          </a:xfrm>
          <a:prstGeom prst="rect">
            <a:avLst/>
          </a:prstGeom>
          <a:solidFill>
            <a:srgbClr val="1A1A1A"/>
          </a:solidFill>
          <a:ln/>
        </p:spPr>
      </p:sp>
      <p:sp>
        <p:nvSpPr>
          <p:cNvPr id="7" name="Shape 5"/>
          <p:cNvSpPr/>
          <p:nvPr/>
        </p:nvSpPr>
        <p:spPr>
          <a:xfrm>
            <a:off x="533400" y="2124075"/>
            <a:ext cx="11124895" cy="2828925"/>
          </a:xfrm>
          <a:prstGeom prst="rect">
            <a:avLst/>
          </a:prstGeom>
          <a:solidFill>
            <a:srgbClr val="F2F2F2"/>
          </a:solidFill>
          <a:ln w="6350">
            <a:solidFill>
              <a:srgbClr val="F2F2F2"/>
            </a:solidFill>
            <a:prstDash val="solid"/>
          </a:ln>
        </p:spPr>
      </p:sp>
      <p:sp>
        <p:nvSpPr>
          <p:cNvPr id="8" name="Text 6"/>
          <p:cNvSpPr/>
          <p:nvPr/>
        </p:nvSpPr>
        <p:spPr>
          <a:xfrm>
            <a:off x="723900" y="2247900"/>
            <a:ext cx="10743895"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MOCKED FROM THE SCHOOL’S OWN PUBLIC NOTICE — NAME AND URL REDACTED</a:t>
            </a:r>
            <a:endParaRPr lang="en-US" sz="1600" dirty="0"/>
          </a:p>
        </p:txBody>
      </p:sp>
      <p:sp>
        <p:nvSpPr>
          <p:cNvPr id="9" name="Text 7"/>
          <p:cNvSpPr/>
          <p:nvPr/>
        </p:nvSpPr>
        <p:spPr>
          <a:xfrm>
            <a:off x="723900" y="2524125"/>
            <a:ext cx="10743895"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Special Notice: Information Security Incident on the e-Learning Platform</a:t>
            </a:r>
            <a:endParaRPr lang="en-US" sz="2000" dirty="0"/>
          </a:p>
        </p:txBody>
      </p:sp>
      <p:sp>
        <p:nvSpPr>
          <p:cNvPr id="10" name="Text 8"/>
          <p:cNvSpPr/>
          <p:nvPr/>
        </p:nvSpPr>
        <p:spPr>
          <a:xfrm>
            <a:off x="723900" y="2876550"/>
            <a:ext cx="10743895" cy="2000250"/>
          </a:xfrm>
          <a:prstGeom prst="rect">
            <a:avLst/>
          </a:prstGeom>
          <a:noFill/>
          <a:ln/>
        </p:spPr>
        <p:txBody>
          <a:bodyPr wrap="square" rtlCol="0" anchor="t"/>
          <a:lstStyle/>
          <a:p>
            <a:pPr indent="0" marL="0">
              <a:lnSpc>
                <a:spcPct val="130000"/>
              </a:lnSpc>
              <a:buNone/>
            </a:pPr>
            <a:r>
              <a:rPr lang="en-US" sz="1600" dirty="0">
                <a:solidFill>
                  <a:srgbClr val="3D3D3D"/>
                </a:solidFill>
                <a:latin typeface="Arial" pitchFamily="34" charset="0"/>
                <a:ea typeface="Arial" pitchFamily="34" charset="-122"/>
                <a:cs typeface="Arial" pitchFamily="34" charset="-120"/>
              </a:rPr>
              <a:t>The Moodle Learning Management System was found to have been hacked. The data concerned involves name, email address, and student registration number (where applicable) of users who are staff, part-time instructors, students, graduates, and some guest users. The related login account has been disabled and its password reset. [ Sender: ██████████████████ ]  [ URL: ██████████████████████████ ]</a:t>
            </a:r>
            <a:endParaRPr lang="en-US" sz="1600" dirty="0"/>
          </a:p>
        </p:txBody>
      </p:sp>
      <p:sp>
        <p:nvSpPr>
          <p:cNvPr id="11" name="Text 9"/>
          <p:cNvSpPr/>
          <p:nvPr/>
        </p:nvSpPr>
        <p:spPr>
          <a:xfrm>
            <a:off x="533400" y="5086350"/>
            <a:ext cx="11124895" cy="243522"/>
          </a:xfrm>
          <a:prstGeom prst="rect">
            <a:avLst/>
          </a:prstGeom>
          <a:noFill/>
          <a:ln/>
        </p:spPr>
        <p:txBody>
          <a:bodyPr wrap="square" rtlCol="0" anchor="t"/>
          <a:lstStyle/>
          <a:p>
            <a:pPr indent="0" marL="0">
              <a:lnSpc>
                <a:spcPct val="125000"/>
              </a:lnSpc>
              <a:buNone/>
            </a:pPr>
            <a:r>
              <a:rPr lang="en-US" sz="1300" i="1" dirty="0">
                <a:solidFill>
                  <a:srgbClr val="3D3D3D"/>
                </a:solidFill>
                <a:latin typeface="Arial" pitchFamily="34" charset="0"/>
                <a:ea typeface="Arial" pitchFamily="34" charset="-122"/>
                <a:cs typeface="Arial" pitchFamily="34" charset="-120"/>
              </a:rPr>
              <a:t>This is a redacted mock-up built from the real notice’s content and tone — not a screenshot of the original page.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BACKGROUND · IMMEDIATE RESPONSE</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The first 48 hours — all publicly stated</a:t>
            </a:r>
            <a:endParaRPr lang="en-US" sz="3000" dirty="0"/>
          </a:p>
        </p:txBody>
      </p:sp>
      <p:sp>
        <p:nvSpPr>
          <p:cNvPr id="5" name="Text 3"/>
          <p:cNvSpPr/>
          <p:nvPr/>
        </p:nvSpPr>
        <p:spPr>
          <a:xfrm>
            <a:off x="533400" y="1847850"/>
            <a:ext cx="5419573" cy="190500"/>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CONTAIN</a:t>
            </a:r>
            <a:endParaRPr lang="en-US" sz="1600" dirty="0"/>
          </a:p>
        </p:txBody>
      </p:sp>
      <p:sp>
        <p:nvSpPr>
          <p:cNvPr id="6" name="Text 4"/>
          <p:cNvSpPr/>
          <p:nvPr/>
        </p:nvSpPr>
        <p:spPr>
          <a:xfrm>
            <a:off x="6238723" y="1847850"/>
            <a:ext cx="5419573" cy="190500"/>
          </a:xfrm>
          <a:prstGeom prst="rect">
            <a:avLst/>
          </a:prstGeom>
          <a:noFill/>
          <a:ln/>
        </p:spPr>
        <p:txBody>
          <a:bodyPr wrap="square" rtlCol="0" anchor="ctr"/>
          <a:lstStyle/>
          <a:p>
            <a:pPr indent="0" marL="0">
              <a:buNone/>
            </a:pPr>
            <a:r>
              <a:rPr lang="en-US" sz="1600" b="1" spc="110" kern="0" dirty="0">
                <a:solidFill>
                  <a:srgbClr val="D04A02"/>
                </a:solidFill>
                <a:latin typeface="Arial" pitchFamily="34" charset="0"/>
                <a:ea typeface="Arial" pitchFamily="34" charset="-122"/>
                <a:cs typeface="Arial" pitchFamily="34" charset="-120"/>
              </a:rPr>
              <a:t>ESCALATE</a:t>
            </a:r>
            <a:endParaRPr lang="en-US" sz="1600" dirty="0"/>
          </a:p>
        </p:txBody>
      </p:sp>
      <p:sp>
        <p:nvSpPr>
          <p:cNvPr id="7" name="Text 5"/>
          <p:cNvSpPr/>
          <p:nvPr/>
        </p:nvSpPr>
        <p:spPr>
          <a:xfrm>
            <a:off x="533400" y="2114550"/>
            <a:ext cx="5419573" cy="3238500"/>
          </a:xfrm>
          <a:prstGeom prst="rect">
            <a:avLst/>
          </a:prstGeom>
          <a:noFill/>
          <a:ln/>
        </p:spPr>
        <p:txBody>
          <a:bodyPr wrap="square" rtlCol="0" anchor="t"/>
          <a:lstStyle/>
          <a:p>
            <a:pPr marL="342900" indent="-342900">
              <a:lnSpc>
                <a:spcPct val="125000"/>
              </a:lnSpc>
              <a:spcAft>
                <a:spcPts val="600"/>
              </a:spcAft>
              <a:buSzPct val="100000"/>
              <a:buChar char="—"/>
            </a:pPr>
            <a:r>
              <a:rPr lang="en-US" sz="1600" dirty="0">
                <a:solidFill>
                  <a:srgbClr val="3D3D3D"/>
                </a:solidFill>
                <a:latin typeface="Arial" pitchFamily="34" charset="0"/>
                <a:ea typeface="Arial" pitchFamily="34" charset="-122"/>
                <a:cs typeface="Arial" pitchFamily="34" charset="-120"/>
              </a:rPr>
              <a:t>Disabled the compromised login account and reset its password</a:t>
            </a:r>
            <a:endParaRPr lang="en-US" sz="1600" dirty="0"/>
          </a:p>
          <a:p>
            <a:pPr marL="342900" indent="-342900">
              <a:lnSpc>
                <a:spcPct val="125000"/>
              </a:lnSpc>
              <a:spcAft>
                <a:spcPts val="600"/>
              </a:spcAft>
              <a:buSzPct val="100000"/>
              <a:buChar char="—"/>
            </a:pPr>
            <a:r>
              <a:rPr lang="en-US" sz="1600" dirty="0">
                <a:solidFill>
                  <a:srgbClr val="3D3D3D"/>
                </a:solidFill>
                <a:latin typeface="Arial" pitchFamily="34" charset="0"/>
                <a:ea typeface="Arial" pitchFamily="34" charset="-122"/>
                <a:cs typeface="Arial" pitchFamily="34" charset="-120"/>
              </a:rPr>
              <a:t>Moved the affected platform to a different server</a:t>
            </a:r>
            <a:endParaRPr lang="en-US" sz="1600" dirty="0"/>
          </a:p>
          <a:p>
            <a:pPr marL="342900" indent="-342900">
              <a:lnSpc>
                <a:spcPct val="125000"/>
              </a:lnSpc>
              <a:spcAft>
                <a:spcPts val="600"/>
              </a:spcAft>
              <a:buSzPct val="100000"/>
              <a:buChar char="—"/>
            </a:pPr>
            <a:r>
              <a:rPr lang="en-US" sz="1600" dirty="0">
                <a:solidFill>
                  <a:srgbClr val="3D3D3D"/>
                </a:solidFill>
                <a:latin typeface="Arial" pitchFamily="34" charset="0"/>
                <a:ea typeface="Arial" pitchFamily="34" charset="-122"/>
                <a:cs typeface="Arial" pitchFamily="34" charset="-120"/>
              </a:rPr>
              <a:t>Tightened the lockout policy — accounts now lock after three failed logins</a:t>
            </a:r>
            <a:endParaRPr lang="en-US" sz="1600" dirty="0"/>
          </a:p>
        </p:txBody>
      </p:sp>
      <p:sp>
        <p:nvSpPr>
          <p:cNvPr id="8" name="Text 6"/>
          <p:cNvSpPr/>
          <p:nvPr/>
        </p:nvSpPr>
        <p:spPr>
          <a:xfrm>
            <a:off x="6238723" y="2114550"/>
            <a:ext cx="5419573" cy="3238500"/>
          </a:xfrm>
          <a:prstGeom prst="rect">
            <a:avLst/>
          </a:prstGeom>
          <a:noFill/>
          <a:ln/>
        </p:spPr>
        <p:txBody>
          <a:bodyPr wrap="square" rtlCol="0" anchor="t"/>
          <a:lstStyle/>
          <a:p>
            <a:pPr marL="342900" indent="-342900">
              <a:lnSpc>
                <a:spcPct val="125000"/>
              </a:lnSpc>
              <a:spcAft>
                <a:spcPts val="600"/>
              </a:spcAft>
              <a:buSzPct val="100000"/>
              <a:buChar char="—"/>
            </a:pPr>
            <a:r>
              <a:rPr lang="en-US" sz="1600" dirty="0">
                <a:solidFill>
                  <a:srgbClr val="3D3D3D"/>
                </a:solidFill>
                <a:latin typeface="Arial" pitchFamily="34" charset="0"/>
                <a:ea typeface="Arial" pitchFamily="34" charset="-122"/>
                <a:cs typeface="Arial" pitchFamily="34" charset="-120"/>
              </a:rPr>
              <a:t>Stood up a crisis management working group spanning IT, admin, and communications leadership</a:t>
            </a:r>
            <a:endParaRPr lang="en-US" sz="1600" dirty="0"/>
          </a:p>
          <a:p>
            <a:pPr marL="342900" indent="-342900">
              <a:lnSpc>
                <a:spcPct val="125000"/>
              </a:lnSpc>
              <a:spcAft>
                <a:spcPts val="600"/>
              </a:spcAft>
              <a:buSzPct val="100000"/>
              <a:buChar char="—"/>
            </a:pPr>
            <a:r>
              <a:rPr lang="en-US" sz="1600" dirty="0">
                <a:solidFill>
                  <a:srgbClr val="3D3D3D"/>
                </a:solidFill>
                <a:latin typeface="Arial" pitchFamily="34" charset="0"/>
                <a:ea typeface="Arial" pitchFamily="34" charset="-122"/>
                <a:cs typeface="Arial" pitchFamily="34" charset="-120"/>
              </a:rPr>
              <a:t>Brought in an external IT security consultant to investigate</a:t>
            </a:r>
            <a:endParaRPr lang="en-US" sz="1600" dirty="0"/>
          </a:p>
          <a:p>
            <a:pPr marL="342900" indent="-342900">
              <a:lnSpc>
                <a:spcPct val="125000"/>
              </a:lnSpc>
              <a:spcAft>
                <a:spcPts val="600"/>
              </a:spcAft>
              <a:buSzPct val="100000"/>
              <a:buChar char="—"/>
            </a:pPr>
            <a:r>
              <a:rPr lang="en-US" sz="1600" dirty="0">
                <a:solidFill>
                  <a:srgbClr val="3D3D3D"/>
                </a:solidFill>
                <a:latin typeface="Arial" pitchFamily="34" charset="0"/>
                <a:ea typeface="Arial" pitchFamily="34" charset="-122"/>
                <a:cs typeface="Arial" pitchFamily="34" charset="-120"/>
              </a:rPr>
              <a:t>Reported to the police and to the privacy regulator, and emailed every affected user</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SECTION 2</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What Actually</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Happened.</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One actor, one stolen credential, and an account nobody ever switched off — the hardest part wasn’t technical.</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3 · Part 3 · Case D  ·  04</a:t>
            </a:r>
            <a:endParaRPr lang="en-US" sz="1300" dirty="0"/>
          </a:p>
        </p:txBody>
      </p:sp>
      <p:sp>
        <p:nvSpPr>
          <p:cNvPr id="6" name="Text 4"/>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ROOT CAUSE</a:t>
            </a:r>
            <a:endParaRPr lang="en-US" sz="1600" dirty="0"/>
          </a:p>
        </p:txBody>
      </p:sp>
      <p:sp>
        <p:nvSpPr>
          <p:cNvPr id="4" name="Text 2"/>
          <p:cNvSpPr/>
          <p:nvPr/>
        </p:nvSpPr>
        <p:spPr>
          <a:xfrm>
            <a:off x="533400" y="990600"/>
            <a:ext cx="11124895" cy="97155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One actor, start to finish — a credential that should never have still worked</a:t>
            </a:r>
            <a:endParaRPr lang="en-US" sz="3000" dirty="0"/>
          </a:p>
        </p:txBody>
      </p:sp>
      <p:sp>
        <p:nvSpPr>
          <p:cNvPr id="5" name="Shape 3"/>
          <p:cNvSpPr/>
          <p:nvPr/>
        </p:nvSpPr>
        <p:spPr>
          <a:xfrm>
            <a:off x="533400" y="2286000"/>
            <a:ext cx="3568598" cy="28575"/>
          </a:xfrm>
          <a:prstGeom prst="rect">
            <a:avLst/>
          </a:prstGeom>
          <a:solidFill>
            <a:srgbClr val="1A1A1A"/>
          </a:solidFill>
          <a:ln/>
        </p:spPr>
      </p:sp>
      <p:sp>
        <p:nvSpPr>
          <p:cNvPr id="6" name="Shape 4"/>
          <p:cNvSpPr/>
          <p:nvPr/>
        </p:nvSpPr>
        <p:spPr>
          <a:xfrm>
            <a:off x="533400" y="2314575"/>
            <a:ext cx="3568598" cy="1590675"/>
          </a:xfrm>
          <a:prstGeom prst="rect">
            <a:avLst/>
          </a:prstGeom>
          <a:solidFill>
            <a:srgbClr val="F2F2F2"/>
          </a:solidFill>
          <a:ln w="6350">
            <a:solidFill>
              <a:srgbClr val="F2F2F2"/>
            </a:solidFill>
            <a:prstDash val="solid"/>
          </a:ln>
        </p:spPr>
      </p:sp>
      <p:sp>
        <p:nvSpPr>
          <p:cNvPr id="7" name="Text 5"/>
          <p:cNvSpPr/>
          <p:nvPr/>
        </p:nvSpPr>
        <p:spPr>
          <a:xfrm>
            <a:off x="723900" y="2438400"/>
            <a:ext cx="3187598"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1. Legitimate access, once</a:t>
            </a:r>
            <a:endParaRPr lang="en-US" sz="2000" dirty="0"/>
          </a:p>
        </p:txBody>
      </p:sp>
      <p:sp>
        <p:nvSpPr>
          <p:cNvPr id="8" name="Text 6"/>
          <p:cNvSpPr/>
          <p:nvPr/>
        </p:nvSpPr>
        <p:spPr>
          <a:xfrm>
            <a:off x="723900" y="3048000"/>
            <a:ext cx="3187598" cy="781050"/>
          </a:xfrm>
          <a:prstGeom prst="rect">
            <a:avLst/>
          </a:prstGeom>
          <a:noFill/>
          <a:ln/>
        </p:spPr>
        <p:txBody>
          <a:bodyPr wrap="square" rtlCol="0" anchor="t"/>
          <a:lstStyle/>
          <a:p>
            <a:pPr indent="0" marL="0">
              <a:lnSpc>
                <a:spcPct val="130000"/>
              </a:lnSpc>
              <a:buNone/>
            </a:pPr>
            <a:r>
              <a:rPr lang="en-US" sz="1300" dirty="0">
                <a:solidFill>
                  <a:srgbClr val="3D3D3D"/>
                </a:solidFill>
                <a:latin typeface="Arial" pitchFamily="34" charset="0"/>
                <a:ea typeface="Arial" pitchFamily="34" charset="-122"/>
                <a:cs typeface="Arial" pitchFamily="34" charset="-120"/>
              </a:rPr>
              <a:t>While employed, an IT staffer remotely admins Moodle — the login saves in his personal browser.</a:t>
            </a:r>
            <a:endParaRPr lang="en-US" sz="1300" dirty="0"/>
          </a:p>
        </p:txBody>
      </p:sp>
      <p:sp>
        <p:nvSpPr>
          <p:cNvPr id="9" name="Shape 7"/>
          <p:cNvSpPr/>
          <p:nvPr/>
        </p:nvSpPr>
        <p:spPr>
          <a:xfrm>
            <a:off x="4311548" y="2286000"/>
            <a:ext cx="3568598" cy="28575"/>
          </a:xfrm>
          <a:prstGeom prst="rect">
            <a:avLst/>
          </a:prstGeom>
          <a:solidFill>
            <a:srgbClr val="1A1A1A"/>
          </a:solidFill>
          <a:ln/>
        </p:spPr>
      </p:sp>
      <p:sp>
        <p:nvSpPr>
          <p:cNvPr id="10" name="Shape 8"/>
          <p:cNvSpPr/>
          <p:nvPr/>
        </p:nvSpPr>
        <p:spPr>
          <a:xfrm>
            <a:off x="4311548" y="2314575"/>
            <a:ext cx="3568598" cy="1590675"/>
          </a:xfrm>
          <a:prstGeom prst="rect">
            <a:avLst/>
          </a:prstGeom>
          <a:solidFill>
            <a:srgbClr val="F2F2F2"/>
          </a:solidFill>
          <a:ln w="6350">
            <a:solidFill>
              <a:srgbClr val="F2F2F2"/>
            </a:solidFill>
            <a:prstDash val="solid"/>
          </a:ln>
        </p:spPr>
      </p:sp>
      <p:sp>
        <p:nvSpPr>
          <p:cNvPr id="11" name="Text 9"/>
          <p:cNvSpPr/>
          <p:nvPr/>
        </p:nvSpPr>
        <p:spPr>
          <a:xfrm>
            <a:off x="4502048" y="2438400"/>
            <a:ext cx="3187598"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2. He leaves, the account doesn’t</a:t>
            </a:r>
            <a:endParaRPr lang="en-US" sz="2000" dirty="0"/>
          </a:p>
        </p:txBody>
      </p:sp>
      <p:sp>
        <p:nvSpPr>
          <p:cNvPr id="12" name="Text 10"/>
          <p:cNvSpPr/>
          <p:nvPr/>
        </p:nvSpPr>
        <p:spPr>
          <a:xfrm>
            <a:off x="4502048" y="3048000"/>
            <a:ext cx="3187598" cy="781050"/>
          </a:xfrm>
          <a:prstGeom prst="rect">
            <a:avLst/>
          </a:prstGeom>
          <a:noFill/>
          <a:ln/>
        </p:spPr>
        <p:txBody>
          <a:bodyPr wrap="square" rtlCol="0" anchor="t"/>
          <a:lstStyle/>
          <a:p>
            <a:pPr indent="0" marL="0">
              <a:lnSpc>
                <a:spcPct val="130000"/>
              </a:lnSpc>
              <a:buNone/>
            </a:pPr>
            <a:r>
              <a:rPr lang="en-US" sz="1300" dirty="0">
                <a:solidFill>
                  <a:srgbClr val="3D3D3D"/>
                </a:solidFill>
                <a:latin typeface="Arial" pitchFamily="34" charset="0"/>
                <a:ea typeface="Arial" pitchFamily="34" charset="-122"/>
                <a:cs typeface="Arial" pitchFamily="34" charset="-120"/>
              </a:rPr>
              <a:t>The account is never decommissioned or restricted after departure. It still works.</a:t>
            </a:r>
            <a:endParaRPr lang="en-US" sz="1300" dirty="0"/>
          </a:p>
        </p:txBody>
      </p:sp>
      <p:sp>
        <p:nvSpPr>
          <p:cNvPr id="13" name="Shape 11"/>
          <p:cNvSpPr/>
          <p:nvPr/>
        </p:nvSpPr>
        <p:spPr>
          <a:xfrm>
            <a:off x="8089697" y="2286000"/>
            <a:ext cx="3568598" cy="28575"/>
          </a:xfrm>
          <a:prstGeom prst="rect">
            <a:avLst/>
          </a:prstGeom>
          <a:solidFill>
            <a:srgbClr val="1A1A1A"/>
          </a:solidFill>
          <a:ln/>
        </p:spPr>
      </p:sp>
      <p:sp>
        <p:nvSpPr>
          <p:cNvPr id="14" name="Shape 12"/>
          <p:cNvSpPr/>
          <p:nvPr/>
        </p:nvSpPr>
        <p:spPr>
          <a:xfrm>
            <a:off x="8089697" y="2314575"/>
            <a:ext cx="3568598" cy="1590675"/>
          </a:xfrm>
          <a:prstGeom prst="rect">
            <a:avLst/>
          </a:prstGeom>
          <a:solidFill>
            <a:srgbClr val="F2F2F2"/>
          </a:solidFill>
          <a:ln w="6350">
            <a:solidFill>
              <a:srgbClr val="F2F2F2"/>
            </a:solidFill>
            <a:prstDash val="solid"/>
          </a:ln>
        </p:spPr>
      </p:sp>
      <p:sp>
        <p:nvSpPr>
          <p:cNvPr id="15" name="Text 13"/>
          <p:cNvSpPr/>
          <p:nvPr/>
        </p:nvSpPr>
        <p:spPr>
          <a:xfrm>
            <a:off x="8280197" y="2438400"/>
            <a:ext cx="3187598"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3. The device is compromised</a:t>
            </a:r>
            <a:endParaRPr lang="en-US" sz="2000" dirty="0"/>
          </a:p>
        </p:txBody>
      </p:sp>
      <p:sp>
        <p:nvSpPr>
          <p:cNvPr id="16" name="Text 14"/>
          <p:cNvSpPr/>
          <p:nvPr/>
        </p:nvSpPr>
        <p:spPr>
          <a:xfrm>
            <a:off x="8280197" y="3048000"/>
            <a:ext cx="3187598" cy="781050"/>
          </a:xfrm>
          <a:prstGeom prst="rect">
            <a:avLst/>
          </a:prstGeom>
          <a:noFill/>
          <a:ln/>
        </p:spPr>
        <p:txBody>
          <a:bodyPr wrap="square" rtlCol="0" anchor="t"/>
          <a:lstStyle/>
          <a:p>
            <a:pPr indent="0" marL="0">
              <a:lnSpc>
                <a:spcPct val="130000"/>
              </a:lnSpc>
              <a:buNone/>
            </a:pPr>
            <a:r>
              <a:rPr lang="en-US" sz="1300" dirty="0">
                <a:solidFill>
                  <a:srgbClr val="3D3D3D"/>
                </a:solidFill>
                <a:latin typeface="Arial" pitchFamily="34" charset="0"/>
                <a:ea typeface="Arial" pitchFamily="34" charset="-122"/>
                <a:cs typeface="Arial" pitchFamily="34" charset="-120"/>
              </a:rPr>
              <a:t>Later, info-stealer malware hits that personal laptop and harvests the saved admin credential.</a:t>
            </a:r>
            <a:endParaRPr lang="en-US" sz="1300" dirty="0"/>
          </a:p>
        </p:txBody>
      </p:sp>
      <p:sp>
        <p:nvSpPr>
          <p:cNvPr id="17" name="Shape 15"/>
          <p:cNvSpPr/>
          <p:nvPr/>
        </p:nvSpPr>
        <p:spPr>
          <a:xfrm>
            <a:off x="533400" y="4095750"/>
            <a:ext cx="5457673" cy="28575"/>
          </a:xfrm>
          <a:prstGeom prst="rect">
            <a:avLst/>
          </a:prstGeom>
          <a:solidFill>
            <a:srgbClr val="1A1A1A"/>
          </a:solidFill>
          <a:ln/>
        </p:spPr>
      </p:sp>
      <p:sp>
        <p:nvSpPr>
          <p:cNvPr id="18" name="Shape 16"/>
          <p:cNvSpPr/>
          <p:nvPr/>
        </p:nvSpPr>
        <p:spPr>
          <a:xfrm>
            <a:off x="533400" y="4124325"/>
            <a:ext cx="5457673" cy="1590675"/>
          </a:xfrm>
          <a:prstGeom prst="rect">
            <a:avLst/>
          </a:prstGeom>
          <a:solidFill>
            <a:srgbClr val="F2F2F2"/>
          </a:solidFill>
          <a:ln w="6350">
            <a:solidFill>
              <a:srgbClr val="F2F2F2"/>
            </a:solidFill>
            <a:prstDash val="solid"/>
          </a:ln>
        </p:spPr>
      </p:sp>
      <p:sp>
        <p:nvSpPr>
          <p:cNvPr id="19" name="Text 17"/>
          <p:cNvSpPr/>
          <p:nvPr/>
        </p:nvSpPr>
        <p:spPr>
          <a:xfrm>
            <a:off x="723900" y="424815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4. Direct login, no MFA</a:t>
            </a:r>
            <a:endParaRPr lang="en-US" sz="2000" dirty="0"/>
          </a:p>
        </p:txBody>
      </p:sp>
      <p:sp>
        <p:nvSpPr>
          <p:cNvPr id="20" name="Text 18"/>
          <p:cNvSpPr/>
          <p:nvPr/>
        </p:nvSpPr>
        <p:spPr>
          <a:xfrm>
            <a:off x="723900" y="4600575"/>
            <a:ext cx="5076673" cy="1038225"/>
          </a:xfrm>
          <a:prstGeom prst="rect">
            <a:avLst/>
          </a:prstGeom>
          <a:noFill/>
          <a:ln/>
        </p:spPr>
        <p:txBody>
          <a:bodyPr wrap="square" rtlCol="0" anchor="t"/>
          <a:lstStyle/>
          <a:p>
            <a:pPr indent="0" marL="0">
              <a:lnSpc>
                <a:spcPct val="130000"/>
              </a:lnSpc>
              <a:buNone/>
            </a:pPr>
            <a:r>
              <a:rPr lang="en-US" sz="1300" dirty="0">
                <a:solidFill>
                  <a:srgbClr val="3D3D3D"/>
                </a:solidFill>
                <a:latin typeface="Arial" pitchFamily="34" charset="0"/>
                <a:ea typeface="Arial" pitchFamily="34" charset="-122"/>
                <a:cs typeface="Arial" pitchFamily="34" charset="-120"/>
              </a:rPr>
              <a:t>The threat actor uses the valid, stolen credential to log in as admin, directly. No second factor stood in the way.</a:t>
            </a:r>
            <a:endParaRPr lang="en-US" sz="1300" dirty="0"/>
          </a:p>
        </p:txBody>
      </p:sp>
      <p:sp>
        <p:nvSpPr>
          <p:cNvPr id="21" name="Shape 19"/>
          <p:cNvSpPr/>
          <p:nvPr/>
        </p:nvSpPr>
        <p:spPr>
          <a:xfrm>
            <a:off x="6200623" y="4095750"/>
            <a:ext cx="5457673" cy="28575"/>
          </a:xfrm>
          <a:prstGeom prst="rect">
            <a:avLst/>
          </a:prstGeom>
          <a:solidFill>
            <a:srgbClr val="1A1A1A"/>
          </a:solidFill>
          <a:ln/>
        </p:spPr>
      </p:sp>
      <p:sp>
        <p:nvSpPr>
          <p:cNvPr id="22" name="Shape 20"/>
          <p:cNvSpPr/>
          <p:nvPr/>
        </p:nvSpPr>
        <p:spPr>
          <a:xfrm>
            <a:off x="6200623" y="4124325"/>
            <a:ext cx="5457673" cy="1590675"/>
          </a:xfrm>
          <a:prstGeom prst="rect">
            <a:avLst/>
          </a:prstGeom>
          <a:solidFill>
            <a:srgbClr val="F2F2F2"/>
          </a:solidFill>
          <a:ln w="6350">
            <a:solidFill>
              <a:srgbClr val="F2F2F2"/>
            </a:solidFill>
            <a:prstDash val="solid"/>
          </a:ln>
        </p:spPr>
      </p:sp>
      <p:sp>
        <p:nvSpPr>
          <p:cNvPr id="23" name="Text 21"/>
          <p:cNvSpPr/>
          <p:nvPr/>
        </p:nvSpPr>
        <p:spPr>
          <a:xfrm>
            <a:off x="6391123" y="424815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5. A capped escalation attempt</a:t>
            </a:r>
            <a:endParaRPr lang="en-US" sz="2000" dirty="0"/>
          </a:p>
        </p:txBody>
      </p:sp>
      <p:sp>
        <p:nvSpPr>
          <p:cNvPr id="24" name="Text 22"/>
          <p:cNvSpPr/>
          <p:nvPr/>
        </p:nvSpPr>
        <p:spPr>
          <a:xfrm>
            <a:off x="6391123" y="4600575"/>
            <a:ext cx="5076673" cy="1038225"/>
          </a:xfrm>
          <a:prstGeom prst="rect">
            <a:avLst/>
          </a:prstGeom>
          <a:noFill/>
          <a:ln/>
        </p:spPr>
        <p:txBody>
          <a:bodyPr wrap="square" rtlCol="0" anchor="t"/>
          <a:lstStyle/>
          <a:p>
            <a:pPr indent="0" marL="0">
              <a:lnSpc>
                <a:spcPct val="130000"/>
              </a:lnSpc>
              <a:buNone/>
            </a:pPr>
            <a:r>
              <a:rPr lang="en-US" sz="1300" dirty="0">
                <a:solidFill>
                  <a:srgbClr val="3D3D3D"/>
                </a:solidFill>
                <a:latin typeface="Arial" pitchFamily="34" charset="0"/>
                <a:ea typeface="Arial" pitchFamily="34" charset="-122"/>
                <a:cs typeface="Arial" pitchFamily="34" charset="-120"/>
              </a:rPr>
              <a:t>Already an admin, they try to exploit a known flaw to go further. It partially works, but doesn’t reach the server underneath. Low capability — they stop.</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ROOT CAUSE · TIMELINE</a:t>
            </a:r>
            <a:endParaRPr lang="en-US" sz="1600" dirty="0"/>
          </a:p>
        </p:txBody>
      </p:sp>
      <p:sp>
        <p:nvSpPr>
          <p:cNvPr id="4" name="Text 2"/>
          <p:cNvSpPr/>
          <p:nvPr/>
        </p:nvSpPr>
        <p:spPr>
          <a:xfrm>
            <a:off x="533400" y="990600"/>
            <a:ext cx="11124895" cy="97155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Relative timeline — our own material stays Day 0 / Day N, never a calendar date</a:t>
            </a:r>
            <a:endParaRPr lang="en-US" sz="3000" dirty="0"/>
          </a:p>
        </p:txBody>
      </p:sp>
      <p:sp>
        <p:nvSpPr>
          <p:cNvPr id="5" name="Shape 3"/>
          <p:cNvSpPr/>
          <p:nvPr/>
        </p:nvSpPr>
        <p:spPr>
          <a:xfrm>
            <a:off x="628650" y="2933700"/>
            <a:ext cx="10934395" cy="0"/>
          </a:xfrm>
          <a:prstGeom prst="line">
            <a:avLst/>
          </a:prstGeom>
          <a:noFill/>
          <a:ln w="19050">
            <a:solidFill>
              <a:srgbClr val="D8D8D8"/>
            </a:solidFill>
            <a:prstDash val="solid"/>
          </a:ln>
        </p:spPr>
      </p:sp>
      <p:sp>
        <p:nvSpPr>
          <p:cNvPr id="6" name="Shape 4"/>
          <p:cNvSpPr/>
          <p:nvPr/>
        </p:nvSpPr>
        <p:spPr>
          <a:xfrm>
            <a:off x="581025" y="2886075"/>
            <a:ext cx="95250" cy="95250"/>
          </a:xfrm>
          <a:prstGeom prst="ellipse">
            <a:avLst/>
          </a:prstGeom>
          <a:solidFill>
            <a:srgbClr val="D04A02"/>
          </a:solidFill>
          <a:ln/>
        </p:spPr>
      </p:sp>
      <p:sp>
        <p:nvSpPr>
          <p:cNvPr id="7" name="Text 5"/>
          <p:cNvSpPr/>
          <p:nvPr/>
        </p:nvSpPr>
        <p:spPr>
          <a:xfrm>
            <a:off x="628650" y="2609850"/>
            <a:ext cx="1312127" cy="228600"/>
          </a:xfrm>
          <a:prstGeom prst="rect">
            <a:avLst/>
          </a:prstGeom>
          <a:noFill/>
          <a:ln/>
        </p:spPr>
        <p:txBody>
          <a:bodyPr wrap="square" rtlCol="0" anchor="b"/>
          <a:lstStyle/>
          <a:p>
            <a:pPr algn="l" indent="0" marL="0">
              <a:buNone/>
            </a:pPr>
            <a:r>
              <a:rPr lang="en-US" sz="1100" b="1" dirty="0">
                <a:solidFill>
                  <a:srgbClr val="1A1A1A"/>
                </a:solidFill>
                <a:latin typeface="Arial" pitchFamily="34" charset="0"/>
                <a:ea typeface="Arial" pitchFamily="34" charset="-122"/>
                <a:cs typeface="Arial" pitchFamily="34" charset="-120"/>
              </a:rPr>
              <a:t>Admin access granted</a:t>
            </a:r>
            <a:endParaRPr lang="en-US" sz="1100" dirty="0"/>
          </a:p>
        </p:txBody>
      </p:sp>
      <p:sp>
        <p:nvSpPr>
          <p:cNvPr id="8" name="Text 6"/>
          <p:cNvSpPr/>
          <p:nvPr/>
        </p:nvSpPr>
        <p:spPr>
          <a:xfrm>
            <a:off x="628650" y="3048000"/>
            <a:ext cx="1312127" cy="666750"/>
          </a:xfrm>
          <a:prstGeom prst="rect">
            <a:avLst/>
          </a:prstGeom>
          <a:noFill/>
          <a:ln/>
        </p:spPr>
        <p:txBody>
          <a:bodyPr wrap="square" rtlCol="0" anchor="t"/>
          <a:lstStyle/>
          <a:p>
            <a:pPr algn="l" indent="0" marL="0">
              <a:lnSpc>
                <a:spcPct val="120000"/>
              </a:lnSpc>
              <a:buNone/>
            </a:pPr>
            <a:r>
              <a:rPr lang="en-US" sz="1100" dirty="0">
                <a:solidFill>
                  <a:srgbClr val="7A7A7A"/>
                </a:solidFill>
                <a:latin typeface="Arial" pitchFamily="34" charset="0"/>
                <a:ea typeface="Arial" pitchFamily="34" charset="-122"/>
                <a:cs typeface="Arial" pitchFamily="34" charset="-120"/>
              </a:rPr>
              <a:t>Credential saved in a personal browser.</a:t>
            </a:r>
            <a:endParaRPr lang="en-US" sz="1100" dirty="0"/>
          </a:p>
        </p:txBody>
      </p:sp>
      <p:sp>
        <p:nvSpPr>
          <p:cNvPr id="9" name="Shape 7"/>
          <p:cNvSpPr/>
          <p:nvPr/>
        </p:nvSpPr>
        <p:spPr>
          <a:xfrm>
            <a:off x="2767904" y="2886075"/>
            <a:ext cx="95250" cy="95250"/>
          </a:xfrm>
          <a:prstGeom prst="ellipse">
            <a:avLst/>
          </a:prstGeom>
          <a:solidFill>
            <a:srgbClr val="D04A02"/>
          </a:solidFill>
          <a:ln/>
        </p:spPr>
      </p:sp>
      <p:sp>
        <p:nvSpPr>
          <p:cNvPr id="10" name="Text 8"/>
          <p:cNvSpPr/>
          <p:nvPr/>
        </p:nvSpPr>
        <p:spPr>
          <a:xfrm>
            <a:off x="2159465" y="2609850"/>
            <a:ext cx="1312127" cy="228600"/>
          </a:xfrm>
          <a:prstGeom prst="rect">
            <a:avLst/>
          </a:prstGeom>
          <a:noFill/>
          <a:ln/>
        </p:spPr>
        <p:txBody>
          <a:bodyPr wrap="square" rtlCol="0" anchor="b"/>
          <a:lstStyle/>
          <a:p>
            <a:pPr algn="ctr" indent="0" marL="0">
              <a:buNone/>
            </a:pPr>
            <a:r>
              <a:rPr lang="en-US" sz="1100" b="1" dirty="0">
                <a:solidFill>
                  <a:srgbClr val="1A1A1A"/>
                </a:solidFill>
                <a:latin typeface="Arial" pitchFamily="34" charset="0"/>
                <a:ea typeface="Arial" pitchFamily="34" charset="-122"/>
                <a:cs typeface="Arial" pitchFamily="34" charset="-120"/>
              </a:rPr>
              <a:t>Staff departs</a:t>
            </a:r>
            <a:endParaRPr lang="en-US" sz="1100" dirty="0"/>
          </a:p>
        </p:txBody>
      </p:sp>
      <p:sp>
        <p:nvSpPr>
          <p:cNvPr id="11" name="Text 9"/>
          <p:cNvSpPr/>
          <p:nvPr/>
        </p:nvSpPr>
        <p:spPr>
          <a:xfrm>
            <a:off x="2159465" y="3048000"/>
            <a:ext cx="1312127" cy="666750"/>
          </a:xfrm>
          <a:prstGeom prst="rect">
            <a:avLst/>
          </a:prstGeom>
          <a:noFill/>
          <a:ln/>
        </p:spPr>
        <p:txBody>
          <a:bodyPr wrap="square" rtlCol="0" anchor="t"/>
          <a:lstStyle/>
          <a:p>
            <a:pPr algn="ctr" indent="0" marL="0">
              <a:lnSpc>
                <a:spcPct val="120000"/>
              </a:lnSpc>
              <a:buNone/>
            </a:pPr>
            <a:r>
              <a:rPr lang="en-US" sz="1100" dirty="0">
                <a:solidFill>
                  <a:srgbClr val="7A7A7A"/>
                </a:solidFill>
                <a:latin typeface="Arial" pitchFamily="34" charset="0"/>
                <a:ea typeface="Arial" pitchFamily="34" charset="-122"/>
                <a:cs typeface="Arial" pitchFamily="34" charset="-120"/>
              </a:rPr>
              <a:t>Account never decommissioned.</a:t>
            </a:r>
            <a:endParaRPr lang="en-US" sz="1100" dirty="0"/>
          </a:p>
        </p:txBody>
      </p:sp>
      <p:sp>
        <p:nvSpPr>
          <p:cNvPr id="12" name="Shape 10"/>
          <p:cNvSpPr/>
          <p:nvPr/>
        </p:nvSpPr>
        <p:spPr>
          <a:xfrm>
            <a:off x="4954783" y="2886075"/>
            <a:ext cx="95250" cy="95250"/>
          </a:xfrm>
          <a:prstGeom prst="ellipse">
            <a:avLst/>
          </a:prstGeom>
          <a:solidFill>
            <a:srgbClr val="D04A02"/>
          </a:solidFill>
          <a:ln/>
        </p:spPr>
      </p:sp>
      <p:sp>
        <p:nvSpPr>
          <p:cNvPr id="13" name="Text 11"/>
          <p:cNvSpPr/>
          <p:nvPr/>
        </p:nvSpPr>
        <p:spPr>
          <a:xfrm>
            <a:off x="4346344" y="2609850"/>
            <a:ext cx="1312127" cy="228600"/>
          </a:xfrm>
          <a:prstGeom prst="rect">
            <a:avLst/>
          </a:prstGeom>
          <a:noFill/>
          <a:ln/>
        </p:spPr>
        <p:txBody>
          <a:bodyPr wrap="square" rtlCol="0" anchor="b"/>
          <a:lstStyle/>
          <a:p>
            <a:pPr algn="ctr" indent="0" marL="0">
              <a:buNone/>
            </a:pPr>
            <a:r>
              <a:rPr lang="en-US" sz="1100" b="1" dirty="0">
                <a:solidFill>
                  <a:srgbClr val="1A1A1A"/>
                </a:solidFill>
                <a:latin typeface="Arial" pitchFamily="34" charset="0"/>
                <a:ea typeface="Arial" pitchFamily="34" charset="-122"/>
                <a:cs typeface="Arial" pitchFamily="34" charset="-120"/>
              </a:rPr>
              <a:t>Device compromised</a:t>
            </a:r>
            <a:endParaRPr lang="en-US" sz="1100" dirty="0"/>
          </a:p>
        </p:txBody>
      </p:sp>
      <p:sp>
        <p:nvSpPr>
          <p:cNvPr id="14" name="Text 12"/>
          <p:cNvSpPr/>
          <p:nvPr/>
        </p:nvSpPr>
        <p:spPr>
          <a:xfrm>
            <a:off x="4346344" y="3048000"/>
            <a:ext cx="1312127" cy="666750"/>
          </a:xfrm>
          <a:prstGeom prst="rect">
            <a:avLst/>
          </a:prstGeom>
          <a:noFill/>
          <a:ln/>
        </p:spPr>
        <p:txBody>
          <a:bodyPr wrap="square" rtlCol="0" anchor="t"/>
          <a:lstStyle/>
          <a:p>
            <a:pPr algn="ctr" indent="0" marL="0">
              <a:lnSpc>
                <a:spcPct val="120000"/>
              </a:lnSpc>
              <a:buNone/>
            </a:pPr>
            <a:r>
              <a:rPr lang="en-US" sz="1100" dirty="0">
                <a:solidFill>
                  <a:srgbClr val="7A7A7A"/>
                </a:solidFill>
                <a:latin typeface="Arial" pitchFamily="34" charset="0"/>
                <a:ea typeface="Arial" pitchFamily="34" charset="-122"/>
                <a:cs typeface="Arial" pitchFamily="34" charset="-120"/>
              </a:rPr>
              <a:t>Personal laptop, info-stealer malware.</a:t>
            </a:r>
            <a:endParaRPr lang="en-US" sz="1100" dirty="0"/>
          </a:p>
        </p:txBody>
      </p:sp>
      <p:sp>
        <p:nvSpPr>
          <p:cNvPr id="15" name="Shape 13"/>
          <p:cNvSpPr/>
          <p:nvPr/>
        </p:nvSpPr>
        <p:spPr>
          <a:xfrm>
            <a:off x="7141662" y="2886075"/>
            <a:ext cx="95250" cy="95250"/>
          </a:xfrm>
          <a:prstGeom prst="ellipse">
            <a:avLst/>
          </a:prstGeom>
          <a:solidFill>
            <a:srgbClr val="B3261E"/>
          </a:solidFill>
          <a:ln/>
        </p:spPr>
      </p:sp>
      <p:sp>
        <p:nvSpPr>
          <p:cNvPr id="16" name="Text 14"/>
          <p:cNvSpPr/>
          <p:nvPr/>
        </p:nvSpPr>
        <p:spPr>
          <a:xfrm>
            <a:off x="6533223" y="2609850"/>
            <a:ext cx="1312127" cy="228600"/>
          </a:xfrm>
          <a:prstGeom prst="rect">
            <a:avLst/>
          </a:prstGeom>
          <a:noFill/>
          <a:ln/>
        </p:spPr>
        <p:txBody>
          <a:bodyPr wrap="square" rtlCol="0" anchor="b"/>
          <a:lstStyle/>
          <a:p>
            <a:pPr algn="ctr" indent="0" marL="0">
              <a:buNone/>
            </a:pPr>
            <a:r>
              <a:rPr lang="en-US" sz="1100" b="1" dirty="0">
                <a:solidFill>
                  <a:srgbClr val="1A1A1A"/>
                </a:solidFill>
                <a:latin typeface="Arial" pitchFamily="34" charset="0"/>
                <a:ea typeface="Arial" pitchFamily="34" charset="-122"/>
                <a:cs typeface="Arial" pitchFamily="34" charset="-120"/>
              </a:rPr>
              <a:t>Day 0</a:t>
            </a:r>
            <a:endParaRPr lang="en-US" sz="1100" dirty="0"/>
          </a:p>
        </p:txBody>
      </p:sp>
      <p:sp>
        <p:nvSpPr>
          <p:cNvPr id="17" name="Text 15"/>
          <p:cNvSpPr/>
          <p:nvPr/>
        </p:nvSpPr>
        <p:spPr>
          <a:xfrm>
            <a:off x="6533223" y="3048000"/>
            <a:ext cx="1312127" cy="666750"/>
          </a:xfrm>
          <a:prstGeom prst="rect">
            <a:avLst/>
          </a:prstGeom>
          <a:noFill/>
          <a:ln/>
        </p:spPr>
        <p:txBody>
          <a:bodyPr wrap="square" rtlCol="0" anchor="t"/>
          <a:lstStyle/>
          <a:p>
            <a:pPr algn="ctr" indent="0" marL="0">
              <a:lnSpc>
                <a:spcPct val="120000"/>
              </a:lnSpc>
              <a:buNone/>
            </a:pPr>
            <a:r>
              <a:rPr lang="en-US" sz="1100" dirty="0">
                <a:solidFill>
                  <a:srgbClr val="7A7A7A"/>
                </a:solidFill>
                <a:latin typeface="Arial" pitchFamily="34" charset="0"/>
                <a:ea typeface="Arial" pitchFamily="34" charset="-122"/>
                <a:cs typeface="Arial" pitchFamily="34" charset="-120"/>
              </a:rPr>
              <a:t>Direct admin login, no MFA.</a:t>
            </a:r>
            <a:endParaRPr lang="en-US" sz="1100" dirty="0"/>
          </a:p>
        </p:txBody>
      </p:sp>
      <p:sp>
        <p:nvSpPr>
          <p:cNvPr id="18" name="Shape 16"/>
          <p:cNvSpPr/>
          <p:nvPr/>
        </p:nvSpPr>
        <p:spPr>
          <a:xfrm>
            <a:off x="9328541" y="2886075"/>
            <a:ext cx="95250" cy="95250"/>
          </a:xfrm>
          <a:prstGeom prst="ellipse">
            <a:avLst/>
          </a:prstGeom>
          <a:solidFill>
            <a:srgbClr val="B3261E"/>
          </a:solidFill>
          <a:ln/>
        </p:spPr>
      </p:sp>
      <p:sp>
        <p:nvSpPr>
          <p:cNvPr id="19" name="Text 17"/>
          <p:cNvSpPr/>
          <p:nvPr/>
        </p:nvSpPr>
        <p:spPr>
          <a:xfrm>
            <a:off x="8720102" y="2609850"/>
            <a:ext cx="1312127" cy="228600"/>
          </a:xfrm>
          <a:prstGeom prst="rect">
            <a:avLst/>
          </a:prstGeom>
          <a:noFill/>
          <a:ln/>
        </p:spPr>
        <p:txBody>
          <a:bodyPr wrap="square" rtlCol="0" anchor="b"/>
          <a:lstStyle/>
          <a:p>
            <a:pPr algn="ctr" indent="0" marL="0">
              <a:buNone/>
            </a:pPr>
            <a:r>
              <a:rPr lang="en-US" sz="1100" b="1" dirty="0">
                <a:solidFill>
                  <a:srgbClr val="1A1A1A"/>
                </a:solidFill>
                <a:latin typeface="Arial" pitchFamily="34" charset="0"/>
                <a:ea typeface="Arial" pitchFamily="34" charset="-122"/>
                <a:cs typeface="Arial" pitchFamily="34" charset="-120"/>
              </a:rPr>
              <a:t>Escalation attempt</a:t>
            </a:r>
            <a:endParaRPr lang="en-US" sz="1100" dirty="0"/>
          </a:p>
        </p:txBody>
      </p:sp>
      <p:sp>
        <p:nvSpPr>
          <p:cNvPr id="20" name="Text 18"/>
          <p:cNvSpPr/>
          <p:nvPr/>
        </p:nvSpPr>
        <p:spPr>
          <a:xfrm>
            <a:off x="8720102" y="3048000"/>
            <a:ext cx="1312127" cy="666750"/>
          </a:xfrm>
          <a:prstGeom prst="rect">
            <a:avLst/>
          </a:prstGeom>
          <a:noFill/>
          <a:ln/>
        </p:spPr>
        <p:txBody>
          <a:bodyPr wrap="square" rtlCol="0" anchor="t"/>
          <a:lstStyle/>
          <a:p>
            <a:pPr algn="ctr" indent="0" marL="0">
              <a:lnSpc>
                <a:spcPct val="120000"/>
              </a:lnSpc>
              <a:buNone/>
            </a:pPr>
            <a:r>
              <a:rPr lang="en-US" sz="1100" dirty="0">
                <a:solidFill>
                  <a:srgbClr val="7A7A7A"/>
                </a:solidFill>
                <a:latin typeface="Arial" pitchFamily="34" charset="0"/>
                <a:ea typeface="Arial" pitchFamily="34" charset="-122"/>
                <a:cs typeface="Arial" pitchFamily="34" charset="-120"/>
              </a:rPr>
              <a:t>Capped short of infrastructure RCE.</a:t>
            </a:r>
            <a:endParaRPr lang="en-US" sz="1100" dirty="0"/>
          </a:p>
        </p:txBody>
      </p:sp>
      <p:sp>
        <p:nvSpPr>
          <p:cNvPr id="21" name="Shape 19"/>
          <p:cNvSpPr/>
          <p:nvPr/>
        </p:nvSpPr>
        <p:spPr>
          <a:xfrm>
            <a:off x="11515420" y="2886075"/>
            <a:ext cx="95250" cy="95250"/>
          </a:xfrm>
          <a:prstGeom prst="ellipse">
            <a:avLst/>
          </a:prstGeom>
          <a:solidFill>
            <a:srgbClr val="D04A02"/>
          </a:solidFill>
          <a:ln/>
        </p:spPr>
      </p:sp>
      <p:sp>
        <p:nvSpPr>
          <p:cNvPr id="22" name="Text 20"/>
          <p:cNvSpPr/>
          <p:nvPr/>
        </p:nvSpPr>
        <p:spPr>
          <a:xfrm>
            <a:off x="10250918" y="2609850"/>
            <a:ext cx="1312127" cy="228600"/>
          </a:xfrm>
          <a:prstGeom prst="rect">
            <a:avLst/>
          </a:prstGeom>
          <a:noFill/>
          <a:ln/>
        </p:spPr>
        <p:txBody>
          <a:bodyPr wrap="square" rtlCol="0" anchor="b"/>
          <a:lstStyle/>
          <a:p>
            <a:pPr algn="r" indent="0" marL="0">
              <a:buNone/>
            </a:pPr>
            <a:r>
              <a:rPr lang="en-US" sz="1100" b="1" dirty="0">
                <a:solidFill>
                  <a:srgbClr val="1A1A1A"/>
                </a:solidFill>
                <a:latin typeface="Arial" pitchFamily="34" charset="0"/>
                <a:ea typeface="Arial" pitchFamily="34" charset="-122"/>
                <a:cs typeface="Arial" pitchFamily="34" charset="-120"/>
              </a:rPr>
              <a:t>Discovery</a:t>
            </a:r>
            <a:endParaRPr lang="en-US" sz="1100" dirty="0"/>
          </a:p>
        </p:txBody>
      </p:sp>
      <p:sp>
        <p:nvSpPr>
          <p:cNvPr id="23" name="Text 21"/>
          <p:cNvSpPr/>
          <p:nvPr/>
        </p:nvSpPr>
        <p:spPr>
          <a:xfrm>
            <a:off x="10250918" y="3048000"/>
            <a:ext cx="1312127" cy="666750"/>
          </a:xfrm>
          <a:prstGeom prst="rect">
            <a:avLst/>
          </a:prstGeom>
          <a:noFill/>
          <a:ln/>
        </p:spPr>
        <p:txBody>
          <a:bodyPr wrap="square" rtlCol="0" anchor="t"/>
          <a:lstStyle/>
          <a:p>
            <a:pPr algn="r" indent="0" marL="0">
              <a:lnSpc>
                <a:spcPct val="120000"/>
              </a:lnSpc>
              <a:buNone/>
            </a:pPr>
            <a:r>
              <a:rPr lang="en-US" sz="1100" dirty="0">
                <a:solidFill>
                  <a:srgbClr val="7A7A7A"/>
                </a:solidFill>
                <a:latin typeface="Arial" pitchFamily="34" charset="0"/>
                <a:ea typeface="Arial" pitchFamily="34" charset="-122"/>
                <a:cs typeface="Arial" pitchFamily="34" charset="-120"/>
              </a:rPr>
              <a:t>Found and contained.</a:t>
            </a:r>
            <a:endParaRPr lang="en-US" sz="1100" dirty="0"/>
          </a:p>
        </p:txBody>
      </p:sp>
      <p:sp>
        <p:nvSpPr>
          <p:cNvPr id="24" name="Text 22"/>
          <p:cNvSpPr/>
          <p:nvPr/>
        </p:nvSpPr>
        <p:spPr>
          <a:xfrm>
            <a:off x="533400" y="4286250"/>
            <a:ext cx="11124895" cy="262255"/>
          </a:xfrm>
          <a:prstGeom prst="rect">
            <a:avLst/>
          </a:prstGeom>
          <a:noFill/>
          <a:ln/>
        </p:spPr>
        <p:txBody>
          <a:bodyPr wrap="square" rtlCol="0" anchor="t"/>
          <a:lstStyle/>
          <a:p>
            <a:pPr indent="0" marL="0">
              <a:lnSpc>
                <a:spcPct val="125000"/>
              </a:lnSpc>
              <a:buNone/>
            </a:pPr>
            <a:r>
              <a:rPr lang="en-US" sz="1400" i="1" dirty="0">
                <a:solidFill>
                  <a:srgbClr val="3D3D3D"/>
                </a:solidFill>
                <a:latin typeface="Arial" pitchFamily="34" charset="0"/>
                <a:ea typeface="Arial" pitchFamily="34" charset="-122"/>
                <a:cs typeface="Arial" pitchFamily="34" charset="-120"/>
              </a:rPr>
              <a:t>One actor, one login, no second factor — the escalation attempt happened after the fact, not as a second way in.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ROOT CAUSE · THE EXPLOIT</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Already an admin — they tried to push further</a:t>
            </a:r>
            <a:endParaRPr lang="en-US" sz="3000" dirty="0"/>
          </a:p>
        </p:txBody>
      </p:sp>
      <p:sp>
        <p:nvSpPr>
          <p:cNvPr id="5" name="Shape 3"/>
          <p:cNvSpPr/>
          <p:nvPr/>
        </p:nvSpPr>
        <p:spPr>
          <a:xfrm>
            <a:off x="533400" y="1847850"/>
            <a:ext cx="3581298" cy="28575"/>
          </a:xfrm>
          <a:prstGeom prst="rect">
            <a:avLst/>
          </a:prstGeom>
          <a:solidFill>
            <a:srgbClr val="D04A02"/>
          </a:solidFill>
          <a:ln/>
        </p:spPr>
      </p:sp>
      <p:sp>
        <p:nvSpPr>
          <p:cNvPr id="6" name="Text 4"/>
          <p:cNvSpPr/>
          <p:nvPr/>
        </p:nvSpPr>
        <p:spPr>
          <a:xfrm>
            <a:off x="533400"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A public CVE</a:t>
            </a:r>
            <a:endParaRPr lang="en-US" sz="3400" dirty="0"/>
          </a:p>
        </p:txBody>
      </p:sp>
      <p:sp>
        <p:nvSpPr>
          <p:cNvPr id="7" name="Text 5"/>
          <p:cNvSpPr/>
          <p:nvPr/>
        </p:nvSpPr>
        <p:spPr>
          <a:xfrm>
            <a:off x="533400"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CVE-2020-14321 — an authenticated "teacher" role escalates to "manager," installs plugins</a:t>
            </a:r>
            <a:endParaRPr lang="en-US" sz="1600" dirty="0"/>
          </a:p>
        </p:txBody>
      </p:sp>
      <p:sp>
        <p:nvSpPr>
          <p:cNvPr id="8" name="Shape 6"/>
          <p:cNvSpPr/>
          <p:nvPr/>
        </p:nvSpPr>
        <p:spPr>
          <a:xfrm>
            <a:off x="4305198" y="1847850"/>
            <a:ext cx="3581298" cy="28575"/>
          </a:xfrm>
          <a:prstGeom prst="rect">
            <a:avLst/>
          </a:prstGeom>
          <a:solidFill>
            <a:srgbClr val="D04A02"/>
          </a:solidFill>
          <a:ln/>
        </p:spPr>
      </p:sp>
      <p:sp>
        <p:nvSpPr>
          <p:cNvPr id="9" name="Text 7"/>
          <p:cNvSpPr/>
          <p:nvPr/>
        </p:nvSpPr>
        <p:spPr>
          <a:xfrm>
            <a:off x="4305198"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After access</a:t>
            </a:r>
            <a:endParaRPr lang="en-US" sz="3400" dirty="0"/>
          </a:p>
        </p:txBody>
      </p:sp>
      <p:sp>
        <p:nvSpPr>
          <p:cNvPr id="10" name="Text 8"/>
          <p:cNvSpPr/>
          <p:nvPr/>
        </p:nvSpPr>
        <p:spPr>
          <a:xfrm>
            <a:off x="4305198"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tried only after the actor already had admin access via the stolen credential</a:t>
            </a:r>
            <a:endParaRPr lang="en-US" sz="1600" dirty="0"/>
          </a:p>
        </p:txBody>
      </p:sp>
      <p:sp>
        <p:nvSpPr>
          <p:cNvPr id="11" name="Shape 9"/>
          <p:cNvSpPr/>
          <p:nvPr/>
        </p:nvSpPr>
        <p:spPr>
          <a:xfrm>
            <a:off x="8076997" y="1847850"/>
            <a:ext cx="3581298" cy="28575"/>
          </a:xfrm>
          <a:prstGeom prst="rect">
            <a:avLst/>
          </a:prstGeom>
          <a:solidFill>
            <a:srgbClr val="D04A02"/>
          </a:solidFill>
          <a:ln/>
        </p:spPr>
      </p:sp>
      <p:sp>
        <p:nvSpPr>
          <p:cNvPr id="12" name="Text 10"/>
          <p:cNvSpPr/>
          <p:nvPr/>
        </p:nvSpPr>
        <p:spPr>
          <a:xfrm>
            <a:off x="8076997" y="1981200"/>
            <a:ext cx="3581298" cy="533400"/>
          </a:xfrm>
          <a:prstGeom prst="rect">
            <a:avLst/>
          </a:prstGeom>
          <a:noFill/>
          <a:ln/>
        </p:spPr>
        <p:txBody>
          <a:bodyPr wrap="square" rtlCol="0" anchor="ctr"/>
          <a:lstStyle/>
          <a:p>
            <a:pPr indent="0" marL="0">
              <a:buNone/>
            </a:pPr>
            <a:r>
              <a:rPr lang="en-US" sz="3400" dirty="0">
                <a:solidFill>
                  <a:srgbClr val="1A1A1A"/>
                </a:solidFill>
                <a:latin typeface="Georgia" pitchFamily="34" charset="0"/>
                <a:ea typeface="Georgia" pitchFamily="34" charset="-122"/>
                <a:cs typeface="Georgia" pitchFamily="34" charset="-120"/>
              </a:rPr>
              <a:t>No RCE</a:t>
            </a:r>
            <a:endParaRPr lang="en-US" sz="3400" dirty="0"/>
          </a:p>
        </p:txBody>
      </p:sp>
      <p:sp>
        <p:nvSpPr>
          <p:cNvPr id="13" name="Text 11"/>
          <p:cNvSpPr/>
          <p:nvPr/>
        </p:nvSpPr>
        <p:spPr>
          <a:xfrm>
            <a:off x="8076997" y="2571750"/>
            <a:ext cx="3581298" cy="1028700"/>
          </a:xfrm>
          <a:prstGeom prst="rect">
            <a:avLst/>
          </a:prstGeom>
          <a:noFill/>
          <a:ln/>
        </p:spPr>
        <p:txBody>
          <a:bodyPr wrap="square" rtlCol="0" anchor="t"/>
          <a:lstStyle/>
          <a:p>
            <a:pPr indent="0" marL="0">
              <a:lnSpc>
                <a:spcPct val="130000"/>
              </a:lnSpc>
              <a:buNone/>
            </a:pPr>
            <a:r>
              <a:rPr lang="en-US" sz="1600" dirty="0">
                <a:solidFill>
                  <a:srgbClr val="7A7A7A"/>
                </a:solidFill>
                <a:latin typeface="Arial" pitchFamily="34" charset="0"/>
                <a:ea typeface="Arial" pitchFamily="34" charset="-122"/>
                <a:cs typeface="Arial" pitchFamily="34" charset="-120"/>
              </a:rPr>
              <a:t>no remote code execution, no reach into the web server or database underneath</a:t>
            </a:r>
            <a:endParaRPr lang="en-US" sz="1600" dirty="0"/>
          </a:p>
        </p:txBody>
      </p:sp>
      <p:sp>
        <p:nvSpPr>
          <p:cNvPr id="14" name="Text 12"/>
          <p:cNvSpPr/>
          <p:nvPr/>
        </p:nvSpPr>
        <p:spPr>
          <a:xfrm>
            <a:off x="533400" y="3848100"/>
            <a:ext cx="11124895" cy="762000"/>
          </a:xfrm>
          <a:prstGeom prst="rect">
            <a:avLst/>
          </a:prstGeom>
          <a:noFill/>
          <a:ln/>
        </p:spPr>
        <p:txBody>
          <a:bodyPr wrap="square" rtlCol="0" anchor="t"/>
          <a:lstStyle/>
          <a:p>
            <a:pPr marL="342900" indent="-342900">
              <a:lnSpc>
                <a:spcPct val="140000"/>
              </a:lnSpc>
              <a:spcAft>
                <a:spcPts val="1000"/>
              </a:spcAft>
              <a:buSzPct val="100000"/>
              <a:buChar char="—"/>
            </a:pPr>
            <a:r>
              <a:rPr lang="en-US" sz="1500" dirty="0">
                <a:solidFill>
                  <a:srgbClr val="3D3D3D"/>
                </a:solidFill>
                <a:latin typeface="Arial" pitchFamily="34" charset="0"/>
                <a:ea typeface="Arial" pitchFamily="34" charset="-122"/>
                <a:cs typeface="Arial" pitchFamily="34" charset="-120"/>
              </a:rPr>
              <a:t>A more capable actor might have pushed this further. This one didn’t — that ceiling matters as much as the front door when you’re rating a control.</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ROOT CAUSE · SCAN SCOPE</a:t>
            </a:r>
            <a:endParaRPr lang="en-US" sz="1600" dirty="0"/>
          </a:p>
        </p:txBody>
      </p:sp>
      <p:sp>
        <p:nvSpPr>
          <p:cNvPr id="4" name="Text 2"/>
          <p:cNvSpPr/>
          <p:nvPr/>
        </p:nvSpPr>
        <p:spPr>
          <a:xfrm>
            <a:off x="533400" y="990600"/>
            <a:ext cx="11124895" cy="97155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An external vulnerability scan ran days before discovery — and it was never going to catch this</a:t>
            </a:r>
            <a:endParaRPr lang="en-US" sz="3000" dirty="0"/>
          </a:p>
        </p:txBody>
      </p:sp>
      <p:sp>
        <p:nvSpPr>
          <p:cNvPr id="5" name="Shape 3"/>
          <p:cNvSpPr/>
          <p:nvPr/>
        </p:nvSpPr>
        <p:spPr>
          <a:xfrm>
            <a:off x="533400" y="2324100"/>
            <a:ext cx="3429000" cy="28575"/>
          </a:xfrm>
          <a:prstGeom prst="rect">
            <a:avLst/>
          </a:prstGeom>
          <a:solidFill>
            <a:srgbClr val="1A1A1A"/>
          </a:solidFill>
          <a:ln/>
        </p:spPr>
      </p:sp>
      <p:sp>
        <p:nvSpPr>
          <p:cNvPr id="6" name="Shape 4"/>
          <p:cNvSpPr/>
          <p:nvPr/>
        </p:nvSpPr>
        <p:spPr>
          <a:xfrm>
            <a:off x="533400" y="2352675"/>
            <a:ext cx="3429000" cy="3019425"/>
          </a:xfrm>
          <a:prstGeom prst="rect">
            <a:avLst/>
          </a:prstGeom>
          <a:solidFill>
            <a:srgbClr val="F2F2F2"/>
          </a:solidFill>
          <a:ln w="6350">
            <a:solidFill>
              <a:srgbClr val="F2F2F2"/>
            </a:solidFill>
            <a:prstDash val="solid"/>
          </a:ln>
        </p:spPr>
      </p:sp>
      <p:sp>
        <p:nvSpPr>
          <p:cNvPr id="7" name="Text 5"/>
          <p:cNvSpPr/>
          <p:nvPr/>
        </p:nvSpPr>
        <p:spPr>
          <a:xfrm>
            <a:off x="723900" y="2476500"/>
            <a:ext cx="3048000" cy="400050"/>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SPECIMEN — ILLUSTRATIVE SCAN SUMMARY</a:t>
            </a:r>
            <a:endParaRPr lang="en-US" sz="1600" dirty="0"/>
          </a:p>
        </p:txBody>
      </p:sp>
      <p:sp>
        <p:nvSpPr>
          <p:cNvPr id="8" name="Text 6"/>
          <p:cNvSpPr/>
          <p:nvPr/>
        </p:nvSpPr>
        <p:spPr>
          <a:xfrm>
            <a:off x="723900" y="2952750"/>
            <a:ext cx="3048000"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External, unauthenticated scan</a:t>
            </a:r>
            <a:endParaRPr lang="en-US" sz="2000" dirty="0"/>
          </a:p>
        </p:txBody>
      </p:sp>
      <p:sp>
        <p:nvSpPr>
          <p:cNvPr id="9" name="Text 7"/>
          <p:cNvSpPr/>
          <p:nvPr/>
        </p:nvSpPr>
        <p:spPr>
          <a:xfrm>
            <a:off x="723900" y="3562350"/>
            <a:ext cx="3048000" cy="1733550"/>
          </a:xfrm>
          <a:prstGeom prst="rect">
            <a:avLst/>
          </a:prstGeom>
          <a:noFill/>
          <a:ln/>
        </p:spPr>
        <p:txBody>
          <a:bodyPr wrap="square" rtlCol="0" anchor="t"/>
          <a:lstStyle/>
          <a:p>
            <a:pPr indent="0" marL="0">
              <a:lnSpc>
                <a:spcPct val="130000"/>
              </a:lnSpc>
              <a:buNone/>
            </a:pPr>
            <a:r>
              <a:rPr lang="en-US" sz="1400" dirty="0">
                <a:solidFill>
                  <a:srgbClr val="3D3D3D"/>
                </a:solidFill>
                <a:latin typeface="Arial" pitchFamily="34" charset="0"/>
                <a:ea typeface="Arial" pitchFamily="34" charset="-122"/>
                <a:cs typeface="Arial" pitchFamily="34" charset="-120"/>
              </a:rPr>
              <a:t>0 critical</a:t>
            </a:r>
            <a:endParaRPr lang="en-US" sz="1400" dirty="0"/>
          </a:p>
          <a:p>
            <a:pPr indent="0" marL="0">
              <a:lnSpc>
                <a:spcPct val="130000"/>
              </a:lnSpc>
              <a:buNone/>
            </a:pPr>
            <a:r>
              <a:rPr lang="en-US" sz="1400" dirty="0">
                <a:solidFill>
                  <a:srgbClr val="3D3D3D"/>
                </a:solidFill>
                <a:latin typeface="Arial" pitchFamily="34" charset="0"/>
                <a:ea typeface="Arial" pitchFamily="34" charset="-122"/>
                <a:cs typeface="Arial" pitchFamily="34" charset="-120"/>
              </a:rPr>
              <a:t>6 high (outdated web server &amp; TLS library, expired self-signed certificate, missing HSTS)</a:t>
            </a:r>
            <a:endParaRPr lang="en-US" sz="1400" dirty="0"/>
          </a:p>
          <a:p>
            <a:pPr indent="0" marL="0">
              <a:lnSpc>
                <a:spcPct val="130000"/>
              </a:lnSpc>
              <a:buNone/>
            </a:pPr>
            <a:r>
              <a:rPr lang="en-US" sz="1400" dirty="0">
                <a:solidFill>
                  <a:srgbClr val="3D3D3D"/>
                </a:solidFill>
                <a:latin typeface="Arial" pitchFamily="34" charset="0"/>
                <a:ea typeface="Arial" pitchFamily="34" charset="-122"/>
                <a:cs typeface="Arial" pitchFamily="34" charset="-120"/>
              </a:rPr>
              <a:t>8 medium</a:t>
            </a:r>
            <a:endParaRPr lang="en-US" sz="1400" dirty="0"/>
          </a:p>
          <a:p>
            <a:pPr indent="0" marL="0">
              <a:lnSpc>
                <a:spcPct val="130000"/>
              </a:lnSpc>
              <a:buNone/>
            </a:pPr>
            <a:r>
              <a:rPr lang="en-US" sz="1400" dirty="0">
                <a:solidFill>
                  <a:srgbClr val="3D3D3D"/>
                </a:solidFill>
                <a:latin typeface="Arial" pitchFamily="34" charset="0"/>
                <a:ea typeface="Arial" pitchFamily="34" charset="-122"/>
                <a:cs typeface="Arial" pitchFamily="34" charset="-120"/>
              </a:rPr>
              <a:t>No application-logic findings</a:t>
            </a:r>
            <a:endParaRPr lang="en-US" sz="1400" dirty="0"/>
          </a:p>
        </p:txBody>
      </p:sp>
      <p:sp>
        <p:nvSpPr>
          <p:cNvPr id="10" name="Text 8"/>
          <p:cNvSpPr/>
          <p:nvPr/>
        </p:nvSpPr>
        <p:spPr>
          <a:xfrm>
            <a:off x="4248150" y="2324100"/>
            <a:ext cx="7410145" cy="2857500"/>
          </a:xfrm>
          <a:prstGeom prst="rect">
            <a:avLst/>
          </a:prstGeom>
          <a:noFill/>
          <a:ln/>
        </p:spPr>
        <p:txBody>
          <a:bodyPr wrap="square" rtlCol="0" anchor="t"/>
          <a:lstStyle/>
          <a:p>
            <a:pPr marL="342900" indent="-342900">
              <a:lnSpc>
                <a:spcPct val="140000"/>
              </a:lnSpc>
              <a:spcAft>
                <a:spcPts val="1000"/>
              </a:spcAft>
              <a:buSzPct val="100000"/>
              <a:buChar char="—"/>
            </a:pPr>
            <a:r>
              <a:rPr lang="en-US" sz="1500" dirty="0">
                <a:solidFill>
                  <a:srgbClr val="3D3D3D"/>
                </a:solidFill>
                <a:latin typeface="Arial" pitchFamily="34" charset="0"/>
                <a:ea typeface="Arial" pitchFamily="34" charset="-122"/>
                <a:cs typeface="Arial" pitchFamily="34" charset="-120"/>
              </a:rPr>
              <a:t>The scan found real issues — outdated components, a lapsed certificate, missing headers. Worth fixing. None of them was how the actor got in.</a:t>
            </a:r>
            <a:endParaRPr lang="en-US" sz="1500" dirty="0"/>
          </a:p>
          <a:p>
            <a:pPr marL="342900" indent="-342900">
              <a:lnSpc>
                <a:spcPct val="140000"/>
              </a:lnSpc>
              <a:spcAft>
                <a:spcPts val="1000"/>
              </a:spcAft>
              <a:buSzPct val="100000"/>
              <a:buChar char="—"/>
            </a:pPr>
            <a:r>
              <a:rPr lang="en-US" sz="1500" dirty="0">
                <a:solidFill>
                  <a:srgbClr val="3D3D3D"/>
                </a:solidFill>
                <a:latin typeface="Arial" pitchFamily="34" charset="0"/>
                <a:ea typeface="Arial" pitchFamily="34" charset="-122"/>
                <a:cs typeface="Arial" pitchFamily="34" charset="-120"/>
              </a:rPr>
              <a:t>What it structurally could not find: a role-escalation flaw reachable only once already logged in. An unauthenticated scan tests what’s exposed, not what a logged-in user can do.</a:t>
            </a:r>
            <a:endParaRPr lang="en-US" sz="1500" dirty="0"/>
          </a:p>
          <a:p>
            <a:pPr marL="342900" indent="-342900">
              <a:lnSpc>
                <a:spcPct val="140000"/>
              </a:lnSpc>
              <a:spcAft>
                <a:spcPts val="1000"/>
              </a:spcAft>
              <a:buSzPct val="100000"/>
              <a:buChar char="—"/>
            </a:pPr>
            <a:r>
              <a:rPr lang="en-US" sz="1500" dirty="0">
                <a:solidFill>
                  <a:srgbClr val="3D3D3D"/>
                </a:solidFill>
                <a:latin typeface="Arial" pitchFamily="34" charset="0"/>
                <a:ea typeface="Arial" pitchFamily="34" charset="-122"/>
                <a:cs typeface="Arial" pitchFamily="34" charset="-120"/>
              </a:rPr>
              <a:t>That gap — "we scan regularly" vs. "our scan proves we’re safe" — becomes central later, when PCPD asks for evidence, not just a report.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SECTION 2, CONTINUED</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Going</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Public.</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Having gotten in, the same actor didn’t just take the data — they oversold it.</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3 · Part 3 · Case D  ·  05</a:t>
            </a:r>
            <a:endParaRPr lang="en-US" sz="1300" dirty="0"/>
          </a:p>
        </p:txBody>
      </p:sp>
      <p:sp>
        <p:nvSpPr>
          <p:cNvPr id="6" name="Text 4"/>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DARK WEB · THE POST</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A polished promotion playbook, a weak actor</a:t>
            </a:r>
            <a:endParaRPr lang="en-US" sz="3000" dirty="0"/>
          </a:p>
        </p:txBody>
      </p:sp>
      <p:sp>
        <p:nvSpPr>
          <p:cNvPr id="5" name="Text 3"/>
          <p:cNvSpPr/>
          <p:nvPr/>
        </p:nvSpPr>
        <p:spPr>
          <a:xfrm>
            <a:off x="533400" y="1847850"/>
            <a:ext cx="11124895" cy="171450"/>
          </a:xfrm>
          <a:prstGeom prst="rect">
            <a:avLst/>
          </a:prstGeom>
          <a:noFill/>
          <a:ln/>
        </p:spPr>
        <p:txBody>
          <a:bodyPr wrap="square" rtlCol="0" anchor="ctr"/>
          <a:lstStyle/>
          <a:p>
            <a:pPr indent="0" marL="0">
              <a:buNone/>
            </a:pPr>
            <a:r>
              <a:rPr lang="en-US" sz="1000" b="1" spc="100" kern="0" dirty="0">
                <a:solidFill>
                  <a:srgbClr val="B3261E"/>
                </a:solidFill>
                <a:latin typeface="Arial" pitchFamily="34" charset="0"/>
                <a:ea typeface="Arial" pitchFamily="34" charset="-122"/>
                <a:cs typeface="Arial" pitchFamily="34" charset="-120"/>
              </a:rPr>
              <a:t>SPECIMEN — REBUILT FOR TEACHING, NOT THE ORIGINAL DOCUMENT</a:t>
            </a:r>
            <a:endParaRPr lang="en-US" sz="1000" dirty="0"/>
          </a:p>
        </p:txBody>
      </p:sp>
      <p:sp>
        <p:nvSpPr>
          <p:cNvPr id="6" name="Shape 4"/>
          <p:cNvSpPr/>
          <p:nvPr/>
        </p:nvSpPr>
        <p:spPr>
          <a:xfrm>
            <a:off x="533400" y="2095500"/>
            <a:ext cx="4000500" cy="28575"/>
          </a:xfrm>
          <a:prstGeom prst="rect">
            <a:avLst/>
          </a:prstGeom>
          <a:solidFill>
            <a:srgbClr val="1A1A1A"/>
          </a:solidFill>
          <a:ln/>
        </p:spPr>
      </p:sp>
      <p:sp>
        <p:nvSpPr>
          <p:cNvPr id="7" name="Shape 5"/>
          <p:cNvSpPr/>
          <p:nvPr/>
        </p:nvSpPr>
        <p:spPr>
          <a:xfrm>
            <a:off x="533400" y="2124075"/>
            <a:ext cx="4000500" cy="2828925"/>
          </a:xfrm>
          <a:prstGeom prst="rect">
            <a:avLst/>
          </a:prstGeom>
          <a:solidFill>
            <a:srgbClr val="1A1A1A"/>
          </a:solidFill>
          <a:ln w="6350">
            <a:solidFill>
              <a:srgbClr val="1A1A1A"/>
            </a:solidFill>
            <a:prstDash val="solid"/>
          </a:ln>
        </p:spPr>
      </p:sp>
      <p:sp>
        <p:nvSpPr>
          <p:cNvPr id="8" name="Text 6"/>
          <p:cNvSpPr/>
          <p:nvPr/>
        </p:nvSpPr>
        <p:spPr>
          <a:xfrm>
            <a:off x="723900" y="2247900"/>
            <a:ext cx="3619500" cy="400050"/>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SPECIMEN — INVENTED LEAK-FORUM POST</a:t>
            </a:r>
            <a:endParaRPr lang="en-US" sz="1600" dirty="0"/>
          </a:p>
        </p:txBody>
      </p:sp>
      <p:sp>
        <p:nvSpPr>
          <p:cNvPr id="9" name="Text 7"/>
          <p:cNvSpPr/>
          <p:nvPr/>
        </p:nvSpPr>
        <p:spPr>
          <a:xfrm>
            <a:off x="723900" y="2724150"/>
            <a:ext cx="3619500" cy="533400"/>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FOR SALE: HK university e-learning DB</a:t>
            </a:r>
            <a:endParaRPr lang="en-US" sz="2000" dirty="0"/>
          </a:p>
        </p:txBody>
      </p:sp>
      <p:sp>
        <p:nvSpPr>
          <p:cNvPr id="10" name="Text 8"/>
          <p:cNvSpPr/>
          <p:nvPr/>
        </p:nvSpPr>
        <p:spPr>
          <a:xfrm>
            <a:off x="723900" y="3333750"/>
            <a:ext cx="3619500" cy="1543050"/>
          </a:xfrm>
          <a:prstGeom prst="rect">
            <a:avLst/>
          </a:prstGeom>
          <a:noFill/>
          <a:ln/>
        </p:spPr>
        <p:txBody>
          <a:bodyPr wrap="square" rtlCol="0" anchor="t"/>
          <a:lstStyle/>
          <a:p>
            <a:pPr indent="0" marL="0">
              <a:lnSpc>
                <a:spcPct val="130000"/>
              </a:lnSpc>
              <a:buNone/>
            </a:pPr>
            <a:r>
              <a:rPr lang="en-US" sz="1500" dirty="0">
                <a:solidFill>
                  <a:srgbClr val="3D3D3D"/>
                </a:solidFill>
                <a:latin typeface="Arial" pitchFamily="34" charset="0"/>
                <a:ea typeface="Arial" pitchFamily="34" charset="-122"/>
                <a:cs typeface="Arial" pitchFamily="34" charset="-120"/>
              </a:rPr>
              <a:t>"█████ records. Names, emails, student IDs. Proof sample attached. Full dump in 7 days if no offer."</a:t>
            </a:r>
            <a:endParaRPr lang="en-US" sz="1500" dirty="0"/>
          </a:p>
          <a:p>
            <a:pPr indent="0" marL="0">
              <a:lnSpc>
                <a:spcPct val="130000"/>
              </a:lnSpc>
              <a:buNone/>
            </a:pPr>
            <a:r>
              <a:rPr lang="en-US" sz="1500" dirty="0">
                <a:solidFill>
                  <a:srgbClr val="3D3D3D"/>
                </a:solidFill>
                <a:latin typeface="Arial" pitchFamily="34" charset="0"/>
                <a:ea typeface="Arial" pitchFamily="34" charset="-122"/>
                <a:cs typeface="Arial" pitchFamily="34" charset="-120"/>
              </a:rPr>
              <a:t>— posted by an alias on a cybercrime forum</a:t>
            </a:r>
            <a:endParaRPr lang="en-US" sz="1500" dirty="0"/>
          </a:p>
        </p:txBody>
      </p:sp>
      <p:sp>
        <p:nvSpPr>
          <p:cNvPr id="11" name="Text 9"/>
          <p:cNvSpPr/>
          <p:nvPr/>
        </p:nvSpPr>
        <p:spPr>
          <a:xfrm>
            <a:off x="4819650" y="2095500"/>
            <a:ext cx="6838645" cy="3143250"/>
          </a:xfrm>
          <a:prstGeom prst="rect">
            <a:avLst/>
          </a:prstGeom>
          <a:noFill/>
          <a:ln/>
        </p:spPr>
        <p:txBody>
          <a:bodyPr wrap="square" rtlCol="0" anchor="t"/>
          <a:lstStyle/>
          <a:p>
            <a:pPr marL="342900" indent="-342900">
              <a:lnSpc>
                <a:spcPct val="140000"/>
              </a:lnSpc>
              <a:spcAft>
                <a:spcPts val="1000"/>
              </a:spcAft>
              <a:buSzPct val="100000"/>
              <a:buChar char="—"/>
            </a:pPr>
            <a:r>
              <a:rPr lang="en-US" sz="1500" dirty="0">
                <a:solidFill>
                  <a:srgbClr val="3D3D3D"/>
                </a:solidFill>
                <a:latin typeface="Arial" pitchFamily="34" charset="0"/>
                <a:ea typeface="Arial" pitchFamily="34" charset="-122"/>
                <a:cs typeface="Arial" pitchFamily="34" charset="-120"/>
              </a:rPr>
              <a:t>Same "promotion" pattern as CL0P’s MOVEit listings in Case 1: a proof sample first, a countdown, then a threat to publish everything — capability on the forum, not in the exploit.</a:t>
            </a:r>
            <a:endParaRPr lang="en-US" sz="1500" dirty="0"/>
          </a:p>
          <a:p>
            <a:pPr marL="342900" indent="-342900">
              <a:lnSpc>
                <a:spcPct val="140000"/>
              </a:lnSpc>
              <a:spcAft>
                <a:spcPts val="1000"/>
              </a:spcAft>
              <a:buSzPct val="100000"/>
              <a:buChar char="—"/>
            </a:pPr>
            <a:r>
              <a:rPr lang="en-US" sz="1500" dirty="0">
                <a:solidFill>
                  <a:srgbClr val="3D3D3D"/>
                </a:solidFill>
                <a:latin typeface="Arial" pitchFamily="34" charset="0"/>
                <a:ea typeface="Arial" pitchFamily="34" charset="-122"/>
                <a:cs typeface="Arial" pitchFamily="34" charset="-120"/>
              </a:rPr>
              <a:t>Public threat-intel accounts monitoring these forums flagged the post within days — which is often how an organisation, or its regulator, hears about a breach it hasn’t been told about directly.</a:t>
            </a:r>
            <a:endParaRPr lang="en-US" sz="1500" dirty="0"/>
          </a:p>
          <a:p>
            <a:pPr marL="342900" indent="-342900">
              <a:lnSpc>
                <a:spcPct val="140000"/>
              </a:lnSpc>
              <a:spcAft>
                <a:spcPts val="1000"/>
              </a:spcAft>
              <a:buSzPct val="100000"/>
              <a:buChar char="—"/>
            </a:pPr>
            <a:r>
              <a:rPr lang="en-US" sz="1500" dirty="0">
                <a:solidFill>
                  <a:srgbClr val="3D3D3D"/>
                </a:solidFill>
                <a:latin typeface="Arial" pitchFamily="34" charset="0"/>
                <a:ea typeface="Arial" pitchFamily="34" charset="-122"/>
                <a:cs typeface="Arial" pitchFamily="34" charset="-120"/>
              </a:rPr>
              <a:t>This post is an invented specimen built to match the real pattern — not a screenshot of what actually appeared.</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DARK WEB · VERIFICATION</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Don’t take a leak-site claim at face value — verify it</a:t>
            </a:r>
            <a:endParaRPr lang="en-US" sz="3000" dirty="0"/>
          </a:p>
        </p:txBody>
      </p:sp>
      <p:sp>
        <p:nvSpPr>
          <p:cNvPr id="5" name="Text 3"/>
          <p:cNvSpPr/>
          <p:nvPr/>
        </p:nvSpPr>
        <p:spPr>
          <a:xfrm>
            <a:off x="533400" y="1847850"/>
            <a:ext cx="11124895" cy="3238500"/>
          </a:xfrm>
          <a:prstGeom prst="rect">
            <a:avLst/>
          </a:prstGeom>
          <a:noFill/>
          <a:ln/>
        </p:spPr>
        <p:txBody>
          <a:bodyPr wrap="square" rtlCol="0" anchor="t"/>
          <a:lstStyle/>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A forum post’s claimed record count is marketing, not evidence — this actor’s listing overstated the real figure by roughly 3–4x.</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The school’s own investigation, cross-checked against platform logs, produced a lower — and more precisely categorised — figure than the post claimed.</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Verifying independently matters for more than accuracy: a regulator will ask you to justify your own number, not repeat a stranger’s.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SECTION 3</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Responding.</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The school reported itself before anyone made it — then brought in an outside team to find out why this happened.</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3 · Part 3 · Case D  ·  06</a:t>
            </a:r>
            <a:endParaRPr lang="en-US" sz="1300" dirty="0"/>
          </a:p>
        </p:txBody>
      </p:sp>
      <p:sp>
        <p:nvSpPr>
          <p:cNvPr id="6" name="Text 4"/>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RESPONSE · ENGAGEMENT</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Reported itself, then brought in an outside investigator</a:t>
            </a:r>
            <a:endParaRPr lang="en-US" sz="3000" dirty="0"/>
          </a:p>
        </p:txBody>
      </p:sp>
      <p:sp>
        <p:nvSpPr>
          <p:cNvPr id="5" name="Shape 3"/>
          <p:cNvSpPr/>
          <p:nvPr/>
        </p:nvSpPr>
        <p:spPr>
          <a:xfrm>
            <a:off x="533400" y="1847850"/>
            <a:ext cx="5457673" cy="28575"/>
          </a:xfrm>
          <a:prstGeom prst="rect">
            <a:avLst/>
          </a:prstGeom>
          <a:solidFill>
            <a:srgbClr val="1A1A1A"/>
          </a:solidFill>
          <a:ln/>
        </p:spPr>
      </p:sp>
      <p:sp>
        <p:nvSpPr>
          <p:cNvPr id="6" name="Shape 4"/>
          <p:cNvSpPr/>
          <p:nvPr/>
        </p:nvSpPr>
        <p:spPr>
          <a:xfrm>
            <a:off x="533400" y="1876425"/>
            <a:ext cx="5457673" cy="1876425"/>
          </a:xfrm>
          <a:prstGeom prst="rect">
            <a:avLst/>
          </a:prstGeom>
          <a:solidFill>
            <a:srgbClr val="F2F2F2"/>
          </a:solidFill>
          <a:ln w="6350">
            <a:solidFill>
              <a:srgbClr val="F2F2F2"/>
            </a:solidFill>
            <a:prstDash val="solid"/>
          </a:ln>
        </p:spPr>
      </p:sp>
      <p:sp>
        <p:nvSpPr>
          <p:cNvPr id="7" name="Text 5"/>
          <p:cNvSpPr/>
          <p:nvPr/>
        </p:nvSpPr>
        <p:spPr>
          <a:xfrm>
            <a:off x="723900" y="200025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Self-initiated</a:t>
            </a:r>
            <a:endParaRPr lang="en-US" sz="2000" dirty="0"/>
          </a:p>
        </p:txBody>
      </p:sp>
      <p:sp>
        <p:nvSpPr>
          <p:cNvPr id="8" name="Text 6"/>
          <p:cNvSpPr/>
          <p:nvPr/>
        </p:nvSpPr>
        <p:spPr>
          <a:xfrm>
            <a:off x="723900" y="2352675"/>
            <a:ext cx="5076673" cy="1323975"/>
          </a:xfrm>
          <a:prstGeom prst="rect">
            <a:avLst/>
          </a:prstGeom>
          <a:noFill/>
          <a:ln/>
        </p:spPr>
        <p:txBody>
          <a:bodyPr wrap="square" rtlCol="0" anchor="t"/>
          <a:lstStyle/>
          <a:p>
            <a:pPr indent="0" marL="0">
              <a:lnSpc>
                <a:spcPct val="130000"/>
              </a:lnSpc>
              <a:buNone/>
            </a:pPr>
            <a:r>
              <a:rPr lang="en-US" sz="1600" dirty="0">
                <a:solidFill>
                  <a:srgbClr val="3D3D3D"/>
                </a:solidFill>
                <a:latin typeface="Arial" pitchFamily="34" charset="0"/>
                <a:ea typeface="Arial" pitchFamily="34" charset="-122"/>
                <a:cs typeface="Arial" pitchFamily="34" charset="-120"/>
              </a:rPr>
              <a:t>Police and the privacy regulator were both notified by the school itself — not compelled by a complaint or a leak-site tip reaching the regulator first.</a:t>
            </a:r>
            <a:endParaRPr lang="en-US" sz="1600" dirty="0"/>
          </a:p>
        </p:txBody>
      </p:sp>
      <p:sp>
        <p:nvSpPr>
          <p:cNvPr id="9" name="Shape 7"/>
          <p:cNvSpPr/>
          <p:nvPr/>
        </p:nvSpPr>
        <p:spPr>
          <a:xfrm>
            <a:off x="6200623" y="1847850"/>
            <a:ext cx="5457673" cy="28575"/>
          </a:xfrm>
          <a:prstGeom prst="rect">
            <a:avLst/>
          </a:prstGeom>
          <a:solidFill>
            <a:srgbClr val="1A1A1A"/>
          </a:solidFill>
          <a:ln/>
        </p:spPr>
      </p:sp>
      <p:sp>
        <p:nvSpPr>
          <p:cNvPr id="10" name="Shape 8"/>
          <p:cNvSpPr/>
          <p:nvPr/>
        </p:nvSpPr>
        <p:spPr>
          <a:xfrm>
            <a:off x="6200623" y="1876425"/>
            <a:ext cx="5457673" cy="1876425"/>
          </a:xfrm>
          <a:prstGeom prst="rect">
            <a:avLst/>
          </a:prstGeom>
          <a:solidFill>
            <a:srgbClr val="F2F2F2"/>
          </a:solidFill>
          <a:ln w="6350">
            <a:solidFill>
              <a:srgbClr val="F2F2F2"/>
            </a:solidFill>
            <a:prstDash val="solid"/>
          </a:ln>
        </p:spPr>
      </p:sp>
      <p:sp>
        <p:nvSpPr>
          <p:cNvPr id="11" name="Text 9"/>
          <p:cNvSpPr/>
          <p:nvPr/>
        </p:nvSpPr>
        <p:spPr>
          <a:xfrm>
            <a:off x="6391123" y="200025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PwC engaged for root cause</a:t>
            </a:r>
            <a:endParaRPr lang="en-US" sz="2000" dirty="0"/>
          </a:p>
        </p:txBody>
      </p:sp>
      <p:sp>
        <p:nvSpPr>
          <p:cNvPr id="12" name="Text 10"/>
          <p:cNvSpPr/>
          <p:nvPr/>
        </p:nvSpPr>
        <p:spPr>
          <a:xfrm>
            <a:off x="6391123" y="2352675"/>
            <a:ext cx="5076673" cy="1323975"/>
          </a:xfrm>
          <a:prstGeom prst="rect">
            <a:avLst/>
          </a:prstGeom>
          <a:noFill/>
          <a:ln/>
        </p:spPr>
        <p:txBody>
          <a:bodyPr wrap="square" rtlCol="0" anchor="t"/>
          <a:lstStyle/>
          <a:p>
            <a:pPr indent="0" marL="0">
              <a:lnSpc>
                <a:spcPct val="130000"/>
              </a:lnSpc>
              <a:buNone/>
            </a:pPr>
            <a:r>
              <a:rPr lang="en-US" sz="1600" dirty="0">
                <a:solidFill>
                  <a:srgbClr val="3D3D3D"/>
                </a:solidFill>
                <a:latin typeface="Arial" pitchFamily="34" charset="0"/>
                <a:ea typeface="Arial" pitchFamily="34" charset="-122"/>
                <a:cs typeface="Arial" pitchFamily="34" charset="-120"/>
              </a:rPr>
              <a:t>A digital-forensics and incident-response team was retained to establish what happened, how far it went, and why — separate from the school’s own IT team.</a:t>
            </a:r>
            <a:endParaRPr lang="en-US" sz="1600" dirty="0"/>
          </a:p>
        </p:txBody>
      </p:sp>
      <p:sp>
        <p:nvSpPr>
          <p:cNvPr id="13" name="Text 11"/>
          <p:cNvSpPr/>
          <p:nvPr/>
        </p:nvSpPr>
        <p:spPr>
          <a:xfrm>
            <a:off x="533400" y="3981450"/>
            <a:ext cx="11124895" cy="524510"/>
          </a:xfrm>
          <a:prstGeom prst="rect">
            <a:avLst/>
          </a:prstGeom>
          <a:noFill/>
          <a:ln/>
        </p:spPr>
        <p:txBody>
          <a:bodyPr wrap="square" rtlCol="0" anchor="t"/>
          <a:lstStyle/>
          <a:p>
            <a:pPr indent="0" marL="0">
              <a:lnSpc>
                <a:spcPct val="125000"/>
              </a:lnSpc>
              <a:buNone/>
            </a:pPr>
            <a:r>
              <a:rPr lang="en-US" sz="1400" i="1" dirty="0">
                <a:solidFill>
                  <a:srgbClr val="3D3D3D"/>
                </a:solidFill>
                <a:latin typeface="Arial" pitchFamily="34" charset="0"/>
                <a:ea typeface="Arial" pitchFamily="34" charset="-122"/>
                <a:cs typeface="Arial" pitchFamily="34" charset="-120"/>
              </a:rPr>
              <a:t>Self-reporting doesn’t make an Enforcement Notice go away — as this case shows — but it does change the starting posture of every conversation that follows.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D04A02"/>
                </a:solidFill>
                <a:latin typeface="Arial" pitchFamily="34" charset="0"/>
                <a:ea typeface="Arial" pitchFamily="34" charset="-122"/>
                <a:cs typeface="Arial" pitchFamily="34" charset="-120"/>
              </a:rPr>
              <a:t>PULSE CHECK</a:t>
            </a:r>
            <a:endParaRPr lang="en-US" sz="1600" dirty="0"/>
          </a:p>
        </p:txBody>
      </p:sp>
      <p:sp>
        <p:nvSpPr>
          <p:cNvPr id="3" name="Shape 1"/>
          <p:cNvSpPr/>
          <p:nvPr/>
        </p:nvSpPr>
        <p:spPr>
          <a:xfrm>
            <a:off x="533400" y="895350"/>
            <a:ext cx="609600" cy="28575"/>
          </a:xfrm>
          <a:prstGeom prst="rect">
            <a:avLst/>
          </a:prstGeom>
          <a:solidFill>
            <a:srgbClr val="D04A02"/>
          </a:solidFill>
          <a:ln/>
        </p:spPr>
      </p:sp>
      <p:sp>
        <p:nvSpPr>
          <p:cNvPr id="4" name="Text 2"/>
          <p:cNvSpPr/>
          <p:nvPr/>
        </p:nvSpPr>
        <p:spPr>
          <a:xfrm>
            <a:off x="533400" y="2098518"/>
            <a:ext cx="9906000" cy="1898965"/>
          </a:xfrm>
          <a:prstGeom prst="rect">
            <a:avLst/>
          </a:prstGeom>
          <a:noFill/>
          <a:ln/>
        </p:spPr>
        <p:txBody>
          <a:bodyPr wrap="square" rtlCol="0" anchor="t"/>
          <a:lstStyle/>
          <a:p>
            <a:pPr indent="0" marL="0">
              <a:lnSpc>
                <a:spcPct val="118000"/>
              </a:lnSpc>
              <a:buNone/>
            </a:pPr>
            <a:r>
              <a:rPr lang="en-US" sz="3400" dirty="0">
                <a:solidFill>
                  <a:srgbClr val="1A1A1A"/>
                </a:solidFill>
                <a:latin typeface="Georgia" pitchFamily="34" charset="0"/>
                <a:ea typeface="Georgia" pitchFamily="34" charset="-122"/>
                <a:cs typeface="Georgia" pitchFamily="34" charset="-120"/>
              </a:rPr>
              <a:t>The technically hardest part of this breach was zero — a password saved in a browser, and an account nobody switched off.</a:t>
            </a:r>
            <a:endParaRPr lang="en-US" sz="3400" dirty="0"/>
          </a:p>
        </p:txBody>
      </p:sp>
      <p:sp>
        <p:nvSpPr>
          <p:cNvPr id="5" name="Text 3"/>
          <p:cNvSpPr/>
          <p:nvPr/>
        </p:nvSpPr>
        <p:spPr>
          <a:xfrm>
            <a:off x="533400" y="4264182"/>
            <a:ext cx="8572500" cy="228600"/>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RAISE YOUR HAND IF YOU THINK THAT’S LESS ALARMING THAN A ZERO-DAY</a:t>
            </a:r>
            <a:endParaRPr lang="en-US" sz="1600" dirty="0"/>
          </a:p>
        </p:txBody>
      </p:sp>
      <p:sp>
        <p:nvSpPr>
          <p:cNvPr id="6"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3 · Part 3 · Case D  ·  07</a:t>
            </a:r>
            <a:endParaRPr lang="en-US" sz="1300" dirty="0"/>
          </a:p>
        </p:txBody>
      </p:sp>
      <p:sp>
        <p:nvSpPr>
          <p:cNvPr id="7" name="Text 5"/>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RESPONSE · RECOMMENDATIONS</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Four fixes that map straight back to the root-cause chain</a:t>
            </a:r>
            <a:endParaRPr lang="en-US" sz="3000" dirty="0"/>
          </a:p>
        </p:txBody>
      </p:sp>
      <p:sp>
        <p:nvSpPr>
          <p:cNvPr id="5" name="Text 3"/>
          <p:cNvSpPr/>
          <p:nvPr/>
        </p:nvSpPr>
        <p:spPr>
          <a:xfrm>
            <a:off x="533400" y="1847850"/>
            <a:ext cx="11124895" cy="3810000"/>
          </a:xfrm>
          <a:prstGeom prst="rect">
            <a:avLst/>
          </a:prstGeom>
          <a:noFill/>
          <a:ln/>
        </p:spPr>
        <p:txBody>
          <a:bodyPr wrap="square" rtlCol="0" anchor="t"/>
          <a:lstStyle/>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Decommission on departure, not just "disable" — every credential and saved session that person touched, closed out completely, the day they leave.</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No privileged administration from personal devices — a clear line between "your own laptop" and "anything that can touch production." This is exactly where the credential was harvested.</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Extend MFA past the obvious gateway — a local or service-style admin account gets left out of a VPN- or SSO-scoped rollout, and it’s exactly the account that got used here.</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Cap what an admin session can do — a successful login shouldn’t be one step from remote code execution; hardening for an authenticated attacker matters as much as the front door.</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SECTION 4</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The Enforcement</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Notice.</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Months after containment, the regulator orders the school to prove — in writing, with evidence — that specific gaps are closed.</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3 · Part 3 · Case D  ·  08</a:t>
            </a:r>
            <a:endParaRPr lang="en-US" sz="1300" dirty="0"/>
          </a:p>
        </p:txBody>
      </p:sp>
      <p:sp>
        <p:nvSpPr>
          <p:cNvPr id="6" name="Text 4"/>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THE EN · THE POWER</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A binding order, not a suggestion</a:t>
            </a:r>
            <a:endParaRPr lang="en-US" sz="3000" dirty="0"/>
          </a:p>
        </p:txBody>
      </p:sp>
      <p:sp>
        <p:nvSpPr>
          <p:cNvPr id="5" name="Text 3"/>
          <p:cNvSpPr/>
          <p:nvPr/>
        </p:nvSpPr>
        <p:spPr>
          <a:xfrm>
            <a:off x="533400" y="1847850"/>
            <a:ext cx="11124895" cy="3238500"/>
          </a:xfrm>
          <a:prstGeom prst="rect">
            <a:avLst/>
          </a:prstGeom>
          <a:noFill/>
          <a:ln/>
        </p:spPr>
        <p:txBody>
          <a:bodyPr wrap="square" rtlCol="0" anchor="t"/>
          <a:lstStyle/>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Under the Personal Data (Privacy) Ordinance, PCPD can issue an Enforcement Notice after investigating a breach — directing the data user to take specific remedial steps by a stated deadline.</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It is legally binding: failing to comply is itself an offence, separate from whatever triggered the original investigation.</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The notice typically lists a handful of concrete requirements — not "improve security" in the abstract, but named controls the school now has to demonstrate.</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THE EN · THE LETTER</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What this kind of notice actually looks like</a:t>
            </a:r>
            <a:endParaRPr lang="en-US" sz="3000" dirty="0"/>
          </a:p>
        </p:txBody>
      </p:sp>
      <p:sp>
        <p:nvSpPr>
          <p:cNvPr id="5" name="Text 3"/>
          <p:cNvSpPr/>
          <p:nvPr/>
        </p:nvSpPr>
        <p:spPr>
          <a:xfrm>
            <a:off x="533400" y="1847850"/>
            <a:ext cx="11124895" cy="171450"/>
          </a:xfrm>
          <a:prstGeom prst="rect">
            <a:avLst/>
          </a:prstGeom>
          <a:noFill/>
          <a:ln/>
        </p:spPr>
        <p:txBody>
          <a:bodyPr wrap="square" rtlCol="0" anchor="ctr"/>
          <a:lstStyle/>
          <a:p>
            <a:pPr indent="0" marL="0">
              <a:buNone/>
            </a:pPr>
            <a:r>
              <a:rPr lang="en-US" sz="1000" b="1" spc="100" kern="0" dirty="0">
                <a:solidFill>
                  <a:srgbClr val="B3261E"/>
                </a:solidFill>
                <a:latin typeface="Arial" pitchFamily="34" charset="0"/>
                <a:ea typeface="Arial" pitchFamily="34" charset="-122"/>
                <a:cs typeface="Arial" pitchFamily="34" charset="-120"/>
              </a:rPr>
              <a:t>SPECIMEN — REBUILT FOR TEACHING, NOT THE ORIGINAL DOCUMENT</a:t>
            </a:r>
            <a:endParaRPr lang="en-US" sz="1000" dirty="0"/>
          </a:p>
        </p:txBody>
      </p:sp>
      <p:sp>
        <p:nvSpPr>
          <p:cNvPr id="6" name="Shape 4"/>
          <p:cNvSpPr/>
          <p:nvPr/>
        </p:nvSpPr>
        <p:spPr>
          <a:xfrm>
            <a:off x="533400" y="2095500"/>
            <a:ext cx="11124895" cy="28575"/>
          </a:xfrm>
          <a:prstGeom prst="rect">
            <a:avLst/>
          </a:prstGeom>
          <a:solidFill>
            <a:srgbClr val="1A1A1A"/>
          </a:solidFill>
          <a:ln/>
        </p:spPr>
      </p:sp>
      <p:sp>
        <p:nvSpPr>
          <p:cNvPr id="7" name="Shape 5"/>
          <p:cNvSpPr/>
          <p:nvPr/>
        </p:nvSpPr>
        <p:spPr>
          <a:xfrm>
            <a:off x="533400" y="2124075"/>
            <a:ext cx="11124895" cy="3400425"/>
          </a:xfrm>
          <a:prstGeom prst="rect">
            <a:avLst/>
          </a:prstGeom>
          <a:solidFill>
            <a:srgbClr val="FFFFFF"/>
          </a:solidFill>
          <a:ln w="6350">
            <a:solidFill>
              <a:srgbClr val="FFFFFF"/>
            </a:solidFill>
            <a:prstDash val="solid"/>
          </a:ln>
        </p:spPr>
      </p:sp>
      <p:sp>
        <p:nvSpPr>
          <p:cNvPr id="8" name="Text 6"/>
          <p:cNvSpPr/>
          <p:nvPr/>
        </p:nvSpPr>
        <p:spPr>
          <a:xfrm>
            <a:off x="723900" y="2247900"/>
            <a:ext cx="10743895"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SPECIMEN — RECONSTRUCTED LETTER SHAPE, NOT THE ORIGINAL</a:t>
            </a:r>
            <a:endParaRPr lang="en-US" sz="1600" dirty="0"/>
          </a:p>
        </p:txBody>
      </p:sp>
      <p:sp>
        <p:nvSpPr>
          <p:cNvPr id="9" name="Text 7"/>
          <p:cNvSpPr/>
          <p:nvPr/>
        </p:nvSpPr>
        <p:spPr>
          <a:xfrm>
            <a:off x="723900" y="2524125"/>
            <a:ext cx="10743895"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Enforcement Notice — Personal Data (Privacy) Ordinance</a:t>
            </a:r>
            <a:endParaRPr lang="en-US" sz="2000" dirty="0"/>
          </a:p>
        </p:txBody>
      </p:sp>
      <p:sp>
        <p:nvSpPr>
          <p:cNvPr id="10" name="Text 8"/>
          <p:cNvSpPr/>
          <p:nvPr/>
        </p:nvSpPr>
        <p:spPr>
          <a:xfrm>
            <a:off x="723900" y="2876550"/>
            <a:ext cx="10743895" cy="2571750"/>
          </a:xfrm>
          <a:prstGeom prst="rect">
            <a:avLst/>
          </a:prstGeom>
          <a:noFill/>
          <a:ln/>
        </p:spPr>
        <p:txBody>
          <a:bodyPr wrap="square" rtlCol="0" anchor="t"/>
          <a:lstStyle/>
          <a:p>
            <a:pPr indent="0" marL="0">
              <a:lnSpc>
                <a:spcPct val="130000"/>
              </a:lnSpc>
              <a:buNone/>
            </a:pPr>
            <a:r>
              <a:rPr lang="en-US" sz="1500" dirty="0">
                <a:solidFill>
                  <a:srgbClr val="3D3D3D"/>
                </a:solidFill>
                <a:latin typeface="Arial" pitchFamily="34" charset="0"/>
                <a:ea typeface="Arial" pitchFamily="34" charset="-122"/>
                <a:cs typeface="Arial" pitchFamily="34" charset="-120"/>
              </a:rPr>
              <a:t>To: ██████████████████████████  (Attn: ████████████)</a:t>
            </a:r>
            <a:endParaRPr lang="en-US" sz="1500" dirty="0"/>
          </a:p>
          <a:p>
            <a:pPr indent="0" marL="0">
              <a:lnSpc>
                <a:spcPct val="130000"/>
              </a:lnSpc>
              <a:buNone/>
            </a:pPr>
            <a:r>
              <a:rPr lang="en-US" sz="1500" dirty="0">
                <a:solidFill>
                  <a:srgbClr val="3D3D3D"/>
                </a:solidFill>
                <a:latin typeface="Arial" pitchFamily="34" charset="0"/>
                <a:ea typeface="Arial" pitchFamily="34" charset="-122"/>
                <a:cs typeface="Arial" pitchFamily="34" charset="-120"/>
              </a:rPr>
              <a:t>Re: Data Breach Incident — Case No. ██████████</a:t>
            </a:r>
            <a:endParaRPr lang="en-US" sz="1500" dirty="0"/>
          </a:p>
          <a:p>
            <a:pPr indent="0" marL="0">
              <a:lnSpc>
                <a:spcPct val="130000"/>
              </a:lnSpc>
              <a:buNone/>
            </a:pPr>
            <a:r>
              <a:rPr lang="en-US" sz="1500" dirty="0">
                <a:solidFill>
                  <a:srgbClr val="3D3D3D"/>
                </a:solidFill>
                <a:latin typeface="Arial" pitchFamily="34" charset="0"/>
                <a:ea typeface="Arial" pitchFamily="34" charset="-122"/>
                <a:cs typeface="Arial" pitchFamily="34" charset="-120"/>
              </a:rPr>
              <a:t>Pursuant to section 50 of the Ordinance, you are hereby directed to take the steps set out below within three (3) months of the date of this notice, and to furnish documentary proof of compliance.</a:t>
            </a:r>
            <a:endParaRPr lang="en-US" sz="1500" dirty="0"/>
          </a:p>
          <a:p>
            <a:pPr indent="0" marL="0">
              <a:lnSpc>
                <a:spcPct val="130000"/>
              </a:lnSpc>
              <a:buNone/>
            </a:pPr>
            <a:endParaRPr lang="en-US" sz="1500" dirty="0"/>
          </a:p>
          <a:p>
            <a:pPr indent="0" marL="0">
              <a:lnSpc>
                <a:spcPct val="130000"/>
              </a:lnSpc>
              <a:buNone/>
            </a:pPr>
            <a:r>
              <a:rPr lang="en-US" sz="1500" dirty="0">
                <a:solidFill>
                  <a:srgbClr val="3D3D3D"/>
                </a:solidFill>
                <a:latin typeface="Arial" pitchFamily="34" charset="0"/>
                <a:ea typeface="Arial" pitchFamily="34" charset="-122"/>
                <a:cs typeface="Arial" pitchFamily="34" charset="-120"/>
              </a:rPr>
              <a:t>Dated: ██ ████ 20██                 (Signed) ████████████, for Privacy Commissioner for Personal Data</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THE EN · THE REQUIREMENTS</a:t>
            </a:r>
            <a:endParaRPr lang="en-US" sz="1600" dirty="0"/>
          </a:p>
        </p:txBody>
      </p:sp>
      <p:sp>
        <p:nvSpPr>
          <p:cNvPr id="4" name="Text 2"/>
          <p:cNvSpPr/>
          <p:nvPr/>
        </p:nvSpPr>
        <p:spPr>
          <a:xfrm>
            <a:off x="533400" y="990600"/>
            <a:ext cx="11124895" cy="97155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Seven concrete asks — a pattern typical of a breach-driven notice</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33400" y="2286000"/>
          <a:ext cx="11124895" cy="914400"/>
        </p:xfrm>
        <a:graphic>
          <a:graphicData uri="http://schemas.openxmlformats.org/drawingml/2006/table">
            <a:tbl>
              <a:tblPr/>
              <a:tblGrid>
                <a:gridCol w="889992"/>
                <a:gridCol w="10234904"/>
              </a:tblGrid>
              <a:tr h="4762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Requirement (paraphrased)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Review the security of every system holding personal data — up to date, free of known vulnerabilities</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Formulate PAM policies: shared-account controls, MFA for remote privileged access, regular access reviews</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Formulate a password policy for the platform — rotation intervals, stricter rules for privileged accounts</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Formulate information-security policies: prevention, detection, response, risk assessment, patch management</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Put measures in place to ensure staff actually comply with items 2–4</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6</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Install anti-malware / endpoint security across the information systems</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476250">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7</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Provide documentary proof of items 1–6 within three months</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6" name="Shape 3"/>
          <p:cNvSpPr/>
          <p:nvPr/>
        </p:nvSpPr>
        <p:spPr>
          <a:xfrm>
            <a:off x="533400" y="2752725"/>
            <a:ext cx="11124895" cy="19050"/>
          </a:xfrm>
          <a:prstGeom prst="rect">
            <a:avLst/>
          </a:prstGeom>
          <a:solidFill>
            <a:srgbClr val="1A1A1A"/>
          </a:solidFill>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THE EN · THE SECOND ENGAGEMENT</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Same relationship, a completely different job</a:t>
            </a:r>
            <a:endParaRPr lang="en-US" sz="3000" dirty="0"/>
          </a:p>
        </p:txBody>
      </p:sp>
      <p:sp>
        <p:nvSpPr>
          <p:cNvPr id="5" name="Shape 3"/>
          <p:cNvSpPr/>
          <p:nvPr/>
        </p:nvSpPr>
        <p:spPr>
          <a:xfrm>
            <a:off x="533400" y="1847850"/>
            <a:ext cx="5457673" cy="28575"/>
          </a:xfrm>
          <a:prstGeom prst="rect">
            <a:avLst/>
          </a:prstGeom>
          <a:solidFill>
            <a:srgbClr val="1A1A1A"/>
          </a:solidFill>
          <a:ln/>
        </p:spPr>
      </p:sp>
      <p:sp>
        <p:nvSpPr>
          <p:cNvPr id="6" name="Shape 4"/>
          <p:cNvSpPr/>
          <p:nvPr/>
        </p:nvSpPr>
        <p:spPr>
          <a:xfrm>
            <a:off x="533400" y="1876425"/>
            <a:ext cx="5457673" cy="2200275"/>
          </a:xfrm>
          <a:prstGeom prst="rect">
            <a:avLst/>
          </a:prstGeom>
          <a:solidFill>
            <a:srgbClr val="F2F2F2"/>
          </a:solidFill>
          <a:ln w="6350">
            <a:solidFill>
              <a:srgbClr val="F2F2F2"/>
            </a:solidFill>
            <a:prstDash val="solid"/>
          </a:ln>
        </p:spPr>
      </p:sp>
      <p:sp>
        <p:nvSpPr>
          <p:cNvPr id="7" name="Text 5"/>
          <p:cNvSpPr/>
          <p:nvPr/>
        </p:nvSpPr>
        <p:spPr>
          <a:xfrm>
            <a:off x="723900" y="200025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Not an investigation</a:t>
            </a:r>
            <a:endParaRPr lang="en-US" sz="2000" dirty="0"/>
          </a:p>
        </p:txBody>
      </p:sp>
      <p:sp>
        <p:nvSpPr>
          <p:cNvPr id="8" name="Text 6"/>
          <p:cNvSpPr/>
          <p:nvPr/>
        </p:nvSpPr>
        <p:spPr>
          <a:xfrm>
            <a:off x="723900" y="2352675"/>
            <a:ext cx="5076673" cy="1647825"/>
          </a:xfrm>
          <a:prstGeom prst="rect">
            <a:avLst/>
          </a:prstGeom>
          <a:noFill/>
          <a:ln/>
        </p:spPr>
        <p:txBody>
          <a:bodyPr wrap="square" rtlCol="0" anchor="t"/>
          <a:lstStyle/>
          <a:p>
            <a:pPr indent="0" marL="0">
              <a:lnSpc>
                <a:spcPct val="130000"/>
              </a:lnSpc>
              <a:buNone/>
            </a:pPr>
            <a:r>
              <a:rPr lang="en-US" sz="1600" dirty="0">
                <a:solidFill>
                  <a:srgbClr val="3D3D3D"/>
                </a:solidFill>
                <a:latin typeface="Arial" pitchFamily="34" charset="0"/>
                <a:ea typeface="Arial" pitchFamily="34" charset="-122"/>
                <a:cs typeface="Arial" pitchFamily="34" charset="-120"/>
              </a:rPr>
              <a:t>The root-cause work already happened, months earlier, under a different scope — this is a compliance review against a specific notice.</a:t>
            </a:r>
            <a:endParaRPr lang="en-US" sz="1600" dirty="0"/>
          </a:p>
        </p:txBody>
      </p:sp>
      <p:sp>
        <p:nvSpPr>
          <p:cNvPr id="9" name="Shape 7"/>
          <p:cNvSpPr/>
          <p:nvPr/>
        </p:nvSpPr>
        <p:spPr>
          <a:xfrm>
            <a:off x="6200623" y="1847850"/>
            <a:ext cx="5457673" cy="28575"/>
          </a:xfrm>
          <a:prstGeom prst="rect">
            <a:avLst/>
          </a:prstGeom>
          <a:solidFill>
            <a:srgbClr val="1A1A1A"/>
          </a:solidFill>
          <a:ln/>
        </p:spPr>
      </p:sp>
      <p:sp>
        <p:nvSpPr>
          <p:cNvPr id="10" name="Shape 8"/>
          <p:cNvSpPr/>
          <p:nvPr/>
        </p:nvSpPr>
        <p:spPr>
          <a:xfrm>
            <a:off x="6200623" y="1876425"/>
            <a:ext cx="5457673" cy="2200275"/>
          </a:xfrm>
          <a:prstGeom prst="rect">
            <a:avLst/>
          </a:prstGeom>
          <a:solidFill>
            <a:srgbClr val="F2F2F2"/>
          </a:solidFill>
          <a:ln w="6350">
            <a:solidFill>
              <a:srgbClr val="F2F2F2"/>
            </a:solidFill>
            <a:prstDash val="solid"/>
          </a:ln>
        </p:spPr>
      </p:sp>
      <p:sp>
        <p:nvSpPr>
          <p:cNvPr id="11" name="Text 9"/>
          <p:cNvSpPr/>
          <p:nvPr/>
        </p:nvSpPr>
        <p:spPr>
          <a:xfrm>
            <a:off x="6391123" y="200025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Design vs. operating effectiveness</a:t>
            </a:r>
            <a:endParaRPr lang="en-US" sz="2000" dirty="0"/>
          </a:p>
        </p:txBody>
      </p:sp>
      <p:sp>
        <p:nvSpPr>
          <p:cNvPr id="12" name="Text 10"/>
          <p:cNvSpPr/>
          <p:nvPr/>
        </p:nvSpPr>
        <p:spPr>
          <a:xfrm>
            <a:off x="6391123" y="2352675"/>
            <a:ext cx="5076673" cy="1647825"/>
          </a:xfrm>
          <a:prstGeom prst="rect">
            <a:avLst/>
          </a:prstGeom>
          <a:noFill/>
          <a:ln/>
        </p:spPr>
        <p:txBody>
          <a:bodyPr wrap="square" rtlCol="0" anchor="t"/>
          <a:lstStyle/>
          <a:p>
            <a:pPr indent="0" marL="0">
              <a:lnSpc>
                <a:spcPct val="130000"/>
              </a:lnSpc>
              <a:buNone/>
            </a:pPr>
            <a:r>
              <a:rPr lang="en-US" sz="1600" dirty="0">
                <a:solidFill>
                  <a:srgbClr val="3D3D3D"/>
                </a:solidFill>
                <a:latin typeface="Arial" pitchFamily="34" charset="0"/>
                <a:ea typeface="Arial" pitchFamily="34" charset="-122"/>
                <a:cs typeface="Arial" pitchFamily="34" charset="-120"/>
              </a:rPr>
              <a:t>Not "did you write a policy" — "is it well designed, and is there evidence it runs that way in practice."</a:t>
            </a:r>
            <a:endParaRPr lang="en-US" sz="1600" dirty="0"/>
          </a:p>
        </p:txBody>
      </p:sp>
      <p:sp>
        <p:nvSpPr>
          <p:cNvPr id="13" name="Text 11"/>
          <p:cNvSpPr/>
          <p:nvPr/>
        </p:nvSpPr>
        <p:spPr>
          <a:xfrm>
            <a:off x="533400" y="4076700"/>
            <a:ext cx="11124895" cy="666750"/>
          </a:xfrm>
          <a:prstGeom prst="rect">
            <a:avLst/>
          </a:prstGeom>
          <a:noFill/>
          <a:ln/>
        </p:spPr>
        <p:txBody>
          <a:bodyPr wrap="square" rtlCol="0" anchor="t"/>
          <a:lstStyle/>
          <a:p>
            <a:pPr marL="342900" indent="-342900">
              <a:lnSpc>
                <a:spcPct val="140000"/>
              </a:lnSpc>
              <a:spcAft>
                <a:spcPts val="1000"/>
              </a:spcAft>
              <a:buSzPct val="100000"/>
              <a:buChar char="—"/>
            </a:pPr>
            <a:r>
              <a:rPr lang="en-US" sz="1500" dirty="0">
                <a:solidFill>
                  <a:srgbClr val="3D3D3D"/>
                </a:solidFill>
                <a:latin typeface="Arial" pitchFamily="34" charset="0"/>
                <a:ea typeface="Arial" pitchFamily="34" charset="-122"/>
                <a:cs typeface="Arial" pitchFamily="34" charset="-120"/>
              </a:rPr>
              <a:t>This is the exact same shift you saw with Cyberport’s Angle B in the last case — same firm, same method, applied here to a different notice.</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SECTION 5</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Turning a Notice</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Into Evidence.</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A seven-line letter becomes weeks of iterative requests — this is what "reviewing" actually looks like, week to week.</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3 · Part 3 · Case D  ·  09</a:t>
            </a:r>
            <a:endParaRPr lang="en-US" sz="1300" dirty="0"/>
          </a:p>
        </p:txBody>
      </p:sp>
      <p:sp>
        <p:nvSpPr>
          <p:cNvPr id="6" name="Text 4"/>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THE RFI · WEEK ONE</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The first ask is broad — on purpose</a:t>
            </a:r>
            <a:endParaRPr lang="en-US" sz="3000" dirty="0"/>
          </a:p>
        </p:txBody>
      </p:sp>
      <p:sp>
        <p:nvSpPr>
          <p:cNvPr id="5" name="Text 3"/>
          <p:cNvSpPr/>
          <p:nvPr/>
        </p:nvSpPr>
        <p:spPr>
          <a:xfrm>
            <a:off x="533400" y="1847850"/>
            <a:ext cx="11124895" cy="3619500"/>
          </a:xfrm>
          <a:prstGeom prst="rect">
            <a:avLst/>
          </a:prstGeom>
          <a:noFill/>
          <a:ln/>
        </p:spPr>
        <p:txBody>
          <a:bodyPr wrap="square" rtlCol="0" anchor="t"/>
          <a:lstStyle/>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The opening Request for Information doesn’t ask "show me MFA works." It asks for the building blocks: the full inventory of systems holding personal data, the current policies (however informal), and an org chart of who owns what.</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At this stage you’re establishing scope and design — what exists on paper — before you can meaningfully ask for proof that any of it operates.</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A vague or partial first response isn’t a failure — it’s the normal starting point for a school that’s never had to document controls this way before.</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THE RFI · THE PATTERN</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Every response earns a sharper follow-up ask</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1334987"/>
                <a:gridCol w="4672456"/>
                <a:gridCol w="5117452"/>
              </a:tblGrid>
              <a:tr h="80010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Round</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comes back</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The next ask</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800100">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RFI 1</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"We have a password policy" (a one-page document)</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Show me the policy’s effective date, and who it applies to — is Moodle in scope specifically?</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800100">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RFI 2</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The policy, scoped to Moodle, dated after the incident</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Show me it’s enforced — a system export of current password-age settings, not a description</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800100">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RFI 3</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A configuration export</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D3D3D"/>
                          </a:solidFill>
                          <a:latin typeface="Arial" pitchFamily="34" charset="0"/>
                          <a:ea typeface="Arial" pitchFamily="34" charset="-122"/>
                          <a:cs typeface="Arial" pitchFamily="34" charset="-120"/>
                        </a:rPr>
                        <a:t>Show me it held for every account, not just new ones — a sample of privileged accounts specifically</a:t>
                      </a:r>
                      <a:endParaRPr lang="en-US" sz="13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6" name="Shape 3"/>
          <p:cNvSpPr/>
          <p:nvPr/>
        </p:nvSpPr>
        <p:spPr>
          <a:xfrm>
            <a:off x="533400" y="2638425"/>
            <a:ext cx="11124895" cy="19050"/>
          </a:xfrm>
          <a:prstGeom prst="rect">
            <a:avLst/>
          </a:prstGeom>
          <a:solidFill>
            <a:srgbClr val="1A1A1A"/>
          </a:solidFill>
          <a:ln/>
        </p:spPr>
      </p:sp>
      <p:sp>
        <p:nvSpPr>
          <p:cNvPr id="7" name="Text 4"/>
          <p:cNvSpPr/>
          <p:nvPr/>
        </p:nvSpPr>
        <p:spPr>
          <a:xfrm>
            <a:off x="533400" y="5048250"/>
            <a:ext cx="11124895" cy="243522"/>
          </a:xfrm>
          <a:prstGeom prst="rect">
            <a:avLst/>
          </a:prstGeom>
          <a:noFill/>
          <a:ln/>
        </p:spPr>
        <p:txBody>
          <a:bodyPr wrap="square" rtlCol="0" anchor="t"/>
          <a:lstStyle/>
          <a:p>
            <a:pPr indent="0" marL="0">
              <a:lnSpc>
                <a:spcPct val="125000"/>
              </a:lnSpc>
              <a:buNone/>
            </a:pPr>
            <a:r>
              <a:rPr lang="en-US" sz="1300" i="1" dirty="0">
                <a:solidFill>
                  <a:srgbClr val="3D3D3D"/>
                </a:solidFill>
                <a:latin typeface="Arial" pitchFamily="34" charset="0"/>
                <a:ea typeface="Arial" pitchFamily="34" charset="-122"/>
                <a:cs typeface="Arial" pitchFamily="34" charset="-120"/>
              </a:rPr>
              <a:t>Invented specimen dialogue — illustrates the drill-down pattern, not the actual RFI wording.</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THE RFI · THE DISTINCTION</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The line every one of these asks is drawing</a:t>
            </a:r>
            <a:endParaRPr lang="en-US" sz="3000" dirty="0"/>
          </a:p>
        </p:txBody>
      </p:sp>
      <p:sp>
        <p:nvSpPr>
          <p:cNvPr id="5" name="Shape 3"/>
          <p:cNvSpPr/>
          <p:nvPr/>
        </p:nvSpPr>
        <p:spPr>
          <a:xfrm>
            <a:off x="533400" y="1847850"/>
            <a:ext cx="5457673" cy="28575"/>
          </a:xfrm>
          <a:prstGeom prst="rect">
            <a:avLst/>
          </a:prstGeom>
          <a:solidFill>
            <a:srgbClr val="1A1A1A"/>
          </a:solidFill>
          <a:ln/>
        </p:spPr>
      </p:sp>
      <p:sp>
        <p:nvSpPr>
          <p:cNvPr id="6" name="Shape 4"/>
          <p:cNvSpPr/>
          <p:nvPr/>
        </p:nvSpPr>
        <p:spPr>
          <a:xfrm>
            <a:off x="533400" y="1876425"/>
            <a:ext cx="5457673" cy="2162175"/>
          </a:xfrm>
          <a:prstGeom prst="rect">
            <a:avLst/>
          </a:prstGeom>
          <a:solidFill>
            <a:srgbClr val="F2F2F2"/>
          </a:solidFill>
          <a:ln w="6350">
            <a:solidFill>
              <a:srgbClr val="F2F2F2"/>
            </a:solidFill>
            <a:prstDash val="solid"/>
          </a:ln>
        </p:spPr>
      </p:sp>
      <p:sp>
        <p:nvSpPr>
          <p:cNvPr id="7" name="Text 5"/>
          <p:cNvSpPr/>
          <p:nvPr/>
        </p:nvSpPr>
        <p:spPr>
          <a:xfrm>
            <a:off x="723900" y="200025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Control design</a:t>
            </a:r>
            <a:endParaRPr lang="en-US" sz="2000" dirty="0"/>
          </a:p>
        </p:txBody>
      </p:sp>
      <p:sp>
        <p:nvSpPr>
          <p:cNvPr id="8" name="Text 6"/>
          <p:cNvSpPr/>
          <p:nvPr/>
        </p:nvSpPr>
        <p:spPr>
          <a:xfrm>
            <a:off x="723900" y="2352675"/>
            <a:ext cx="5076673" cy="1609725"/>
          </a:xfrm>
          <a:prstGeom prst="rect">
            <a:avLst/>
          </a:prstGeom>
          <a:noFill/>
          <a:ln/>
        </p:spPr>
        <p:txBody>
          <a:bodyPr wrap="square" rtlCol="0" anchor="t"/>
          <a:lstStyle/>
          <a:p>
            <a:pPr indent="0" marL="0">
              <a:lnSpc>
                <a:spcPct val="130000"/>
              </a:lnSpc>
              <a:buNone/>
            </a:pPr>
            <a:r>
              <a:rPr lang="en-US" sz="1700" dirty="0">
                <a:solidFill>
                  <a:srgbClr val="3D3D3D"/>
                </a:solidFill>
                <a:latin typeface="Arial" pitchFamily="34" charset="0"/>
                <a:ea typeface="Arial" pitchFamily="34" charset="-122"/>
                <a:cs typeface="Arial" pitchFamily="34" charset="-120"/>
              </a:rPr>
              <a:t>There’s a documented policy, it covers the right scope, and it was approved by someone with the authority to approve it.</a:t>
            </a:r>
            <a:endParaRPr lang="en-US" sz="1700" dirty="0"/>
          </a:p>
        </p:txBody>
      </p:sp>
      <p:sp>
        <p:nvSpPr>
          <p:cNvPr id="9" name="Shape 7"/>
          <p:cNvSpPr/>
          <p:nvPr/>
        </p:nvSpPr>
        <p:spPr>
          <a:xfrm>
            <a:off x="6200623" y="1847850"/>
            <a:ext cx="5457673" cy="28575"/>
          </a:xfrm>
          <a:prstGeom prst="rect">
            <a:avLst/>
          </a:prstGeom>
          <a:solidFill>
            <a:srgbClr val="1A1A1A"/>
          </a:solidFill>
          <a:ln/>
        </p:spPr>
      </p:sp>
      <p:sp>
        <p:nvSpPr>
          <p:cNvPr id="10" name="Shape 8"/>
          <p:cNvSpPr/>
          <p:nvPr/>
        </p:nvSpPr>
        <p:spPr>
          <a:xfrm>
            <a:off x="6200623" y="1876425"/>
            <a:ext cx="5457673" cy="2162175"/>
          </a:xfrm>
          <a:prstGeom prst="rect">
            <a:avLst/>
          </a:prstGeom>
          <a:solidFill>
            <a:srgbClr val="F2F2F2"/>
          </a:solidFill>
          <a:ln w="6350">
            <a:solidFill>
              <a:srgbClr val="F2F2F2"/>
            </a:solidFill>
            <a:prstDash val="solid"/>
          </a:ln>
        </p:spPr>
      </p:sp>
      <p:sp>
        <p:nvSpPr>
          <p:cNvPr id="11" name="Text 9"/>
          <p:cNvSpPr/>
          <p:nvPr/>
        </p:nvSpPr>
        <p:spPr>
          <a:xfrm>
            <a:off x="6391123" y="2000250"/>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Operating effectiveness</a:t>
            </a:r>
            <a:endParaRPr lang="en-US" sz="2000" dirty="0"/>
          </a:p>
        </p:txBody>
      </p:sp>
      <p:sp>
        <p:nvSpPr>
          <p:cNvPr id="12" name="Text 10"/>
          <p:cNvSpPr/>
          <p:nvPr/>
        </p:nvSpPr>
        <p:spPr>
          <a:xfrm>
            <a:off x="6391123" y="2352675"/>
            <a:ext cx="5076673" cy="1609725"/>
          </a:xfrm>
          <a:prstGeom prst="rect">
            <a:avLst/>
          </a:prstGeom>
          <a:noFill/>
          <a:ln/>
        </p:spPr>
        <p:txBody>
          <a:bodyPr wrap="square" rtlCol="0" anchor="t"/>
          <a:lstStyle/>
          <a:p>
            <a:pPr indent="0" marL="0">
              <a:lnSpc>
                <a:spcPct val="130000"/>
              </a:lnSpc>
              <a:buNone/>
            </a:pPr>
            <a:r>
              <a:rPr lang="en-US" sz="1700" dirty="0">
                <a:solidFill>
                  <a:srgbClr val="3D3D3D"/>
                </a:solidFill>
                <a:latin typeface="Arial" pitchFamily="34" charset="0"/>
                <a:ea typeface="Arial" pitchFamily="34" charset="-122"/>
                <a:cs typeface="Arial" pitchFamily="34" charset="-120"/>
              </a:rPr>
              <a:t>There’s a sample — a real export, log, or record — showing the policy is actually what happens, not just what’s written down.</a:t>
            </a:r>
            <a:endParaRPr lang="en-US" sz="1700" dirty="0"/>
          </a:p>
        </p:txBody>
      </p:sp>
      <p:sp>
        <p:nvSpPr>
          <p:cNvPr id="13" name="Text 11"/>
          <p:cNvSpPr/>
          <p:nvPr/>
        </p:nvSpPr>
        <p:spPr>
          <a:xfrm>
            <a:off x="533400" y="4267200"/>
            <a:ext cx="11124895" cy="666750"/>
          </a:xfrm>
          <a:prstGeom prst="rect">
            <a:avLst/>
          </a:prstGeom>
          <a:noFill/>
          <a:ln/>
        </p:spPr>
        <p:txBody>
          <a:bodyPr wrap="square" rtlCol="0" anchor="t"/>
          <a:lstStyle/>
          <a:p>
            <a:pPr marL="342900" indent="-342900">
              <a:lnSpc>
                <a:spcPct val="140000"/>
              </a:lnSpc>
              <a:spcAft>
                <a:spcPts val="1000"/>
              </a:spcAft>
              <a:buSzPct val="100000"/>
              <a:buChar char="—"/>
            </a:pPr>
            <a:r>
              <a:rPr lang="en-US" sz="1500" dirty="0">
                <a:solidFill>
                  <a:srgbClr val="3D3D3D"/>
                </a:solidFill>
                <a:latin typeface="Arial" pitchFamily="34" charset="0"/>
                <a:ea typeface="Arial" pitchFamily="34" charset="-122"/>
                <a:cs typeface="Arial" pitchFamily="34" charset="-120"/>
              </a:rPr>
              <a:t>Design is provable in one document. Operating effectiveness needs a sample close enough to the control’s real output that it’s hard to fake — which is exactly why it takes several rounds to get there.</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7A7A7A"/>
                </a:solidFill>
                <a:latin typeface="Arial" pitchFamily="34" charset="0"/>
                <a:ea typeface="Arial" pitchFamily="34" charset="-122"/>
                <a:cs typeface="Arial" pitchFamily="34" charset="-120"/>
              </a:rPr>
              <a:t>SECTION 6</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Items 1–4,</a:t>
            </a:r>
            <a:endParaRPr lang="en-US" sz="4400" dirty="0"/>
          </a:p>
          <a:p>
            <a:pPr indent="0" marL="0">
              <a:lnSpc>
                <a:spcPct val="112000"/>
              </a:lnSpc>
              <a:buNone/>
            </a:pPr>
            <a:r>
              <a:rPr lang="en-US" sz="4400" dirty="0">
                <a:solidFill>
                  <a:srgbClr val="1A1A1A"/>
                </a:solidFill>
                <a:latin typeface="Georgia" pitchFamily="34" charset="0"/>
                <a:ea typeface="Georgia" pitchFamily="34" charset="-122"/>
                <a:cs typeface="Georgia" pitchFamily="34" charset="-120"/>
              </a:rPr>
              <a:t>Live.</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indent="0" marL="0">
              <a:lnSpc>
                <a:spcPct val="135000"/>
              </a:lnSpc>
              <a:buNone/>
            </a:pPr>
            <a:r>
              <a:rPr lang="en-US" sz="2000" dirty="0">
                <a:solidFill>
                  <a:srgbClr val="7A7A7A"/>
                </a:solidFill>
                <a:latin typeface="Arial" pitchFamily="34" charset="0"/>
                <a:ea typeface="Arial" pitchFamily="34" charset="-122"/>
                <a:cs typeface="Arial" pitchFamily="34" charset="-120"/>
              </a:rPr>
              <a:t>Four of the notice’s seven items, walked from non-compliant to where they actually landed — items 5–7 are your homework.</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3 · Part 3 · Case D  ·  10</a:t>
            </a:r>
            <a:endParaRPr lang="en-US" sz="1300" dirty="0"/>
          </a:p>
        </p:txBody>
      </p:sp>
      <p:sp>
        <p:nvSpPr>
          <p:cNvPr id="6" name="Text 4"/>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ITEMS 1–4 · ITEM 1</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Item 1: review every system, free of known vulnerabilities</a:t>
            </a:r>
            <a:endParaRPr lang="en-US" sz="3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447477"/>
                <a:gridCol w="8677418"/>
              </a:tblGrid>
              <a:tr h="6286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Stage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the evidence showed (specimen)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Non-compliant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No documented inventory of systems holding personal data; last scan was ad hoc, over a year old</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Partially compliant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Full inventory produced; external scan re-run and remediated — but only a one-time snapshot, no recurring cadence evidenced</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Fully compliant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A scheduled, recurring scan cadence with dated reports across three consecutive cycles, plus a patch-and-reharden checklist signed off each time</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6" name="Shape 3"/>
          <p:cNvSpPr/>
          <p:nvPr/>
        </p:nvSpPr>
        <p:spPr>
          <a:xfrm>
            <a:off x="533400" y="2466975"/>
            <a:ext cx="11124895" cy="19050"/>
          </a:xfrm>
          <a:prstGeom prst="rect">
            <a:avLst/>
          </a:prstGeom>
          <a:solidFill>
            <a:srgbClr val="1A1A1A"/>
          </a:solidFill>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ITEMS 1–4 · ITEM 2</a:t>
            </a:r>
            <a:endParaRPr lang="en-US" sz="1600" dirty="0"/>
          </a:p>
        </p:txBody>
      </p:sp>
      <p:sp>
        <p:nvSpPr>
          <p:cNvPr id="4" name="Text 2"/>
          <p:cNvSpPr/>
          <p:nvPr/>
        </p:nvSpPr>
        <p:spPr>
          <a:xfrm>
            <a:off x="533400" y="990600"/>
            <a:ext cx="11124895" cy="97155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Item 2: MFA and review for privileged accounts — the one that stayed partial</a:t>
            </a:r>
            <a:endParaRPr lang="en-US" sz="3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33400" y="2286000"/>
          <a:ext cx="11124895" cy="914400"/>
        </p:xfrm>
        <a:graphic>
          <a:graphicData uri="http://schemas.openxmlformats.org/drawingml/2006/table">
            <a:tbl>
              <a:tblPr/>
              <a:tblGrid>
                <a:gridCol w="2669975"/>
                <a:gridCol w="8454920"/>
              </a:tblGrid>
              <a:tr h="6286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Stage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the evidence showed (specimen)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Non-compliant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Shared admin credentials, no MFA on any privileged account, no periodic access review</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Partially compliant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MFA rolled out and evidenced for every account reaching the platform through the SSO/VPN gateway — verified via enrollment logs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Still not "fully compliant"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A local, service-style admin account — the exact class of account originally compromised — sits outside that gateway and was never brought under MFA</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6" name="Shape 3"/>
          <p:cNvSpPr/>
          <p:nvPr/>
        </p:nvSpPr>
        <p:spPr>
          <a:xfrm>
            <a:off x="533400" y="2905125"/>
            <a:ext cx="11124895" cy="19050"/>
          </a:xfrm>
          <a:prstGeom prst="rect">
            <a:avLst/>
          </a:prstGeom>
          <a:solidFill>
            <a:srgbClr val="1A1A1A"/>
          </a:solidFill>
          <a:ln/>
        </p:spPr>
      </p:sp>
      <p:sp>
        <p:nvSpPr>
          <p:cNvPr id="7" name="Text 4"/>
          <p:cNvSpPr/>
          <p:nvPr/>
        </p:nvSpPr>
        <p:spPr>
          <a:xfrm>
            <a:off x="533400" y="4800600"/>
            <a:ext cx="11124895" cy="487045"/>
          </a:xfrm>
          <a:prstGeom prst="rect">
            <a:avLst/>
          </a:prstGeom>
          <a:noFill/>
          <a:ln/>
        </p:spPr>
        <p:txBody>
          <a:bodyPr wrap="square" rtlCol="0" anchor="t"/>
          <a:lstStyle/>
          <a:p>
            <a:pPr indent="0" marL="0">
              <a:lnSpc>
                <a:spcPct val="125000"/>
              </a:lnSpc>
              <a:buNone/>
            </a:pPr>
            <a:r>
              <a:rPr lang="en-US" sz="1300" i="1" dirty="0">
                <a:solidFill>
                  <a:srgbClr val="3D3D3D"/>
                </a:solidFill>
                <a:latin typeface="Arial" pitchFamily="34" charset="0"/>
                <a:ea typeface="Arial" pitchFamily="34" charset="-122"/>
                <a:cs typeface="Arial" pitchFamily="34" charset="-120"/>
              </a:rPr>
              <a:t>Same lesson as Cyberport’s MFA slide in Case 3: "yes, we have MFA" isn’t a yes/no question — you drill asset by asset, and this is the asset that got missed.</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ITEMS 1–4 · ITEM 3</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Item 3: a password policy for the platform specifically</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124895" cy="914400"/>
        </p:xfrm>
        <a:graphic>
          <a:graphicData uri="http://schemas.openxmlformats.org/drawingml/2006/table">
            <a:tbl>
              <a:tblPr/>
              <a:tblGrid>
                <a:gridCol w="2447477"/>
                <a:gridCol w="8677418"/>
              </a:tblGrid>
              <a:tr h="6286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Stage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the evidence showed (specimen)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Non-compliant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No platform-specific policy; relied on a generic, unenforced university-wide guideline</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Partially compliant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A written policy adopted, with stricter rules stated for privileged accounts — but no system export showing it was actually configured</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Fully compliant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A configuration export from the platform itself matching every clause of the written policy, sampled across both general and privileged accounts</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6" name="Shape 3"/>
          <p:cNvSpPr/>
          <p:nvPr/>
        </p:nvSpPr>
        <p:spPr>
          <a:xfrm>
            <a:off x="533400" y="2466975"/>
            <a:ext cx="11124895" cy="19050"/>
          </a:xfrm>
          <a:prstGeom prst="rect">
            <a:avLst/>
          </a:prstGeom>
          <a:solidFill>
            <a:srgbClr val="1A1A1A"/>
          </a:solidFill>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ITEMS 1–4 · ITEM 4</a:t>
            </a:r>
            <a:endParaRPr lang="en-US" sz="1600" dirty="0"/>
          </a:p>
        </p:txBody>
      </p:sp>
      <p:sp>
        <p:nvSpPr>
          <p:cNvPr id="4" name="Text 2"/>
          <p:cNvSpPr/>
          <p:nvPr/>
        </p:nvSpPr>
        <p:spPr>
          <a:xfrm>
            <a:off x="533400" y="990600"/>
            <a:ext cx="11124895" cy="97155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Item 4: policies covering prevention, detection, response, and patching</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33400" y="2286000"/>
          <a:ext cx="11124895" cy="914400"/>
        </p:xfrm>
        <a:graphic>
          <a:graphicData uri="http://schemas.openxmlformats.org/drawingml/2006/table">
            <a:tbl>
              <a:tblPr/>
              <a:tblGrid>
                <a:gridCol w="2447477"/>
                <a:gridCol w="8677418"/>
              </a:tblGrid>
              <a:tr h="628650">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Stage</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600" b="1" spc="110" kern="0" dirty="0">
                          <a:solidFill>
                            <a:srgbClr val="7A7A7A"/>
                          </a:solidFill>
                          <a:latin typeface="Arial" pitchFamily="34" charset="0"/>
                          <a:ea typeface="Arial" pitchFamily="34" charset="-122"/>
                          <a:cs typeface="Arial" pitchFamily="34" charset="-120"/>
                        </a:rPr>
                        <a:t>What the evidence showed (specimen)</a:t>
                      </a:r>
                      <a:endParaRPr lang="en-US" sz="16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Non-compliant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No single information-security policy document; practices existed informally, undocumented, and inconsistently followed</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Partially compliant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A consolidated policy drafted and approved, covering all four areas the notice named</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r h="628650">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Fully compliant</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3D3D3D"/>
                          </a:solidFill>
                          <a:latin typeface="Arial" pitchFamily="34" charset="0"/>
                          <a:ea typeface="Arial" pitchFamily="34" charset="-122"/>
                          <a:cs typeface="Arial" pitchFamily="34" charset="-120"/>
                        </a:rPr>
                        <a:t>Interview evidence from policy owners plus a sampled incident-response tabletop exercise and a patch-management log matching the policy’s stated cadence</a:t>
                      </a:r>
                      <a:endParaRPr lang="en-US" sz="14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r>
            </a:tbl>
          </a:graphicData>
        </a:graphic>
      </p:graphicFrame>
      <p:sp>
        <p:nvSpPr>
          <p:cNvPr id="6" name="Shape 3"/>
          <p:cNvSpPr/>
          <p:nvPr/>
        </p:nvSpPr>
        <p:spPr>
          <a:xfrm>
            <a:off x="533400" y="2905125"/>
            <a:ext cx="11124895" cy="19050"/>
          </a:xfrm>
          <a:prstGeom prst="rect">
            <a:avLst/>
          </a:prstGeom>
          <a:solidFill>
            <a:srgbClr val="1A1A1A"/>
          </a:solidFill>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ITEMS 1–4 · HANDOFF</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Items 5–7 — saved for your homework</a:t>
            </a:r>
            <a:endParaRPr lang="en-US" sz="3000" dirty="0"/>
          </a:p>
        </p:txBody>
      </p:sp>
      <p:sp>
        <p:nvSpPr>
          <p:cNvPr id="5" name="Shape 3"/>
          <p:cNvSpPr/>
          <p:nvPr/>
        </p:nvSpPr>
        <p:spPr>
          <a:xfrm>
            <a:off x="533400" y="1847850"/>
            <a:ext cx="5457673" cy="28575"/>
          </a:xfrm>
          <a:prstGeom prst="rect">
            <a:avLst/>
          </a:prstGeom>
          <a:solidFill>
            <a:srgbClr val="1A1A1A"/>
          </a:solidFill>
          <a:ln/>
        </p:spPr>
      </p:sp>
      <p:sp>
        <p:nvSpPr>
          <p:cNvPr id="6" name="Shape 4"/>
          <p:cNvSpPr/>
          <p:nvPr/>
        </p:nvSpPr>
        <p:spPr>
          <a:xfrm>
            <a:off x="533400" y="1876425"/>
            <a:ext cx="5457673" cy="2200275"/>
          </a:xfrm>
          <a:prstGeom prst="rect">
            <a:avLst/>
          </a:prstGeom>
          <a:solidFill>
            <a:srgbClr val="F2F2F2"/>
          </a:solidFill>
          <a:ln w="6350">
            <a:solidFill>
              <a:srgbClr val="F2F2F2"/>
            </a:solidFill>
            <a:prstDash val="solid"/>
          </a:ln>
        </p:spPr>
      </p:sp>
      <p:sp>
        <p:nvSpPr>
          <p:cNvPr id="7" name="Text 5"/>
          <p:cNvSpPr/>
          <p:nvPr/>
        </p:nvSpPr>
        <p:spPr>
          <a:xfrm>
            <a:off x="723900" y="200025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HOMEWORK</a:t>
            </a:r>
            <a:endParaRPr lang="en-US" sz="1600" dirty="0"/>
          </a:p>
        </p:txBody>
      </p:sp>
      <p:sp>
        <p:nvSpPr>
          <p:cNvPr id="8" name="Text 6"/>
          <p:cNvSpPr/>
          <p:nvPr/>
        </p:nvSpPr>
        <p:spPr>
          <a:xfrm>
            <a:off x="723900" y="2276475"/>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5. Staff compliance</a:t>
            </a:r>
            <a:endParaRPr lang="en-US" sz="2000" dirty="0"/>
          </a:p>
        </p:txBody>
      </p:sp>
      <p:sp>
        <p:nvSpPr>
          <p:cNvPr id="9" name="Text 7"/>
          <p:cNvSpPr/>
          <p:nvPr/>
        </p:nvSpPr>
        <p:spPr>
          <a:xfrm>
            <a:off x="723900" y="2628900"/>
            <a:ext cx="5076673" cy="137160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Measures ensuring staff follow items 2–4 — training and attestation, not just the policy.</a:t>
            </a:r>
            <a:endParaRPr lang="en-US" sz="2000" dirty="0"/>
          </a:p>
        </p:txBody>
      </p:sp>
      <p:sp>
        <p:nvSpPr>
          <p:cNvPr id="10" name="Shape 8"/>
          <p:cNvSpPr/>
          <p:nvPr/>
        </p:nvSpPr>
        <p:spPr>
          <a:xfrm>
            <a:off x="6200623" y="1847850"/>
            <a:ext cx="5457673" cy="28575"/>
          </a:xfrm>
          <a:prstGeom prst="rect">
            <a:avLst/>
          </a:prstGeom>
          <a:solidFill>
            <a:srgbClr val="1A1A1A"/>
          </a:solidFill>
          <a:ln/>
        </p:spPr>
      </p:sp>
      <p:sp>
        <p:nvSpPr>
          <p:cNvPr id="11" name="Shape 9"/>
          <p:cNvSpPr/>
          <p:nvPr/>
        </p:nvSpPr>
        <p:spPr>
          <a:xfrm>
            <a:off x="6200623" y="1876425"/>
            <a:ext cx="5457673" cy="2200275"/>
          </a:xfrm>
          <a:prstGeom prst="rect">
            <a:avLst/>
          </a:prstGeom>
          <a:solidFill>
            <a:srgbClr val="F2F2F2"/>
          </a:solidFill>
          <a:ln w="6350">
            <a:solidFill>
              <a:srgbClr val="F2F2F2"/>
            </a:solidFill>
            <a:prstDash val="solid"/>
          </a:ln>
        </p:spPr>
      </p:sp>
      <p:sp>
        <p:nvSpPr>
          <p:cNvPr id="12" name="Text 10"/>
          <p:cNvSpPr/>
          <p:nvPr/>
        </p:nvSpPr>
        <p:spPr>
          <a:xfrm>
            <a:off x="6391123" y="2000250"/>
            <a:ext cx="5076673"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HOMEWORK</a:t>
            </a:r>
            <a:endParaRPr lang="en-US" sz="1600" dirty="0"/>
          </a:p>
        </p:txBody>
      </p:sp>
      <p:sp>
        <p:nvSpPr>
          <p:cNvPr id="13" name="Text 11"/>
          <p:cNvSpPr/>
          <p:nvPr/>
        </p:nvSpPr>
        <p:spPr>
          <a:xfrm>
            <a:off x="6391123" y="2276475"/>
            <a:ext cx="5076673"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6. Anti-malware / endpoint</a:t>
            </a:r>
            <a:endParaRPr lang="en-US" sz="2000" dirty="0"/>
          </a:p>
        </p:txBody>
      </p:sp>
      <p:sp>
        <p:nvSpPr>
          <p:cNvPr id="14" name="Text 12"/>
          <p:cNvSpPr/>
          <p:nvPr/>
        </p:nvSpPr>
        <p:spPr>
          <a:xfrm>
            <a:off x="6391123" y="2628900"/>
            <a:ext cx="5076673" cy="137160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Anti-malware and endpoint security installed across the school’s systems.</a:t>
            </a:r>
            <a:endParaRPr lang="en-US" sz="2000" dirty="0"/>
          </a:p>
        </p:txBody>
      </p:sp>
      <p:sp>
        <p:nvSpPr>
          <p:cNvPr id="15" name="Shape 13"/>
          <p:cNvSpPr/>
          <p:nvPr/>
        </p:nvSpPr>
        <p:spPr>
          <a:xfrm>
            <a:off x="533400" y="4267200"/>
            <a:ext cx="11124895" cy="28575"/>
          </a:xfrm>
          <a:prstGeom prst="rect">
            <a:avLst/>
          </a:prstGeom>
          <a:solidFill>
            <a:srgbClr val="1A1A1A"/>
          </a:solidFill>
          <a:ln/>
        </p:spPr>
      </p:sp>
      <p:sp>
        <p:nvSpPr>
          <p:cNvPr id="16" name="Shape 14"/>
          <p:cNvSpPr/>
          <p:nvPr/>
        </p:nvSpPr>
        <p:spPr>
          <a:xfrm>
            <a:off x="533400" y="4295775"/>
            <a:ext cx="11124895" cy="1400175"/>
          </a:xfrm>
          <a:prstGeom prst="rect">
            <a:avLst/>
          </a:prstGeom>
          <a:solidFill>
            <a:srgbClr val="F2F2F2"/>
          </a:solidFill>
          <a:ln w="6350">
            <a:solidFill>
              <a:srgbClr val="F2F2F2"/>
            </a:solidFill>
            <a:prstDash val="solid"/>
          </a:ln>
        </p:spPr>
      </p:sp>
      <p:sp>
        <p:nvSpPr>
          <p:cNvPr id="17" name="Text 15"/>
          <p:cNvSpPr/>
          <p:nvPr/>
        </p:nvSpPr>
        <p:spPr>
          <a:xfrm>
            <a:off x="723900" y="4419600"/>
            <a:ext cx="10743895" cy="200025"/>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HOMEWORK</a:t>
            </a:r>
            <a:endParaRPr lang="en-US" sz="1600" dirty="0"/>
          </a:p>
        </p:txBody>
      </p:sp>
      <p:sp>
        <p:nvSpPr>
          <p:cNvPr id="18" name="Text 16"/>
          <p:cNvSpPr/>
          <p:nvPr/>
        </p:nvSpPr>
        <p:spPr>
          <a:xfrm>
            <a:off x="723900" y="4695825"/>
            <a:ext cx="10743895" cy="276225"/>
          </a:xfrm>
          <a:prstGeom prst="rect">
            <a:avLst/>
          </a:prstGeom>
          <a:noFill/>
          <a:ln/>
        </p:spPr>
        <p:txBody>
          <a:bodyPr wrap="square" rtlCol="0" anchor="t"/>
          <a:lstStyle/>
          <a:p>
            <a:pPr indent="0" marL="0">
              <a:buNone/>
            </a:pPr>
            <a:r>
              <a:rPr lang="en-US" sz="2000" b="1" dirty="0">
                <a:solidFill>
                  <a:srgbClr val="1A1A1A"/>
                </a:solidFill>
                <a:latin typeface="Arial" pitchFamily="34" charset="0"/>
                <a:ea typeface="Arial" pitchFamily="34" charset="-122"/>
                <a:cs typeface="Arial" pitchFamily="34" charset="-120"/>
              </a:rPr>
              <a:t>7. Documentary proof</a:t>
            </a:r>
            <a:endParaRPr lang="en-US" sz="2000" dirty="0"/>
          </a:p>
        </p:txBody>
      </p:sp>
      <p:sp>
        <p:nvSpPr>
          <p:cNvPr id="19" name="Text 17"/>
          <p:cNvSpPr/>
          <p:nvPr/>
        </p:nvSpPr>
        <p:spPr>
          <a:xfrm>
            <a:off x="723900" y="5048250"/>
            <a:ext cx="10743895" cy="571500"/>
          </a:xfrm>
          <a:prstGeom prst="rect">
            <a:avLst/>
          </a:prstGeom>
          <a:noFill/>
          <a:ln/>
        </p:spPr>
        <p:txBody>
          <a:bodyPr wrap="square" rtlCol="0" anchor="t"/>
          <a:lstStyle/>
          <a:p>
            <a:pPr indent="0" marL="0">
              <a:lnSpc>
                <a:spcPct val="130000"/>
              </a:lnSpc>
              <a:buNone/>
            </a:pPr>
            <a:r>
              <a:rPr lang="en-US" sz="2000" dirty="0">
                <a:solidFill>
                  <a:srgbClr val="3D3D3D"/>
                </a:solidFill>
                <a:latin typeface="Arial" pitchFamily="34" charset="0"/>
                <a:ea typeface="Arial" pitchFamily="34" charset="-122"/>
                <a:cs typeface="Arial" pitchFamily="34" charset="-120"/>
              </a:rPr>
              <a:t>Proof of items 1–6, all of it, inside three months of the notice’s date.</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indent="0" marL="0">
              <a:buNone/>
            </a:pPr>
            <a:r>
              <a:rPr lang="en-US" sz="1600" b="1" spc="140" kern="0" dirty="0">
                <a:solidFill>
                  <a:srgbClr val="D04A02"/>
                </a:solidFill>
                <a:latin typeface="Arial" pitchFamily="34" charset="0"/>
                <a:ea typeface="Arial" pitchFamily="34" charset="-122"/>
                <a:cs typeface="Arial" pitchFamily="34" charset="-120"/>
              </a:rPr>
              <a:t>PULSE CHECK</a:t>
            </a:r>
            <a:endParaRPr lang="en-US" sz="1600" dirty="0"/>
          </a:p>
        </p:txBody>
      </p:sp>
      <p:sp>
        <p:nvSpPr>
          <p:cNvPr id="3" name="Shape 1"/>
          <p:cNvSpPr/>
          <p:nvPr/>
        </p:nvSpPr>
        <p:spPr>
          <a:xfrm>
            <a:off x="533400" y="895350"/>
            <a:ext cx="609600" cy="28575"/>
          </a:xfrm>
          <a:prstGeom prst="rect">
            <a:avLst/>
          </a:prstGeom>
          <a:solidFill>
            <a:srgbClr val="D04A02"/>
          </a:solidFill>
          <a:ln/>
        </p:spPr>
      </p:sp>
      <p:sp>
        <p:nvSpPr>
          <p:cNvPr id="4" name="Text 2"/>
          <p:cNvSpPr/>
          <p:nvPr/>
        </p:nvSpPr>
        <p:spPr>
          <a:xfrm>
            <a:off x="533400" y="1797898"/>
            <a:ext cx="9906000" cy="2500203"/>
          </a:xfrm>
          <a:prstGeom prst="rect">
            <a:avLst/>
          </a:prstGeom>
          <a:noFill/>
          <a:ln/>
        </p:spPr>
        <p:txBody>
          <a:bodyPr wrap="square" rtlCol="0" anchor="t"/>
          <a:lstStyle/>
          <a:p>
            <a:pPr indent="0" marL="0">
              <a:lnSpc>
                <a:spcPct val="118000"/>
              </a:lnSpc>
              <a:buNone/>
            </a:pPr>
            <a:r>
              <a:rPr lang="en-US" sz="3400" dirty="0">
                <a:solidFill>
                  <a:srgbClr val="1A1A1A"/>
                </a:solidFill>
                <a:latin typeface="Georgia" pitchFamily="34" charset="0"/>
                <a:ea typeface="Georgia" pitchFamily="34" charset="-122"/>
                <a:cs typeface="Georgia" pitchFamily="34" charset="-120"/>
              </a:rPr>
              <a:t>An organisation can go from zero documented controls to a fully evidenced set in a matter of months — but only for the things it was told to prove.</a:t>
            </a:r>
            <a:endParaRPr lang="en-US" sz="3400" dirty="0"/>
          </a:p>
        </p:txBody>
      </p:sp>
      <p:sp>
        <p:nvSpPr>
          <p:cNvPr id="5" name="Text 3"/>
          <p:cNvSpPr/>
          <p:nvPr/>
        </p:nvSpPr>
        <p:spPr>
          <a:xfrm>
            <a:off x="533400" y="4564802"/>
            <a:ext cx="8572500" cy="228600"/>
          </a:xfrm>
          <a:prstGeom prst="rect">
            <a:avLst/>
          </a:prstGeom>
          <a:noFill/>
          <a:ln/>
        </p:spPr>
        <p:txBody>
          <a:bodyPr wrap="square" rtlCol="0" anchor="ctr"/>
          <a:lstStyle/>
          <a:p>
            <a:pPr indent="0" marL="0">
              <a:buNone/>
            </a:pPr>
            <a:r>
              <a:rPr lang="en-US" sz="1600" b="1" spc="110" kern="0" dirty="0">
                <a:solidFill>
                  <a:srgbClr val="7A7A7A"/>
                </a:solidFill>
                <a:latin typeface="Arial" pitchFamily="34" charset="0"/>
                <a:ea typeface="Arial" pitchFamily="34" charset="-122"/>
                <a:cs typeface="Arial" pitchFamily="34" charset="-120"/>
              </a:rPr>
              <a:t>RAISE YOUR HAND IF YOU THINK A REGULATOR’S LIST OF SEVEN ITEMS IS THE CEILING OF "SECURE," NOT THE FLOOR</a:t>
            </a:r>
            <a:endParaRPr lang="en-US" sz="1600" dirty="0"/>
          </a:p>
        </p:txBody>
      </p:sp>
      <p:sp>
        <p:nvSpPr>
          <p:cNvPr id="6" name="Text 4"/>
          <p:cNvSpPr/>
          <p:nvPr/>
        </p:nvSpPr>
        <p:spPr>
          <a:xfrm>
            <a:off x="1104900" y="6553200"/>
            <a:ext cx="6667500" cy="209550"/>
          </a:xfrm>
          <a:prstGeom prst="rect">
            <a:avLst/>
          </a:prstGeom>
          <a:noFill/>
          <a:ln/>
        </p:spPr>
        <p:txBody>
          <a:bodyPr wrap="square" rtlCol="0" anchor="ctr"/>
          <a:lstStyle/>
          <a:p>
            <a:pPr algn="l" indent="0" marL="0">
              <a:buNone/>
            </a:pPr>
            <a:r>
              <a:rPr lang="en-US" sz="1300" dirty="0">
                <a:solidFill>
                  <a:srgbClr val="7A7A7A"/>
                </a:solidFill>
                <a:latin typeface="Arial" pitchFamily="34" charset="0"/>
                <a:ea typeface="Arial" pitchFamily="34" charset="-122"/>
                <a:cs typeface="Arial" pitchFamily="34" charset="-120"/>
              </a:rPr>
              <a:t>CS5292 · Week 3 · Part 3 · Case D  ·  11</a:t>
            </a:r>
            <a:endParaRPr lang="en-US" sz="1300" dirty="0"/>
          </a:p>
        </p:txBody>
      </p:sp>
      <p:sp>
        <p:nvSpPr>
          <p:cNvPr id="7" name="Text 5"/>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CLOSING · COMPARISON</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How Case D differs from CNCBI, HKIB, and Cyberport</a:t>
            </a:r>
            <a:endParaRPr lang="en-US" sz="3000" dirty="0"/>
          </a:p>
        </p:txBody>
      </p:sp>
      <p:sp>
        <p:nvSpPr>
          <p:cNvPr id="5" name="Text 3"/>
          <p:cNvSpPr/>
          <p:nvPr/>
        </p:nvSpPr>
        <p:spPr>
          <a:xfrm>
            <a:off x="533400" y="1847850"/>
            <a:ext cx="11124895" cy="3429000"/>
          </a:xfrm>
          <a:prstGeom prst="rect">
            <a:avLst/>
          </a:prstGeom>
          <a:noFill/>
          <a:ln/>
        </p:spPr>
        <p:txBody>
          <a:bodyPr wrap="square" rtlCol="0" anchor="t"/>
          <a:lstStyle/>
          <a:p>
            <a:pPr marL="342900" indent="-342900">
              <a:lnSpc>
                <a:spcPct val="140000"/>
              </a:lnSpc>
              <a:spcAft>
                <a:spcPts val="1000"/>
              </a:spcAft>
              <a:buSzPct val="100000"/>
              <a:buChar char="—"/>
            </a:pPr>
            <a:r>
              <a:rPr lang="en-US" sz="1700" dirty="0">
                <a:solidFill>
                  <a:srgbClr val="3D3D3D"/>
                </a:solidFill>
                <a:latin typeface="Arial" pitchFamily="34" charset="0"/>
                <a:ea typeface="Arial" pitchFamily="34" charset="-122"/>
                <a:cs typeface="Arial" pitchFamily="34" charset="-120"/>
              </a:rPr>
              <a:t>Self-reported, not regulator-triggered — the school told PCPD before anyone made it, and still ended up with a binding Enforcement Notice. Self-reporting shapes the conversation; it doesn’t exempt you from one.</a:t>
            </a:r>
            <a:endParaRPr lang="en-US" sz="1700" dirty="0"/>
          </a:p>
          <a:p>
            <a:pPr marL="342900" indent="-342900">
              <a:lnSpc>
                <a:spcPct val="140000"/>
              </a:lnSpc>
              <a:spcAft>
                <a:spcPts val="1000"/>
              </a:spcAft>
              <a:buSzPct val="100000"/>
              <a:buChar char="—"/>
            </a:pPr>
            <a:r>
              <a:rPr lang="en-US" sz="1700" dirty="0">
                <a:solidFill>
                  <a:srgbClr val="3D3D3D"/>
                </a:solidFill>
                <a:latin typeface="Arial" pitchFamily="34" charset="0"/>
                <a:ea typeface="Arial" pitchFamily="34" charset="-122"/>
                <a:cs typeface="Arial" pitchFamily="34" charset="-120"/>
              </a:rPr>
              <a:t>One low-capability actor, an outsized result — success came from a stolen, still-valid, un-MFA’d credential, not from skill. Sophistication was in the marketing, not the intrusion.</a:t>
            </a:r>
            <a:endParaRPr lang="en-US" sz="1700" dirty="0"/>
          </a:p>
          <a:p>
            <a:pPr marL="342900" indent="-342900">
              <a:lnSpc>
                <a:spcPct val="140000"/>
              </a:lnSpc>
              <a:spcAft>
                <a:spcPts val="1000"/>
              </a:spcAft>
              <a:buSzPct val="100000"/>
              <a:buChar char="—"/>
            </a:pPr>
            <a:r>
              <a:rPr lang="en-US" sz="1700" dirty="0">
                <a:solidFill>
                  <a:srgbClr val="3D3D3D"/>
                </a:solidFill>
                <a:latin typeface="Arial" pitchFamily="34" charset="0"/>
                <a:ea typeface="Arial" pitchFamily="34" charset="-122"/>
                <a:cs typeface="Arial" pitchFamily="34" charset="-120"/>
              </a:rPr>
              <a:t>The MFA gap is the same lesson twice — Cyberport’s exposed remote-access asset, this school’s local admin account outside the SSO gateway. Different shape, same drill-down question.</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81795" y="152400"/>
            <a:ext cx="2476500" cy="171450"/>
          </a:xfrm>
          <a:prstGeom prst="rect">
            <a:avLst/>
          </a:prstGeom>
          <a:noFill/>
          <a:ln/>
        </p:spPr>
        <p:txBody>
          <a:bodyPr wrap="square" rtlCol="0" anchor="ctr"/>
          <a:lstStyle/>
          <a:p>
            <a:pPr algn="r" indent="0" marL="0">
              <a:buNone/>
            </a:pPr>
            <a:r>
              <a:rPr lang="en-US" sz="1000" b="1" spc="100" kern="0" dirty="0">
                <a:solidFill>
                  <a:srgbClr val="7A7A7A"/>
                </a:solidFill>
                <a:latin typeface="Arial" pitchFamily="34" charset="0"/>
                <a:ea typeface="Arial" pitchFamily="34" charset="-122"/>
                <a:cs typeface="Arial" pitchFamily="34" charset="-120"/>
              </a:rPr>
              <a:t>CASE D · IDENTITY WITHHELD</a:t>
            </a:r>
            <a:endParaRPr lang="en-US" sz="1000" dirty="0"/>
          </a:p>
        </p:txBody>
      </p:sp>
      <p:sp>
        <p:nvSpPr>
          <p:cNvPr id="3" name="Text 1"/>
          <p:cNvSpPr/>
          <p:nvPr/>
        </p:nvSpPr>
        <p:spPr>
          <a:xfrm>
            <a:off x="533400" y="704850"/>
            <a:ext cx="11124895" cy="209550"/>
          </a:xfrm>
          <a:prstGeom prst="rect">
            <a:avLst/>
          </a:prstGeom>
          <a:noFill/>
          <a:ln/>
        </p:spPr>
        <p:txBody>
          <a:bodyPr wrap="square" rtlCol="0" anchor="ctr"/>
          <a:lstStyle/>
          <a:p>
            <a:pPr indent="0" marL="0">
              <a:buNone/>
            </a:pPr>
            <a:r>
              <a:rPr lang="en-US" sz="1600" b="1" spc="120" kern="0" dirty="0">
                <a:solidFill>
                  <a:srgbClr val="D04A02"/>
                </a:solidFill>
                <a:latin typeface="Arial" pitchFamily="34" charset="0"/>
                <a:ea typeface="Arial" pitchFamily="34" charset="-122"/>
                <a:cs typeface="Arial" pitchFamily="34" charset="-120"/>
              </a:rPr>
              <a:t>PART 3 · CLOSING THOUGHT</a:t>
            </a:r>
            <a:endParaRPr lang="en-US" sz="1600" dirty="0"/>
          </a:p>
        </p:txBody>
      </p:sp>
      <p:sp>
        <p:nvSpPr>
          <p:cNvPr id="4" name="Text 2"/>
          <p:cNvSpPr/>
          <p:nvPr/>
        </p:nvSpPr>
        <p:spPr>
          <a:xfrm>
            <a:off x="533400" y="990600"/>
            <a:ext cx="11124895" cy="533400"/>
          </a:xfrm>
          <a:prstGeom prst="rect">
            <a:avLst/>
          </a:prstGeom>
          <a:noFill/>
          <a:ln/>
        </p:spPr>
        <p:txBody>
          <a:bodyPr wrap="square" rtlCol="0" anchor="t"/>
          <a:lstStyle/>
          <a:p>
            <a:pPr indent="0" marL="0">
              <a:buNone/>
            </a:pPr>
            <a:r>
              <a:rPr lang="en-US" sz="3000" dirty="0">
                <a:solidFill>
                  <a:srgbClr val="1A1A1A"/>
                </a:solidFill>
                <a:latin typeface="Georgia" pitchFamily="34" charset="0"/>
                <a:ea typeface="Georgia" pitchFamily="34" charset="-122"/>
                <a:cs typeface="Georgia" pitchFamily="34" charset="-120"/>
              </a:rPr>
              <a:t>The notice ends the investigation. It doesn’t end the work.</a:t>
            </a:r>
            <a:endParaRPr lang="en-US" sz="3000" dirty="0"/>
          </a:p>
        </p:txBody>
      </p:sp>
      <p:sp>
        <p:nvSpPr>
          <p:cNvPr id="5" name="Text 3"/>
          <p:cNvSpPr/>
          <p:nvPr/>
        </p:nvSpPr>
        <p:spPr>
          <a:xfrm>
            <a:off x="533400" y="1847850"/>
            <a:ext cx="11124895" cy="3238500"/>
          </a:xfrm>
          <a:prstGeom prst="rect">
            <a:avLst/>
          </a:prstGeom>
          <a:noFill/>
          <a:ln/>
        </p:spPr>
        <p:txBody>
          <a:bodyPr wrap="square" rtlCol="0" anchor="t"/>
          <a:lstStyle/>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A regulator’s Enforcement Notice is a floor, not a ceiling — it names what this one incident exposed, not everything an organisation should be doing.</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Proving compliance is a different skill from being compliant: it takes someone who knows what evidence would actually prove the point, not just what’s easy to hand over.</a:t>
            </a:r>
            <a:endParaRPr lang="en-US" sz="1800" dirty="0"/>
          </a:p>
          <a:p>
            <a:pPr marL="342900" indent="-342900">
              <a:lnSpc>
                <a:spcPct val="140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Your homework picks up exactly here — items 5 through 7, the same method, and you in the reviewer’s seat.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CS5292 Week 3 — Part 3: Case D (Anonymized)</dc:title>
  <dc:subject>PptxGenJS Presentation</dc:subject>
  <dc:creator>Jason Lee</dc:creator>
  <cp:lastModifiedBy>Jason Lee</cp:lastModifiedBy>
  <cp:revision>1</cp:revision>
  <dcterms:created xsi:type="dcterms:W3CDTF">2026-09-16T10:58:17Z</dcterms:created>
  <dcterms:modified xsi:type="dcterms:W3CDTF">2026-09-16T10:58:17Z</dcterms:modified>
</cp:coreProperties>
</file>