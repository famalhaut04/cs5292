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57927" autoAdjust="0"/>
  </p:normalViewPr>
  <p:slideViewPr>
    <p:cSldViewPr snapToGrid="0" snapToObjects="1">
      <p:cViewPr varScale="1">
        <p:scale>
          <a:sx n="45" d="100"/>
          <a:sy n="45" d="100"/>
        </p:scale>
        <p:origin x="39" y="156"/>
      </p:cViewPr>
      <p:guideLst/>
    </p:cSldViewPr>
  </p:slideViewPr>
  <p:notesTextViewPr>
    <p:cViewPr>
      <p:scale>
        <a:sx n="1" d="1"/>
        <a:sy n="1" d="1"/>
      </p:scale>
      <p:origin x="0" y="-177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evening everyone.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me start with a quick question.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many of you have heard of S17 or G3 before this course?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(pause)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how many of you have actually looked at the documents?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(pause)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Okay.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many.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 actually what I expected.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people don't come across these documents unless they're working quite closely with Government systems, Government projects, audits or compliance work.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rather than spending tonight reading through the documents section by section, I thought it would be more useful to talk about why they exist, how they work, and what happens when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organisations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actually try to apply them.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that's usually where things become interesting.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I'll also share some lessons from working on framework revamp projects, Government training, audit work and implementation projects over the past few years.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understand why S17 and G3 exist, we need to start with a very simple question.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people hear "Hong Kong Government", they often think of it as one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a cybersecurity perspective, it's a bit more complicated than that.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actually a large collection of different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bureaux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departments and offices.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let me ask you something.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many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bureaux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departments do you think there are?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A: around 20.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B: around 40.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C: more than 60.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 take a guess.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one is expected to know the answer.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(poll audience)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answer is actually closer to C.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honestly, the exact number isn't the important part.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important part is the scale.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we worked with Government frameworks, one thing that became very obvious was just how many different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organisations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were involved.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bureaux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departments.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have offices.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they all operate differently.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provide public-facing services.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support internal operations.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have relatively modern technology environments.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Others rely on systems that have been around for many years.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let me ask you a question.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all these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organisations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need to follow the same security framework, what do you think would be difficult?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(pause)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 it be consistency?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Resources?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Legacy systems?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 levels of technical maturity?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reality is that all of those become challenges.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that's why managing security across Government is very different from managing security in a single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why do we need S17 and G3?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me, the answer is consistency.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Government is a large collection of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bureaux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departments.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operate different systems.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have different responsibilities.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have different levels of technical complexity.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at the same time, Government still needs a common way to define security requirements, assess risk and perform audits.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a common framework, every department would end up interpreting security differently.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 what S17 and G3 are designed to solve.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provide a common baseline, common terminology and a common way of assessing whether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organisations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meeting the expected standard.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at this point, we know why a framework is needed.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next question is: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 actually maintains it?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answer is DPO, the Digital Policy Office.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you've read older Government documents, you may also have seen the name OGCIO.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essentially the same function under the previous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organisational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structure.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DPO is responsible for maintaining Government IT policies, standards and guidance, including S17 and G3.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thing that surprised me when I first started working with the framework was how broad it actually is.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people hear "IT security policy", they often think it's something for the IT team.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Actually, it goes much wider than that.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Management has responsibilities.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System administrators have responsibilities.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 users have responsibilities.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Vendors and contractors also have responsibilities.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if you think about most security incidents, they rarely happen because of a single technical issue.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Usually there is a combination of people, process and technology involved.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that's reflected in how the framework is written as well.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let's look at the two documents themselves.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forget everything else from today's lecture, I'd suggest remembering one simple thing.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S17 is the what.</a:t>
            </a:r>
            <a:br>
              <a:rPr lang="en-US" altLang="zh-HK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HK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G3 is the how.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 honestly the easiest way to remember the difference.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S17 tells departments what outcomes are required.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G3 provides more practical implementation guidance.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reason they are separated is that technology changes much faster than policy objectives.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objective might remain relevant for ten years.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technical implementation may change every few years.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me try a quick example.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I say: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"Privileged access must be protected."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that the what or the how?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(pause)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I'd say that's mainly the what.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we start talking about specific controls or implementation methods, then we're moving into the how.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framework doesn't stop with S17 and G3.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sit inside a larger hierarchy.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the top are the Security Regulations.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S17.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G3.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various practice guides.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underneath that, each department develops its own procedures and operational tools.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Auditors often look at it from the opposite direction.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start from evidence.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ask whether it supports the procedure.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whether the procedure supports the higher-level requirement.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 why all these documents need to work together.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this point, you might be wondering why I'm talking about this particular framework.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short answer is that I've seen it from a few very different perspectives.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first was during the framework revamp project.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 that stage, the focus was very much on policy and governance.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spent a lot of time discussing questions like: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 this requirement still make sense?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 it reflect today's threat landscape?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departments realistically implement it?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other words, we were looking at the framework from a design perspective.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Later, I became involved in Government training.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was quite interesting because I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realised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very quickly that publishing a framework doesn't mean people automatically know how to use it.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challenge we kept seeing was that people understood the process, but were often less confident interpreting technical evidence, such as vulnerability scan results or penetration-testing reports.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I became involved in Government audit work.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gave me a completely different perspective again.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you're doing a framework review, you're thinking about what requirements should exist.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you're doing an audit, you're asking a different question: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 I actually see evidence that this requirement is working?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Sometimes the policy looked perfectly reasonable.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implementation was where the real challenges appeared.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More recently, I've been involved in implementation and assessment-related work at MTR.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MTR does not use the Government framework directly, but interestingly, many of the challenges are very similar.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Regardless of the framework you're using, there is always a gap between a requirement on paper and the way people actually apply it in practice.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Questions around consistency, evidence, risk assessment and governance appear again and again.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What's interesting is that all these experiences looked at security from different angles.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 design.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Audit.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Implementation.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many of the observations I'll share in the remaining slides come from seeing the same governance problems from those different perspectives.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start with the revamp.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project wasn't about creating a new framework.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framework already existed.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challenge was keeping it relevant.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Technology had changed.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Threats had changed.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Industry expectations had changed.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some areas needed strengthening.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of the biggest themes was moving towards a more risk-based approach.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every system deserves exactly the same level of protection.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 matters.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Business impact matters.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Risk matters.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 me ask you a question.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two systems use exactly the same technology, should they automatically have the same security requirements?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Probably not.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might support a low-impact internal process.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other might support an important public service.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 why risk differentiation became increasingly important.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thing we learnt during the review was that improving security sounds much easier than it actually is.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paper, it's easy to write a requirement.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Implementing it across a large environment is much harder.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thing that surprised me during the revamp was how often the conversation wasn't about whether a control was a good idea.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people agreed it was a good idea.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discussion was usually about implementation.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long would it take?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systems would be affected?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much change would be required?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could departments realistically adopt it?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when discussing capabilities such as EDR or SOC monitoring, the benefits were usually clear.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harder question was implementation.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Some departments had relatively modern environments.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Others relied on systems that had been running for many years.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Introducing a new security tool wasn't simply a matter of buying software and switching it on.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were testing considerations.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Integration considerations.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 considerations.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Budget was another factor.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you're introducing a new capability across Government, you're not affecting one team.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You're potentially affecting many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bureaux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departments, all operating under different constraints.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thing we found during the review was that it's very easy to recommend controls.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difficult part is implementing them consistently across a large environment.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 why change needs to be risk-based and realistic.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requirement only has value if people can actually implement it effectively.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brings us to SRAA.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me, this is where the framework starts becoming real.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Everything begins with scope.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you assess risk, you need to understand what you're assessing.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systems?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data?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business functions?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Only then do threats, vulnerabilities and controls become meaningful.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thing I always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emphasise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ownership.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Consultants can help.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consultants don't own the risk.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department does.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still needs to understand the findings, decide whether the risk is acceptable and make the final decision.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department still makes the final risk decision.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probably the slide I care most about.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this is where many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organisations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struggle.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framework may be good.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process may be good.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report may even look good.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people still need to understand what the report is actually saying.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imagine somebody gives you a penetration-testing report.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says three High findings and ten Medium findings.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that enough information for you to decide whether the system is high risk?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Probably not.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still need to understand the context.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need to understand what those findings actually mean.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that's why I always ask one particular question when reviewing assessments.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did you get from this technical finding to this risk conclusion?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I can't follow that logic, I usually keep asking questions.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same issue appears during implementation.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Writing a policy is usually the easy part.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Designing a process is also relatively straightforward.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real challenge starts when the process becomes part of day-to-day operations.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once something becomes BAU, people already have their normal responsibilities.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 deadlines.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Operational issues.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Meetings.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Production support.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naturally, very few people wake up in the morning hoping somebody will give them an extra form to complete.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(small smile)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 when governance starts to get tested.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in assessment-related work, everybody agrees that security assessments are important.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harder question is: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 we make sure people perform them consistently, every time they are required?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just this month.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just because an audit is coming.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as part of normal operations.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 where procedures, templates and workbooks become important.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need to be clear enough that different people can reach similar conclusions.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need to be practical enough that people are willing to use them.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they need to be structured enough that the results can be reviewed and challenged.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thing I've learnt from implementation work is that people generally don't resist security because they disagree with security.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resist processes that feel complicated, unclear or difficult to apply.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a big part of implementation is reducing unnecessary friction.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 it easy to understand.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Making it easy to follow.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making it clear why the process matters.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Interestingly, many governance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programmes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struggle at exactly this point.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because the policy is wrong.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 because the framework is weak.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because the process isn't practical enough for BAU operations.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 why I sometimes think implementation is the hardest part of governance.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policy may only be a few pages.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Getting hundreds of people to apply it consistently over time is the real challenge.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we finish, I thought I'd end with a few lessons that I've found myself coming back to quite often over the years.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aren't really lessons about S17 or G3 specifically.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They're lessons about security governance in general.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security frameworks exist for a reason.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large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organisations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different teams, different systems and different people need a common way of working.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that consistency, governance becomes very difficult.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Second, frameworks are only the starting point.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Writing a requirement is usually the easy part.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Implementing it consistently is much harder.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Third, good security decisions depend on context.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same technology does not always mean the same risk.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same control does not always mean the same business impact.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 why risk-based thinking is so important.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finally, don't let governance become a paperwork exercise.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 you're reviewing a penetration-testing report, performing an assessment, or responding to an audit finding, keep asking: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do we believe this risk exists?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And: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evidence supports this conclusion?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Those questions are often more valuable than </a:t>
            </a:r>
            <a:r>
              <a:rPr lang="en-US" altLang="zh-HK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memorising</a:t>
            </a:r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any specific framework requirement.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Looking back across framework work, training, audits and implementation, I think that's probably the biggest lesson I've learnt.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Security frameworks are important.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they're only useful when people understand them and apply them consistently.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That's where the real value comes from.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very much.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HK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I'm happy to take any questions.</a:t>
            </a:r>
            <a:endParaRPr lang="zh-TW" altLang="zh-HK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36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DFC9"/>
                </a:solidFill>
              </a:rPr>
              <a:t>CS5292 · WEEK 4 · GUEST LECTURE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144475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S17 and G3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CE3F0"/>
                </a:solidFill>
              </a:rPr>
              <a:t>Hong Kong Government IT Security Framework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DCE3F0"/>
                </a:solidFill>
              </a:rPr>
              <a:t>A practitioner’s perspective on framework revamp, assessment and implementation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00584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Ellie Liu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4956048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E3F0"/>
                </a:solidFill>
              </a:rPr>
              <a:t>Manager, Technology Risk Management · MTR Corporation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651052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394"/>
                </a:solidFill>
              </a:rPr>
              <a:t>CS5292 · Cybersecurity Audits and Compliance · Week 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201400" y="649224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394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36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777240" y="9144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8DFC9"/>
                </a:solidFill>
              </a:rPr>
              <a:t>OPENING QUESTION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5087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How many bureaux and departments are there in the Hong Kong Government?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743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CE3F0"/>
                </a:solidFill>
              </a:rPr>
              <a:t>Take a guess before we look at the answer.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3200400" cy="1097280"/>
          </a:xfrm>
          <a:prstGeom prst="roundRect">
            <a:avLst>
              <a:gd name="adj" fmla="val 2500"/>
            </a:avLst>
          </a:prstGeom>
          <a:solidFill>
            <a:srgbClr val="31466E"/>
          </a:solidFill>
          <a:ln w="7620">
            <a:solidFill>
              <a:srgbClr val="DDE1E8"/>
            </a:solidFill>
            <a:prstDash val="solid"/>
          </a:ln>
          <a:effectLst>
            <a:outerShdw blurRad="38100" dist="508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1097280" y="38404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DFC9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38039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About 20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3520440"/>
            <a:ext cx="3200400" cy="1097280"/>
          </a:xfrm>
          <a:prstGeom prst="roundRect">
            <a:avLst>
              <a:gd name="adj" fmla="val 2500"/>
            </a:avLst>
          </a:prstGeom>
          <a:solidFill>
            <a:srgbClr val="31466E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9" name="Text 7"/>
          <p:cNvSpPr/>
          <p:nvPr/>
        </p:nvSpPr>
        <p:spPr>
          <a:xfrm>
            <a:off x="4572000" y="38404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DFC9"/>
                </a:solidFill>
              </a:rPr>
              <a:t>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66360" y="38039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About 40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0" y="3520440"/>
            <a:ext cx="3200400" cy="1097280"/>
          </a:xfrm>
          <a:prstGeom prst="roundRect">
            <a:avLst>
              <a:gd name="adj" fmla="val 2500"/>
            </a:avLst>
          </a:prstGeom>
          <a:solidFill>
            <a:srgbClr val="31466E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12" name="Text 10"/>
          <p:cNvSpPr/>
          <p:nvPr/>
        </p:nvSpPr>
        <p:spPr>
          <a:xfrm>
            <a:off x="8046720" y="38404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DFC9"/>
                </a:solidFill>
              </a:rPr>
              <a:t>C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41080" y="38039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More than 60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651052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394"/>
                </a:solidFill>
              </a:rPr>
              <a:t>CS5292 · Cybersecurity Audits and Compliance · Week 4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201400" y="649224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394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78A35"/>
                </a:solidFill>
              </a:rPr>
              <a:t>THE ANSWER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365B"/>
                </a:solidFill>
              </a:rPr>
              <a:t>A large and diverse organisation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15 policy bureaux, together with dozens of departments and offices, each running many IT systems.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920240"/>
            <a:ext cx="3429000" cy="3337560"/>
          </a:xfrm>
          <a:prstGeom prst="roundRect">
            <a:avLst>
              <a:gd name="adj" fmla="val 822"/>
            </a:avLst>
          </a:prstGeom>
          <a:solidFill>
            <a:srgbClr val="EEE7D8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B78A35"/>
                </a:solidFill>
              </a:rPr>
              <a:t>15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4365B"/>
                </a:solidFill>
              </a:rPr>
              <a:t>policy bureaux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67085"/>
                </a:solidFill>
              </a:rPr>
              <a:t>under the Government Secretariat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617720" y="214884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65B"/>
                </a:solidFill>
              </a:rPr>
              <a:t>plus 56 departments and offices…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17720" y="26517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1" name="Shape 9"/>
          <p:cNvSpPr/>
          <p:nvPr/>
        </p:nvSpPr>
        <p:spPr>
          <a:xfrm>
            <a:off x="5202936" y="26517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Shape 10"/>
          <p:cNvSpPr/>
          <p:nvPr/>
        </p:nvSpPr>
        <p:spPr>
          <a:xfrm>
            <a:off x="5788152" y="26517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3" name="Shape 11"/>
          <p:cNvSpPr/>
          <p:nvPr/>
        </p:nvSpPr>
        <p:spPr>
          <a:xfrm>
            <a:off x="6373368" y="26517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4" name="Shape 12"/>
          <p:cNvSpPr/>
          <p:nvPr/>
        </p:nvSpPr>
        <p:spPr>
          <a:xfrm>
            <a:off x="6958584" y="26517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5" name="Shape 13"/>
          <p:cNvSpPr/>
          <p:nvPr/>
        </p:nvSpPr>
        <p:spPr>
          <a:xfrm>
            <a:off x="7543800" y="26517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6" name="Shape 14"/>
          <p:cNvSpPr/>
          <p:nvPr/>
        </p:nvSpPr>
        <p:spPr>
          <a:xfrm>
            <a:off x="8129016" y="26517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7" name="Shape 15"/>
          <p:cNvSpPr/>
          <p:nvPr/>
        </p:nvSpPr>
        <p:spPr>
          <a:xfrm>
            <a:off x="8714232" y="26517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8" name="Shape 16"/>
          <p:cNvSpPr/>
          <p:nvPr/>
        </p:nvSpPr>
        <p:spPr>
          <a:xfrm>
            <a:off x="9299448" y="26517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9" name="Shape 17"/>
          <p:cNvSpPr/>
          <p:nvPr/>
        </p:nvSpPr>
        <p:spPr>
          <a:xfrm>
            <a:off x="9884664" y="26517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Shape 18"/>
          <p:cNvSpPr/>
          <p:nvPr/>
        </p:nvSpPr>
        <p:spPr>
          <a:xfrm>
            <a:off x="10469880" y="26517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2" name="Shape 20"/>
          <p:cNvSpPr/>
          <p:nvPr/>
        </p:nvSpPr>
        <p:spPr>
          <a:xfrm>
            <a:off x="5202936" y="31089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3" name="Shape 21"/>
          <p:cNvSpPr/>
          <p:nvPr/>
        </p:nvSpPr>
        <p:spPr>
          <a:xfrm>
            <a:off x="5788152" y="31089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4" name="Shape 22"/>
          <p:cNvSpPr/>
          <p:nvPr/>
        </p:nvSpPr>
        <p:spPr>
          <a:xfrm>
            <a:off x="6373368" y="31089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5" name="Shape 23"/>
          <p:cNvSpPr/>
          <p:nvPr/>
        </p:nvSpPr>
        <p:spPr>
          <a:xfrm>
            <a:off x="6958584" y="31089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6" name="Shape 24"/>
          <p:cNvSpPr/>
          <p:nvPr/>
        </p:nvSpPr>
        <p:spPr>
          <a:xfrm>
            <a:off x="7543800" y="31089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7" name="Shape 25"/>
          <p:cNvSpPr/>
          <p:nvPr/>
        </p:nvSpPr>
        <p:spPr>
          <a:xfrm>
            <a:off x="8129016" y="31089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8" name="Shape 26"/>
          <p:cNvSpPr/>
          <p:nvPr/>
        </p:nvSpPr>
        <p:spPr>
          <a:xfrm>
            <a:off x="8714232" y="31089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9" name="Shape 27"/>
          <p:cNvSpPr/>
          <p:nvPr/>
        </p:nvSpPr>
        <p:spPr>
          <a:xfrm>
            <a:off x="9299448" y="31089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0" name="Shape 28"/>
          <p:cNvSpPr/>
          <p:nvPr/>
        </p:nvSpPr>
        <p:spPr>
          <a:xfrm>
            <a:off x="9884664" y="31089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1" name="Shape 29"/>
          <p:cNvSpPr/>
          <p:nvPr/>
        </p:nvSpPr>
        <p:spPr>
          <a:xfrm>
            <a:off x="10469880" y="31089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2" name="Shape 30"/>
          <p:cNvSpPr/>
          <p:nvPr/>
        </p:nvSpPr>
        <p:spPr>
          <a:xfrm>
            <a:off x="4617720" y="35661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3" name="Shape 31"/>
          <p:cNvSpPr/>
          <p:nvPr/>
        </p:nvSpPr>
        <p:spPr>
          <a:xfrm>
            <a:off x="5202936" y="35661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4" name="Shape 32"/>
          <p:cNvSpPr/>
          <p:nvPr/>
        </p:nvSpPr>
        <p:spPr>
          <a:xfrm>
            <a:off x="5788152" y="35661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5" name="Shape 33"/>
          <p:cNvSpPr/>
          <p:nvPr/>
        </p:nvSpPr>
        <p:spPr>
          <a:xfrm>
            <a:off x="6373368" y="35661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6" name="Shape 34"/>
          <p:cNvSpPr/>
          <p:nvPr/>
        </p:nvSpPr>
        <p:spPr>
          <a:xfrm>
            <a:off x="6958584" y="35661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7" name="Shape 35"/>
          <p:cNvSpPr/>
          <p:nvPr/>
        </p:nvSpPr>
        <p:spPr>
          <a:xfrm>
            <a:off x="7543800" y="35661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8" name="Shape 36"/>
          <p:cNvSpPr/>
          <p:nvPr/>
        </p:nvSpPr>
        <p:spPr>
          <a:xfrm>
            <a:off x="8129016" y="35661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39" name="Shape 37"/>
          <p:cNvSpPr/>
          <p:nvPr/>
        </p:nvSpPr>
        <p:spPr>
          <a:xfrm>
            <a:off x="8714232" y="35661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0" name="Shape 38"/>
          <p:cNvSpPr/>
          <p:nvPr/>
        </p:nvSpPr>
        <p:spPr>
          <a:xfrm>
            <a:off x="9299448" y="35661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1" name="Shape 39"/>
          <p:cNvSpPr/>
          <p:nvPr/>
        </p:nvSpPr>
        <p:spPr>
          <a:xfrm>
            <a:off x="9884664" y="35661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2" name="Shape 40"/>
          <p:cNvSpPr/>
          <p:nvPr/>
        </p:nvSpPr>
        <p:spPr>
          <a:xfrm>
            <a:off x="10469880" y="35661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3" name="Shape 41"/>
          <p:cNvSpPr/>
          <p:nvPr/>
        </p:nvSpPr>
        <p:spPr>
          <a:xfrm>
            <a:off x="4617720" y="40233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4" name="Shape 42"/>
          <p:cNvSpPr/>
          <p:nvPr/>
        </p:nvSpPr>
        <p:spPr>
          <a:xfrm>
            <a:off x="5202936" y="40233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5" name="Shape 43"/>
          <p:cNvSpPr/>
          <p:nvPr/>
        </p:nvSpPr>
        <p:spPr>
          <a:xfrm>
            <a:off x="5788152" y="40233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6" name="Shape 44"/>
          <p:cNvSpPr/>
          <p:nvPr/>
        </p:nvSpPr>
        <p:spPr>
          <a:xfrm>
            <a:off x="6373368" y="40233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7" name="Shape 45"/>
          <p:cNvSpPr/>
          <p:nvPr/>
        </p:nvSpPr>
        <p:spPr>
          <a:xfrm>
            <a:off x="6958584" y="40233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8" name="Shape 46"/>
          <p:cNvSpPr/>
          <p:nvPr/>
        </p:nvSpPr>
        <p:spPr>
          <a:xfrm>
            <a:off x="7543800" y="40233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49" name="Shape 47"/>
          <p:cNvSpPr/>
          <p:nvPr/>
        </p:nvSpPr>
        <p:spPr>
          <a:xfrm>
            <a:off x="8129016" y="40233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50" name="Shape 48"/>
          <p:cNvSpPr/>
          <p:nvPr/>
        </p:nvSpPr>
        <p:spPr>
          <a:xfrm>
            <a:off x="8714232" y="40233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51" name="Shape 49"/>
          <p:cNvSpPr/>
          <p:nvPr/>
        </p:nvSpPr>
        <p:spPr>
          <a:xfrm>
            <a:off x="9299448" y="40233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52" name="Shape 50"/>
          <p:cNvSpPr/>
          <p:nvPr/>
        </p:nvSpPr>
        <p:spPr>
          <a:xfrm>
            <a:off x="9884664" y="40233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53" name="Shape 51"/>
          <p:cNvSpPr/>
          <p:nvPr/>
        </p:nvSpPr>
        <p:spPr>
          <a:xfrm>
            <a:off x="10469880" y="40233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54" name="Shape 52"/>
          <p:cNvSpPr/>
          <p:nvPr/>
        </p:nvSpPr>
        <p:spPr>
          <a:xfrm>
            <a:off x="4617720" y="44805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55" name="Shape 53"/>
          <p:cNvSpPr/>
          <p:nvPr/>
        </p:nvSpPr>
        <p:spPr>
          <a:xfrm>
            <a:off x="5202936" y="44805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56" name="Shape 54"/>
          <p:cNvSpPr/>
          <p:nvPr/>
        </p:nvSpPr>
        <p:spPr>
          <a:xfrm>
            <a:off x="5788152" y="44805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57" name="Shape 55"/>
          <p:cNvSpPr/>
          <p:nvPr/>
        </p:nvSpPr>
        <p:spPr>
          <a:xfrm>
            <a:off x="6373368" y="44805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58" name="Shape 56"/>
          <p:cNvSpPr/>
          <p:nvPr/>
        </p:nvSpPr>
        <p:spPr>
          <a:xfrm>
            <a:off x="6958584" y="44805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59" name="Shape 57"/>
          <p:cNvSpPr/>
          <p:nvPr/>
        </p:nvSpPr>
        <p:spPr>
          <a:xfrm>
            <a:off x="7543800" y="44805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0" name="Shape 58"/>
          <p:cNvSpPr/>
          <p:nvPr/>
        </p:nvSpPr>
        <p:spPr>
          <a:xfrm>
            <a:off x="8129016" y="44805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1" name="Shape 59"/>
          <p:cNvSpPr/>
          <p:nvPr/>
        </p:nvSpPr>
        <p:spPr>
          <a:xfrm>
            <a:off x="8714232" y="44805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2" name="Shape 60"/>
          <p:cNvSpPr/>
          <p:nvPr/>
        </p:nvSpPr>
        <p:spPr>
          <a:xfrm>
            <a:off x="9299448" y="44805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3" name="Shape 61"/>
          <p:cNvSpPr/>
          <p:nvPr/>
        </p:nvSpPr>
        <p:spPr>
          <a:xfrm>
            <a:off x="9884664" y="44805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4" name="Shape 62"/>
          <p:cNvSpPr/>
          <p:nvPr/>
        </p:nvSpPr>
        <p:spPr>
          <a:xfrm>
            <a:off x="10469880" y="4480560"/>
            <a:ext cx="438912" cy="329184"/>
          </a:xfrm>
          <a:prstGeom prst="roundRect">
            <a:avLst/>
          </a:prstGeom>
          <a:solidFill>
            <a:srgbClr val="24365B"/>
          </a:solidFill>
          <a:ln w="3810">
            <a:solidFill>
              <a:srgbClr val="53678D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5" name="Text 63"/>
          <p:cNvSpPr/>
          <p:nvPr/>
        </p:nvSpPr>
        <p:spPr>
          <a:xfrm>
            <a:off x="914400" y="57607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7085"/>
                </a:solidFill>
              </a:rPr>
              <a:t>The exact combined total depends on scope and organisational changes. The scale and diversity are the important points.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94360" y="651052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394"/>
                </a:solidFill>
              </a:rPr>
              <a:t>CS5292 · Cybersecurity Audits and Compliance · Week 4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1201400" y="649224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394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78A35"/>
                </a:solidFill>
              </a:rPr>
              <a:t>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365B"/>
                </a:solidFill>
              </a:rPr>
              <a:t>Why a Government-wide security framework is needed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Across a large organisation, protection is only as strong as its least consistent part.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4892040" cy="3657600"/>
          </a:xfrm>
          <a:prstGeom prst="roundRect">
            <a:avLst>
              <a:gd name="adj" fmla="val 750"/>
            </a:avLst>
          </a:prstGeom>
          <a:solidFill>
            <a:srgbClr val="F2E5E2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960120" y="2194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A3B2E"/>
                </a:solidFill>
              </a:rPr>
              <a:t>Without a common baseline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78992" y="26974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30" b="1" dirty="0">
                <a:solidFill>
                  <a:srgbClr val="24365B"/>
                </a:solidFill>
              </a:rPr>
              <a:t>Uneven protection — </a:t>
            </a:r>
            <a:r>
              <a:rPr lang="en-US" sz="1130" dirty="0">
                <a:solidFill>
                  <a:srgbClr val="273142"/>
                </a:solidFill>
              </a:rPr>
              <a:t>a weaker organisation can expose shared data and services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1078992" y="335584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30" b="1" dirty="0">
                <a:solidFill>
                  <a:srgbClr val="24365B"/>
                </a:solidFill>
              </a:rPr>
              <a:t>No common language — </a:t>
            </a:r>
            <a:r>
              <a:rPr lang="en-US" sz="1130" dirty="0">
                <a:solidFill>
                  <a:srgbClr val="273142"/>
                </a:solidFill>
              </a:rPr>
              <a:t>risk cannot be compared across Government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1078992" y="4014216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30" b="1" dirty="0">
                <a:solidFill>
                  <a:srgbClr val="24365B"/>
                </a:solidFill>
              </a:rPr>
              <a:t>Duplicated effort — </a:t>
            </a:r>
            <a:r>
              <a:rPr lang="en-US" sz="1130" dirty="0">
                <a:solidFill>
                  <a:srgbClr val="273142"/>
                </a:solidFill>
              </a:rPr>
              <a:t>each organisation writes and interprets its own rules</a:t>
            </a:r>
            <a:endParaRPr lang="en-US" sz="1130" dirty="0"/>
          </a:p>
        </p:txBody>
      </p:sp>
      <p:sp>
        <p:nvSpPr>
          <p:cNvPr id="10" name="Text 8"/>
          <p:cNvSpPr/>
          <p:nvPr/>
        </p:nvSpPr>
        <p:spPr>
          <a:xfrm>
            <a:off x="1078992" y="4672584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30" b="1" dirty="0">
                <a:solidFill>
                  <a:srgbClr val="24365B"/>
                </a:solidFill>
              </a:rPr>
              <a:t>Hidden gaps — </a:t>
            </a:r>
            <a:r>
              <a:rPr lang="en-US" sz="1130" dirty="0">
                <a:solidFill>
                  <a:srgbClr val="273142"/>
                </a:solidFill>
              </a:rPr>
              <a:t>no consistent way to see who is below an acceptable level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5669280" y="3429000"/>
            <a:ext cx="457200" cy="256032"/>
          </a:xfrm>
          <a:prstGeom prst="chevron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Shape 10"/>
          <p:cNvSpPr/>
          <p:nvPr/>
        </p:nvSpPr>
        <p:spPr>
          <a:xfrm>
            <a:off x="6583680" y="1874520"/>
            <a:ext cx="4892040" cy="3657600"/>
          </a:xfrm>
          <a:prstGeom prst="roundRect">
            <a:avLst>
              <a:gd name="adj" fmla="val 750"/>
            </a:avLst>
          </a:prstGeom>
          <a:solidFill>
            <a:srgbClr val="24365B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13" name="Text 11"/>
          <p:cNvSpPr/>
          <p:nvPr/>
        </p:nvSpPr>
        <p:spPr>
          <a:xfrm>
            <a:off x="6903720" y="21945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With S17 and G3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04304" y="274320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DEE5F2"/>
                </a:solidFill>
              </a:rPr>
              <a:t>One minimum standard every organisation must meet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04304" y="334670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DEE5F2"/>
                </a:solidFill>
              </a:rPr>
              <a:t>Common terminology and expectations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004304" y="395020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DEE5F2"/>
                </a:solidFill>
              </a:rPr>
              <a:t>A shared basis for assessment and audit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004304" y="455371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50" dirty="0">
                <a:solidFill>
                  <a:srgbClr val="DEE5F2"/>
                </a:solidFill>
              </a:rPr>
              <a:t>Comparable assurance across Government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4360" y="651052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394"/>
                </a:solidFill>
              </a:rPr>
              <a:t>CS5292 · Cybersecurity Audits and Compliance · Week 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01400" y="649224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394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78A35"/>
                </a:solidFill>
              </a:rPr>
              <a:t>WHO OWNS THE FRAMEWORK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365B"/>
                </a:solidFill>
              </a:rPr>
              <a:t>The Digital Policy Office (DPO)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The Government body responsible for central IT policy, standards and guidelines.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65B"/>
                </a:solidFill>
              </a:rPr>
              <a:t>Develops and maintains the framework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5897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667085"/>
                </a:solidFill>
              </a:rPr>
              <a:t>S17, G3 and the supporting practice guides are issued and kept up to date by the DPO.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85800" y="3044952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65B"/>
                </a:solidFill>
              </a:rPr>
              <a:t>Formerly the OGCIO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410712"/>
            <a:ext cx="5897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667085"/>
                </a:solidFill>
              </a:rPr>
              <a:t>OGCIO means the Office of the Government Chief Information Officer. The earlier name still appears in published documents.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685800" y="412394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4365B"/>
                </a:solidFill>
              </a:rPr>
              <a:t>Aligned to recognised standards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4489704"/>
            <a:ext cx="5897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667085"/>
                </a:solidFill>
              </a:rPr>
              <a:t>Requirements draw on international standards and industry practice, and are reviewed over time.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7040880" y="1965960"/>
            <a:ext cx="4434840" cy="3703320"/>
          </a:xfrm>
          <a:prstGeom prst="roundRect">
            <a:avLst>
              <a:gd name="adj" fmla="val 741"/>
            </a:avLst>
          </a:prstGeom>
          <a:solidFill>
            <a:srgbClr val="24365B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12" name="Text 10"/>
          <p:cNvSpPr/>
          <p:nvPr/>
        </p:nvSpPr>
        <p:spPr>
          <a:xfrm>
            <a:off x="7360920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Who it applies to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60920" y="2926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DEE5F2"/>
                </a:solidFill>
              </a:rPr>
              <a:t>Government bureaux and departments (B/Ds)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7360920" y="37673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DEE5F2"/>
                </a:solidFill>
              </a:rPr>
              <a:t>All levels of their staff: management, IT administrators and end users</a:t>
            </a:r>
            <a:endParaRPr lang="en-US" sz="1230" dirty="0"/>
          </a:p>
        </p:txBody>
      </p:sp>
      <p:sp>
        <p:nvSpPr>
          <p:cNvPr id="15" name="Text 13"/>
          <p:cNvSpPr/>
          <p:nvPr/>
        </p:nvSpPr>
        <p:spPr>
          <a:xfrm>
            <a:off x="7360920" y="460857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DEE5F2"/>
                </a:solidFill>
              </a:rPr>
              <a:t>Vendors, contractors and consultants providing IT services to Government</a:t>
            </a:r>
            <a:endParaRPr lang="en-US" sz="1230" dirty="0"/>
          </a:p>
        </p:txBody>
      </p:sp>
      <p:sp>
        <p:nvSpPr>
          <p:cNvPr id="16" name="Text 14"/>
          <p:cNvSpPr/>
          <p:nvPr/>
        </p:nvSpPr>
        <p:spPr>
          <a:xfrm>
            <a:off x="594360" y="651052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394"/>
                </a:solidFill>
              </a:rPr>
              <a:t>CS5292 · Cybersecurity Audits and Compliance · Week 4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1201400" y="649224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394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78A35"/>
                </a:solidFill>
              </a:rPr>
              <a:t>CORE DOCUMENTS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365B"/>
                </a:solidFill>
              </a:rPr>
              <a:t>S17 and G3 work together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The policy requirement and implementation guidance are distinct, but should always be read together.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4800600" cy="3429000"/>
          </a:xfrm>
          <a:prstGeom prst="roundRect">
            <a:avLst>
              <a:gd name="adj" fmla="val 800"/>
            </a:avLst>
          </a:prstGeom>
          <a:solidFill>
            <a:srgbClr val="EBEFF5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4"/>
          <p:cNvSpPr/>
          <p:nvPr/>
        </p:nvSpPr>
        <p:spPr>
          <a:xfrm>
            <a:off x="6720840" y="1965960"/>
            <a:ext cx="4800600" cy="3429000"/>
          </a:xfrm>
          <a:prstGeom prst="roundRect">
            <a:avLst>
              <a:gd name="adj" fmla="val 800"/>
            </a:avLst>
          </a:prstGeom>
          <a:solidFill>
            <a:srgbClr val="EEE7D8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713232" cy="274320"/>
          </a:xfrm>
          <a:prstGeom prst="rect">
            <a:avLst/>
          </a:prstGeom>
          <a:solidFill>
            <a:srgbClr val="2436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S17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83080" y="230428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365B"/>
                </a:solidFill>
              </a:rPr>
              <a:t>Baseline IT Security Policy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783080" y="2670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</a:rPr>
              <a:t>Mandatory baseline requirements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273142"/>
                </a:solidFill>
              </a:rPr>
              <a:t>States what must be achieved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1005840" y="387705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273142"/>
                </a:solidFill>
              </a:rPr>
              <a:t>Defines the minimum security baseline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005840" y="44622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273142"/>
                </a:solidFill>
              </a:rPr>
              <a:t>Applies across bureaux and departments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995160" y="2331720"/>
            <a:ext cx="713232" cy="274320"/>
          </a:xfrm>
          <a:prstGeom prst="rect">
            <a:avLst/>
          </a:prstGeom>
          <a:solidFill>
            <a:srgbClr val="B78A3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18120" y="23042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365B"/>
                </a:solidFill>
              </a:rPr>
              <a:t>IT Security Guidelines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818120" y="26700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7085"/>
                </a:solidFill>
              </a:rPr>
              <a:t>Implementation standard and guidance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329184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273142"/>
                </a:solidFill>
              </a:rPr>
              <a:t>Elaborates on S17 requirements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7040880" y="387705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273142"/>
                </a:solidFill>
              </a:rPr>
              <a:t>Explains how requirements may be implemented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7040880" y="446227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273142"/>
                </a:solidFill>
              </a:rPr>
              <a:t>Provides “one-</a:t>
            </a:r>
            <a:r>
              <a:rPr lang="en-US" altLang="zh-TW" sz="1220" dirty="0">
                <a:solidFill>
                  <a:srgbClr val="273142"/>
                </a:solidFill>
              </a:rPr>
              <a:t>level-down”</a:t>
            </a:r>
            <a:r>
              <a:rPr lang="zh-TW" altLang="en-US" sz="1220" dirty="0">
                <a:solidFill>
                  <a:srgbClr val="273142"/>
                </a:solidFill>
              </a:rPr>
              <a:t> </a:t>
            </a:r>
            <a:r>
              <a:rPr lang="en-US" sz="1220" dirty="0">
                <a:solidFill>
                  <a:srgbClr val="273142"/>
                </a:solidFill>
              </a:rPr>
              <a:t>operational and technical detail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5715000" y="3474720"/>
            <a:ext cx="502920" cy="256032"/>
          </a:xfrm>
          <a:prstGeom prst="chevron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Text 18"/>
          <p:cNvSpPr/>
          <p:nvPr/>
        </p:nvSpPr>
        <p:spPr>
          <a:xfrm>
            <a:off x="594360" y="651052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394"/>
                </a:solidFill>
              </a:rPr>
              <a:t>CS5292 · Cybersecurity Audits and Compliance · Week 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01400" y="649224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394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78A35"/>
                </a:solidFill>
              </a:rPr>
              <a:t>DOCUMENT FRAMEWORK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365B"/>
                </a:solidFill>
              </a:rPr>
              <a:t>The Government security document hierarchy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Each layer translates higher-level requirements into progressively more practical guidance and tools.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901288" y="1828800"/>
            <a:ext cx="4389120" cy="594360"/>
          </a:xfrm>
          <a:prstGeom prst="roundRect">
            <a:avLst/>
          </a:prstGeom>
          <a:solidFill>
            <a:srgbClr val="3A4A73"/>
          </a:solidFill>
          <a:ln w="12700">
            <a:solidFill>
              <a:srgbClr val="3A4A73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4129888" y="1947672"/>
            <a:ext cx="1931213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Security Regulations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20283" y="1947672"/>
            <a:ext cx="19659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2F6"/>
                </a:solidFill>
              </a:rPr>
              <a:t>Classification and protection requirements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98368" y="2633472"/>
            <a:ext cx="5394960" cy="594360"/>
          </a:xfrm>
          <a:prstGeom prst="roundRect">
            <a:avLst/>
          </a:prstGeom>
          <a:solidFill>
            <a:srgbClr val="24365B"/>
          </a:solidFill>
          <a:ln w="12700">
            <a:solidFill>
              <a:srgbClr val="24365B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9" name="Text 7"/>
          <p:cNvSpPr/>
          <p:nvPr/>
        </p:nvSpPr>
        <p:spPr>
          <a:xfrm>
            <a:off x="3626968" y="2752344"/>
            <a:ext cx="237378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S17 · Baseline IT Security Policy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80049" y="2752344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2F6"/>
                </a:solidFill>
              </a:rPr>
              <a:t>Mandatory security requirements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95448" y="3438144"/>
            <a:ext cx="6400800" cy="594360"/>
          </a:xfrm>
          <a:prstGeom prst="roundRect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12" name="Text 10"/>
          <p:cNvSpPr/>
          <p:nvPr/>
        </p:nvSpPr>
        <p:spPr>
          <a:xfrm>
            <a:off x="3124048" y="3557016"/>
            <a:ext cx="281635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G3 · IT Security Guidelines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39816" y="3557016"/>
            <a:ext cx="29718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2F6"/>
                </a:solidFill>
              </a:rPr>
              <a:t>Implementation standards and guidance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392528" y="4242816"/>
            <a:ext cx="7406640" cy="594360"/>
          </a:xfrm>
          <a:prstGeom prst="roundRect">
            <a:avLst/>
          </a:prstGeom>
          <a:solidFill>
            <a:srgbClr val="738099"/>
          </a:solidFill>
          <a:ln w="12700">
            <a:solidFill>
              <a:srgbClr val="738099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15" name="Text 13"/>
          <p:cNvSpPr/>
          <p:nvPr/>
        </p:nvSpPr>
        <p:spPr>
          <a:xfrm>
            <a:off x="2621128" y="4361688"/>
            <a:ext cx="325892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Practice Guides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99582" y="4361688"/>
            <a:ext cx="3474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2F6"/>
                </a:solidFill>
              </a:rPr>
              <a:t>Topic-specific practical guidance, including SRAA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89608" y="5047488"/>
            <a:ext cx="8412480" cy="594360"/>
          </a:xfrm>
          <a:prstGeom prst="roundRect">
            <a:avLst/>
          </a:prstGeom>
          <a:solidFill>
            <a:srgbClr val="9AA3B5"/>
          </a:solidFill>
          <a:ln w="12700">
            <a:solidFill>
              <a:srgbClr val="9AA3B5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18" name="Text 16"/>
          <p:cNvSpPr/>
          <p:nvPr/>
        </p:nvSpPr>
        <p:spPr>
          <a:xfrm>
            <a:off x="2118208" y="5166360"/>
            <a:ext cx="3701491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Departmental policies, procedures and tools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59348" y="5166360"/>
            <a:ext cx="3977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F0F2F6"/>
                </a:solidFill>
              </a:rPr>
              <a:t>Operational implementation within each organisation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651052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394"/>
                </a:solidFill>
              </a:rPr>
              <a:t>CS5292 · Cybersecurity Audits and Compliance · Week 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01400" y="649224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394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78A35"/>
                </a:solidFill>
              </a:rPr>
              <a:t>PRACTITIONER PERSPECTIVE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365B"/>
                </a:solidFill>
              </a:rPr>
              <a:t>My experience with the framework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Four separate milestones showing how the work progressed from framework design to implementation.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914400" y="2487168"/>
            <a:ext cx="10287000" cy="1"/>
          </a:xfrm>
          <a:prstGeom prst="line">
            <a:avLst/>
          </a:prstGeom>
          <a:noFill/>
          <a:ln w="25400">
            <a:solidFill>
              <a:srgbClr val="C9CED8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384048" y="1874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8A35"/>
                </a:solidFill>
              </a:rPr>
              <a:t>2023–2024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194560"/>
            <a:ext cx="566928" cy="566928"/>
          </a:xfrm>
          <a:prstGeom prst="ellipse">
            <a:avLst/>
          </a:prstGeom>
          <a:solidFill>
            <a:srgbClr val="24365B"/>
          </a:solidFill>
          <a:ln w="12700">
            <a:solidFill>
              <a:srgbClr val="24365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8" name="Text 6"/>
          <p:cNvSpPr/>
          <p:nvPr/>
        </p:nvSpPr>
        <p:spPr>
          <a:xfrm>
            <a:off x="1371600" y="237744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3063240"/>
            <a:ext cx="2514600" cy="233172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24365B"/>
                </a:solidFill>
              </a:rPr>
              <a:t>Framework revamp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566928" y="40233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40" dirty="0">
                <a:solidFill>
                  <a:srgbClr val="667085"/>
                </a:solidFill>
              </a:rPr>
              <a:t>Key contributor and project manager in the PwC team supporting the significant review of S17, G3 and related practice guides.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3291840" y="1874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8A35"/>
                </a:solidFill>
              </a:rPr>
              <a:t>2024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79392" y="2194560"/>
            <a:ext cx="566928" cy="566928"/>
          </a:xfrm>
          <a:prstGeom prst="ellipse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4" name="Text 12"/>
          <p:cNvSpPr/>
          <p:nvPr/>
        </p:nvSpPr>
        <p:spPr>
          <a:xfrm>
            <a:off x="4279392" y="237744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3063240"/>
            <a:ext cx="2514600" cy="2331720"/>
          </a:xfrm>
          <a:prstGeom prst="roundRect">
            <a:avLst>
              <a:gd name="adj" fmla="val 1176"/>
            </a:avLst>
          </a:prstGeom>
          <a:solidFill>
            <a:srgbClr val="EEE7D8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16" name="Text 14"/>
          <p:cNvSpPr/>
          <p:nvPr/>
        </p:nvSpPr>
        <p:spPr>
          <a:xfrm>
            <a:off x="3456432" y="338328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24365B"/>
                </a:solidFill>
              </a:rPr>
              <a:t>Government training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3474720" y="40233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40" dirty="0">
                <a:solidFill>
                  <a:srgbClr val="667085"/>
                </a:solidFill>
              </a:rPr>
              <a:t>Trained Government staff on SRAA fundamentals, including how to interpret technical evidence and review vendor deliverables.</a:t>
            </a:r>
            <a:endParaRPr lang="en-US" sz="1040" dirty="0"/>
          </a:p>
        </p:txBody>
      </p:sp>
      <p:sp>
        <p:nvSpPr>
          <p:cNvPr id="18" name="Text 16"/>
          <p:cNvSpPr/>
          <p:nvPr/>
        </p:nvSpPr>
        <p:spPr>
          <a:xfrm>
            <a:off x="6199632" y="1874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8A35"/>
                </a:solidFill>
              </a:rPr>
              <a:t>2025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87184" y="2194560"/>
            <a:ext cx="566928" cy="566928"/>
          </a:xfrm>
          <a:prstGeom prst="ellipse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Text 18"/>
          <p:cNvSpPr/>
          <p:nvPr/>
        </p:nvSpPr>
        <p:spPr>
          <a:xfrm>
            <a:off x="7187184" y="237744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99632" y="3063240"/>
            <a:ext cx="2514600" cy="2331720"/>
          </a:xfrm>
          <a:prstGeom prst="roundRect">
            <a:avLst>
              <a:gd name="adj" fmla="val 1176"/>
            </a:avLst>
          </a:prstGeom>
          <a:solidFill>
            <a:srgbClr val="EBEFF5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22" name="Text 20"/>
          <p:cNvSpPr/>
          <p:nvPr/>
        </p:nvSpPr>
        <p:spPr>
          <a:xfrm>
            <a:off x="6364224" y="338328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24365B"/>
                </a:solidFill>
              </a:rPr>
              <a:t>Government audit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6382512" y="40233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40" dirty="0">
                <a:solidFill>
                  <a:srgbClr val="667085"/>
                </a:solidFill>
              </a:rPr>
              <a:t>Supported independent security audit work for Government bureaux and departments.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9107424" y="18745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8A35"/>
                </a:solidFill>
              </a:rPr>
              <a:t>2025–2026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094976" y="2194560"/>
            <a:ext cx="566928" cy="566928"/>
          </a:xfrm>
          <a:prstGeom prst="ellipse">
            <a:avLst/>
          </a:prstGeom>
          <a:solidFill>
            <a:srgbClr val="24365B"/>
          </a:solidFill>
          <a:ln w="12700">
            <a:solidFill>
              <a:srgbClr val="24365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6" name="Text 24"/>
          <p:cNvSpPr/>
          <p:nvPr/>
        </p:nvSpPr>
        <p:spPr>
          <a:xfrm>
            <a:off x="10094976" y="2377440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07424" y="3063240"/>
            <a:ext cx="2514600" cy="233172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28" name="Text 26"/>
          <p:cNvSpPr/>
          <p:nvPr/>
        </p:nvSpPr>
        <p:spPr>
          <a:xfrm>
            <a:off x="9272016" y="3383280"/>
            <a:ext cx="2185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24365B"/>
                </a:solidFill>
              </a:rPr>
              <a:t>MTR implementation</a:t>
            </a:r>
            <a:endParaRPr lang="en-US" sz="1420" dirty="0"/>
          </a:p>
        </p:txBody>
      </p:sp>
      <p:sp>
        <p:nvSpPr>
          <p:cNvPr id="29" name="Text 27"/>
          <p:cNvSpPr/>
          <p:nvPr/>
        </p:nvSpPr>
        <p:spPr>
          <a:xfrm>
            <a:off x="9290304" y="4023360"/>
            <a:ext cx="2148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40" dirty="0">
                <a:solidFill>
                  <a:srgbClr val="667085"/>
                </a:solidFill>
              </a:rPr>
              <a:t>Helped improve MTR’s security assessment standard, procedures and assessment workbook.</a:t>
            </a:r>
            <a:endParaRPr lang="en-US" sz="1040" dirty="0"/>
          </a:p>
        </p:txBody>
      </p:sp>
      <p:sp>
        <p:nvSpPr>
          <p:cNvPr id="30" name="Text 28"/>
          <p:cNvSpPr/>
          <p:nvPr/>
        </p:nvSpPr>
        <p:spPr>
          <a:xfrm>
            <a:off x="594360" y="651052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394"/>
                </a:solidFill>
              </a:rPr>
              <a:t>CS5292 · Cybersecurity Audits and Compliance · Week 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201400" y="649224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394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78A35"/>
                </a:solidFill>
              </a:rPr>
              <a:t>SIGNIFICANT FRAMEWORK REVAMP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365B"/>
                </a:solidFill>
              </a:rPr>
              <a:t>A significant review of an established framework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S17 and G3 are reviewed periodically. The 2023–2024 revamp introduced important structural and practical changes.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2057400"/>
            <a:ext cx="3429000" cy="3401568"/>
          </a:xfrm>
          <a:prstGeom prst="roundRect">
            <a:avLst>
              <a:gd name="adj" fmla="val 806"/>
            </a:avLst>
          </a:prstGeom>
          <a:solidFill>
            <a:srgbClr val="EBEFF5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850392" y="23957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365B"/>
                </a:solidFill>
              </a:rPr>
              <a:t>Drivers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23544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273142"/>
                </a:solidFill>
              </a:rPr>
              <a:t>Technology and threats had evolved (e.g., closing the gap on industry-standard EDR/SOC)</a:t>
            </a:r>
            <a:endParaRPr lang="en-US" sz="1130" dirty="0"/>
          </a:p>
        </p:txBody>
      </p:sp>
      <p:sp>
        <p:nvSpPr>
          <p:cNvPr id="8" name="Text 6"/>
          <p:cNvSpPr/>
          <p:nvPr/>
        </p:nvSpPr>
        <p:spPr>
          <a:xfrm>
            <a:off x="923544" y="37216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273142"/>
                </a:solidFill>
              </a:rPr>
              <a:t>Requirements required updating</a:t>
            </a:r>
            <a:endParaRPr lang="en-US" sz="1130" dirty="0"/>
          </a:p>
        </p:txBody>
      </p:sp>
      <p:sp>
        <p:nvSpPr>
          <p:cNvPr id="9" name="Text 7"/>
          <p:cNvSpPr/>
          <p:nvPr/>
        </p:nvSpPr>
        <p:spPr>
          <a:xfrm>
            <a:off x="923544" y="43799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273142"/>
                </a:solidFill>
              </a:rPr>
              <a:t>Assessment practices needed strengthening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142232" y="3474720"/>
            <a:ext cx="256032" cy="256032"/>
          </a:xfrm>
          <a:prstGeom prst="chevron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1" name="Shape 9"/>
          <p:cNvSpPr/>
          <p:nvPr/>
        </p:nvSpPr>
        <p:spPr>
          <a:xfrm>
            <a:off x="4462272" y="2057400"/>
            <a:ext cx="3429000" cy="3401568"/>
          </a:xfrm>
          <a:prstGeom prst="roundRect">
            <a:avLst>
              <a:gd name="adj" fmla="val 806"/>
            </a:avLst>
          </a:prstGeom>
          <a:solidFill>
            <a:srgbClr val="EEE7D8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12" name="Text 10"/>
          <p:cNvSpPr/>
          <p:nvPr/>
        </p:nvSpPr>
        <p:spPr>
          <a:xfrm>
            <a:off x="4718304" y="23957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365B"/>
                </a:solidFill>
              </a:rPr>
              <a:t>Revamp approach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791456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273142"/>
                </a:solidFill>
              </a:rPr>
              <a:t>S17, G3 and practice guides reviewed together</a:t>
            </a:r>
            <a:endParaRPr lang="en-US" sz="1130" dirty="0"/>
          </a:p>
        </p:txBody>
      </p:sp>
      <p:sp>
        <p:nvSpPr>
          <p:cNvPr id="14" name="Text 12"/>
          <p:cNvSpPr/>
          <p:nvPr/>
        </p:nvSpPr>
        <p:spPr>
          <a:xfrm>
            <a:off x="4791456" y="37216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273142"/>
                </a:solidFill>
              </a:rPr>
              <a:t>Industry insights and international practices considered</a:t>
            </a:r>
            <a:endParaRPr lang="en-US" sz="1130" dirty="0"/>
          </a:p>
        </p:txBody>
      </p:sp>
      <p:sp>
        <p:nvSpPr>
          <p:cNvPr id="15" name="Text 13"/>
          <p:cNvSpPr/>
          <p:nvPr/>
        </p:nvSpPr>
        <p:spPr>
          <a:xfrm>
            <a:off x="4791456" y="43799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273142"/>
                </a:solidFill>
              </a:rPr>
              <a:t>Government stakeholders consulted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8010144" y="3474720"/>
            <a:ext cx="256032" cy="256032"/>
          </a:xfrm>
          <a:prstGeom prst="chevron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7" name="Shape 15"/>
          <p:cNvSpPr/>
          <p:nvPr/>
        </p:nvSpPr>
        <p:spPr>
          <a:xfrm>
            <a:off x="8330184" y="2057400"/>
            <a:ext cx="3429000" cy="3401568"/>
          </a:xfrm>
          <a:prstGeom prst="roundRect">
            <a:avLst>
              <a:gd name="adj" fmla="val 806"/>
            </a:avLst>
          </a:prstGeom>
          <a:solidFill>
            <a:srgbClr val="E7ECE8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18" name="Text 16"/>
          <p:cNvSpPr/>
          <p:nvPr/>
        </p:nvSpPr>
        <p:spPr>
          <a:xfrm>
            <a:off x="8586216" y="239572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4365B"/>
                </a:solidFill>
              </a:rPr>
              <a:t>Key effects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659368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273142"/>
                </a:solidFill>
              </a:rPr>
              <a:t>More structured risk differentiation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8659368" y="372160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273142"/>
                </a:solidFill>
              </a:rPr>
              <a:t>Requirements better aligned with system impact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8659368" y="43799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273142"/>
                </a:solidFill>
              </a:rPr>
              <a:t>Policy, guidance and practice guides better connected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1143000" y="5623560"/>
            <a:ext cx="9921240" cy="484632"/>
          </a:xfrm>
          <a:prstGeom prst="roundRect">
            <a:avLst/>
          </a:prstGeom>
          <a:solidFill>
            <a:srgbClr val="24365B"/>
          </a:solidFill>
          <a:ln w="12700">
            <a:solidFill>
              <a:srgbClr val="24365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3" name="Text 21"/>
          <p:cNvSpPr/>
          <p:nvPr/>
        </p:nvSpPr>
        <p:spPr>
          <a:xfrm>
            <a:off x="1417320" y="5769864"/>
            <a:ext cx="9372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dirty="0">
                <a:solidFill>
                  <a:srgbClr val="FFFFFF"/>
                </a:solidFill>
              </a:rPr>
              <a:t>The enduring change was the more risk-based structure, not any individual control selected at that time.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594360" y="651052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394"/>
                </a:solidFill>
              </a:rPr>
              <a:t>CS5292 · Cybersecurity Audits and Compliance · Week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01400" y="649224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394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78A35"/>
                </a:solidFill>
              </a:rPr>
              <a:t>A PRACTICAL CONSTRAINT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365B"/>
                </a:solidFill>
              </a:rPr>
              <a:t>Why change has to be risk-based and gradual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The study identified many improvement opportunities, but not every change could be introduced at once.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4892040" cy="3429000"/>
          </a:xfrm>
          <a:prstGeom prst="roundRect">
            <a:avLst>
              <a:gd name="adj" fmla="val 800"/>
            </a:avLst>
          </a:prstGeom>
          <a:solidFill>
            <a:srgbClr val="EBEFF5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4"/>
          <p:cNvSpPr/>
          <p:nvPr/>
        </p:nvSpPr>
        <p:spPr>
          <a:xfrm>
            <a:off x="6583680" y="1874520"/>
            <a:ext cx="4892040" cy="3429000"/>
          </a:xfrm>
          <a:prstGeom prst="roundRect">
            <a:avLst>
              <a:gd name="adj" fmla="val 800"/>
            </a:avLst>
          </a:prstGeom>
          <a:solidFill>
            <a:srgbClr val="EEE7D8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7" name="Text 5"/>
          <p:cNvSpPr/>
          <p:nvPr/>
        </p:nvSpPr>
        <p:spPr>
          <a:xfrm>
            <a:off x="960120" y="22128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365B"/>
                </a:solidFill>
              </a:rPr>
              <a:t>Improvement opportunities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78992" y="27706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73142"/>
                </a:solidFill>
              </a:rPr>
              <a:t>Changing technology and delivery models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78992" y="32826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73142"/>
                </a:solidFill>
              </a:rPr>
              <a:t>Evolving threats and attack techniques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78992" y="37947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73142"/>
                </a:solidFill>
              </a:rPr>
              <a:t>Gaps identified from industry benchmarking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8992" y="430682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73142"/>
                </a:solidFill>
              </a:rPr>
              <a:t>Controls that could strengthen assurance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0" y="221284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4365B"/>
                </a:solidFill>
              </a:rPr>
              <a:t>Implementation realities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76872" y="277063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73142"/>
                </a:solidFill>
              </a:rPr>
              <a:t>Legacy-system technical blockers (e.g., modern EDR incompatibility)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76872" y="32826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73142"/>
                </a:solidFill>
              </a:rPr>
              <a:t>Different maturity and resource capacity (e.g. Budget constraints and the high cost of new SOC/EDR mandates.)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76872" y="37947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73142"/>
                </a:solidFill>
              </a:rPr>
              <a:t>Government-wide consultation and coordination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76872" y="430682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73142"/>
                </a:solidFill>
              </a:rPr>
              <a:t>Transition and consistent interpretation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2834640"/>
            <a:ext cx="685800" cy="685800"/>
          </a:xfrm>
          <a:prstGeom prst="ellipse">
            <a:avLst/>
          </a:prstGeom>
          <a:solidFill>
            <a:srgbClr val="24365B"/>
          </a:solidFill>
          <a:ln w="12700">
            <a:solidFill>
              <a:srgbClr val="24365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8" name="Text 16"/>
          <p:cNvSpPr/>
          <p:nvPr/>
        </p:nvSpPr>
        <p:spPr>
          <a:xfrm>
            <a:off x="5760720" y="3081528"/>
            <a:ext cx="685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RISK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17320" y="5532120"/>
            <a:ext cx="9372600" cy="566928"/>
          </a:xfrm>
          <a:prstGeom prst="roundRect">
            <a:avLst/>
          </a:prstGeom>
          <a:solidFill>
            <a:srgbClr val="24365B"/>
          </a:solidFill>
          <a:ln w="12700">
            <a:solidFill>
              <a:srgbClr val="24365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Text 18"/>
          <p:cNvSpPr/>
          <p:nvPr/>
        </p:nvSpPr>
        <p:spPr>
          <a:xfrm>
            <a:off x="1664208" y="5705856"/>
            <a:ext cx="88696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Prioritise higher-risk changes, apply proportionate requirements and provide a realistic path to implementation.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651052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394"/>
                </a:solidFill>
              </a:rPr>
              <a:t>CS5292 · Cybersecurity Audits and Compliance · Week 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201400" y="649224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394"/>
                </a:solidFill>
              </a:rPr>
              <a:t>10</a:t>
            </a:r>
            <a:endParaRPr lang="en-US" sz="80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0A16DE68-3C52-2F70-9367-0FFF60A76E40}"/>
              </a:ext>
            </a:extLst>
          </p:cNvPr>
          <p:cNvSpPr/>
          <p:nvPr/>
        </p:nvSpPr>
        <p:spPr>
          <a:xfrm>
            <a:off x="1074420" y="4777499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273142"/>
                </a:solidFill>
              </a:rPr>
              <a:t>Strict cloud governance driven by past citizen data breaches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78A35"/>
                </a:solidFill>
              </a:rPr>
              <a:t>FROM REQUIREMENTS TO ASSURANCE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365B"/>
                </a:solidFill>
              </a:rPr>
              <a:t>SRAA: assessment, treatment and independent audit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The framework sets expectations. SRAA determines whether the risks are understood and the controls work.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2011680" cy="1463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4"/>
          <p:cNvSpPr/>
          <p:nvPr/>
        </p:nvSpPr>
        <p:spPr>
          <a:xfrm>
            <a:off x="1170432" y="2331720"/>
            <a:ext cx="530352" cy="530352"/>
          </a:xfrm>
          <a:prstGeom prst="ellipse">
            <a:avLst/>
          </a:prstGeom>
          <a:solidFill>
            <a:srgbClr val="24365B"/>
          </a:solidFill>
          <a:ln w="12700">
            <a:solidFill>
              <a:srgbClr val="24365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7" name="Text 5"/>
          <p:cNvSpPr/>
          <p:nvPr/>
        </p:nvSpPr>
        <p:spPr>
          <a:xfrm>
            <a:off x="1170432" y="251460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30449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65B"/>
                </a:solidFill>
              </a:rPr>
              <a:t>Scoping &amp; Context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4600" y="2788920"/>
            <a:ext cx="201168" cy="256032"/>
          </a:xfrm>
          <a:prstGeom prst="chevron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0" name="Shape 8"/>
          <p:cNvSpPr/>
          <p:nvPr/>
        </p:nvSpPr>
        <p:spPr>
          <a:xfrm>
            <a:off x="2788920" y="2103120"/>
            <a:ext cx="2011680" cy="1463040"/>
          </a:xfrm>
          <a:prstGeom prst="roundRect">
            <a:avLst>
              <a:gd name="adj" fmla="val 1875"/>
            </a:avLst>
          </a:prstGeom>
          <a:solidFill>
            <a:srgbClr val="EEE7D8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11" name="Shape 9"/>
          <p:cNvSpPr/>
          <p:nvPr/>
        </p:nvSpPr>
        <p:spPr>
          <a:xfrm>
            <a:off x="3502152" y="2331720"/>
            <a:ext cx="530352" cy="530352"/>
          </a:xfrm>
          <a:prstGeom prst="ellipse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2" name="Text 10"/>
          <p:cNvSpPr/>
          <p:nvPr/>
        </p:nvSpPr>
        <p:spPr>
          <a:xfrm>
            <a:off x="3502152" y="251460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71800" y="30449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65B"/>
                </a:solidFill>
              </a:rPr>
              <a:t>Risk assessment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2788920"/>
            <a:ext cx="201168" cy="256032"/>
          </a:xfrm>
          <a:prstGeom prst="chevron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5" name="Shape 13"/>
          <p:cNvSpPr/>
          <p:nvPr/>
        </p:nvSpPr>
        <p:spPr>
          <a:xfrm>
            <a:off x="5120640" y="2103120"/>
            <a:ext cx="2011680" cy="1463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16" name="Shape 14"/>
          <p:cNvSpPr/>
          <p:nvPr/>
        </p:nvSpPr>
        <p:spPr>
          <a:xfrm>
            <a:off x="5833872" y="2331720"/>
            <a:ext cx="530352" cy="530352"/>
          </a:xfrm>
          <a:prstGeom prst="ellipse">
            <a:avLst/>
          </a:prstGeom>
          <a:solidFill>
            <a:srgbClr val="24365B"/>
          </a:solidFill>
          <a:ln w="12700">
            <a:solidFill>
              <a:srgbClr val="24365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7" name="Text 15"/>
          <p:cNvSpPr/>
          <p:nvPr/>
        </p:nvSpPr>
        <p:spPr>
          <a:xfrm>
            <a:off x="5833872" y="251460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0" y="30449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65B"/>
                </a:solidFill>
              </a:rPr>
              <a:t>Risk treatment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78040" y="2788920"/>
            <a:ext cx="201168" cy="256032"/>
          </a:xfrm>
          <a:prstGeom prst="chevron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0" name="Shape 18"/>
          <p:cNvSpPr/>
          <p:nvPr/>
        </p:nvSpPr>
        <p:spPr>
          <a:xfrm>
            <a:off x="7452360" y="2103120"/>
            <a:ext cx="2011680" cy="1463040"/>
          </a:xfrm>
          <a:prstGeom prst="roundRect">
            <a:avLst>
              <a:gd name="adj" fmla="val 1875"/>
            </a:avLst>
          </a:prstGeom>
          <a:solidFill>
            <a:srgbClr val="EEE7D8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21" name="Shape 19"/>
          <p:cNvSpPr/>
          <p:nvPr/>
        </p:nvSpPr>
        <p:spPr>
          <a:xfrm>
            <a:off x="8165592" y="2331720"/>
            <a:ext cx="530352" cy="530352"/>
          </a:xfrm>
          <a:prstGeom prst="ellipse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2" name="Text 20"/>
          <p:cNvSpPr/>
          <p:nvPr/>
        </p:nvSpPr>
        <p:spPr>
          <a:xfrm>
            <a:off x="8165592" y="251460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35240" y="30449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65B"/>
                </a:solidFill>
              </a:rPr>
              <a:t>Independent audit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509760" y="2788920"/>
            <a:ext cx="201168" cy="256032"/>
          </a:xfrm>
          <a:prstGeom prst="chevron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5" name="Shape 23"/>
          <p:cNvSpPr/>
          <p:nvPr/>
        </p:nvSpPr>
        <p:spPr>
          <a:xfrm>
            <a:off x="9784080" y="2103120"/>
            <a:ext cx="2011680" cy="146304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26" name="Shape 24"/>
          <p:cNvSpPr/>
          <p:nvPr/>
        </p:nvSpPr>
        <p:spPr>
          <a:xfrm>
            <a:off x="10497312" y="2331720"/>
            <a:ext cx="530352" cy="530352"/>
          </a:xfrm>
          <a:prstGeom prst="ellipse">
            <a:avLst/>
          </a:prstGeom>
          <a:solidFill>
            <a:srgbClr val="24365B"/>
          </a:solidFill>
          <a:ln w="12700">
            <a:solidFill>
              <a:srgbClr val="24365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7" name="Text 25"/>
          <p:cNvSpPr/>
          <p:nvPr/>
        </p:nvSpPr>
        <p:spPr>
          <a:xfrm>
            <a:off x="10497312" y="2514600"/>
            <a:ext cx="5303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66960" y="30449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65B"/>
                </a:solidFill>
              </a:rPr>
              <a:t>Ongoing assurance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85800" y="4069080"/>
            <a:ext cx="5212080" cy="1600200"/>
          </a:xfrm>
          <a:prstGeom prst="roundRect">
            <a:avLst>
              <a:gd name="adj" fmla="val 1714"/>
            </a:avLst>
          </a:prstGeom>
          <a:solidFill>
            <a:srgbClr val="EEE7D8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30" name="Text 28"/>
          <p:cNvSpPr/>
          <p:nvPr/>
        </p:nvSpPr>
        <p:spPr>
          <a:xfrm>
            <a:off x="960120" y="43434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365B"/>
                </a:solidFill>
              </a:rPr>
              <a:t>Security Risk Assessment (SRA)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0120" y="47548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273142"/>
                </a:solidFill>
              </a:rPr>
              <a:t>May be conducted by the bureau or department itself, or with consultants engaged to assist.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6263640" y="4069080"/>
            <a:ext cx="5212080" cy="1600200"/>
          </a:xfrm>
          <a:prstGeom prst="roundRect">
            <a:avLst>
              <a:gd name="adj" fmla="val 1714"/>
            </a:avLst>
          </a:prstGeom>
          <a:solidFill>
            <a:srgbClr val="24365B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33" name="Text 31"/>
          <p:cNvSpPr/>
          <p:nvPr/>
        </p:nvSpPr>
        <p:spPr>
          <a:xfrm>
            <a:off x="6537960" y="43434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Security Audit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37960" y="47548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DEE5F2"/>
                </a:solidFill>
              </a:rPr>
              <a:t>Must be independent: performed by external independent auditors, or conducted by the DPO.</a:t>
            </a:r>
            <a:endParaRPr lang="en-US" sz="1180" dirty="0"/>
          </a:p>
        </p:txBody>
      </p:sp>
      <p:sp>
        <p:nvSpPr>
          <p:cNvPr id="35" name="Text 33"/>
          <p:cNvSpPr/>
          <p:nvPr/>
        </p:nvSpPr>
        <p:spPr>
          <a:xfrm>
            <a:off x="594360" y="651052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394"/>
                </a:solidFill>
              </a:rPr>
              <a:t>CS5292 · Cybersecurity Audits and Compliance · Week 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201400" y="649224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394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78A35"/>
                </a:solidFill>
              </a:rPr>
              <a:t>WHY QUALITY VARIES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365B"/>
                </a:solidFill>
              </a:rPr>
              <a:t>Why assessment quality depends on capability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A defined standard is necessary but not sufficient: results depend on the people applying and reviewing it.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94360" y="1993392"/>
            <a:ext cx="3429000" cy="3749040"/>
          </a:xfrm>
          <a:prstGeom prst="roundRect">
            <a:avLst>
              <a:gd name="adj" fmla="val 800"/>
            </a:avLst>
          </a:prstGeom>
          <a:solidFill>
            <a:srgbClr val="F2E5E2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365B"/>
                </a:solidFill>
              </a:rPr>
              <a:t>Capability gap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41832" y="3108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73142"/>
                </a:solidFill>
              </a:rPr>
              <a:t>The standard may not be understood in practical terms</a:t>
            </a:r>
            <a:endParaRPr lang="en-US" sz="1110" dirty="0"/>
          </a:p>
        </p:txBody>
      </p:sp>
      <p:sp>
        <p:nvSpPr>
          <p:cNvPr id="8" name="Text 6"/>
          <p:cNvSpPr/>
          <p:nvPr/>
        </p:nvSpPr>
        <p:spPr>
          <a:xfrm>
            <a:off x="941832" y="3840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73142"/>
                </a:solidFill>
              </a:rPr>
              <a:t>Pen-test and vulnerability-scan results are hard to interpret without training</a:t>
            </a:r>
            <a:endParaRPr lang="en-US" sz="1110" dirty="0"/>
          </a:p>
        </p:txBody>
      </p:sp>
      <p:sp>
        <p:nvSpPr>
          <p:cNvPr id="9" name="Text 7"/>
          <p:cNvSpPr/>
          <p:nvPr/>
        </p:nvSpPr>
        <p:spPr>
          <a:xfrm>
            <a:off x="941832" y="4572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73142"/>
                </a:solidFill>
              </a:rPr>
              <a:t>Vendor reports may be accepted without sufficient challenge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4142232" y="3703320"/>
            <a:ext cx="256032" cy="256032"/>
          </a:xfrm>
          <a:prstGeom prst="chevron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1" name="Shape 9"/>
          <p:cNvSpPr/>
          <p:nvPr/>
        </p:nvSpPr>
        <p:spPr>
          <a:xfrm>
            <a:off x="4462272" y="1993392"/>
            <a:ext cx="3429000" cy="3749040"/>
          </a:xfrm>
          <a:prstGeom prst="roundRect">
            <a:avLst>
              <a:gd name="adj" fmla="val 800"/>
            </a:avLst>
          </a:prstGeom>
          <a:solidFill>
            <a:srgbClr val="EBEFF5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12" name="Text 10"/>
          <p:cNvSpPr/>
          <p:nvPr/>
        </p:nvSpPr>
        <p:spPr>
          <a:xfrm>
            <a:off x="4736592" y="2331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365B"/>
                </a:solidFill>
              </a:rPr>
              <a:t>What good assessment needs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809744" y="3108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73142"/>
                </a:solidFill>
              </a:rPr>
              <a:t>Ability to read pen-test and vulnerability-scan reports</a:t>
            </a:r>
            <a:endParaRPr lang="en-US" sz="1110" dirty="0"/>
          </a:p>
        </p:txBody>
      </p:sp>
      <p:sp>
        <p:nvSpPr>
          <p:cNvPr id="14" name="Text 12"/>
          <p:cNvSpPr/>
          <p:nvPr/>
        </p:nvSpPr>
        <p:spPr>
          <a:xfrm>
            <a:off x="4809744" y="3840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73142"/>
                </a:solidFill>
              </a:rPr>
              <a:t>Linking technical findings to threats, business impact and real risk</a:t>
            </a:r>
            <a:endParaRPr lang="en-US" sz="1110" dirty="0"/>
          </a:p>
        </p:txBody>
      </p:sp>
      <p:sp>
        <p:nvSpPr>
          <p:cNvPr id="15" name="Text 13"/>
          <p:cNvSpPr/>
          <p:nvPr/>
        </p:nvSpPr>
        <p:spPr>
          <a:xfrm>
            <a:off x="4809744" y="4572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73142"/>
                </a:solidFill>
              </a:rPr>
              <a:t>Consistent evidence and quality-review expectations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8010144" y="3703320"/>
            <a:ext cx="256032" cy="256032"/>
          </a:xfrm>
          <a:prstGeom prst="chevron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7" name="Shape 15"/>
          <p:cNvSpPr/>
          <p:nvPr/>
        </p:nvSpPr>
        <p:spPr>
          <a:xfrm>
            <a:off x="8330184" y="1993392"/>
            <a:ext cx="3429000" cy="3749040"/>
          </a:xfrm>
          <a:prstGeom prst="roundRect">
            <a:avLst>
              <a:gd name="adj" fmla="val 800"/>
            </a:avLst>
          </a:prstGeom>
          <a:solidFill>
            <a:srgbClr val="E7ECE8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18" name="Text 16"/>
          <p:cNvSpPr/>
          <p:nvPr/>
        </p:nvSpPr>
        <p:spPr>
          <a:xfrm>
            <a:off x="8604504" y="2331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4365B"/>
                </a:solidFill>
              </a:rPr>
              <a:t>Why it matters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677656" y="3108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73142"/>
                </a:solidFill>
              </a:rPr>
              <a:t>Staff can commission and quality-check vendor assessments</a:t>
            </a:r>
            <a:endParaRPr lang="en-US" sz="1110" dirty="0"/>
          </a:p>
        </p:txBody>
      </p:sp>
      <p:sp>
        <p:nvSpPr>
          <p:cNvPr id="20" name="Text 18"/>
          <p:cNvSpPr/>
          <p:nvPr/>
        </p:nvSpPr>
        <p:spPr>
          <a:xfrm>
            <a:off x="8677656" y="38404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73142"/>
                </a:solidFill>
              </a:rPr>
              <a:t>Vendors receive informed challenge</a:t>
            </a:r>
            <a:endParaRPr lang="en-US" sz="1110" dirty="0"/>
          </a:p>
        </p:txBody>
      </p:sp>
      <p:sp>
        <p:nvSpPr>
          <p:cNvPr id="21" name="Text 19"/>
          <p:cNvSpPr/>
          <p:nvPr/>
        </p:nvSpPr>
        <p:spPr>
          <a:xfrm>
            <a:off x="8677656" y="4572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273142"/>
                </a:solidFill>
              </a:rPr>
              <a:t>Material vulnerabilities and real risks are less likely to be missed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1005840" y="5925312"/>
            <a:ext cx="10149840" cy="347472"/>
          </a:xfrm>
          <a:prstGeom prst="roundRect">
            <a:avLst/>
          </a:prstGeom>
          <a:solidFill>
            <a:srgbClr val="24365B"/>
          </a:solidFill>
          <a:ln w="12700">
            <a:solidFill>
              <a:srgbClr val="24365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3" name="Text 21"/>
          <p:cNvSpPr/>
          <p:nvPr/>
        </p:nvSpPr>
        <p:spPr>
          <a:xfrm>
            <a:off x="1280160" y="6016752"/>
            <a:ext cx="9601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Without capability, even a good standard becomes a checklist and real risk can be overlooked.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4360" y="651052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394"/>
                </a:solidFill>
              </a:rPr>
              <a:t>CS5292 · Cybersecurity Audits and Compliance · Week 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1201400" y="649224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394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78A35"/>
                </a:solidFill>
              </a:rPr>
              <a:t>IN-HOUSE IMPLEMENTATION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365B"/>
                </a:solidFill>
              </a:rPr>
              <a:t>From standards to usable tools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94360" y="129844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67085"/>
                </a:solidFill>
              </a:rPr>
              <a:t>Formal requirements need to be translated into a process users can apply consistently.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2176272"/>
            <a:ext cx="2514600" cy="2816352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6" name="Shape 4"/>
          <p:cNvSpPr/>
          <p:nvPr/>
        </p:nvSpPr>
        <p:spPr>
          <a:xfrm>
            <a:off x="1399032" y="2487168"/>
            <a:ext cx="658368" cy="658368"/>
          </a:xfrm>
          <a:prstGeom prst="ellipse">
            <a:avLst/>
          </a:prstGeom>
          <a:solidFill>
            <a:srgbClr val="24365B"/>
          </a:solidFill>
          <a:ln w="12700">
            <a:solidFill>
              <a:srgbClr val="24365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7" name="Text 5"/>
          <p:cNvSpPr/>
          <p:nvPr/>
        </p:nvSpPr>
        <p:spPr>
          <a:xfrm>
            <a:off x="1399032" y="2706624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3558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24365B"/>
                </a:solidFill>
              </a:rPr>
              <a:t>Standard</a:t>
            </a:r>
            <a:endParaRPr lang="en-US" sz="1530" dirty="0"/>
          </a:p>
        </p:txBody>
      </p:sp>
      <p:sp>
        <p:nvSpPr>
          <p:cNvPr id="9" name="Text 7"/>
          <p:cNvSpPr/>
          <p:nvPr/>
        </p:nvSpPr>
        <p:spPr>
          <a:xfrm>
            <a:off x="777240" y="395020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67085"/>
                </a:solidFill>
              </a:rPr>
              <a:t>Defines required outcomes and minimum expectations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090672" y="3474720"/>
            <a:ext cx="219456" cy="256032"/>
          </a:xfrm>
          <a:prstGeom prst="chevron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1" name="Shape 9"/>
          <p:cNvSpPr/>
          <p:nvPr/>
        </p:nvSpPr>
        <p:spPr>
          <a:xfrm>
            <a:off x="3410712" y="2176272"/>
            <a:ext cx="2514600" cy="2816352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12" name="Shape 10"/>
          <p:cNvSpPr/>
          <p:nvPr/>
        </p:nvSpPr>
        <p:spPr>
          <a:xfrm>
            <a:off x="4306824" y="2487168"/>
            <a:ext cx="658368" cy="658368"/>
          </a:xfrm>
          <a:prstGeom prst="ellipse">
            <a:avLst/>
          </a:prstGeom>
          <a:solidFill>
            <a:srgbClr val="24365B"/>
          </a:solidFill>
          <a:ln w="12700">
            <a:solidFill>
              <a:srgbClr val="24365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3" name="Text 11"/>
          <p:cNvSpPr/>
          <p:nvPr/>
        </p:nvSpPr>
        <p:spPr>
          <a:xfrm>
            <a:off x="4306824" y="2706624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39312" y="33558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24365B"/>
                </a:solidFill>
              </a:rPr>
              <a:t>Procedure</a:t>
            </a:r>
            <a:endParaRPr lang="en-US" sz="1530" dirty="0"/>
          </a:p>
        </p:txBody>
      </p:sp>
      <p:sp>
        <p:nvSpPr>
          <p:cNvPr id="15" name="Text 13"/>
          <p:cNvSpPr/>
          <p:nvPr/>
        </p:nvSpPr>
        <p:spPr>
          <a:xfrm>
            <a:off x="3685032" y="395020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67085"/>
                </a:solidFill>
              </a:rPr>
              <a:t>Sets roles, sequence and decision points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998464" y="3474720"/>
            <a:ext cx="219456" cy="256032"/>
          </a:xfrm>
          <a:prstGeom prst="chevron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7" name="Shape 15"/>
          <p:cNvSpPr/>
          <p:nvPr/>
        </p:nvSpPr>
        <p:spPr>
          <a:xfrm>
            <a:off x="6318504" y="2176272"/>
            <a:ext cx="2514600" cy="2816352"/>
          </a:xfrm>
          <a:prstGeom prst="roundRect">
            <a:avLst>
              <a:gd name="adj" fmla="val 1091"/>
            </a:avLst>
          </a:prstGeom>
          <a:solidFill>
            <a:srgbClr val="FFFFFF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18" name="Shape 16"/>
          <p:cNvSpPr/>
          <p:nvPr/>
        </p:nvSpPr>
        <p:spPr>
          <a:xfrm>
            <a:off x="7214616" y="2487168"/>
            <a:ext cx="658368" cy="658368"/>
          </a:xfrm>
          <a:prstGeom prst="ellipse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9" name="Text 17"/>
          <p:cNvSpPr/>
          <p:nvPr/>
        </p:nvSpPr>
        <p:spPr>
          <a:xfrm>
            <a:off x="7214616" y="2706624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47104" y="33558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24365B"/>
                </a:solidFill>
              </a:rPr>
              <a:t>Assessment workbook</a:t>
            </a:r>
            <a:endParaRPr lang="en-US" sz="1530" dirty="0"/>
          </a:p>
        </p:txBody>
      </p:sp>
      <p:sp>
        <p:nvSpPr>
          <p:cNvPr id="21" name="Text 19"/>
          <p:cNvSpPr/>
          <p:nvPr/>
        </p:nvSpPr>
        <p:spPr>
          <a:xfrm>
            <a:off x="6592824" y="395020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67085"/>
                </a:solidFill>
              </a:rPr>
              <a:t>Guides questions, evidence and risk analysis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8906256" y="3474720"/>
            <a:ext cx="219456" cy="256032"/>
          </a:xfrm>
          <a:prstGeom prst="chevron">
            <a:avLst/>
          </a:prstGeom>
          <a:solidFill>
            <a:srgbClr val="B78A35"/>
          </a:solidFill>
          <a:ln w="12700">
            <a:solidFill>
              <a:srgbClr val="B78A35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3" name="Shape 21"/>
          <p:cNvSpPr/>
          <p:nvPr/>
        </p:nvSpPr>
        <p:spPr>
          <a:xfrm>
            <a:off x="9226296" y="2176272"/>
            <a:ext cx="2514600" cy="2816352"/>
          </a:xfrm>
          <a:prstGeom prst="roundRect">
            <a:avLst>
              <a:gd name="adj" fmla="val 1091"/>
            </a:avLst>
          </a:prstGeom>
          <a:solidFill>
            <a:srgbClr val="E7ECE8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24" name="Shape 22"/>
          <p:cNvSpPr/>
          <p:nvPr/>
        </p:nvSpPr>
        <p:spPr>
          <a:xfrm>
            <a:off x="10122408" y="2487168"/>
            <a:ext cx="658368" cy="658368"/>
          </a:xfrm>
          <a:prstGeom prst="ellipse">
            <a:avLst/>
          </a:prstGeom>
          <a:solidFill>
            <a:srgbClr val="5E7D69"/>
          </a:solidFill>
          <a:ln w="12700">
            <a:solidFill>
              <a:srgbClr val="5E7D69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5" name="Text 23"/>
          <p:cNvSpPr/>
          <p:nvPr/>
        </p:nvSpPr>
        <p:spPr>
          <a:xfrm>
            <a:off x="10122408" y="2706624"/>
            <a:ext cx="6583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54896" y="33558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30" b="1" dirty="0">
                <a:solidFill>
                  <a:srgbClr val="24365B"/>
                </a:solidFill>
              </a:rPr>
              <a:t>Consistent decisions</a:t>
            </a:r>
            <a:endParaRPr lang="en-US" sz="1530" dirty="0"/>
          </a:p>
        </p:txBody>
      </p:sp>
      <p:sp>
        <p:nvSpPr>
          <p:cNvPr id="27" name="Text 25"/>
          <p:cNvSpPr/>
          <p:nvPr/>
        </p:nvSpPr>
        <p:spPr>
          <a:xfrm>
            <a:off x="9500616" y="395020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667085"/>
                </a:solidFill>
              </a:rPr>
              <a:t>Produces traceable evidence and defensible outcomes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1234440" y="5394960"/>
            <a:ext cx="9738360" cy="658368"/>
          </a:xfrm>
          <a:prstGeom prst="roundRect">
            <a:avLst/>
          </a:prstGeom>
          <a:solidFill>
            <a:srgbClr val="24365B"/>
          </a:solidFill>
          <a:ln w="12700">
            <a:solidFill>
              <a:srgbClr val="24365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9" name="Text 27"/>
          <p:cNvSpPr/>
          <p:nvPr/>
        </p:nvSpPr>
        <p:spPr>
          <a:xfrm>
            <a:off x="1508760" y="5605272"/>
            <a:ext cx="9189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Most of the work lies in making the method understandable, proportionate and practical without weakening the standard.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" y="651052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394"/>
                </a:solidFill>
              </a:rPr>
              <a:t>CS5292 · Cybersecurity Audits and Compliance · Week 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1201400" y="649224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394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B78A35"/>
                </a:solidFill>
              </a:rPr>
              <a:t>CLOSING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594360" y="713232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4365B"/>
                </a:solidFill>
              </a:rPr>
              <a:t>Key takeaways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30368" cy="1298448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5" name="Shape 3"/>
          <p:cNvSpPr/>
          <p:nvPr/>
        </p:nvSpPr>
        <p:spPr>
          <a:xfrm>
            <a:off x="941832" y="2139696"/>
            <a:ext cx="621792" cy="621792"/>
          </a:xfrm>
          <a:prstGeom prst="ellipse">
            <a:avLst/>
          </a:prstGeom>
          <a:solidFill>
            <a:srgbClr val="24365B"/>
          </a:solidFill>
          <a:ln w="12700">
            <a:solidFill>
              <a:srgbClr val="24365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6" name="Text 4"/>
          <p:cNvSpPr/>
          <p:nvPr/>
        </p:nvSpPr>
        <p:spPr>
          <a:xfrm>
            <a:off x="941832" y="235000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764792" y="19933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24365B"/>
                </a:solidFill>
              </a:rPr>
              <a:t>One baseline, many organisations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764792" y="24140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A shared standard lets a large, diverse Government be secured and assessed on comparable terms.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230368" cy="1298448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10" name="Shape 8"/>
          <p:cNvSpPr/>
          <p:nvPr/>
        </p:nvSpPr>
        <p:spPr>
          <a:xfrm>
            <a:off x="6473952" y="2139696"/>
            <a:ext cx="621792" cy="621792"/>
          </a:xfrm>
          <a:prstGeom prst="ellipse">
            <a:avLst/>
          </a:prstGeom>
          <a:solidFill>
            <a:srgbClr val="24365B"/>
          </a:solidFill>
          <a:ln w="12700">
            <a:solidFill>
              <a:srgbClr val="24365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1" name="Text 9"/>
          <p:cNvSpPr/>
          <p:nvPr/>
        </p:nvSpPr>
        <p:spPr>
          <a:xfrm>
            <a:off x="6473952" y="2350008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96912" y="199339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24365B"/>
                </a:solidFill>
              </a:rPr>
              <a:t>Separate the “what” from the “how”</a:t>
            </a:r>
            <a:endParaRPr lang="en-US" sz="1430" dirty="0"/>
          </a:p>
        </p:txBody>
      </p:sp>
      <p:sp>
        <p:nvSpPr>
          <p:cNvPr id="13" name="Text 11"/>
          <p:cNvSpPr/>
          <p:nvPr/>
        </p:nvSpPr>
        <p:spPr>
          <a:xfrm>
            <a:off x="7296912" y="241401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S17 sets the requirement; G3 provides implementation guidance.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85800" y="3401568"/>
            <a:ext cx="5230368" cy="1298448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15" name="Shape 13"/>
          <p:cNvSpPr/>
          <p:nvPr/>
        </p:nvSpPr>
        <p:spPr>
          <a:xfrm>
            <a:off x="941832" y="3712464"/>
            <a:ext cx="621792" cy="621792"/>
          </a:xfrm>
          <a:prstGeom prst="ellipse">
            <a:avLst/>
          </a:prstGeom>
          <a:solidFill>
            <a:srgbClr val="24365B"/>
          </a:solidFill>
          <a:ln w="12700">
            <a:solidFill>
              <a:srgbClr val="24365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16" name="Text 14"/>
          <p:cNvSpPr/>
          <p:nvPr/>
        </p:nvSpPr>
        <p:spPr>
          <a:xfrm>
            <a:off x="941832" y="392277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64792" y="35661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24365B"/>
                </a:solidFill>
              </a:rPr>
              <a:t>Change is risk-based and gradual</a:t>
            </a:r>
            <a:endParaRPr lang="en-US" sz="1430" dirty="0"/>
          </a:p>
        </p:txBody>
      </p:sp>
      <p:sp>
        <p:nvSpPr>
          <p:cNvPr id="18" name="Text 16"/>
          <p:cNvSpPr/>
          <p:nvPr/>
        </p:nvSpPr>
        <p:spPr>
          <a:xfrm>
            <a:off x="1764792" y="39867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In a large, legacy environment, improvements must be prioritised by risk.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217920" y="3401568"/>
            <a:ext cx="5230368" cy="1298448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7620">
            <a:solidFill>
              <a:srgbClr val="DDE1E8"/>
            </a:solidFill>
            <a:prstDash val="solid"/>
          </a:ln>
          <a:effectLst/>
        </p:spPr>
        <p:txBody>
          <a:bodyPr/>
          <a:lstStyle/>
          <a:p>
            <a:endParaRPr lang="zh-HK" altLang="en-US"/>
          </a:p>
        </p:txBody>
      </p:sp>
      <p:sp>
        <p:nvSpPr>
          <p:cNvPr id="20" name="Shape 18"/>
          <p:cNvSpPr/>
          <p:nvPr/>
        </p:nvSpPr>
        <p:spPr>
          <a:xfrm>
            <a:off x="6473952" y="3712464"/>
            <a:ext cx="621792" cy="621792"/>
          </a:xfrm>
          <a:prstGeom prst="ellipse">
            <a:avLst/>
          </a:prstGeom>
          <a:solidFill>
            <a:srgbClr val="24365B"/>
          </a:solidFill>
          <a:ln w="12700">
            <a:solidFill>
              <a:srgbClr val="24365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1" name="Text 19"/>
          <p:cNvSpPr/>
          <p:nvPr/>
        </p:nvSpPr>
        <p:spPr>
          <a:xfrm>
            <a:off x="6473952" y="392277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96912" y="356616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30" b="1" dirty="0">
                <a:solidFill>
                  <a:srgbClr val="24365B"/>
                </a:solidFill>
              </a:rPr>
              <a:t>Documents do not secure systems — people do</a:t>
            </a:r>
            <a:endParaRPr lang="en-US" sz="1430" dirty="0"/>
          </a:p>
        </p:txBody>
      </p:sp>
      <p:sp>
        <p:nvSpPr>
          <p:cNvPr id="23" name="Text 21"/>
          <p:cNvSpPr/>
          <p:nvPr/>
        </p:nvSpPr>
        <p:spPr>
          <a:xfrm>
            <a:off x="7296912" y="39867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667085"/>
                </a:solidFill>
              </a:rPr>
              <a:t>A standard works only when staff can interpret evidence, challenge vendors, and audit is genuinely independent.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1051560" y="5193792"/>
            <a:ext cx="10058400" cy="786384"/>
          </a:xfrm>
          <a:prstGeom prst="roundRect">
            <a:avLst/>
          </a:prstGeom>
          <a:solidFill>
            <a:srgbClr val="24365B"/>
          </a:solidFill>
          <a:ln w="12700">
            <a:solidFill>
              <a:srgbClr val="24365B"/>
            </a:solidFill>
            <a:prstDash val="solid"/>
          </a:ln>
        </p:spPr>
        <p:txBody>
          <a:bodyPr/>
          <a:lstStyle/>
          <a:p>
            <a:endParaRPr lang="zh-HK" altLang="en-US"/>
          </a:p>
        </p:txBody>
      </p:sp>
      <p:sp>
        <p:nvSpPr>
          <p:cNvPr id="25" name="Text 23"/>
          <p:cNvSpPr/>
          <p:nvPr/>
        </p:nvSpPr>
        <p:spPr>
          <a:xfrm>
            <a:off x="1417320" y="5449824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 framework delivers protection only when it is applied with judgement, proportionality and independent assurance.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" y="6510528"/>
            <a:ext cx="7315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394"/>
                </a:solidFill>
              </a:rPr>
              <a:t>CS5292 · Cybersecurity Audits and Compliance · Week 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01400" y="6492240"/>
            <a:ext cx="320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394"/>
                </a:solidFill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740</TotalTime>
  <Words>3971</Words>
  <Application>Microsoft Office PowerPoint</Application>
  <PresentationFormat>寬螢幕</PresentationFormat>
  <Paragraphs>497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S17 and G3: Hong Kong Government IT Security Framework</dc:title>
  <dc:subject>PptxGenJS Presentation</dc:subject>
  <dc:creator>LIU Ellie Shuk Ping (廖淑平)</dc:creator>
  <cp:lastModifiedBy>Shuk Ping Liu</cp:lastModifiedBy>
  <cp:revision>8</cp:revision>
  <dcterms:created xsi:type="dcterms:W3CDTF">2026-09-13T04:14:48Z</dcterms:created>
  <dcterms:modified xsi:type="dcterms:W3CDTF">2026-09-20T12:23:28Z</dcterms:modified>
</cp:coreProperties>
</file>