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Good evening, everyone. Welcome to Week 4.
Quick recap of where we are. Week 2 was Cap. 653, the newest and narrowest law. Week 3 was the PDPO, the oldest and broadest. Tonight we move to the public sector: S17 and G3. These are the Government's own IT security policy and guidelines. They are not a law, but for every bureau and department they are effectively mandatory.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Here's the shape of tonight.
Module one is our guest, Ellie Liu, Manager of Technology Risk Management at MTR. Ellie was on the team that supported the Digital Policy Office's revamp of S17 and G3, so she's seen this framework from the inside. She'll tell you the rest herself: why the framework exists and what it takes to make it work. Module two is me, and we go inside the documents: what they actually say, how they line up against ISO 27001, Cap. 653 and the PDPO, and what makes them unique. And Module three is G3, the how, and where all the numbers live.
Please welcome Ellie Liu.
[HAND OVER TO ELLIE'S DECK. Return to the next slide after her Q&amp;A and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Welcome back.
Ellie gave us the why. She also gave us one line to remember: S17 is the what, G3 is the how. For the next fifty minutes we'll open the documents and read them the way an auditor would.
Three questions for this module. What is actually in them? How do they compare to the frameworks we've already covered? And if you were auditing a department tomorrow, what would you actually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First, the basics. Two documents, and they're deliberately built on the same skeleton.
S17 is the Baseline IT Security Policy, currently version 8.2, April 2025. G3 is the IT Security Guidelines, version 10.2, same month. Both come from the Digital Policy Office. You'll still see OGCIO on older copies; it's the same function.
The practical point is the structure. Both have the same twenty-one sections with the same headings, and sections seven to twenty are the fourteen control areas. So if S17 section 14 is operations security, G3 section 14 is operations security too, just in more depth. When you're auditing, you read the S17 clause, then open G3 at the same section number to see what "good" looks like.
G3 also has four appendices, and one of them matters a lot. We'll get to it in a couple of minutes.
And note who it applies to: not only civil servants but vendors, contractors and consultants providing IT services to Government. Some of you will work for exactly those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Section 4.2 of S17 defines three words, and as an auditor these are the most important three words in the document.
"Shall" is mandatory. Not met means a finding.
"Should" is best practice. If a department departs from a "should", that's not automatically a breach. What you look for is a reason: was it considered, documented and approved? Usually that becomes an observation or a recommendation, not a non-compliance.
"May" is desirable practice. Nice to have.
Why am I making a fuss about grammar? Because I've seen reports where a "should" was written up as a hard finding, and the client pushed back, correctly. Before you write anything against S17, check the verb. We'll do exactly that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Section 3 lists what S17 is built on, and this list tells you a lot.
The Security Regulations give us the classification scheme: RESTRICTED, CONFIDENTIAL and above. That scheme drives a surprising number of technical controls, as you'll see.
The Civil Service Regulations cover conduct and discipline.
ISO 27001 and 27002, 2022 editions. Section 2.1 says S17 "adopts and adapts" the ISO security areas and controls. So if you know ISO from Week 1, you already know most of the skeleton.
Then the one I want you to notice: GB/T 22239-2019. That's the mainland's national standard for the multi-level protection scheme, often called MLPS 2.0. Putting it next to ISO is a real signal. It's where the idea of classifying systems into tiers comes from. S17 even uses the phrase "classified protection", which is how that scheme is usually translated.
And finally General Circular 6 of 2024, on strengthening governance and security of IT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This is the structural change Ellie talked about, the move to a more risk-based framework.
Section 7.2.2 says departments shall adopt classified protection by assessing the classification of all their information systems, including infrastructure and shared IT services.
There are three tiers. Tier 1 is every information system; all the mandatory requirements apply. Tier 2 is a system that's crucial to Government or society, where failure would cause serious impact. Tier 3 is a Tier 2 system that directly supports an essential service, where disruption could cause serious harm to the economy, people's livelihoods or public safety.
The rule: Tier 2 and 3 get everything in Tier 1, plus the more stringent requirements in G3 Appendix C.
Ellie, since you worked on this, you may want to add a line about what's in Appendix C. [PAUSE FOR ELLIE IF SHE'S STILL IN THE ROOM.]
For an auditor, the first question on any system is: what tier is it, and who decided? If the tier is wrong, you may be testing against the wrong set of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How does a system end up in a tier? G3 section 7.2 lists the factors. I'll give you the main four.
Defence and security risk: harm to lives or property, personal privacy, the ability to carry out statutory duties and maintain law and order. Financial implications. Government image: reputation and public confidence. And interdependency: if this system goes down, what else goes with it?
Then the line I'd underline. The classification shall be endorsed by the Head of the bureau or department, or an explicitly delegated officer at directorate level.
So the tier is a management decision, and it should leave a paper trail. Keep that in mind; it's the first thing you'd put in an RFI. Hold the thought, because we'll try classifying some systems ourselves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G3 has four appendices.
A is sample end-user instructions, useful as a benchmark when a department's own acceptable-use policy looks thin. B is guidance on classification assessment, the reasoning behind the tier. C is the big one: the extra controls for Tier 2 and Tier 3 systems. D is the compliance monitoring and audit mechanism.
If you only remember one: when a system is Tier 2 or 3, Appendix C is where your test plan gets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Here are the fourteen areas, sections 7 to 20.
If you did ISO 27001 in Week 1, this list should look familiar. We'll come back to why in a few minutes.
I'm not going to walk through all fourteen tonight. The clauses I'd test first in each area are in the appendix at the back of the deck, for your reading. Instead, we'll look at the structure, how it maps, and then spend most of our time on what makes S17 and G3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Here's Ellie's "what versus how" in one picture.
On the left, S17 section 14.6: technical vulnerability management in a few sentences, with patching set according to risk level.
On the right, the same section number in G3. It breaks that into eight sub-topics: the vulnerability management process, vulnerability scanning, penetration testing, configuration review, source code review, simulated attack, patch management, and using authorised software.
So when you're writing an RFI, S17 gives you the requirement to cite and G3 tells you which pieces of evidence to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Quick question before we move on. S17 runs to about forty pages. How many of its requirements contain an actual number? Days, hours, months, anything you could test against.
[TAKE A FEW GUESSES,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Almost none. The one real exception is the review cycle in section 20: risk assessment, privacy impact assessment and audit, each at least once every two years.
Log retention, patch frequency, password length, incident reporting deadlines: no numbers in S17. Remember that. The numbers aren't missing; they live one level down, in G3. That's where Module 3 goes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Now the map. This is at domain level, not control by control. Full dot is strong alignment, half dot is partial, a dash means little or none.
Read it column by column.
ISO 27001 is full dots all the way down. S17 adopts and adapts ISO, so every area has a home in Annex A.
Cap. 653, from Week 2, is mostly full dots too. That's not because it copies S17; it's because both follow a broadly ISO-shaped structure. Remember the Week 2 client who put ISO and Cap. 653 into one manual.
The PDPO column is mostly half dots and dashes, and that's the honest answer. The PDPO is a privacy law. It touches security mainly through Data Protection Principle 4, "all practicable steps", and through data processors under DPP2(3) and DPP4(2). Outside that it's largely its own thing.
The interesting rows are the ones where S17 itself reaches into privacy: section 20.1.4 and the privacy impact assessment in 20.2.1. More on those shortly.
Next three slides: one per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ISO first, the closest relative.
S17 section 2.1 says it adopts and adapts ISO 27001:2022. Every S17 area has a home in Annex A.
Here's something most people miss. The 2022 edition of ISO reorganised Annex A into four themes (organisational, people, physical, technological) with 93 controls. S17 cites the 2022 edition but keeps the older fourteen-domain order from the 2013 edition: policies, organisation, HR, assets, access control, and so on through compliance. So the content is current but the layout is familiar. That makes it easier for departments that grew up on the old layout, and slightly more work if you're mapping against a 2022 certificate.
What S17 adds on top of ISO is the Government-specific layer: roles named by rank, the classification scheme, the tiers, and a fixed two-year review cycle. ISO only asks for internal audits at planned intervals; it doesn't say how often.
So being ISO-certified doesn't make a department S17-compliant. The gap sits exactly in those Government-specific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Now Cap. 653, and two points.
First, it doesn't apply here. Bureaux and departments are outside Cap. 653; it covers designated critical infrastructure operators. Government has its own regime, and this is it.
Second, and this surprises people: S17 and G3 are more demanding than Cap. 653 in most respects. Look at the scope. Cap. 653 covers critical computer systems only. S17 covers every information system in every department, sorted into tiers. Cap. 653 has three categories of obligations. S17 has fourteen control areas plus a whole classification regime that decides encryption, networks and cloud.
And when you read G3 alongside S17, even the clocks are tighter. Look at incident reporting. Cap. 653 gives a serious incident twelve hours. G3 says the departmental response team phones GIRO within sixty minutes and files the preliminary form within forty-eight hours. Risk assessment: Cap. 653 says every twelve months; G3 says every two years for most systems, but annually for Tier 3, the essential-service systems.
Where Cap. 653 is genuinely harder is the last row: statutory fines. S17 and G3 are enforced administratively and through staff discipline.
So the way I'd put it: S17 and G3 ask for more, and Cap. 653 has the fines.
[OPTIONAL, IF THE ROOM IS ENGAGED:] Ellie's own organisation, MTR, is a good question to leave hanging. It isn't a Government department. So why would an organisation like that model its internal standard on a Government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And the PDPO, which I'll keep short, because the honest answer is that the two mostly stand alone.
There are four places where they meet. First, 20.1.4: departments shall observe the PDPO, and all personal data should be classified RESTRICTED or above. That one sentence pulls every personal-data system into the classification rules. Keep it in mind; we'll come back to it shortly.
Second, 20.2.1 requires a privacy impact assessment at least every two years, alongside the security risk assessment. The PDPO itself doesn't require a PIA. S17 goes further than the law.
Third, vendors. S17 section 17 lines up with the PDPO's data processor provisions, DPP2(3) and DPP4(2), from Week 3.
Fourth, monitoring. The right to examine everything in 7.1.5 is balanced against the no-profiling rule in 14.4.4.
Beyond that there's DPP4's general duty to take all practicable steps. Otherwise, treat them as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Now the part that makes S17 and G3 worth a whole week.
If S17 were just ISO with a Government logo on it, we wouldn't need this lecture. It isn't. There are six things in these documents that you won't find in ISO, or in Cap. 653, or in most private-sector policies. And there's one thing that's deliberately missing.
For each one, I'll explain it and then give you a question. Be ready to put your hand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Unique thing number one, and the most important: classification is the master switch.
In ISO, whether you encrypt something, where you host it and who can see it are risk decisions. You assess, you decide, you document. In S17, the label on the information decides.
Look down the table. Any classified information is encrypted in storage, whatever the media. RESTRICTED and CONFIDENTIAL are encrypted over any untrusted network. Classified information goes by email only on a system approved by the Government Security Officer, with DPO technical endorsement. Anything above CONFIDENTIAL lives only inside an isolated, approved LAN. RESTRICTED and above never goes into public cloud. Staff with access above RESTRICTED get an integrity check. And storage media are cleared or destroyed before disposal or re-use.
So the first question an auditor asks in a department isn't about firewalls. It's: what classifications of information do you hold, and where? Get that answer and half the test plan writes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Pulse check. An officer is working from home. They email a RESTRICTED draft from the office system to their personal Gmail, download it to their own laptop and finish it there. Very human, very common.
How many S17 clauses can you find? Call them out.
[TAKE ANSWERS FOR A MINUTE OR TWO,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Here are the five.
One, 15.2.3: classified information is emailed only on an approved system, and personal Gmail isn't one.
Two, 15.2.2: RESTRICTED must be encrypted over an untrusted network, and the public internet is untrusted.
Three, 17.3.1: Gmail is a public cloud service, and RESTRICTED shall not be stored or processed there.
Four, 10.2.2: classified information must be encrypted in storage. Is the officer's personal laptop encrypted? Probably not.
Five, 9.1.8: staff shall not communicate classified documents without authorisation.
One helpful act, five clauses. And the auditor's follow-up question isn't "did this happen". It's "would you know if it did?" What does the email gateway log, and does anyone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Now the grammar lesson from earlier pays off.
Two clauses. 20.1.4: all personal data "should" be classified RESTRICTED or above. Should: best practice.
17.3.1: information classified RESTRICTED or above "shall not" be stored in or processed by public cloud services. Shall: mandatory, and no exceptions are written in.
Put them together and you get a question that comes up in real life. A department runs its citizen appointment booking on a public SaaS platform. Is that non-compliant?
Before I tell you what I think, let's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Hands up if you think it's compliant.
[COUNT.]
Not compliant?
[COUNT.]
And "it depends"?
[COUNT. INVITE ONE PERSON FROM "IT DEPENDS" TO SAY ON WHAT.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Here's how I'd work it as an auditor. Three steps.
Step one: has the department classified this data at all? If not, that's already a finding, because classification is required.
Step two: is it classified RESTRICTED or above? If yes, and it's on public cloud, that's a clear finding under 17.3.1. That's a "shall", and there's no wiggle room.
Step three: if the department classified it below RESTRICTED, is that decision reasoned, approved and documented? Remember, 20.1.4 is only a "should". A documented, approved departure is at most an observation. An undocumented one is still an observation, but a sharper one, and I'd be asking a lot more questions.
So "it depends" was the right answer. Same system, same data. Whether it's a finding or an observation comes down to one verb and one management decision. And your job is to find the evidence of that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Unique thing number two: every system gets a tier. We covered the mechanics earlier, so here's where the idea comes from.
ISO doesn't grade systems. You have one management system and you choose controls by risk.
The mainland's multi-level protection scheme, GB/T 22239, the one S17 cites as a normative reference, does grade systems. It has five protection levels, and each level up adds baseline requirements.
S17 takes the idea and simplifies it: three tiers. Tier 1 is the baseline, and Tiers 2 and 3 add the Appendix C controls. And the level is signed by the Head of the department or a delegated directorate officer.
I'm not going to teach the mainland scheme tonight. The point is that when you see "classified protection" in S17, you're looking at a design choice with a lineage. It makes S17 more prescriptive than ISO for your most important systems.
Let's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Five systems. For each one, show of hands: Tier 1, 2 or 3?
[GO THROUGH EACH. COUNT HANDS ROUGHLY. DON'T REVEAL YET.]
One: a department's public information website. Two: an internal leave-application system. Three: a licence application and payment portal holding citizen data. Four: an emergency-dispatch system. Five: the department-wide email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Here's how I'd read them. And I want to be clear: this is my reading, not an official answer. S17 and G3 give you factors, not an answer key.
The website is probably Tier 1. But someone could argue for Tier 2 on the Government-image factor: a defaced Government homepage makes the evening news.
The leave system: Tier 1. Limited impact, nothing depends on it.
The licensing and payment portal: I'd argue Tier 2. Personal privacy, financial loss, public confidence.
Emergency dispatch: Tier 3. It directly supports an essential service, and disruption could harm public safety.
And email is the sneaky one. On its own it's just email, but everything depends on it. Interdependency is a factor, so there's a case for Tier 2.
The lesson: the auditor doesn't decide the tier. The auditor checks there's a documented assessment for each system, that it used the factors, and that it was endorsed by the Head of the department or a delegated directorate officer. If the email system has never been assessed, that's your finding, whatever tier it should have been.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Unique thing three: security has a rank, and a central nervous system.
At the centre, the Information Security Management Committee endorses Government security policy, and the IT Security Working Group is its executive arm: it coordinates and monitors compliance. GIRO keeps a central inventory of every security incident in Government and coordinates when several departments are hit at once. GovCERT.HK issues alerts and bridges to HKCERT.
In each department, the DITSO is appointed by the Head of the department at D3 or above. ISO says "top management" and leaves it there; S17 names the rank. There's an ISIRT Commander who makes the incident decisions and reports to GIRO. And the IT Security Administrator should not be the same person as the System Administrator.
Why does this matter? Because no private company has a GIRO. When one department is hit, the whole Government can know. That's only possible because every department reports into the same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Four quick ones. Hands up if you know.
[READ EACH ONE AND TAKE AN ANSWER OR TWO.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One: no officer at D3 or above? The highest-ranking directorate officer in the department becomes DITSO. Section 5.2.1.
Two: can the Departmental Security Officer also be the DITSO? Yes, S17 allows it. Section 5.2.3.
Three: a shared admin account for the night shift? Only with explicit DITSO approval. Section 11.2.6. So as an auditor, ask for the list of shared accounts and match each one to an approval.
Four: contained ransomware within two hours. Does anyone outside need to know? Yes, and it's already late. S17 says report immediately, and G3 puts a number on it: the departmental response team phones GIRO within sixty minutes and files a preliminary report form within forty-eight hours. "We fixed it ourselves" isn't a reason not to report. It's exactly the information GIRO needs, in case the same attacker is in three other departments.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Unique thing four: the review clock. We touched on it; now look at the detail, because it runs on events as well as time.
Every two years, a security risk assessment of information systems and production applications. Where personal data is involved, a privacy impact assessment too, which is an S17 requirement, not a PDPO one. An independent audit at least every two years.
But look at the two bold rows. A risk assessment is also required before production rollout and before major enhancements or changes. So the two-year clock is a maximum, not a schedule. A department that changes a lot should be assessing a lot.
And the last row is Ellie's point: auditors shall not audit their own work, and the tools used for assessment and audit are restricted and controlled.
ISO just says "planned intervals". This is much more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Three questions.
One: the last SRA was twenty months ago, and a major new online module goes live next month. When is the next SRA due?
Two: the system holds citizens' personal data. Is the SRA enough?
Three: the firm that did the SRA offers to do the audit, since they already know the system. Acceptable? Hands up yes... hands up no...
[TAKE ANSWERS AND COUNT HANDS ON THREE. MANY WILL SAY "IN FOUR MONTHS" FOR ONE.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One: before go-live, so now. The major-change trigger beats the two-year clock. If you said "in four months", you read the clock and missed the event.
Two: no. The system holds personal data, so a privacy impact assessment is required as well.
Three: no. If that firm assessed the risks and recommended the controls, then in the audit they'd be testing their own recommendations. That's auditing your own work, and 20.2.2 says auditors shall not. G3 goes further: it says the security audit shall not be treated as a verification of the fixes recommended in the risk assessment, and that departments should avoid using the same auditor for a prolonged period. Remember Ellie's slide: the audit is done by independent external auditors, or by DPO. Knowing the system is exactly the problem, not the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Unique thing five: privacy is written into the security policy itself.
Top left: management reserves the right to examine all information on Government systems, subject to the PDPO. That's a strong right.
But top right is its counterweight, and I think it's one of the most thoughtful clauses in the document. Logs shall not be used to profile the activity of a particular user unless it relates to a necessary audit activity approved by a directorate officer.
Add personal data being classified RESTRICTED or above, and a privacy impact assessment beside every risk assessment, and you have a security policy that treats privacy as part of its job, not somebody else's.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manager suspects an officer of wasting time online and asks IT security for that officer's browsing logs for the last three months. Do you hand them over? Yes, no, or "only if"?
[TAKE HANDS. ASK AN "ONLY IF" TO FINISH THE SENTENCE.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"Only if" is right. Section 14.4.4: logs aren't used to profile a particular user unless it's a necessary audit activity approved by a directorate officer.
A manager's hunch isn't that. If there's a real conduct issue, there's a proper route, with a directorate approval at the front of it.
And the auditor's version of this question: ask the department for every request to pull an individual's logs over the last year, and the approval behind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Unique thing six, and the one most of you will meet first in your careers: vendors are inside the policy, not outside it.
Section 2.2 names vendors, contractors and consultants as part of the target audience. Section 17.1.1: external service providers shall comply with the department's IT security policy. Risks are assessed and the security requirements go into the contract. The department keeps the right to audit you, or you provide periodic security audit reports. Government data is cleared or destroyed when the contract ends. And for cloud, no RESTRICTED or above in public cloud, and the shared responsibilities are documented before anyone signs.
In most private-sector policies, vendors are handled in a separate contract schedule. Here, you as the vendor are bound by the same policy as the civil servant.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Your firm wins a two-year contract to run a department's citizen-enquiry system on your own cloud tenancy. Name three things the department will expect you to show, and one question you should ask before you sign.
[TAKE THREE OR FOUR ANSWERS.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Things they'll expect: that you comply with their IT security policy; the risk assessment and security measures in the contract; audit rights, or your own periodic audit reports; and a plan for clearing or destroying their data at the end.
And the question to ask before signing: what classification is this data? Citizen enquiries mean personal data, and 20.1.4 says that should be RESTRICTED or above. If it is, 17.3.1 says it can't be in public cloud. So is your "own cloud tenancy" a public cloud? That one question can decide whether the contract is even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Back to the pulse check from earlier. S17 has almost no numbers. But they aren't missing; they're one level down, in G3.
Log retention: S17 says "commensurate with their usefulness". G3 says email and Internet-access logs are kept no less than six months. Patching: S17 says "depending on the risk level". G3 says Internet-facing systems should be fixed within a month of the patch release. Passwords: S17 says "strict". G3 says at least eight characters, and more for systems holding classified data. Incidents: S17 says "immediately". G3 says phone GIRO within sixty minutes. And EDR and SOC, which S17 never names, appear in G3's Appendix C for Tier 3 systems.
Why split it this way? Think back to Ellie's slide on constraints. S17 sets the principle for sixty-plus organisations; G3 carries the detail that can be updated more easily.
For us as auditors: cite S17, test with G3, and where both are silent, test against the department's own standard. After the break, Module 3 is all about G3.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Let's audit one of those missing numbers.
14.6.2: depending on the risk level, departments shall determine the appropriate patch management strategy, including patch checking and patching frequency. And Internet-facing systems shall be subject to stringent patch management.
There's no number in S17. G3 adds one: known vulnerabilities in Internet-facing systems should be fixed within a month of the patch release. Notice the verb: should. And for Tier 2 systems, Appendix C turns it into a shall, typically within a month, and if you can't, you tell the DITSO why.
So the number you test against depends on the tier. How would you audit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Three steps: exists, fits, followed.
One, exists. Is there a documented, approved patch management strategy? Ask for the document, the approval and the version date. If there isn't one, stop: that's the finding.
Two, fits. Is it actually risk-based? Does it set different timelines by risk level, and does it meet G3's one-month benchmark for Internet-facing systems? Ask for the timelines and the list of Internet-facing systems. That list matters: if a department can't tell you which of its systems face the Internet, the strategy can't really be working.
Three, followed. Take a sample of systems and a period, and compare the patch records and vulnerability scan results against the department's own timelines. Where a patch wasn't applied, look for the compensating measure, which 14.6.3 allows. And for a Tier 2 system, look for the notice to the DITSO and the monthly updates, which Appendix C requires when the month is missed.
If this feels familiar, it should. Steps one and two test design. Step three tests operating effectiveness. That's the distinction from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Six things to take away.
Read S17 for the requirement, then G3 at the same section number for the evidence.
Check the verb. "Shall" is a finding; "should" needs a reason.
Ask what classification the data carries, because in S17 the label decides the controls.
Ask for the tier and who signed it. Tier 2 and 3 bring in Appendix C.
Watch the events, not just the clock. Go-live and major changes trigger a risk assessment.
And cite S17, but test with G3, because that's where the numbers live.
Let's take a ten-minute break. After the break, Module 3: G3.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[BREAK. MODULE 3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Welcome back. Module 3.
Before the break I kept saying the numbers aren't missing, they're one level down. For the next forty minutes we go one level down, into G3.
Five stops. G3 at a glance. The same clause in both documents, side by side. Appendix B, which tells you how a tier is actually decided. Appendix C, what Tier 2 and Tier 3 systems have to do on top. And Appendix D, how DPO keeps watch over all sixty-plus departments.
Same format as before: I explain, you vote, then we look at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G3 at a glance.
It's about three times the length of S17: around a hundred and twenty pages plus four appendices. Same twenty-one sections, same headings, so you can always jump from an S17 clause to the matching G3 section.
The row I want you to remember is the bold one. People call G3 "guidelines" and assume it's optional. It isn't. Section 2.3 says departments shall adopt all the mandatory security requirements set out in G3 for Tier 1 systems, and additionally the Appendix C requirements for Tier 2 and Tier 3. The word "shall" appears in G3 more than five hundred times.
So when you audit a department, a missed "shall" in G3 is a finding, exactly like a missed "shall" in S17.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Same clause, two documents. First, people and data.
Access review. S17 says review privileges periodically. G3 says regularly, and gives an example: at least once a year, preferably twice. Notice the "e.g.". Hold that thought; it's the next question. G3 also says high-privilege accounts should be checked by an independent party.
Passwords. S17 says "strict". G3 says a minimum of eight characters, as a shall. And for any system holding classified data, a full strong password policy: eight characters using all four character types, or ten from three types; eight passwords remembered; lockout after five or fewer failed attempts; and a change every six months. If a department can't do one of those, it needs the DITSO's explicit approval, documented.
Logs. S17 says "commensurate with their usefulness". G3 says logs for the approved email system and Internet access are kept no less than six months, and system clocks are synced with a trusted time server at least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Second, operations and incidents.
Patching we covered: within a month for Internet-facing, as a should. G3 also says that if you run software that's going out of support, the migration plan should be in place six months before the end-of-support date.
Internet-facing testing. S17 is silent. G3 says every Internet-facing system gets a vulnerability scan at least once a year, before go-live and before major changes, and a penetration test is included in every security risk assessment. Those are shalls.
And the one I want you to remember: incident reporting. S17 says "immediately". G3 says the departmental response team phones GIRO within sixty minutes and files a preliminary report form within forty-eight hours, with a post-incident report within a week of resolution. Compare that with Cap. 653's twelve hours. On incidents, the Government's own clock is much tighter than the law it applies to everyone else.
Drills: at least once every two years, preferably annually.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Pulse check. A department reviews privileged access every eighteen months. G3 says access rights are regularly reviewed, "e.g. at least once annually, preferably twice per year".
Finding, observation, or it depends? Hands up.
[COUNT.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It depends, and it depends on the tier.
For a Tier 1 system, the requirement is that access is regularly reviewed. That's the shall. "At least once annually" follows an "e.g.", so it's an example, not the rule. Eighteen months is an observation: I'd ask why that's regular enough for this system's risk.
For a Tier 2 or Tier 3 system, Appendix C says an independent party checks the use of privileged accounts at least once every six months, and that's a shall. Eighteen months is a clear finding.
Two lessons: read the "e.g." carefully, and ask for the tier before you judge any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In Module 2 I said there's no answer key for tiering. Appendix B is as close as you get.
You rate the system High, Medium or Low on four aspects. Defence and security: lives, property, law and order, statutory duties, loss of data or personal information. Financial: direct loss, lost or delayed revenue, clean-up costs, compensation. Government image: reputation and public confidence. And services to users: how many users, whether it's the public or internal staff, and whether senior officers depend on it for decisions. You're also told to consider interdependent systems.
Then the rule: if any single aspect is High, the overall impact is High, and the system is Tier 2. One High is enough.
Tier 3 is a Tier 2 system that directly provides an essential service. G3 lists the kind of sectors it means: aviation, banking, energy, healthcare, land transport, water, emergency services and so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Back to the licence portal from Module 2. Someone has done the Appendix B assessment. Defence and security: Medium. Financial: Medium. Government image: High. Services to users: Medium.
Tier 1, 2 or 3? Hands up.
[COUNT.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Tier 2. Three Mediums don't average out one High. One High is enough.
Is it Tier 3? Only if licensing is directly providing an essential service in the sense Appendix B means, like aviation, energy or healthcare. Normally, no.
In Module 2 we said "Tier 2, arguable". Appendix B settles the argument.
And then the auditor's questions follow: who endorsed the classification, was it submitted to DPO, and, most importantly, are the Tier 2 controls actually in place? Which brings us to Appendix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Appendix C. Everything here is a shall, and it's on top of everything Tier 1 already has to do.
For Tier 2, access and operations. An independent check of privileged account usage at least every six months. Where there's no technical way to limit privileged access, administrative procedures: a password kept in a sealed envelope by another person, or a split password that needs two staff to log in. The strong password policy, and also on any other system that could be used to compromise this one, like an admin workstation on the same segment. And multi-factor authentication for interactive privileged logons, where technically feasible.
Operations: local and off-site backups. A documented capacity plan. An end-of-support migration plan at least six months ahead.
And the bold row: known vulnerabilities fixed, typically within a month of the patch release. If you can't, you tell the DITSO the rationale, the risks and the plan, and you update them monthly until it's fixed. That's the should from G3 section 14 becoming a shall for Tier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Tier 2, continued: build, continuity and testing.
Shift-left: secure coding and a security review at the design stage, with the pre-production risk assessment checking that the review's actions were actually done. Hardening before go-live, and the hardened build becomes the baseline for every later change.
Continuity: an IT contingency plan, with disaster recovery documented, regularly tested and tied into the business continuity plan.
Testing: vulnerability scanning at least once a year, before go-live and before major changes. Penetration testing in every risk assessment, and for Internet-facing Tier 2 systems, at least once a year.
For those of you who'll be doing this work: that's a lot of annual engagements across sixty-plus departments.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Tier 3, the essential-service systems. All of this is on top of Tier 2.
Governance: a steering committee with senior management and the DITSO, meeting regularly with documented minutes, and at least one person in the security unit holding a recognised certification like CISA or CISSP.
Risk: a risk register for every Tier 3 system.
People: a structured training programme that covers vendors too, or a contract clause making the vendor train its own staff.
Monitoring, in bold: 24×7 security surveillance, with a SIEM pulling together firewall, IDS, EDR and NDR data. Remember Ellie's revamp slide, about closing the gap on industry-standard EDR and SOC? This is where it landed: in Appendix C, for Tier 3, not in S17 for everyone. That's the risk-based, gradual approach she described, written down.
Resilience, tested regularly.
And assessment: a risk assessment at least every year, not every two, including vulnerability scanning, penetration testing, configuration review and source code review. The penetration test is done by an independent, accredited provider. And the reports are endorsed by the DITSO.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Tier 2, Internet-facing system. A critical patch was released five weeks ago, and it still isn't applied.
Is that a finding? And what's the first thing you'd ask for?
[TAKE ANSWERS.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Not automatically. Appendix C says typically within a month. That word "typically" gives room, but the room comes with a paper trail.
So the first thing you ask for: the risk assessment of this vulnerability and the mitigation schedule. Then the notice to the DITSO, which is required once the month has passed: the rationale, the risks, the approach and the schedule. Then the monthly updates to the DITSO until it's fixed.
If the trail exists, it's a managed exception, and you probably note it. If there's no trail, it's a finding, even if the patch goes on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 Tier 3 system. The department's own security team runs the annual penetration test, and the test lead holds an OSCP, which is one of the certifications G3 names.
Compliant? Hands up.
[COUNT.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No. Right certificate, wrong independence.
Appendix C says the penetration test for a Tier 3 system is conducted by an independent service provider having professional accreditations, and it lists examples: CISP-PTE, CREST's CCT APP, GPEN, OSCP. The in-house lead has the certificate, but an in-house team isn't an independent service provider.
And while you're there, ask for the rest of the package: the reports, the risk register and the rectification plan, endorsed by the DITSO, and, as we'll see next, submitted to DPO within thirty days.
For Tier 3, both conditions apply: the right qualification and an independent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Last stop: Appendix D. How does DPO keep an eye on sixty-plus departments? Paperwork with deadlines.
Departments with Tier 3 systems tell DPO how their security unit is set up. Every department sends DPO its list of Tier 2 and Tier 3 systems, with the classification details, endorsed by the Head of the department, and updates it within thirty days of any change, including a change in tier. That's the bold row, and it's the next question.
Tier 3 incident response plans go to DPO on request. Risk assessment, audit and privacy impact assessment documentation goes on regular request. For Tier 3, the full risk assessment package goes to DPO within thirty days of completion, and the audit report within thirty days, with a rectification plan thirty days after that if there's non-compliance.
And departments take part in DPO's own Government-wide compliance audits and security surveys.
So the chain from Module 2 is complete: the department tiers the system, the Head signs it, DPO gets the list, and the Tier 3 reports flow to DPO on a thirty-day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In March, a department reassesses a system and moves it from Tier 2 to Tier 1.
Who needs to know, and by when? And why would an auditor look at this particular change closely?
[TAKE ANSWERS.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new classification is endorsed by the Head of the department or an explicitly delegated directorate officer, and DPO has to be told within thirty days, under Appendix D item 2.
Why look closely? Because a downgrade switches off every Appendix C control at once: the six-monthly privileged account checks, the MFA, the annual scans and pen tests. It's the cheapest way to cut compliance cost. Sometimes the downgrade is genuine, because the system really did change. But it deserves the same scrutiny as the controls it switches off.
So ask for the new Appendix B ratings and what changed since last time, the endorsement, the DPO notice, and which Tier 2 controls were dropped as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Last one, and it pulls the whole night together. You audit a Tier 2, Internet-facing licence portal holding citizens' personal data, tomorrow morning.
Using S17 and G3, what's on your evidence list? Shout them out, and I'll keep count. Aim for ten.
[COLLECT ANSWERS FOR 2–3 MINUTES. THEN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Here's mine. Ten lines, and every one has a clause behind it.
Start with the data: its classification and where it's hosted, because personal data should be RESTRICTED or above, and RESTRICTED can't be in public cloud. Then the tier: the Appendix B assessment, the endorsement and the DPO list.
Then the reviews: the latest risk assessment and privacy impact assessment, within two years and before go-live or any major change. The audit report, from an auditor who didn't do the risk assessment.
Then the Appendix C controls: six-monthly independent checks on privileged accounts, and MFA. Password settings against the strong password policy. The annual vulnerability scan and pen test, and the hardening baseline. Patch records, with DITSO notices for anything past a month. Log retention, the incident plan, drills and the GIRO reporting procedure. Backups, local and off-site, and a tested disaster recovery plan.
If your list had most of these, you can already scope a real Government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To close, S17 and G3 in one slide.
S17 tells you what must be achieved. G3 tells you how, and how often. S17 has almost no numbers; G3 is full of them. S17 requires every system to be tiered; G3's Appendix B decides the tier and Appendix C sets the bar for Tier 2 and 3. S17 sets up the roles and the independent audit; Appendix D tells you what goes to DPO, and when.
And as an auditor: you cite S17, and you test with G3.
If you remember one line from tonight: ask the classification, ask the tier, cite S17, test with G3.
Thank you to Ellie for joining us. For next week, please read the IA GL20 overview ahead of Eleanor Heung's session. For those who can stay, I'm around for questions until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 NOT PRESENTED. For students' reading after class. Use any of these slides if a question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Group one: governance, people and assets.
7.1.5: management shall reserve the right to examine all information stored in or sent through Government systems, subject to the PDPO. As an auditor I'd ask how staff are told about that.
7.2.2 is the tiering we just covered.
9.1.4 is unusual: civil servants authorised to access information above RESTRICTED have to go through an integrity check. You won't find that in ISO as a named control.
10.1.1, the asset inventory. I say this every week: no inventory, no scope. You can't assess what you don't know exists.
And 10.2.2, which I'd put on a poster. All classified information shall be encrypted in storage, irrespective of the storage media. Most of S17 is risk-based. This one isn't. It's absolute, and absolute requirements are the easiest to test and the hardest to argue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Group two: access, cryptography, physical.
11.2.4: privileges reviewed periodically, with approval and review records kept. The word "records" is a gift to an auditor. It tells you the evidence exists, or should.
11.2.6: each user-ID identifies exactly one user. Shared or group IDs aren't allowed unless the DITSO explicitly approves. So the test is simple: ask for the list of shared accounts and the approvals. If there are shared accounts but no approvals, that's your finding.
11.4.5: change vendor default passwords before a system goes live. Anyone who's done penetration testing knows how often that one still turns up.
12.1.1: key management across the full life cycle, from generation to destruction.
And 13.1.4 and 13.1.6: an authorised access list for data centres and computer rooms, reviewed periodically, plus visitor records. Very easy to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Group three: operations and communications, the most technical part.
14.3.3: review backups and run restoration tests, and document how often. A backup that's never been restored is a hope, not a control.
14.4.3 and 14.4.4 are interesting together. Logs must be protected from modification. But logs shall not be used to profile a particular user unless it relates to an audit approved by a directorate officer. That's privacy written directly into a security control.
14.6.2 is patching. It says the patch strategy and frequency are set depending on the risk level, and Internet-facing systems get stringent patch management. Notice there's no number. We'll come back to it.
15.1.6 and 15.1.10: no private devices on the Government network, and no device connected to an external network and the Government network at the same time, unless the DITSO approves. More exception lists.
And 15.2.1: information above CONFIDENTIAL is transmitted only encrypted, inside an isolated LAN approved by the Government Security Officer. Classification is literally deciding the network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Last group: build, buy, respond, recover, and prove it.
16.2.7: developers and support staff don't touch classified production data without the Information Owner's approval.
17 is outsourcing, and it's where many of you will sit. 17.1.1: vendors must comply with the department's IT security policy. 17.2.2: the department reserves audit and compliance-monitoring rights over the vendor, or the vendor provides security audit reports periodically.
17.3.1: information classified RESTRICTED or above shall not be stored in or processed by public cloud. We'll come back to that.
18.1.5: incidents, observed or suspected, reported immediately to the responsible party. S17 gives no hour count, but G3 does: phone GIRO within sixty minutes.
And 20.2, which is what Ellie called SRAA. Security risk assessment and privacy impact assessment at least once every two years, and also before a system goes into production and before major changes. An audit at least once every two years. And the line Ellie stressed: auditors shall not audit their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1809750"/>
            <a:ext cx="7239000" cy="2667000"/>
          </a:xfrm>
          <a:prstGeom prst="rect">
            <a:avLst/>
          </a:prstGeom>
          <a:noFill/>
          <a:ln/>
        </p:spPr>
        <p:txBody>
          <a:bodyPr wrap="square" rtlCol="0" anchor="t"/>
          <a:lstStyle/>
          <a:p>
            <a:pPr indent="0" marL="0">
              <a:lnSpc>
                <a:spcPct val="112000"/>
              </a:lnSpc>
              <a:buNone/>
            </a:pPr>
            <a:r>
              <a:rPr lang="en-US" sz="5000" dirty="0">
                <a:solidFill>
                  <a:srgbClr val="1A1A1A"/>
                </a:solidFill>
                <a:latin typeface="Georgia" pitchFamily="34" charset="0"/>
                <a:ea typeface="Georgia" pitchFamily="34" charset="-122"/>
                <a:cs typeface="Georgia" pitchFamily="34" charset="-120"/>
              </a:rPr>
              <a:t>S17 and G3.</a:t>
            </a:r>
            <a:endParaRPr lang="en-US" sz="5000" dirty="0"/>
          </a:p>
        </p:txBody>
      </p:sp>
      <p:sp>
        <p:nvSpPr>
          <p:cNvPr id="3" name="Shape 1"/>
          <p:cNvSpPr/>
          <p:nvPr/>
        </p:nvSpPr>
        <p:spPr>
          <a:xfrm>
            <a:off x="533400" y="4305300"/>
            <a:ext cx="1143000" cy="28575"/>
          </a:xfrm>
          <a:prstGeom prst="rect">
            <a:avLst/>
          </a:prstGeom>
          <a:solidFill>
            <a:srgbClr val="D04A02"/>
          </a:solidFill>
          <a:ln/>
        </p:spPr>
      </p:sp>
      <p:sp>
        <p:nvSpPr>
          <p:cNvPr id="4" name="Text 2"/>
          <p:cNvSpPr/>
          <p:nvPr/>
        </p:nvSpPr>
        <p:spPr>
          <a:xfrm>
            <a:off x="533400" y="4533900"/>
            <a:ext cx="8572500" cy="666750"/>
          </a:xfrm>
          <a:prstGeom prst="rect">
            <a:avLst/>
          </a:prstGeom>
          <a:noFill/>
          <a:ln/>
        </p:spPr>
        <p:txBody>
          <a:bodyPr wrap="square" rtlCol="0" anchor="t"/>
          <a:lstStyle/>
          <a:p>
            <a:pPr indent="0" marL="0">
              <a:lnSpc>
                <a:spcPct val="125000"/>
              </a:lnSpc>
              <a:buNone/>
            </a:pPr>
            <a:r>
              <a:rPr lang="en-US" sz="2000" b="1" dirty="0">
                <a:solidFill>
                  <a:srgbClr val="3D3D3D"/>
                </a:solidFill>
                <a:latin typeface="Arial" pitchFamily="34" charset="0"/>
                <a:ea typeface="Arial" pitchFamily="34" charset="-122"/>
                <a:cs typeface="Arial" pitchFamily="34" charset="-120"/>
              </a:rPr>
              <a:t>The Hong Kong Government’s IT security baseline — from the people who built it, to the clauses themselves</a:t>
            </a:r>
            <a:endParaRPr lang="en-US" sz="2000" dirty="0"/>
          </a:p>
        </p:txBody>
      </p:sp>
      <p:sp>
        <p:nvSpPr>
          <p:cNvPr id="5" name="Text 3"/>
          <p:cNvSpPr/>
          <p:nvPr/>
        </p:nvSpPr>
        <p:spPr>
          <a:xfrm>
            <a:off x="533400" y="5295900"/>
            <a:ext cx="8572500" cy="800100"/>
          </a:xfrm>
          <a:prstGeom prst="rect">
            <a:avLst/>
          </a:prstGeom>
          <a:noFill/>
          <a:ln/>
        </p:spPr>
        <p:txBody>
          <a:bodyPr wrap="square" rtlCol="0" anchor="t"/>
          <a:lstStyle/>
          <a:p>
            <a:pPr indent="0" marL="0">
              <a:lnSpc>
                <a:spcPct val="130000"/>
              </a:lnSpc>
              <a:buNone/>
            </a:pPr>
            <a:r>
              <a:rPr lang="en-US" sz="2000" dirty="0">
                <a:solidFill>
                  <a:srgbClr val="7A7A7A"/>
                </a:solidFill>
                <a:latin typeface="Arial" pitchFamily="34" charset="0"/>
                <a:ea typeface="Arial" pitchFamily="34" charset="-122"/>
                <a:cs typeface="Arial" pitchFamily="34" charset="-120"/>
              </a:rPr>
              <a:t>CS5292 Week 4 · 23 September 2026</a:t>
            </a:r>
            <a:endParaRPr lang="en-US" sz="2000" dirty="0"/>
          </a:p>
          <a:p>
            <a:pPr indent="0" marL="0">
              <a:lnSpc>
                <a:spcPct val="130000"/>
              </a:lnSpc>
              <a:buNone/>
            </a:pPr>
            <a:r>
              <a:rPr lang="en-US" sz="2000" dirty="0">
                <a:solidFill>
                  <a:srgbClr val="7A7A7A"/>
                </a:solidFill>
                <a:latin typeface="Arial" pitchFamily="34" charset="0"/>
                <a:ea typeface="Arial" pitchFamily="34" charset="-122"/>
                <a:cs typeface="Arial" pitchFamily="34" charset="-120"/>
              </a:rPr>
              <a:t>Guest: Ellie Liu, MTR Corporation</a:t>
            </a:r>
            <a:endParaRPr lang="en-US" sz="20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WEEK 4 · RUN OF SHOW</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Tonight, in three modules.</a:t>
            </a:r>
            <a:endParaRPr lang="en-US" sz="3000" dirty="0"/>
          </a:p>
        </p:txBody>
      </p:sp>
      <p:sp>
        <p:nvSpPr>
          <p:cNvPr id="4" name="Shape 2"/>
          <p:cNvSpPr/>
          <p:nvPr/>
        </p:nvSpPr>
        <p:spPr>
          <a:xfrm>
            <a:off x="533400" y="1847850"/>
            <a:ext cx="3568598" cy="28575"/>
          </a:xfrm>
          <a:prstGeom prst="rect">
            <a:avLst/>
          </a:prstGeom>
          <a:solidFill>
            <a:srgbClr val="1A1A1A"/>
          </a:solidFill>
          <a:ln/>
        </p:spPr>
      </p:sp>
      <p:sp>
        <p:nvSpPr>
          <p:cNvPr id="5" name="Shape 3"/>
          <p:cNvSpPr/>
          <p:nvPr/>
        </p:nvSpPr>
        <p:spPr>
          <a:xfrm>
            <a:off x="533400" y="1876425"/>
            <a:ext cx="3568598" cy="3209925"/>
          </a:xfrm>
          <a:prstGeom prst="rect">
            <a:avLst/>
          </a:prstGeom>
          <a:solidFill>
            <a:srgbClr val="F2F2F2"/>
          </a:solidFill>
          <a:ln w="6350">
            <a:solidFill>
              <a:srgbClr val="F2F2F2"/>
            </a:solidFill>
            <a:prstDash val="solid"/>
          </a:ln>
        </p:spPr>
      </p:sp>
      <p:sp>
        <p:nvSpPr>
          <p:cNvPr id="6" name="Text 4"/>
          <p:cNvSpPr/>
          <p:nvPr/>
        </p:nvSpPr>
        <p:spPr>
          <a:xfrm>
            <a:off x="723900"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MODULE 1 · GUEST</a:t>
            </a:r>
            <a:endParaRPr lang="en-US" sz="1600" dirty="0"/>
          </a:p>
        </p:txBody>
      </p:sp>
      <p:sp>
        <p:nvSpPr>
          <p:cNvPr id="7" name="Text 5"/>
          <p:cNvSpPr/>
          <p:nvPr/>
        </p:nvSpPr>
        <p:spPr>
          <a:xfrm>
            <a:off x="723900"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Why it exists</a:t>
            </a:r>
            <a:endParaRPr lang="en-US" sz="2000" dirty="0"/>
          </a:p>
        </p:txBody>
      </p:sp>
      <p:sp>
        <p:nvSpPr>
          <p:cNvPr id="8" name="Text 6"/>
          <p:cNvSpPr/>
          <p:nvPr/>
        </p:nvSpPr>
        <p:spPr>
          <a:xfrm>
            <a:off x="723900" y="2628900"/>
            <a:ext cx="3187598" cy="2381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Ellie Liu: why Government needs one baseline, how it was revamped, and what SRAA looks like in practice.</a:t>
            </a:r>
            <a:endParaRPr lang="en-US" sz="2000" dirty="0"/>
          </a:p>
        </p:txBody>
      </p:sp>
      <p:sp>
        <p:nvSpPr>
          <p:cNvPr id="9" name="Shape 7"/>
          <p:cNvSpPr/>
          <p:nvPr/>
        </p:nvSpPr>
        <p:spPr>
          <a:xfrm>
            <a:off x="4311548" y="1847850"/>
            <a:ext cx="3568598" cy="28575"/>
          </a:xfrm>
          <a:prstGeom prst="rect">
            <a:avLst/>
          </a:prstGeom>
          <a:solidFill>
            <a:srgbClr val="D04A02"/>
          </a:solidFill>
          <a:ln/>
        </p:spPr>
      </p:sp>
      <p:sp>
        <p:nvSpPr>
          <p:cNvPr id="10" name="Shape 8"/>
          <p:cNvSpPr/>
          <p:nvPr/>
        </p:nvSpPr>
        <p:spPr>
          <a:xfrm>
            <a:off x="4311548" y="1876425"/>
            <a:ext cx="3568598" cy="3209925"/>
          </a:xfrm>
          <a:prstGeom prst="rect">
            <a:avLst/>
          </a:prstGeom>
          <a:solidFill>
            <a:srgbClr val="FDF0E6"/>
          </a:solidFill>
          <a:ln w="6350">
            <a:solidFill>
              <a:srgbClr val="FDF0E6"/>
            </a:solidFill>
            <a:prstDash val="solid"/>
          </a:ln>
        </p:spPr>
      </p:sp>
      <p:sp>
        <p:nvSpPr>
          <p:cNvPr id="11" name="Text 9"/>
          <p:cNvSpPr/>
          <p:nvPr/>
        </p:nvSpPr>
        <p:spPr>
          <a:xfrm>
            <a:off x="4502048" y="2000250"/>
            <a:ext cx="3187598"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MODULE 2 · LECTURE</a:t>
            </a:r>
            <a:endParaRPr lang="en-US" sz="1600" dirty="0"/>
          </a:p>
        </p:txBody>
      </p:sp>
      <p:sp>
        <p:nvSpPr>
          <p:cNvPr id="12" name="Text 10"/>
          <p:cNvSpPr/>
          <p:nvPr/>
        </p:nvSpPr>
        <p:spPr>
          <a:xfrm>
            <a:off x="4502048"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What it actually says</a:t>
            </a:r>
            <a:endParaRPr lang="en-US" sz="2000" dirty="0"/>
          </a:p>
        </p:txBody>
      </p:sp>
      <p:sp>
        <p:nvSpPr>
          <p:cNvPr id="13" name="Text 11"/>
          <p:cNvSpPr/>
          <p:nvPr/>
        </p:nvSpPr>
        <p:spPr>
          <a:xfrm>
            <a:off x="4502048" y="2628900"/>
            <a:ext cx="3187598" cy="2381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Inside S17 and G3: the 14 areas, how they map to what you know, and what makes them unique.</a:t>
            </a:r>
            <a:endParaRPr lang="en-US" sz="2000" dirty="0"/>
          </a:p>
        </p:txBody>
      </p:sp>
      <p:sp>
        <p:nvSpPr>
          <p:cNvPr id="14" name="Shape 12"/>
          <p:cNvSpPr/>
          <p:nvPr/>
        </p:nvSpPr>
        <p:spPr>
          <a:xfrm>
            <a:off x="8089697" y="1847850"/>
            <a:ext cx="3568598" cy="28575"/>
          </a:xfrm>
          <a:prstGeom prst="rect">
            <a:avLst/>
          </a:prstGeom>
          <a:solidFill>
            <a:srgbClr val="1A1A1A"/>
          </a:solidFill>
          <a:ln/>
        </p:spPr>
      </p:sp>
      <p:sp>
        <p:nvSpPr>
          <p:cNvPr id="15" name="Shape 13"/>
          <p:cNvSpPr/>
          <p:nvPr/>
        </p:nvSpPr>
        <p:spPr>
          <a:xfrm>
            <a:off x="8089697" y="1876425"/>
            <a:ext cx="3568598" cy="3209925"/>
          </a:xfrm>
          <a:prstGeom prst="rect">
            <a:avLst/>
          </a:prstGeom>
          <a:solidFill>
            <a:srgbClr val="F2F2F2"/>
          </a:solidFill>
          <a:ln w="6350">
            <a:solidFill>
              <a:srgbClr val="F2F2F2"/>
            </a:solidFill>
            <a:prstDash val="solid"/>
          </a:ln>
        </p:spPr>
      </p:sp>
      <p:sp>
        <p:nvSpPr>
          <p:cNvPr id="16" name="Text 14"/>
          <p:cNvSpPr/>
          <p:nvPr/>
        </p:nvSpPr>
        <p:spPr>
          <a:xfrm>
            <a:off x="8280197"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MODULE 3 · LECTURE</a:t>
            </a:r>
            <a:endParaRPr lang="en-US" sz="1600" dirty="0"/>
          </a:p>
        </p:txBody>
      </p:sp>
      <p:sp>
        <p:nvSpPr>
          <p:cNvPr id="17" name="Text 15"/>
          <p:cNvSpPr/>
          <p:nvPr/>
        </p:nvSpPr>
        <p:spPr>
          <a:xfrm>
            <a:off x="8280197" y="2276475"/>
            <a:ext cx="3187598"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G3, where the numbers live</a:t>
            </a:r>
            <a:endParaRPr lang="en-US" sz="2000" dirty="0"/>
          </a:p>
        </p:txBody>
      </p:sp>
      <p:sp>
        <p:nvSpPr>
          <p:cNvPr id="18" name="Text 16"/>
          <p:cNvSpPr/>
          <p:nvPr/>
        </p:nvSpPr>
        <p:spPr>
          <a:xfrm>
            <a:off x="8280197" y="2886075"/>
            <a:ext cx="3187598" cy="212407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The how: G3 clause by clause, the Tier 2 and 3 extras in Appendix C, and how DPO checks up.</a:t>
            </a:r>
            <a:endParaRPr lang="en-US" sz="2000" dirty="0"/>
          </a:p>
        </p:txBody>
      </p:sp>
      <p:sp>
        <p:nvSpPr>
          <p:cNvPr id="19" name="Text 17"/>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MODULE 2  ·  50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Reading the</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Documents.</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Ellie showed you why S17 and G3 exist. Now we open them: what they contain, how they compare with the frameworks you know, and what an auditor would actually test.</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1 · MEET THE DOCUMENTS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Two documents, one structure.</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107682"/>
                <a:gridCol w="4032087"/>
                <a:gridCol w="4985126"/>
              </a:tblGrid>
              <a:tr h="533400">
                <a:tc>
                  <a:txBody>
                    <a:bodyPr/>
                    <a:lstStyle/>
                    <a:p>
                      <a:pPr algn="l" indent="0" marL="0">
                        <a:buNone/>
                      </a:pP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S17</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G3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Full name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Baseline IT Security Policy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IT Security Guidelines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Current version</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v8.2 · April 2025</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v10.2 · April 2025</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Role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The mandatory baseline — the “what”</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Implementation guidance — the “how”, one level down</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Structure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§1–§21, with 14 control areas at §7–§20</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Same 21 sections and headings, plus Appendices A–D</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Applies to</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All B/Ds, all staff levels, and vendors and contractors providing IT services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Same audience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Issued by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Digital Policy Office (formerly OGCIO)</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Digital Policy Office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717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§2 · G3 IT Security Guidelines v10.2 (Apr 2025) contents · govcert.gov.hk/doc/S17_EN.pdf and G3_EN.pdf</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1 · MEET THE DOCUMENTS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Three words decide what counts as a finding.</a:t>
            </a:r>
            <a:endParaRPr lang="en-US" sz="3000" dirty="0"/>
          </a:p>
        </p:txBody>
      </p:sp>
      <p:sp>
        <p:nvSpPr>
          <p:cNvPr id="4" name="Shape 2"/>
          <p:cNvSpPr/>
          <p:nvPr/>
        </p:nvSpPr>
        <p:spPr>
          <a:xfrm>
            <a:off x="533400" y="1847850"/>
            <a:ext cx="3568598" cy="28575"/>
          </a:xfrm>
          <a:prstGeom prst="rect">
            <a:avLst/>
          </a:prstGeom>
          <a:solidFill>
            <a:srgbClr val="D04A02"/>
          </a:solidFill>
          <a:ln/>
        </p:spPr>
      </p:sp>
      <p:sp>
        <p:nvSpPr>
          <p:cNvPr id="5" name="Shape 3"/>
          <p:cNvSpPr/>
          <p:nvPr/>
        </p:nvSpPr>
        <p:spPr>
          <a:xfrm>
            <a:off x="533400" y="1876425"/>
            <a:ext cx="3568598" cy="2733675"/>
          </a:xfrm>
          <a:prstGeom prst="rect">
            <a:avLst/>
          </a:prstGeom>
          <a:solidFill>
            <a:srgbClr val="FDF0E6"/>
          </a:solidFill>
          <a:ln w="6350">
            <a:solidFill>
              <a:srgbClr val="FDF0E6"/>
            </a:solidFill>
            <a:prstDash val="solid"/>
          </a:ln>
        </p:spPr>
      </p:sp>
      <p:sp>
        <p:nvSpPr>
          <p:cNvPr id="6" name="Text 4"/>
          <p:cNvSpPr/>
          <p:nvPr/>
        </p:nvSpPr>
        <p:spPr>
          <a:xfrm>
            <a:off x="723900" y="2000250"/>
            <a:ext cx="3187598"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MANDATORY REQUIREMENT</a:t>
            </a:r>
            <a:endParaRPr lang="en-US" sz="1600" dirty="0"/>
          </a:p>
        </p:txBody>
      </p:sp>
      <p:sp>
        <p:nvSpPr>
          <p:cNvPr id="7" name="Text 5"/>
          <p:cNvSpPr/>
          <p:nvPr/>
        </p:nvSpPr>
        <p:spPr>
          <a:xfrm>
            <a:off x="723900"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Shall</a:t>
            </a:r>
            <a:endParaRPr lang="en-US" sz="2000" dirty="0"/>
          </a:p>
        </p:txBody>
      </p:sp>
      <p:sp>
        <p:nvSpPr>
          <p:cNvPr id="8" name="Text 6"/>
          <p:cNvSpPr/>
          <p:nvPr/>
        </p:nvSpPr>
        <p:spPr>
          <a:xfrm>
            <a:off x="723900" y="2628900"/>
            <a:ext cx="3187598" cy="19050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Mandatory. If it is not met, you have a finding.</a:t>
            </a:r>
            <a:endParaRPr lang="en-US" sz="2000" dirty="0"/>
          </a:p>
        </p:txBody>
      </p:sp>
      <p:sp>
        <p:nvSpPr>
          <p:cNvPr id="9" name="Shape 7"/>
          <p:cNvSpPr/>
          <p:nvPr/>
        </p:nvSpPr>
        <p:spPr>
          <a:xfrm>
            <a:off x="4311548" y="1847850"/>
            <a:ext cx="3568598" cy="28575"/>
          </a:xfrm>
          <a:prstGeom prst="rect">
            <a:avLst/>
          </a:prstGeom>
          <a:solidFill>
            <a:srgbClr val="1A1A1A"/>
          </a:solidFill>
          <a:ln/>
        </p:spPr>
      </p:sp>
      <p:sp>
        <p:nvSpPr>
          <p:cNvPr id="10" name="Shape 8"/>
          <p:cNvSpPr/>
          <p:nvPr/>
        </p:nvSpPr>
        <p:spPr>
          <a:xfrm>
            <a:off x="4311548" y="1876425"/>
            <a:ext cx="3568598" cy="2733675"/>
          </a:xfrm>
          <a:prstGeom prst="rect">
            <a:avLst/>
          </a:prstGeom>
          <a:solidFill>
            <a:srgbClr val="F2F2F2"/>
          </a:solidFill>
          <a:ln w="6350">
            <a:solidFill>
              <a:srgbClr val="F2F2F2"/>
            </a:solidFill>
            <a:prstDash val="solid"/>
          </a:ln>
        </p:spPr>
      </p:sp>
      <p:sp>
        <p:nvSpPr>
          <p:cNvPr id="11" name="Text 9"/>
          <p:cNvSpPr/>
          <p:nvPr/>
        </p:nvSpPr>
        <p:spPr>
          <a:xfrm>
            <a:off x="4502048"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BEST PRACTICE</a:t>
            </a:r>
            <a:endParaRPr lang="en-US" sz="1600" dirty="0"/>
          </a:p>
        </p:txBody>
      </p:sp>
      <p:sp>
        <p:nvSpPr>
          <p:cNvPr id="12" name="Text 10"/>
          <p:cNvSpPr/>
          <p:nvPr/>
        </p:nvSpPr>
        <p:spPr>
          <a:xfrm>
            <a:off x="4502048"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Should</a:t>
            </a:r>
            <a:endParaRPr lang="en-US" sz="2000" dirty="0"/>
          </a:p>
        </p:txBody>
      </p:sp>
      <p:sp>
        <p:nvSpPr>
          <p:cNvPr id="13" name="Text 11"/>
          <p:cNvSpPr/>
          <p:nvPr/>
        </p:nvSpPr>
        <p:spPr>
          <a:xfrm>
            <a:off x="4502048" y="2628900"/>
            <a:ext cx="3187598" cy="19050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Best practice. A departure needs a reason, and it is usually an observation, not a breach.</a:t>
            </a:r>
            <a:endParaRPr lang="en-US" sz="2000" dirty="0"/>
          </a:p>
        </p:txBody>
      </p:sp>
      <p:sp>
        <p:nvSpPr>
          <p:cNvPr id="14" name="Shape 12"/>
          <p:cNvSpPr/>
          <p:nvPr/>
        </p:nvSpPr>
        <p:spPr>
          <a:xfrm>
            <a:off x="8089697" y="1847850"/>
            <a:ext cx="3568598" cy="28575"/>
          </a:xfrm>
          <a:prstGeom prst="rect">
            <a:avLst/>
          </a:prstGeom>
          <a:solidFill>
            <a:srgbClr val="1A1A1A"/>
          </a:solidFill>
          <a:ln/>
        </p:spPr>
      </p:sp>
      <p:sp>
        <p:nvSpPr>
          <p:cNvPr id="15" name="Shape 13"/>
          <p:cNvSpPr/>
          <p:nvPr/>
        </p:nvSpPr>
        <p:spPr>
          <a:xfrm>
            <a:off x="8089697" y="1876425"/>
            <a:ext cx="3568598" cy="2733675"/>
          </a:xfrm>
          <a:prstGeom prst="rect">
            <a:avLst/>
          </a:prstGeom>
          <a:solidFill>
            <a:srgbClr val="F2F2F2"/>
          </a:solidFill>
          <a:ln w="6350">
            <a:solidFill>
              <a:srgbClr val="F2F2F2"/>
            </a:solidFill>
            <a:prstDash val="solid"/>
          </a:ln>
        </p:spPr>
      </p:sp>
      <p:sp>
        <p:nvSpPr>
          <p:cNvPr id="16" name="Text 14"/>
          <p:cNvSpPr/>
          <p:nvPr/>
        </p:nvSpPr>
        <p:spPr>
          <a:xfrm>
            <a:off x="8280197"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DESIRABLE PRACTICE</a:t>
            </a:r>
            <a:endParaRPr lang="en-US" sz="1600" dirty="0"/>
          </a:p>
        </p:txBody>
      </p:sp>
      <p:sp>
        <p:nvSpPr>
          <p:cNvPr id="17" name="Text 15"/>
          <p:cNvSpPr/>
          <p:nvPr/>
        </p:nvSpPr>
        <p:spPr>
          <a:xfrm>
            <a:off x="8280197"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May</a:t>
            </a:r>
            <a:endParaRPr lang="en-US" sz="2000" dirty="0"/>
          </a:p>
        </p:txBody>
      </p:sp>
      <p:sp>
        <p:nvSpPr>
          <p:cNvPr id="18" name="Text 16"/>
          <p:cNvSpPr/>
          <p:nvPr/>
        </p:nvSpPr>
        <p:spPr>
          <a:xfrm>
            <a:off x="8280197" y="2628900"/>
            <a:ext cx="3187598" cy="19050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Desirable. Nice to have. Rarely audited.</a:t>
            </a:r>
            <a:endParaRPr lang="en-US" sz="2000" dirty="0"/>
          </a:p>
        </p:txBody>
      </p:sp>
      <p:sp>
        <p:nvSpPr>
          <p:cNvPr id="19" name="Text 17"/>
          <p:cNvSpPr/>
          <p:nvPr/>
        </p:nvSpPr>
        <p:spPr>
          <a:xfrm>
            <a:off x="533400" y="4838700"/>
            <a:ext cx="11124895" cy="749300"/>
          </a:xfrm>
          <a:prstGeom prst="rect">
            <a:avLst/>
          </a:prstGeom>
          <a:noFill/>
          <a:ln/>
        </p:spPr>
        <p:txBody>
          <a:bodyPr wrap="square" rtlCol="0" anchor="t"/>
          <a:lstStyle/>
          <a:p>
            <a:pPr indent="0" marL="0">
              <a:lnSpc>
                <a:spcPct val="125000"/>
              </a:lnSpc>
              <a:buNone/>
            </a:pPr>
            <a:r>
              <a:rPr lang="en-US" sz="2000" dirty="0">
                <a:solidFill>
                  <a:srgbClr val="3D3D3D"/>
                </a:solidFill>
                <a:latin typeface="Arial" pitchFamily="34" charset="0"/>
                <a:ea typeface="Arial" pitchFamily="34" charset="-122"/>
                <a:cs typeface="Arial" pitchFamily="34" charset="-120"/>
              </a:rPr>
              <a:t>Before you write a finding against S17, check the verb. We will come back to exactly this shortly.</a:t>
            </a:r>
            <a:endParaRPr lang="en-US" sz="2000" dirty="0"/>
          </a:p>
        </p:txBody>
      </p:sp>
      <p:sp>
        <p:nvSpPr>
          <p:cNvPr id="20" name="Text 18"/>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§4.2 Conventions</a:t>
            </a:r>
            <a:endParaRPr lang="en-US" sz="1300" dirty="0"/>
          </a:p>
        </p:txBody>
      </p:sp>
      <p:sp>
        <p:nvSpPr>
          <p:cNvPr id="21" name="Text 19"/>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1 · MEET THE DOCUMENTS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S17 says it is built on.</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848811"/>
                <a:gridCol w="7276085"/>
              </a:tblGrid>
              <a:tr h="5524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Reference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it brings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Security Regulations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The Government’s classification scheme: RESTRICTED, CONFIDENTIAL and above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Civil Service Regulations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Staff conduct and discipline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ISO/IEC 27001:2022 and 27002:2022</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The control areas — S17 “adopts and adapts” them (§2.1)</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800" b="1" dirty="0">
                          <a:solidFill>
                            <a:srgbClr val="D04A02"/>
                          </a:solidFill>
                          <a:latin typeface="Arial" pitchFamily="34" charset="0"/>
                          <a:ea typeface="Arial" pitchFamily="34" charset="-122"/>
                          <a:cs typeface="Arial" pitchFamily="34" charset="-120"/>
                        </a:rPr>
                        <a:t>GB/T 22239-2019</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3D3D3D"/>
                          </a:solidFill>
                          <a:latin typeface="Arial" pitchFamily="34" charset="0"/>
                          <a:ea typeface="Arial" pitchFamily="34" charset="-122"/>
                          <a:cs typeface="Arial" pitchFamily="34" charset="-120"/>
                        </a:rPr>
                        <a:t>The mainland’s multi-level protection baseline (MLPS 2.0) — the source of the tiering idea</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General Circular No. 6/2024</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Strengthening Governance and Security of IT Systems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907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§2.1, §3 Normative References</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1 · MEET THE DOCUMENTS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Every system gets a tier, and the tier sets the bar.</a:t>
            </a:r>
            <a:endParaRPr lang="en-US" sz="3000" dirty="0"/>
          </a:p>
        </p:txBody>
      </p:sp>
      <p:sp>
        <p:nvSpPr>
          <p:cNvPr id="4" name="Shape 2"/>
          <p:cNvSpPr/>
          <p:nvPr/>
        </p:nvSpPr>
        <p:spPr>
          <a:xfrm>
            <a:off x="533400" y="1847850"/>
            <a:ext cx="3568598" cy="28575"/>
          </a:xfrm>
          <a:prstGeom prst="rect">
            <a:avLst/>
          </a:prstGeom>
          <a:solidFill>
            <a:srgbClr val="1A1A1A"/>
          </a:solidFill>
          <a:ln/>
        </p:spPr>
      </p:sp>
      <p:sp>
        <p:nvSpPr>
          <p:cNvPr id="5" name="Shape 3"/>
          <p:cNvSpPr/>
          <p:nvPr/>
        </p:nvSpPr>
        <p:spPr>
          <a:xfrm>
            <a:off x="533400" y="1876425"/>
            <a:ext cx="3568598" cy="2828925"/>
          </a:xfrm>
          <a:prstGeom prst="rect">
            <a:avLst/>
          </a:prstGeom>
          <a:solidFill>
            <a:srgbClr val="F2F2F2"/>
          </a:solidFill>
          <a:ln w="6350">
            <a:solidFill>
              <a:srgbClr val="F2F2F2"/>
            </a:solidFill>
            <a:prstDash val="solid"/>
          </a:ln>
        </p:spPr>
      </p:sp>
      <p:sp>
        <p:nvSpPr>
          <p:cNvPr id="6" name="Text 4"/>
          <p:cNvSpPr/>
          <p:nvPr/>
        </p:nvSpPr>
        <p:spPr>
          <a:xfrm>
            <a:off x="723900"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BASELINE</a:t>
            </a:r>
            <a:endParaRPr lang="en-US" sz="1600" dirty="0"/>
          </a:p>
        </p:txBody>
      </p:sp>
      <p:sp>
        <p:nvSpPr>
          <p:cNvPr id="7" name="Text 5"/>
          <p:cNvSpPr/>
          <p:nvPr/>
        </p:nvSpPr>
        <p:spPr>
          <a:xfrm>
            <a:off x="723900"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Tier 1</a:t>
            </a:r>
            <a:endParaRPr lang="en-US" sz="2000" dirty="0"/>
          </a:p>
        </p:txBody>
      </p:sp>
      <p:sp>
        <p:nvSpPr>
          <p:cNvPr id="8" name="Text 6"/>
          <p:cNvSpPr/>
          <p:nvPr/>
        </p:nvSpPr>
        <p:spPr>
          <a:xfrm>
            <a:off x="723900" y="2628900"/>
            <a:ext cx="3187598" cy="2000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Every information system. All mandatory S17/G3 requirements apply.</a:t>
            </a:r>
            <a:endParaRPr lang="en-US" sz="2000" dirty="0"/>
          </a:p>
        </p:txBody>
      </p:sp>
      <p:sp>
        <p:nvSpPr>
          <p:cNvPr id="9" name="Shape 7"/>
          <p:cNvSpPr/>
          <p:nvPr/>
        </p:nvSpPr>
        <p:spPr>
          <a:xfrm>
            <a:off x="4311548" y="1847850"/>
            <a:ext cx="3568598" cy="28575"/>
          </a:xfrm>
          <a:prstGeom prst="rect">
            <a:avLst/>
          </a:prstGeom>
          <a:solidFill>
            <a:srgbClr val="1A1A1A"/>
          </a:solidFill>
          <a:ln/>
        </p:spPr>
      </p:sp>
      <p:sp>
        <p:nvSpPr>
          <p:cNvPr id="10" name="Shape 8"/>
          <p:cNvSpPr/>
          <p:nvPr/>
        </p:nvSpPr>
        <p:spPr>
          <a:xfrm>
            <a:off x="4311548" y="1876425"/>
            <a:ext cx="3568598" cy="2828925"/>
          </a:xfrm>
          <a:prstGeom prst="rect">
            <a:avLst/>
          </a:prstGeom>
          <a:solidFill>
            <a:srgbClr val="F2F2F2"/>
          </a:solidFill>
          <a:ln w="6350">
            <a:solidFill>
              <a:srgbClr val="F2F2F2"/>
            </a:solidFill>
            <a:prstDash val="solid"/>
          </a:ln>
        </p:spPr>
      </p:sp>
      <p:sp>
        <p:nvSpPr>
          <p:cNvPr id="11" name="Text 9"/>
          <p:cNvSpPr/>
          <p:nvPr/>
        </p:nvSpPr>
        <p:spPr>
          <a:xfrm>
            <a:off x="4502048"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CRUCIAL</a:t>
            </a:r>
            <a:endParaRPr lang="en-US" sz="1600" dirty="0"/>
          </a:p>
        </p:txBody>
      </p:sp>
      <p:sp>
        <p:nvSpPr>
          <p:cNvPr id="12" name="Text 10"/>
          <p:cNvSpPr/>
          <p:nvPr/>
        </p:nvSpPr>
        <p:spPr>
          <a:xfrm>
            <a:off x="4502048"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Tier 2</a:t>
            </a:r>
            <a:endParaRPr lang="en-US" sz="2000" dirty="0"/>
          </a:p>
        </p:txBody>
      </p:sp>
      <p:sp>
        <p:nvSpPr>
          <p:cNvPr id="13" name="Text 11"/>
          <p:cNvSpPr/>
          <p:nvPr/>
        </p:nvSpPr>
        <p:spPr>
          <a:xfrm>
            <a:off x="4502048" y="2628900"/>
            <a:ext cx="3187598" cy="2000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Crucial to the operations of Government or society; failure or disruption causes serious impact.</a:t>
            </a:r>
            <a:endParaRPr lang="en-US" sz="2000" dirty="0"/>
          </a:p>
        </p:txBody>
      </p:sp>
      <p:sp>
        <p:nvSpPr>
          <p:cNvPr id="14" name="Shape 12"/>
          <p:cNvSpPr/>
          <p:nvPr/>
        </p:nvSpPr>
        <p:spPr>
          <a:xfrm>
            <a:off x="8089697" y="1847850"/>
            <a:ext cx="3568598" cy="28575"/>
          </a:xfrm>
          <a:prstGeom prst="rect">
            <a:avLst/>
          </a:prstGeom>
          <a:solidFill>
            <a:srgbClr val="D04A02"/>
          </a:solidFill>
          <a:ln/>
        </p:spPr>
      </p:sp>
      <p:sp>
        <p:nvSpPr>
          <p:cNvPr id="15" name="Shape 13"/>
          <p:cNvSpPr/>
          <p:nvPr/>
        </p:nvSpPr>
        <p:spPr>
          <a:xfrm>
            <a:off x="8089697" y="1876425"/>
            <a:ext cx="3568598" cy="2828925"/>
          </a:xfrm>
          <a:prstGeom prst="rect">
            <a:avLst/>
          </a:prstGeom>
          <a:solidFill>
            <a:srgbClr val="FDF0E6"/>
          </a:solidFill>
          <a:ln w="6350">
            <a:solidFill>
              <a:srgbClr val="FDF0E6"/>
            </a:solidFill>
            <a:prstDash val="solid"/>
          </a:ln>
        </p:spPr>
      </p:sp>
      <p:sp>
        <p:nvSpPr>
          <p:cNvPr id="16" name="Text 14"/>
          <p:cNvSpPr/>
          <p:nvPr/>
        </p:nvSpPr>
        <p:spPr>
          <a:xfrm>
            <a:off x="8280197" y="2000250"/>
            <a:ext cx="3187598"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ESSENTIAL SERVICE</a:t>
            </a:r>
            <a:endParaRPr lang="en-US" sz="1600" dirty="0"/>
          </a:p>
        </p:txBody>
      </p:sp>
      <p:sp>
        <p:nvSpPr>
          <p:cNvPr id="17" name="Text 15"/>
          <p:cNvSpPr/>
          <p:nvPr/>
        </p:nvSpPr>
        <p:spPr>
          <a:xfrm>
            <a:off x="8280197"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Tier 3</a:t>
            </a:r>
            <a:endParaRPr lang="en-US" sz="2000" dirty="0"/>
          </a:p>
        </p:txBody>
      </p:sp>
      <p:sp>
        <p:nvSpPr>
          <p:cNvPr id="18" name="Text 16"/>
          <p:cNvSpPr/>
          <p:nvPr/>
        </p:nvSpPr>
        <p:spPr>
          <a:xfrm>
            <a:off x="8280197" y="2628900"/>
            <a:ext cx="3187598" cy="2000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Tier 2 systems directly tied to an essential service, where disruption may cause serious harm.</a:t>
            </a:r>
            <a:endParaRPr lang="en-US" sz="2000" dirty="0"/>
          </a:p>
        </p:txBody>
      </p:sp>
      <p:sp>
        <p:nvSpPr>
          <p:cNvPr id="19" name="Text 17"/>
          <p:cNvSpPr/>
          <p:nvPr/>
        </p:nvSpPr>
        <p:spPr>
          <a:xfrm>
            <a:off x="533400" y="4933950"/>
            <a:ext cx="11124895" cy="749300"/>
          </a:xfrm>
          <a:prstGeom prst="rect">
            <a:avLst/>
          </a:prstGeom>
          <a:noFill/>
          <a:ln/>
        </p:spPr>
        <p:txBody>
          <a:bodyPr wrap="square" rtlCol="0" anchor="t"/>
          <a:lstStyle/>
          <a:p>
            <a:pPr indent="0" marL="0">
              <a:lnSpc>
                <a:spcPct val="125000"/>
              </a:lnSpc>
              <a:buNone/>
            </a:pPr>
            <a:r>
              <a:rPr lang="en-US" sz="2000" dirty="0">
                <a:solidFill>
                  <a:srgbClr val="3D3D3D"/>
                </a:solidFill>
                <a:latin typeface="Arial" pitchFamily="34" charset="0"/>
                <a:ea typeface="Arial" pitchFamily="34" charset="-122"/>
                <a:cs typeface="Arial" pitchFamily="34" charset="-120"/>
              </a:rPr>
              <a:t>Tier 2 and Tier 3 = everything for Tier 1, plus the more stringent requirements in G3 Appendix C.</a:t>
            </a:r>
            <a:endParaRPr lang="en-US" sz="2000" dirty="0"/>
          </a:p>
        </p:txBody>
      </p:sp>
      <p:sp>
        <p:nvSpPr>
          <p:cNvPr id="20" name="Text 18"/>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§4.1, §7.2.2 · G3 IT Security Guidelines v10.2 (Apr 2025) §2.3, §7.2(b), Appendix C</a:t>
            </a:r>
            <a:endParaRPr lang="en-US" sz="1300" dirty="0"/>
          </a:p>
        </p:txBody>
      </p:sp>
      <p:sp>
        <p:nvSpPr>
          <p:cNvPr id="21" name="Text 19"/>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07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1 · MEET THE DOCUMENTS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How a system gets its tier, and who signs it.</a:t>
            </a:r>
            <a:endParaRPr lang="en-US" sz="3000" dirty="0"/>
          </a:p>
        </p:txBody>
      </p:sp>
      <p:sp>
        <p:nvSpPr>
          <p:cNvPr id="4" name="Shape 2"/>
          <p:cNvSpPr/>
          <p:nvPr/>
        </p:nvSpPr>
        <p:spPr>
          <a:xfrm>
            <a:off x="533400" y="1847850"/>
            <a:ext cx="2624061" cy="28575"/>
          </a:xfrm>
          <a:prstGeom prst="rect">
            <a:avLst/>
          </a:prstGeom>
          <a:solidFill>
            <a:srgbClr val="1A1A1A"/>
          </a:solidFill>
          <a:ln/>
        </p:spPr>
      </p:sp>
      <p:sp>
        <p:nvSpPr>
          <p:cNvPr id="5" name="Shape 3"/>
          <p:cNvSpPr/>
          <p:nvPr/>
        </p:nvSpPr>
        <p:spPr>
          <a:xfrm>
            <a:off x="533400" y="1876425"/>
            <a:ext cx="2624061" cy="2352675"/>
          </a:xfrm>
          <a:prstGeom prst="rect">
            <a:avLst/>
          </a:prstGeom>
          <a:solidFill>
            <a:srgbClr val="F2F2F2"/>
          </a:solidFill>
          <a:ln w="6350">
            <a:solidFill>
              <a:srgbClr val="F2F2F2"/>
            </a:solidFill>
            <a:prstDash val="solid"/>
          </a:ln>
        </p:spPr>
      </p:sp>
      <p:sp>
        <p:nvSpPr>
          <p:cNvPr id="6" name="Text 4"/>
          <p:cNvSpPr/>
          <p:nvPr/>
        </p:nvSpPr>
        <p:spPr>
          <a:xfrm>
            <a:off x="723900" y="2000250"/>
            <a:ext cx="2243061"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Defence / security</a:t>
            </a:r>
            <a:endParaRPr lang="en-US" sz="2000" dirty="0"/>
          </a:p>
        </p:txBody>
      </p:sp>
      <p:sp>
        <p:nvSpPr>
          <p:cNvPr id="7" name="Text 5"/>
          <p:cNvSpPr/>
          <p:nvPr/>
        </p:nvSpPr>
        <p:spPr>
          <a:xfrm>
            <a:off x="723900" y="2609850"/>
            <a:ext cx="2243061" cy="15430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Harm to lives or property, privacy, law and order.</a:t>
            </a:r>
            <a:endParaRPr lang="en-US" sz="2000" dirty="0"/>
          </a:p>
        </p:txBody>
      </p:sp>
      <p:sp>
        <p:nvSpPr>
          <p:cNvPr id="8" name="Shape 6"/>
          <p:cNvSpPr/>
          <p:nvPr/>
        </p:nvSpPr>
        <p:spPr>
          <a:xfrm>
            <a:off x="3367011" y="1847850"/>
            <a:ext cx="2624061" cy="28575"/>
          </a:xfrm>
          <a:prstGeom prst="rect">
            <a:avLst/>
          </a:prstGeom>
          <a:solidFill>
            <a:srgbClr val="1A1A1A"/>
          </a:solidFill>
          <a:ln/>
        </p:spPr>
      </p:sp>
      <p:sp>
        <p:nvSpPr>
          <p:cNvPr id="9" name="Shape 7"/>
          <p:cNvSpPr/>
          <p:nvPr/>
        </p:nvSpPr>
        <p:spPr>
          <a:xfrm>
            <a:off x="3367011" y="1876425"/>
            <a:ext cx="2624061" cy="2352675"/>
          </a:xfrm>
          <a:prstGeom prst="rect">
            <a:avLst/>
          </a:prstGeom>
          <a:solidFill>
            <a:srgbClr val="F2F2F2"/>
          </a:solidFill>
          <a:ln w="6350">
            <a:solidFill>
              <a:srgbClr val="F2F2F2"/>
            </a:solidFill>
            <a:prstDash val="solid"/>
          </a:ln>
        </p:spPr>
      </p:sp>
      <p:sp>
        <p:nvSpPr>
          <p:cNvPr id="10" name="Text 8"/>
          <p:cNvSpPr/>
          <p:nvPr/>
        </p:nvSpPr>
        <p:spPr>
          <a:xfrm>
            <a:off x="3557511" y="2000250"/>
            <a:ext cx="2243061"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Financial</a:t>
            </a:r>
            <a:endParaRPr lang="en-US" sz="2000" dirty="0"/>
          </a:p>
        </p:txBody>
      </p:sp>
      <p:sp>
        <p:nvSpPr>
          <p:cNvPr id="11" name="Text 9"/>
          <p:cNvSpPr/>
          <p:nvPr/>
        </p:nvSpPr>
        <p:spPr>
          <a:xfrm>
            <a:off x="3557511" y="2352675"/>
            <a:ext cx="2243061" cy="18002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Reduced economic growth, financial loss to Government.</a:t>
            </a:r>
            <a:endParaRPr lang="en-US" sz="2000" dirty="0"/>
          </a:p>
        </p:txBody>
      </p:sp>
      <p:sp>
        <p:nvSpPr>
          <p:cNvPr id="12" name="Shape 10"/>
          <p:cNvSpPr/>
          <p:nvPr/>
        </p:nvSpPr>
        <p:spPr>
          <a:xfrm>
            <a:off x="6200623" y="1847850"/>
            <a:ext cx="2624061" cy="28575"/>
          </a:xfrm>
          <a:prstGeom prst="rect">
            <a:avLst/>
          </a:prstGeom>
          <a:solidFill>
            <a:srgbClr val="1A1A1A"/>
          </a:solidFill>
          <a:ln/>
        </p:spPr>
      </p:sp>
      <p:sp>
        <p:nvSpPr>
          <p:cNvPr id="13" name="Shape 11"/>
          <p:cNvSpPr/>
          <p:nvPr/>
        </p:nvSpPr>
        <p:spPr>
          <a:xfrm>
            <a:off x="6200623" y="1876425"/>
            <a:ext cx="2624061" cy="2352675"/>
          </a:xfrm>
          <a:prstGeom prst="rect">
            <a:avLst/>
          </a:prstGeom>
          <a:solidFill>
            <a:srgbClr val="F2F2F2"/>
          </a:solidFill>
          <a:ln w="6350">
            <a:solidFill>
              <a:srgbClr val="F2F2F2"/>
            </a:solidFill>
            <a:prstDash val="solid"/>
          </a:ln>
        </p:spPr>
      </p:sp>
      <p:sp>
        <p:nvSpPr>
          <p:cNvPr id="14" name="Text 12"/>
          <p:cNvSpPr/>
          <p:nvPr/>
        </p:nvSpPr>
        <p:spPr>
          <a:xfrm>
            <a:off x="6391123" y="2000250"/>
            <a:ext cx="2243061"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Government image</a:t>
            </a:r>
            <a:endParaRPr lang="en-US" sz="2000" dirty="0"/>
          </a:p>
        </p:txBody>
      </p:sp>
      <p:sp>
        <p:nvSpPr>
          <p:cNvPr id="15" name="Text 13"/>
          <p:cNvSpPr/>
          <p:nvPr/>
        </p:nvSpPr>
        <p:spPr>
          <a:xfrm>
            <a:off x="6391123" y="2609850"/>
            <a:ext cx="2243061" cy="15430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Reputation and public confidence.</a:t>
            </a:r>
            <a:endParaRPr lang="en-US" sz="2000" dirty="0"/>
          </a:p>
        </p:txBody>
      </p:sp>
      <p:sp>
        <p:nvSpPr>
          <p:cNvPr id="16" name="Shape 14"/>
          <p:cNvSpPr/>
          <p:nvPr/>
        </p:nvSpPr>
        <p:spPr>
          <a:xfrm>
            <a:off x="9034234" y="1847850"/>
            <a:ext cx="2624061" cy="28575"/>
          </a:xfrm>
          <a:prstGeom prst="rect">
            <a:avLst/>
          </a:prstGeom>
          <a:solidFill>
            <a:srgbClr val="1A1A1A"/>
          </a:solidFill>
          <a:ln/>
        </p:spPr>
      </p:sp>
      <p:sp>
        <p:nvSpPr>
          <p:cNvPr id="17" name="Shape 15"/>
          <p:cNvSpPr/>
          <p:nvPr/>
        </p:nvSpPr>
        <p:spPr>
          <a:xfrm>
            <a:off x="9034234" y="1876425"/>
            <a:ext cx="2624061" cy="2352675"/>
          </a:xfrm>
          <a:prstGeom prst="rect">
            <a:avLst/>
          </a:prstGeom>
          <a:solidFill>
            <a:srgbClr val="F2F2F2"/>
          </a:solidFill>
          <a:ln w="6350">
            <a:solidFill>
              <a:srgbClr val="F2F2F2"/>
            </a:solidFill>
            <a:prstDash val="solid"/>
          </a:ln>
        </p:spPr>
      </p:sp>
      <p:sp>
        <p:nvSpPr>
          <p:cNvPr id="18" name="Text 16"/>
          <p:cNvSpPr/>
          <p:nvPr/>
        </p:nvSpPr>
        <p:spPr>
          <a:xfrm>
            <a:off x="9224734" y="2000250"/>
            <a:ext cx="2243061"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Interdependency</a:t>
            </a:r>
            <a:endParaRPr lang="en-US" sz="2000" dirty="0"/>
          </a:p>
        </p:txBody>
      </p:sp>
      <p:sp>
        <p:nvSpPr>
          <p:cNvPr id="19" name="Text 17"/>
          <p:cNvSpPr/>
          <p:nvPr/>
        </p:nvSpPr>
        <p:spPr>
          <a:xfrm>
            <a:off x="9224734" y="2352675"/>
            <a:ext cx="2243061" cy="18002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Failure of one system disrupting another.</a:t>
            </a:r>
            <a:endParaRPr lang="en-US" sz="2000" dirty="0"/>
          </a:p>
        </p:txBody>
      </p:sp>
      <p:sp>
        <p:nvSpPr>
          <p:cNvPr id="20" name="Shape 18"/>
          <p:cNvSpPr/>
          <p:nvPr/>
        </p:nvSpPr>
        <p:spPr>
          <a:xfrm>
            <a:off x="533400" y="4419600"/>
            <a:ext cx="11124895" cy="28575"/>
          </a:xfrm>
          <a:prstGeom prst="rect">
            <a:avLst/>
          </a:prstGeom>
          <a:solidFill>
            <a:srgbClr val="D04A02"/>
          </a:solidFill>
          <a:ln/>
        </p:spPr>
      </p:sp>
      <p:sp>
        <p:nvSpPr>
          <p:cNvPr id="21" name="Shape 19"/>
          <p:cNvSpPr/>
          <p:nvPr/>
        </p:nvSpPr>
        <p:spPr>
          <a:xfrm>
            <a:off x="533400" y="4448175"/>
            <a:ext cx="11124895" cy="1400175"/>
          </a:xfrm>
          <a:prstGeom prst="rect">
            <a:avLst/>
          </a:prstGeom>
          <a:solidFill>
            <a:srgbClr val="FDF0E6"/>
          </a:solidFill>
          <a:ln w="6350">
            <a:solidFill>
              <a:srgbClr val="FDF0E6"/>
            </a:solidFill>
            <a:prstDash val="solid"/>
          </a:ln>
        </p:spPr>
      </p:sp>
      <p:sp>
        <p:nvSpPr>
          <p:cNvPr id="22" name="Text 20"/>
          <p:cNvSpPr/>
          <p:nvPr/>
        </p:nvSpPr>
        <p:spPr>
          <a:xfrm>
            <a:off x="723900" y="457200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ENDORSEMENT</a:t>
            </a:r>
            <a:endParaRPr lang="en-US" sz="1600" dirty="0"/>
          </a:p>
        </p:txBody>
      </p:sp>
      <p:sp>
        <p:nvSpPr>
          <p:cNvPr id="23" name="Text 21"/>
          <p:cNvSpPr/>
          <p:nvPr/>
        </p:nvSpPr>
        <p:spPr>
          <a:xfrm>
            <a:off x="723900" y="4848225"/>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Signed by the Head of B/D, or a delegated directorate officer.</a:t>
            </a:r>
            <a:endParaRPr lang="en-US" sz="2000" dirty="0"/>
          </a:p>
        </p:txBody>
      </p:sp>
      <p:sp>
        <p:nvSpPr>
          <p:cNvPr id="24" name="Text 22"/>
          <p:cNvSpPr/>
          <p:nvPr/>
        </p:nvSpPr>
        <p:spPr>
          <a:xfrm>
            <a:off x="723900" y="5200650"/>
            <a:ext cx="10743895" cy="5715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So the tier is a management decision, and it should leave a paper trail you can ask for.</a:t>
            </a:r>
            <a:endParaRPr lang="en-US" sz="2000" dirty="0"/>
          </a:p>
        </p:txBody>
      </p:sp>
      <p:sp>
        <p:nvSpPr>
          <p:cNvPr id="25" name="Text 2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G3 IT Security Guidelines v10.2 (Apr 2025) §7.2(b) — factors are examples; G3 lists further considerations</a:t>
            </a:r>
            <a:endParaRPr lang="en-US" sz="1300" dirty="0"/>
          </a:p>
        </p:txBody>
      </p:sp>
      <p:sp>
        <p:nvSpPr>
          <p:cNvPr id="26" name="Text 2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08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1 · MEET THE DOCUMENTS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G3’s four appendices.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1557852"/>
                <a:gridCol w="4581917"/>
                <a:gridCol w="4985126"/>
              </a:tblGrid>
              <a:tr h="6096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Appendix</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Contents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Why an auditor cares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A</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Sample IT security end-user instructions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A ready-made benchmark for a department’s acceptable-use rules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B</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Guidance on classification assessment</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How the tier decision should be reasoned</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800" b="1" dirty="0">
                          <a:solidFill>
                            <a:srgbClr val="D04A02"/>
                          </a:solidFill>
                          <a:latin typeface="Arial" pitchFamily="34" charset="0"/>
                          <a:ea typeface="Arial" pitchFamily="34" charset="-122"/>
                          <a:cs typeface="Arial" pitchFamily="34" charset="-120"/>
                        </a:rPr>
                        <a:t>C</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3D3D3D"/>
                          </a:solidFill>
                          <a:latin typeface="Arial" pitchFamily="34" charset="0"/>
                          <a:ea typeface="Arial" pitchFamily="34" charset="-122"/>
                          <a:cs typeface="Arial" pitchFamily="34" charset="-120"/>
                        </a:rPr>
                        <a:t>Classified protection for information systems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3D3D3D"/>
                          </a:solidFill>
                          <a:latin typeface="Arial" pitchFamily="34" charset="0"/>
                          <a:ea typeface="Arial" pitchFamily="34" charset="-122"/>
                          <a:cs typeface="Arial" pitchFamily="34" charset="-120"/>
                        </a:rPr>
                        <a:t>The extra controls for Tier 2 and Tier 3</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D</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Compliance monitoring and audit mechanism</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How compliance is monitored and reported</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479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G3 IT Security Guidelines v10.2 (Apr 2025) Appendices A–D</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09</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2 · THE 14 AREAS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Fourteen control areas, in the order you will read them.</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641468"/>
                <a:gridCol w="4920979"/>
                <a:gridCol w="641468"/>
                <a:gridCol w="4920979"/>
              </a:tblGrid>
              <a:tr h="4953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Area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Area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7</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Management responsibilities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14</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Operations security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8</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IT security policies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15</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Communications security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9</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Human resource security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16</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System acquisition, development and maintenance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10</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Asset management</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17</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Outsourcing security (incl. cloud)</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11</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Access control</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18</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Security incident management</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12</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Cryptography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19</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IT security aspects of business continuity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13</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Physical and environmental security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20</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Compliance (incl. security reviews)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336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§7–§20 (same headings in G3 IT Security Guidelines v10.2 (Apr 2025))</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10</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2 · THE 14 AREAS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“one level down” looks like.</a:t>
            </a:r>
            <a:endParaRPr lang="en-US" sz="3000" dirty="0"/>
          </a:p>
        </p:txBody>
      </p:sp>
      <p:sp>
        <p:nvSpPr>
          <p:cNvPr id="4" name="Shape 2"/>
          <p:cNvSpPr/>
          <p:nvPr/>
        </p:nvSpPr>
        <p:spPr>
          <a:xfrm>
            <a:off x="533400" y="1847850"/>
            <a:ext cx="5457673" cy="28575"/>
          </a:xfrm>
          <a:prstGeom prst="rect">
            <a:avLst/>
          </a:prstGeom>
          <a:solidFill>
            <a:srgbClr val="1A1A1A"/>
          </a:solidFill>
          <a:ln/>
        </p:spPr>
      </p:sp>
      <p:sp>
        <p:nvSpPr>
          <p:cNvPr id="5" name="Shape 3"/>
          <p:cNvSpPr/>
          <p:nvPr/>
        </p:nvSpPr>
        <p:spPr>
          <a:xfrm>
            <a:off x="533400" y="1876425"/>
            <a:ext cx="5457673" cy="3781425"/>
          </a:xfrm>
          <a:prstGeom prst="rect">
            <a:avLst/>
          </a:prstGeom>
          <a:solidFill>
            <a:srgbClr val="F2F2F2"/>
          </a:solidFill>
          <a:ln w="6350">
            <a:solidFill>
              <a:srgbClr val="F2F2F2"/>
            </a:solidFill>
            <a:prstDash val="solid"/>
          </a:ln>
        </p:spPr>
      </p:sp>
      <p:sp>
        <p:nvSpPr>
          <p:cNvPr id="6" name="Text 4"/>
          <p:cNvSpPr/>
          <p:nvPr/>
        </p:nvSpPr>
        <p:spPr>
          <a:xfrm>
            <a:off x="723900" y="20002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S17 §14.6 · THE WHAT</a:t>
            </a:r>
            <a:endParaRPr lang="en-US" sz="1600" dirty="0"/>
          </a:p>
        </p:txBody>
      </p:sp>
      <p:sp>
        <p:nvSpPr>
          <p:cNvPr id="7" name="Text 5"/>
          <p:cNvSpPr/>
          <p:nvPr/>
        </p:nvSpPr>
        <p:spPr>
          <a:xfrm>
            <a:off x="723900"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One clause, one sentence.</a:t>
            </a:r>
            <a:endParaRPr lang="en-US" sz="2000" dirty="0"/>
          </a:p>
        </p:txBody>
      </p:sp>
      <p:sp>
        <p:nvSpPr>
          <p:cNvPr id="8" name="Text 6"/>
          <p:cNvSpPr/>
          <p:nvPr/>
        </p:nvSpPr>
        <p:spPr>
          <a:xfrm>
            <a:off x="723900" y="2628900"/>
            <a:ext cx="5076673" cy="29527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“Depending on the risk level, B/Ds shall determine the appropriate patch management strategy, including patch checking and patching frequency…”</a:t>
            </a:r>
            <a:endParaRPr lang="en-US" sz="2000" dirty="0"/>
          </a:p>
        </p:txBody>
      </p:sp>
      <p:sp>
        <p:nvSpPr>
          <p:cNvPr id="9" name="Shape 7"/>
          <p:cNvSpPr/>
          <p:nvPr/>
        </p:nvSpPr>
        <p:spPr>
          <a:xfrm>
            <a:off x="6200623" y="1847850"/>
            <a:ext cx="5457673" cy="28575"/>
          </a:xfrm>
          <a:prstGeom prst="rect">
            <a:avLst/>
          </a:prstGeom>
          <a:solidFill>
            <a:srgbClr val="D04A02"/>
          </a:solidFill>
          <a:ln/>
        </p:spPr>
      </p:sp>
      <p:sp>
        <p:nvSpPr>
          <p:cNvPr id="10" name="Shape 8"/>
          <p:cNvSpPr/>
          <p:nvPr/>
        </p:nvSpPr>
        <p:spPr>
          <a:xfrm>
            <a:off x="6200623" y="1876425"/>
            <a:ext cx="5457673" cy="3781425"/>
          </a:xfrm>
          <a:prstGeom prst="rect">
            <a:avLst/>
          </a:prstGeom>
          <a:solidFill>
            <a:srgbClr val="FDF0E6"/>
          </a:solidFill>
          <a:ln w="6350">
            <a:solidFill>
              <a:srgbClr val="FDF0E6"/>
            </a:solidFill>
            <a:prstDash val="solid"/>
          </a:ln>
        </p:spPr>
      </p:sp>
      <p:sp>
        <p:nvSpPr>
          <p:cNvPr id="11" name="Text 9"/>
          <p:cNvSpPr/>
          <p:nvPr/>
        </p:nvSpPr>
        <p:spPr>
          <a:xfrm>
            <a:off x="6391123" y="2000250"/>
            <a:ext cx="5076673"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G3 §14.6 · THE HOW</a:t>
            </a:r>
            <a:endParaRPr lang="en-US" sz="1600" dirty="0"/>
          </a:p>
        </p:txBody>
      </p:sp>
      <p:sp>
        <p:nvSpPr>
          <p:cNvPr id="12" name="Text 10"/>
          <p:cNvSpPr/>
          <p:nvPr/>
        </p:nvSpPr>
        <p:spPr>
          <a:xfrm>
            <a:off x="6391123"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Broken into topics you can test.</a:t>
            </a:r>
            <a:endParaRPr lang="en-US" sz="2000" dirty="0"/>
          </a:p>
        </p:txBody>
      </p:sp>
      <p:sp>
        <p:nvSpPr>
          <p:cNvPr id="13" name="Text 11"/>
          <p:cNvSpPr/>
          <p:nvPr/>
        </p:nvSpPr>
        <p:spPr>
          <a:xfrm>
            <a:off x="6391123" y="2628900"/>
            <a:ext cx="5076673" cy="2952750"/>
          </a:xfrm>
          <a:prstGeom prst="rect">
            <a:avLst/>
          </a:prstGeom>
          <a:noFill/>
          <a:ln/>
        </p:spPr>
        <p:txBody>
          <a:bodyPr wrap="square" rtlCol="0" anchor="t"/>
          <a:lstStyle/>
          <a:p>
            <a:pPr indent="0" marL="0">
              <a:lnSpc>
                <a:spcPct val="130000"/>
              </a:lnSpc>
              <a:buNone/>
            </a:pPr>
            <a:r>
              <a:rPr lang="en-US" sz="1800" dirty="0">
                <a:solidFill>
                  <a:srgbClr val="3D3D3D"/>
                </a:solidFill>
                <a:latin typeface="Arial" pitchFamily="34" charset="0"/>
                <a:ea typeface="Arial" pitchFamily="34" charset="-122"/>
                <a:cs typeface="Arial" pitchFamily="34" charset="-120"/>
              </a:rPr>
              <a:t>(a) Vulnerability management process</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(b) Vulnerability scanning</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(c) Penetration testing</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(d) Configuration review</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(e) Source code review</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(f) Simulated attack</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(g) Patch management</a:t>
            </a:r>
            <a:endParaRPr lang="en-US" sz="1800" dirty="0"/>
          </a:p>
          <a:p>
            <a:pPr indent="0" marL="0">
              <a:lnSpc>
                <a:spcPct val="130000"/>
              </a:lnSpc>
              <a:buNone/>
            </a:pPr>
            <a:r>
              <a:rPr lang="en-US" sz="1800" dirty="0">
                <a:solidFill>
                  <a:srgbClr val="3D3D3D"/>
                </a:solidFill>
                <a:latin typeface="Arial" pitchFamily="34" charset="0"/>
                <a:ea typeface="Arial" pitchFamily="34" charset="-122"/>
                <a:cs typeface="Arial" pitchFamily="34" charset="-120"/>
              </a:rPr>
              <a:t>(h) Using authorised software</a:t>
            </a:r>
            <a:endParaRPr lang="en-US" sz="1800" dirty="0"/>
          </a:p>
        </p:txBody>
      </p:sp>
      <p:sp>
        <p:nvSpPr>
          <p:cNvPr id="14" name="Text 12"/>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§14.6.2 · G3 IT Security Guidelines v10.2 (Apr 2025) §14.6(a)–(h)</a:t>
            </a:r>
            <a:endParaRPr lang="en-US" sz="1300" dirty="0"/>
          </a:p>
        </p:txBody>
      </p:sp>
      <p:sp>
        <p:nvSpPr>
          <p:cNvPr id="15" name="Text 1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11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D04A02"/>
                </a:solidFill>
                <a:latin typeface="Arial" pitchFamily="34" charset="0"/>
                <a:ea typeface="Arial" pitchFamily="34" charset="-122"/>
                <a:cs typeface="Arial" pitchFamily="34" charset="-120"/>
              </a:rPr>
              <a:t>PULSE CHECK</a:t>
            </a:r>
            <a:endParaRPr lang="en-US" sz="1600" dirty="0"/>
          </a:p>
        </p:txBody>
      </p:sp>
      <p:sp>
        <p:nvSpPr>
          <p:cNvPr id="3" name="Shape 1"/>
          <p:cNvSpPr/>
          <p:nvPr/>
        </p:nvSpPr>
        <p:spPr>
          <a:xfrm>
            <a:off x="533400" y="895350"/>
            <a:ext cx="609600" cy="28575"/>
          </a:xfrm>
          <a:prstGeom prst="rect">
            <a:avLst/>
          </a:prstGeom>
          <a:solidFill>
            <a:srgbClr val="D04A02"/>
          </a:solidFill>
          <a:ln/>
        </p:spPr>
      </p:sp>
      <p:sp>
        <p:nvSpPr>
          <p:cNvPr id="4" name="Text 2"/>
          <p:cNvSpPr/>
          <p:nvPr/>
        </p:nvSpPr>
        <p:spPr>
          <a:xfrm>
            <a:off x="533400" y="1797898"/>
            <a:ext cx="9906000" cy="2500203"/>
          </a:xfrm>
          <a:prstGeom prst="rect">
            <a:avLst/>
          </a:prstGeom>
          <a:noFill/>
          <a:ln/>
        </p:spPr>
        <p:txBody>
          <a:bodyPr wrap="square" rtlCol="0" anchor="t"/>
          <a:lstStyle/>
          <a:p>
            <a:pPr indent="0" marL="0">
              <a:lnSpc>
                <a:spcPct val="118000"/>
              </a:lnSpc>
              <a:buNone/>
            </a:pPr>
            <a:r>
              <a:rPr lang="en-US" sz="3400" dirty="0">
                <a:solidFill>
                  <a:srgbClr val="1A1A1A"/>
                </a:solidFill>
                <a:latin typeface="Georgia" pitchFamily="34" charset="0"/>
                <a:ea typeface="Georgia" pitchFamily="34" charset="-122"/>
                <a:cs typeface="Georgia" pitchFamily="34" charset="-120"/>
              </a:rPr>
              <a:t>S17 is about forty pages of requirements. How many of them contain a number — a days, hours or months figure you could test against?</a:t>
            </a:r>
            <a:endParaRPr lang="en-US" sz="3400" dirty="0"/>
          </a:p>
        </p:txBody>
      </p:sp>
      <p:sp>
        <p:nvSpPr>
          <p:cNvPr id="5" name="Text 3"/>
          <p:cNvSpPr/>
          <p:nvPr/>
        </p:nvSpPr>
        <p:spPr>
          <a:xfrm>
            <a:off x="533400" y="4564802"/>
            <a:ext cx="9525000" cy="22860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TAKE A GUESS — CALL IT OUT</a:t>
            </a:r>
            <a:endParaRPr lang="en-US" sz="16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12</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PULSE CHECK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Almost none. One real exception.</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810000"/>
                <a:gridCol w="3429000"/>
                <a:gridCol w="3886200"/>
              </a:tblGrid>
              <a:tr h="5524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Topic</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Is there a number?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S17 says instead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Security risk assessment, PIA, audit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1E7A46"/>
                          </a:solidFill>
                          <a:latin typeface="Arial" pitchFamily="34" charset="0"/>
                          <a:ea typeface="Arial" pitchFamily="34" charset="-122"/>
                          <a:cs typeface="Arial" pitchFamily="34" charset="-120"/>
                        </a:rPr>
                        <a:t>Yes — at least every 2 years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§20.2.1–20.2.2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Log retention</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“Commensurate with their usefulness”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Patching</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“Depending on the risk level”</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Passwords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 “strict password policy”</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Incident reporting</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“Reported immediately”</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90775"/>
            <a:ext cx="11124895" cy="19050"/>
          </a:xfrm>
          <a:prstGeom prst="rect">
            <a:avLst/>
          </a:prstGeom>
          <a:solidFill>
            <a:srgbClr val="1A1A1A"/>
          </a:solidFill>
          <a:ln/>
        </p:spPr>
      </p:sp>
      <p:sp>
        <p:nvSpPr>
          <p:cNvPr id="6" name="Shape 3"/>
          <p:cNvSpPr/>
          <p:nvPr/>
        </p:nvSpPr>
        <p:spPr>
          <a:xfrm>
            <a:off x="533400" y="5334000"/>
            <a:ext cx="11124895" cy="28575"/>
          </a:xfrm>
          <a:prstGeom prst="rect">
            <a:avLst/>
          </a:prstGeom>
          <a:solidFill>
            <a:srgbClr val="D04A02"/>
          </a:solidFill>
          <a:ln/>
        </p:spPr>
      </p:sp>
      <p:sp>
        <p:nvSpPr>
          <p:cNvPr id="7" name="Shape 4"/>
          <p:cNvSpPr/>
          <p:nvPr/>
        </p:nvSpPr>
        <p:spPr>
          <a:xfrm>
            <a:off x="533400" y="5362575"/>
            <a:ext cx="11124895" cy="771525"/>
          </a:xfrm>
          <a:prstGeom prst="rect">
            <a:avLst/>
          </a:prstGeom>
          <a:solidFill>
            <a:srgbClr val="FDF0E6"/>
          </a:solidFill>
          <a:ln w="6350">
            <a:solidFill>
              <a:srgbClr val="FDF0E6"/>
            </a:solidFill>
            <a:prstDash val="solid"/>
          </a:ln>
        </p:spPr>
      </p:sp>
      <p:sp>
        <p:nvSpPr>
          <p:cNvPr id="8" name="Text 5"/>
          <p:cNvSpPr/>
          <p:nvPr/>
        </p:nvSpPr>
        <p:spPr>
          <a:xfrm>
            <a:off x="723900" y="548640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S17 leaves the numbers out. G3 puts many of them back in. That is Module 3.</a:t>
            </a:r>
            <a:endParaRPr lang="en-US" sz="2000" dirty="0"/>
          </a:p>
        </p:txBody>
      </p:sp>
      <p:sp>
        <p:nvSpPr>
          <p:cNvPr id="9"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13</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MAPPING</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How the 14 areas map to what you already know.</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024065"/>
                <a:gridCol w="2290959"/>
                <a:gridCol w="3298980"/>
                <a:gridCol w="2510891"/>
              </a:tblGrid>
              <a:tr h="4762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S17 area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ISO 27001:2022</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Cap. 653 Code of Practice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PDPO</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§7 Management · §8 Policies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A.5 organisational</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Security management unit; board-endorsed plan</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7A7A7A"/>
                          </a:solidFill>
                          <a:latin typeface="Arial" pitchFamily="34" charset="0"/>
                          <a:ea typeface="Arial" pitchFamily="34" charset="-122"/>
                          <a:cs typeface="Arial" pitchFamily="34" charset="-120"/>
                        </a:rPr>
                        <a:t>— (DPP5 policies)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§9 HR · §10 Assets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A.6 people · A.5.9–14</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Training; CCS inventory</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Personal data → RESTRICTED (§20.1.4)</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§11 Access · §12 Crypto · §13 Physical</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A.5.15–18 · A.8 · A.7</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Within the security plan</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DPP4 “all practicable steps”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§14 Operations · §15 Communications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A.8 technological</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Preventive obligations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DPP4</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§16 Development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A.8.25–34</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7A7A7A"/>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§17 Outsourcing and cloud</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A.5.19–23</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Service-provider clauses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DPP2(3) / DPP4(2) processors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§18 Incidents · §19 Continuity</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A.5.24–30</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Emergency response plan; drills; 12h / 48h</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Breach notification (Week 3)</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§20 Compliance and reviews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A.5.31–36 · clause 9.2</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Risk assessment 12 months; audit 24 months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 PIA — an S17 duty, not a PDPO one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145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 strong alignment   ○ partial   — little or none  ·  domain level only  ·  S17 v8.2; ISO/IEC 27001:2022 Annex A; Cap. 653 CoP v1.0; Cap. 486 Sch. 1</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14</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MAPPING · ISO 27001</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ISO 27001: the same skeleton, an older layout.</a:t>
            </a:r>
            <a:endParaRPr lang="en-US" sz="3000" dirty="0"/>
          </a:p>
        </p:txBody>
      </p:sp>
      <p:sp>
        <p:nvSpPr>
          <p:cNvPr id="4" name="Shape 2"/>
          <p:cNvSpPr/>
          <p:nvPr/>
        </p:nvSpPr>
        <p:spPr>
          <a:xfrm>
            <a:off x="533400" y="1847850"/>
            <a:ext cx="3568598" cy="28575"/>
          </a:xfrm>
          <a:prstGeom prst="rect">
            <a:avLst/>
          </a:prstGeom>
          <a:solidFill>
            <a:srgbClr val="1A1A1A"/>
          </a:solidFill>
          <a:ln/>
        </p:spPr>
      </p:sp>
      <p:sp>
        <p:nvSpPr>
          <p:cNvPr id="5" name="Shape 3"/>
          <p:cNvSpPr/>
          <p:nvPr/>
        </p:nvSpPr>
        <p:spPr>
          <a:xfrm>
            <a:off x="533400" y="1876425"/>
            <a:ext cx="3568598" cy="3114675"/>
          </a:xfrm>
          <a:prstGeom prst="rect">
            <a:avLst/>
          </a:prstGeom>
          <a:solidFill>
            <a:srgbClr val="F2F2F2"/>
          </a:solidFill>
          <a:ln w="6350">
            <a:solidFill>
              <a:srgbClr val="F2F2F2"/>
            </a:solidFill>
            <a:prstDash val="solid"/>
          </a:ln>
        </p:spPr>
      </p:sp>
      <p:sp>
        <p:nvSpPr>
          <p:cNvPr id="6" name="Text 4"/>
          <p:cNvSpPr/>
          <p:nvPr/>
        </p:nvSpPr>
        <p:spPr>
          <a:xfrm>
            <a:off x="723900"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ALIGNMENT</a:t>
            </a:r>
            <a:endParaRPr lang="en-US" sz="1600" dirty="0"/>
          </a:p>
        </p:txBody>
      </p:sp>
      <p:sp>
        <p:nvSpPr>
          <p:cNvPr id="7" name="Text 5"/>
          <p:cNvSpPr/>
          <p:nvPr/>
        </p:nvSpPr>
        <p:spPr>
          <a:xfrm>
            <a:off x="723900"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Adopts and adapts</a:t>
            </a:r>
            <a:endParaRPr lang="en-US" sz="2000" dirty="0"/>
          </a:p>
        </p:txBody>
      </p:sp>
      <p:sp>
        <p:nvSpPr>
          <p:cNvPr id="8" name="Text 6"/>
          <p:cNvSpPr/>
          <p:nvPr/>
        </p:nvSpPr>
        <p:spPr>
          <a:xfrm>
            <a:off x="723900" y="2628900"/>
            <a:ext cx="3187598" cy="22860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S17 §2.1 cites ISO/IEC 27001:2022. Every S17 area has a home in Annex A.</a:t>
            </a:r>
            <a:endParaRPr lang="en-US" sz="2000" dirty="0"/>
          </a:p>
        </p:txBody>
      </p:sp>
      <p:sp>
        <p:nvSpPr>
          <p:cNvPr id="9" name="Shape 7"/>
          <p:cNvSpPr/>
          <p:nvPr/>
        </p:nvSpPr>
        <p:spPr>
          <a:xfrm>
            <a:off x="4311548" y="1847850"/>
            <a:ext cx="3568598" cy="28575"/>
          </a:xfrm>
          <a:prstGeom prst="rect">
            <a:avLst/>
          </a:prstGeom>
          <a:solidFill>
            <a:srgbClr val="1A1A1A"/>
          </a:solidFill>
          <a:ln/>
        </p:spPr>
      </p:sp>
      <p:sp>
        <p:nvSpPr>
          <p:cNvPr id="10" name="Shape 8"/>
          <p:cNvSpPr/>
          <p:nvPr/>
        </p:nvSpPr>
        <p:spPr>
          <a:xfrm>
            <a:off x="4311548" y="1876425"/>
            <a:ext cx="3568598" cy="3114675"/>
          </a:xfrm>
          <a:prstGeom prst="rect">
            <a:avLst/>
          </a:prstGeom>
          <a:solidFill>
            <a:srgbClr val="F2F2F2"/>
          </a:solidFill>
          <a:ln w="6350">
            <a:solidFill>
              <a:srgbClr val="F2F2F2"/>
            </a:solidFill>
            <a:prstDash val="solid"/>
          </a:ln>
        </p:spPr>
      </p:sp>
      <p:sp>
        <p:nvSpPr>
          <p:cNvPr id="11" name="Text 9"/>
          <p:cNvSpPr/>
          <p:nvPr/>
        </p:nvSpPr>
        <p:spPr>
          <a:xfrm>
            <a:off x="4502048"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LAYOUT</a:t>
            </a:r>
            <a:endParaRPr lang="en-US" sz="1600" dirty="0"/>
          </a:p>
        </p:txBody>
      </p:sp>
      <p:sp>
        <p:nvSpPr>
          <p:cNvPr id="12" name="Text 10"/>
          <p:cNvSpPr/>
          <p:nvPr/>
        </p:nvSpPr>
        <p:spPr>
          <a:xfrm>
            <a:off x="4502048" y="2276475"/>
            <a:ext cx="3187598"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Kept the 2013 shape</a:t>
            </a:r>
            <a:endParaRPr lang="en-US" sz="2000" dirty="0"/>
          </a:p>
        </p:txBody>
      </p:sp>
      <p:sp>
        <p:nvSpPr>
          <p:cNvPr id="13" name="Text 11"/>
          <p:cNvSpPr/>
          <p:nvPr/>
        </p:nvSpPr>
        <p:spPr>
          <a:xfrm>
            <a:off x="4502048" y="2628900"/>
            <a:ext cx="3187598" cy="22860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ISO 2022 regrouped Annex A into 4 themes and 93 controls. S17 keeps the older 14-domain order (A.5–A.18).</a:t>
            </a:r>
            <a:endParaRPr lang="en-US" sz="2000" dirty="0"/>
          </a:p>
        </p:txBody>
      </p:sp>
      <p:sp>
        <p:nvSpPr>
          <p:cNvPr id="14" name="Shape 12"/>
          <p:cNvSpPr/>
          <p:nvPr/>
        </p:nvSpPr>
        <p:spPr>
          <a:xfrm>
            <a:off x="8089697" y="1847850"/>
            <a:ext cx="3568598" cy="28575"/>
          </a:xfrm>
          <a:prstGeom prst="rect">
            <a:avLst/>
          </a:prstGeom>
          <a:solidFill>
            <a:srgbClr val="D04A02"/>
          </a:solidFill>
          <a:ln/>
        </p:spPr>
      </p:sp>
      <p:sp>
        <p:nvSpPr>
          <p:cNvPr id="15" name="Shape 13"/>
          <p:cNvSpPr/>
          <p:nvPr/>
        </p:nvSpPr>
        <p:spPr>
          <a:xfrm>
            <a:off x="8089697" y="1876425"/>
            <a:ext cx="3568598" cy="3114675"/>
          </a:xfrm>
          <a:prstGeom prst="rect">
            <a:avLst/>
          </a:prstGeom>
          <a:solidFill>
            <a:srgbClr val="FDF0E6"/>
          </a:solidFill>
          <a:ln w="6350">
            <a:solidFill>
              <a:srgbClr val="FDF0E6"/>
            </a:solidFill>
            <a:prstDash val="solid"/>
          </a:ln>
        </p:spPr>
      </p:sp>
      <p:sp>
        <p:nvSpPr>
          <p:cNvPr id="16" name="Text 14"/>
          <p:cNvSpPr/>
          <p:nvPr/>
        </p:nvSpPr>
        <p:spPr>
          <a:xfrm>
            <a:off x="8280197" y="2000250"/>
            <a:ext cx="3187598"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BEYOND ISO</a:t>
            </a:r>
            <a:endParaRPr lang="en-US" sz="1600" dirty="0"/>
          </a:p>
        </p:txBody>
      </p:sp>
      <p:sp>
        <p:nvSpPr>
          <p:cNvPr id="17" name="Text 15"/>
          <p:cNvSpPr/>
          <p:nvPr/>
        </p:nvSpPr>
        <p:spPr>
          <a:xfrm>
            <a:off x="8280197" y="2276475"/>
            <a:ext cx="3187598"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Adds what ISO leaves open</a:t>
            </a:r>
            <a:endParaRPr lang="en-US" sz="2000" dirty="0"/>
          </a:p>
        </p:txBody>
      </p:sp>
      <p:sp>
        <p:nvSpPr>
          <p:cNvPr id="18" name="Text 16"/>
          <p:cNvSpPr/>
          <p:nvPr/>
        </p:nvSpPr>
        <p:spPr>
          <a:xfrm>
            <a:off x="8280197" y="2886075"/>
            <a:ext cx="3187598" cy="20288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Roles by rank, classification, tiers and a two-year review cycle. ISO says only “planned intervals”.</a:t>
            </a:r>
            <a:endParaRPr lang="en-US" sz="2000" dirty="0"/>
          </a:p>
        </p:txBody>
      </p:sp>
      <p:sp>
        <p:nvSpPr>
          <p:cNvPr id="19" name="Text 17"/>
          <p:cNvSpPr/>
          <p:nvPr/>
        </p:nvSpPr>
        <p:spPr>
          <a:xfrm>
            <a:off x="533400" y="5200650"/>
            <a:ext cx="11124895" cy="749300"/>
          </a:xfrm>
          <a:prstGeom prst="rect">
            <a:avLst/>
          </a:prstGeom>
          <a:noFill/>
          <a:ln/>
        </p:spPr>
        <p:txBody>
          <a:bodyPr wrap="square" rtlCol="0" anchor="t"/>
          <a:lstStyle/>
          <a:p>
            <a:pPr indent="0" marL="0">
              <a:lnSpc>
                <a:spcPct val="125000"/>
              </a:lnSpc>
              <a:buNone/>
            </a:pPr>
            <a:r>
              <a:rPr lang="en-US" sz="2000" dirty="0">
                <a:solidFill>
                  <a:srgbClr val="3D3D3D"/>
                </a:solidFill>
                <a:latin typeface="Arial" pitchFamily="34" charset="0"/>
                <a:ea typeface="Arial" pitchFamily="34" charset="-122"/>
                <a:cs typeface="Arial" pitchFamily="34" charset="-120"/>
              </a:rPr>
              <a:t>An ISO-certified department is not automatically S17-compliant — the gap is in the Government-specific rules.</a:t>
            </a:r>
            <a:endParaRPr lang="en-US" sz="2000" dirty="0"/>
          </a:p>
        </p:txBody>
      </p:sp>
      <p:sp>
        <p:nvSpPr>
          <p:cNvPr id="20" name="Text 18"/>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§2.1 · ISO/IEC 27001:2013 Annex A · ISO/IEC 27001:2022 Annex A and clause 9.2</a:t>
            </a:r>
            <a:endParaRPr lang="en-US" sz="1300" dirty="0"/>
          </a:p>
        </p:txBody>
      </p:sp>
      <p:sp>
        <p:nvSpPr>
          <p:cNvPr id="21" name="Text 19"/>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15</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MAPPING · CAP. 653</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Cap. 653 does not apply — and S17 asks for more.</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290959"/>
                <a:gridCol w="4307002"/>
                <a:gridCol w="4526934"/>
              </a:tblGrid>
              <a:tr h="476250">
                <a:tc>
                  <a:txBody>
                    <a:bodyPr/>
                    <a:lstStyle/>
                    <a:p>
                      <a:pPr algn="l" indent="0" marL="0">
                        <a:buNone/>
                      </a:pP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S17 / G3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Cap. 653 + Code of Practice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Who</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Every bureau and department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Designated CI operators only — B/Ds are outside it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What is in scope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All information systems, tiered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Critical computer systems only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Breadth</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14 areas plus a classification regime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Organisational, preventive, incident obligations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Risk assessment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At least every 2 years + go-live + major change; Tier 3: annually (G3 App. C)</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Every 12 months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Audit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At least every 2 years; independent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Every 24 months; independent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Incident reporting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GIRO by phone within 60 minutes; form within 48 hours (G3 §18.1)</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12h serious / 48h other / 14-day report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Teeth</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Administrative and disciplinary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Statutory fines, HK$500k–5m</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145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v8.2 §2.2, §18, §20.2 · G3 v10.2 §18.1(b), App. C · Cap. 653 s.24–25, s.28 · Code of Practice v1.0 (Week 2)</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16</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3 · MAPPING · PDPO</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PDPO mostly stands alone, with four touch points.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932427"/>
                <a:gridCol w="4856832"/>
                <a:gridCol w="3335636"/>
              </a:tblGrid>
              <a:tr h="6096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Touch point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S17 clause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PDPO link</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Personal data classification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§20.1.4 — observe the PDPO; personal data should be RESTRICTED or above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Brings every personal-data system into the classification rules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Privacy impact assessment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§20.2.1 — PIA at least every two years, alongside the security risk assessment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Not required by the PDPO itself</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Vendors processing data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§17 — vendors comply with departmental policy; audit rights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DPP2(3) and DPP4(2) — data processors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Monitoring staff</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§7.1.5 right to examine · §14.4.4 no profiling without approval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Balancing security monitoring with privacy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47925"/>
            <a:ext cx="11124895" cy="19050"/>
          </a:xfrm>
          <a:prstGeom prst="rect">
            <a:avLst/>
          </a:prstGeom>
          <a:solidFill>
            <a:srgbClr val="1A1A1A"/>
          </a:solidFill>
          <a:ln/>
        </p:spPr>
      </p:sp>
      <p:sp>
        <p:nvSpPr>
          <p:cNvPr id="6" name="Text 3"/>
          <p:cNvSpPr/>
          <p:nvPr/>
        </p:nvSpPr>
        <p:spPr>
          <a:xfrm>
            <a:off x="533400" y="5048250"/>
            <a:ext cx="11124895" cy="749300"/>
          </a:xfrm>
          <a:prstGeom prst="rect">
            <a:avLst/>
          </a:prstGeom>
          <a:noFill/>
          <a:ln/>
        </p:spPr>
        <p:txBody>
          <a:bodyPr wrap="square" rtlCol="0" anchor="t"/>
          <a:lstStyle/>
          <a:p>
            <a:pPr indent="0" marL="0">
              <a:lnSpc>
                <a:spcPct val="125000"/>
              </a:lnSpc>
              <a:buNone/>
            </a:pPr>
            <a:r>
              <a:rPr lang="en-US" sz="2000" dirty="0">
                <a:solidFill>
                  <a:srgbClr val="3D3D3D"/>
                </a:solidFill>
                <a:latin typeface="Arial" pitchFamily="34" charset="0"/>
                <a:ea typeface="Arial" pitchFamily="34" charset="-122"/>
                <a:cs typeface="Arial" pitchFamily="34" charset="-120"/>
              </a:rPr>
              <a:t>Everything else: DPP4’s general “all practicable steps” duty. Otherwise, treat the two as standalone.</a:t>
            </a:r>
            <a:endParaRPr lang="en-US" sz="2000" dirty="0"/>
          </a:p>
        </p:txBody>
      </p:sp>
      <p:sp>
        <p:nvSpPr>
          <p:cNvPr id="7" name="Text 4"/>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§7.1.5, §14.4.4, §17, §20.1.4, §20.2.1 · Cap. 486 Schedule 1 DPP2(3), DPP4(1)–(2)</a:t>
            </a:r>
            <a:endParaRPr lang="en-US" sz="1300" dirty="0"/>
          </a:p>
        </p:txBody>
      </p:sp>
      <p:sp>
        <p:nvSpPr>
          <p:cNvPr id="8" name="Text 5"/>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17</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4 · WHAT IS UNIQUE  ·  25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What Makes</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S17 and G3</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Unique.</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1. Classification decides the controls</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2. Every system gets a tier</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3. Security has a rank</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4. A review clock that runs on events</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5. Privacy written into security</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6. Vendors inside the policy</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…and one thing missing: numbers</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18</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1 · CLASSIFICATION DECIDES THE CONTROLS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Classification is the master switch.</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6096000"/>
                <a:gridCol w="1619250"/>
                <a:gridCol w="3409950"/>
              </a:tblGrid>
              <a:tr h="4953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Rule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Triggered by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Encrypted in storage, whatever the media</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§10.2.2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Any classified information</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Encrypted over an untrusted network</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§15.2.2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RESTRICTED / CONFIDENTIAL</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Emailed only on a GSO-approved system, with DPO technical endorsement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§15.2.3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Any classified information</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Only inside an isolated, GSO-approved LAN</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§15.2.1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Above CONFIDENTIAL</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Not stored or processed in public cloud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§17.3.1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RESTRICTED and above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Integrity check for civil servants with access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§9.1.4</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Above RESTRICTED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Cleared or destroyed before disposal or re-use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§10.3.3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Any classified information</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336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§9.1.4, §10.2.2, §10.3.3, §15.2.1–15.2.3, §17.3.1 · classification levels per the Security Regulations</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19</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1 · PULSE CHECK</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Spot the breaches.</a:t>
            </a:r>
            <a:endParaRPr lang="en-US" sz="3000" dirty="0"/>
          </a:p>
        </p:txBody>
      </p:sp>
      <p:sp>
        <p:nvSpPr>
          <p:cNvPr id="4" name="Text 2"/>
          <p:cNvSpPr/>
          <p:nvPr/>
        </p:nvSpPr>
        <p:spPr>
          <a:xfrm>
            <a:off x="533400" y="1847850"/>
            <a:ext cx="11124895" cy="4305300"/>
          </a:xfrm>
          <a:prstGeom prst="rect">
            <a:avLst/>
          </a:prstGeom>
          <a:noFill/>
          <a:ln/>
        </p:spPr>
        <p:txBody>
          <a:bodyPr wrap="square" rtlCol="0" anchor="t"/>
          <a:lstStyle/>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An officer is working from home. They email a RESTRICTED draft from the office system to their personal Gmail account, download it to their own laptop, and finish it there.</a:t>
            </a:r>
            <a:endParaRPr lang="en-US" sz="2600" dirty="0"/>
          </a:p>
          <a:p>
            <a:pPr indent="0" marL="0">
              <a:lnSpc>
                <a:spcPct val="130000"/>
              </a:lnSpc>
              <a:spcAft>
                <a:spcPts val="1000"/>
              </a:spcAft>
              <a:buNone/>
            </a:pP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How many S17 clauses can you find? Call them out.</a:t>
            </a:r>
            <a:endParaRPr lang="en-US" sz="26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20</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1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Five clauses, one helpful act.</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1619250"/>
                <a:gridCol w="5334000"/>
                <a:gridCol w="4171950"/>
              </a:tblGrid>
              <a:tr h="5524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it requires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went wrong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§15.2.3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Classified email only on a GSO-approved system</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Personal Gmail is not approved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§15.2.2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RESTRICTED encrypted over untrusted networks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Public internet, likely unencrypted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§17.3.1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RESTRICTED+ not in public cloud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Gmail is a public cloud service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§10.2.2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Classified information encrypted in storage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Personal laptop, likely not encrypted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§9.1.8</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No communicating classified documents without authorisation</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Sent outside without approval</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90775"/>
            <a:ext cx="11124895" cy="19050"/>
          </a:xfrm>
          <a:prstGeom prst="rect">
            <a:avLst/>
          </a:prstGeom>
          <a:solidFill>
            <a:srgbClr val="1A1A1A"/>
          </a:solidFill>
          <a:ln/>
        </p:spPr>
      </p:sp>
      <p:sp>
        <p:nvSpPr>
          <p:cNvPr id="6" name="Shape 3"/>
          <p:cNvSpPr/>
          <p:nvPr/>
        </p:nvSpPr>
        <p:spPr>
          <a:xfrm>
            <a:off x="533400" y="5334000"/>
            <a:ext cx="11124895" cy="28575"/>
          </a:xfrm>
          <a:prstGeom prst="rect">
            <a:avLst/>
          </a:prstGeom>
          <a:solidFill>
            <a:srgbClr val="D04A02"/>
          </a:solidFill>
          <a:ln/>
        </p:spPr>
      </p:sp>
      <p:sp>
        <p:nvSpPr>
          <p:cNvPr id="7" name="Shape 4"/>
          <p:cNvSpPr/>
          <p:nvPr/>
        </p:nvSpPr>
        <p:spPr>
          <a:xfrm>
            <a:off x="533400" y="5362575"/>
            <a:ext cx="11124895" cy="771525"/>
          </a:xfrm>
          <a:prstGeom prst="rect">
            <a:avLst/>
          </a:prstGeom>
          <a:solidFill>
            <a:srgbClr val="FDF0E6"/>
          </a:solidFill>
          <a:ln w="6350">
            <a:solidFill>
              <a:srgbClr val="FDF0E6"/>
            </a:solidFill>
            <a:prstDash val="solid"/>
          </a:ln>
        </p:spPr>
      </p:sp>
      <p:sp>
        <p:nvSpPr>
          <p:cNvPr id="8" name="Text 5"/>
          <p:cNvSpPr/>
          <p:nvPr/>
        </p:nvSpPr>
        <p:spPr>
          <a:xfrm>
            <a:off x="723900" y="548640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The auditor’s question is not “did this happen?” It is “would you know if it did?”</a:t>
            </a:r>
            <a:endParaRPr lang="en-US" sz="2000" dirty="0"/>
          </a:p>
        </p:txBody>
      </p:sp>
      <p:sp>
        <p:nvSpPr>
          <p:cNvPr id="9"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21</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1 · SHALL VS. SHOULD</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Follow the verbs: personal data and public cloud.</a:t>
            </a:r>
            <a:endParaRPr lang="en-US" sz="3000" dirty="0"/>
          </a:p>
        </p:txBody>
      </p:sp>
      <p:sp>
        <p:nvSpPr>
          <p:cNvPr id="4" name="Shape 2"/>
          <p:cNvSpPr/>
          <p:nvPr/>
        </p:nvSpPr>
        <p:spPr>
          <a:xfrm>
            <a:off x="533400" y="1847850"/>
            <a:ext cx="3568598" cy="28575"/>
          </a:xfrm>
          <a:prstGeom prst="rect">
            <a:avLst/>
          </a:prstGeom>
          <a:solidFill>
            <a:srgbClr val="1A1A1A"/>
          </a:solidFill>
          <a:ln/>
        </p:spPr>
      </p:sp>
      <p:sp>
        <p:nvSpPr>
          <p:cNvPr id="5" name="Shape 3"/>
          <p:cNvSpPr/>
          <p:nvPr/>
        </p:nvSpPr>
        <p:spPr>
          <a:xfrm>
            <a:off x="533400" y="1876425"/>
            <a:ext cx="3568598" cy="2543175"/>
          </a:xfrm>
          <a:prstGeom prst="rect">
            <a:avLst/>
          </a:prstGeom>
          <a:solidFill>
            <a:srgbClr val="F2F2F2"/>
          </a:solidFill>
          <a:ln w="6350">
            <a:solidFill>
              <a:srgbClr val="F2F2F2"/>
            </a:solidFill>
            <a:prstDash val="solid"/>
          </a:ln>
        </p:spPr>
      </p:sp>
      <p:sp>
        <p:nvSpPr>
          <p:cNvPr id="6" name="Text 4"/>
          <p:cNvSpPr/>
          <p:nvPr/>
        </p:nvSpPr>
        <p:spPr>
          <a:xfrm>
            <a:off x="723900"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§20.1.4</a:t>
            </a:r>
            <a:endParaRPr lang="en-US" sz="1600" dirty="0"/>
          </a:p>
        </p:txBody>
      </p:sp>
      <p:sp>
        <p:nvSpPr>
          <p:cNvPr id="7" name="Text 5"/>
          <p:cNvSpPr/>
          <p:nvPr/>
        </p:nvSpPr>
        <p:spPr>
          <a:xfrm>
            <a:off x="723900" y="2276475"/>
            <a:ext cx="3187598" cy="79057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Personal data “should” be RESTRICTED or above.</a:t>
            </a:r>
            <a:endParaRPr lang="en-US" sz="2000" dirty="0"/>
          </a:p>
        </p:txBody>
      </p:sp>
      <p:sp>
        <p:nvSpPr>
          <p:cNvPr id="8" name="Text 6"/>
          <p:cNvSpPr/>
          <p:nvPr/>
        </p:nvSpPr>
        <p:spPr>
          <a:xfrm>
            <a:off x="723900" y="3143250"/>
            <a:ext cx="3187598" cy="12001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Best practice — not mandatory.</a:t>
            </a:r>
            <a:endParaRPr lang="en-US" sz="2000" dirty="0"/>
          </a:p>
        </p:txBody>
      </p:sp>
      <p:sp>
        <p:nvSpPr>
          <p:cNvPr id="9" name="Shape 7"/>
          <p:cNvSpPr/>
          <p:nvPr/>
        </p:nvSpPr>
        <p:spPr>
          <a:xfrm>
            <a:off x="4311548" y="1847850"/>
            <a:ext cx="3568598" cy="28575"/>
          </a:xfrm>
          <a:prstGeom prst="rect">
            <a:avLst/>
          </a:prstGeom>
          <a:solidFill>
            <a:srgbClr val="1A1A1A"/>
          </a:solidFill>
          <a:ln/>
        </p:spPr>
      </p:sp>
      <p:sp>
        <p:nvSpPr>
          <p:cNvPr id="10" name="Shape 8"/>
          <p:cNvSpPr/>
          <p:nvPr/>
        </p:nvSpPr>
        <p:spPr>
          <a:xfrm>
            <a:off x="4311548" y="1876425"/>
            <a:ext cx="3568598" cy="2543175"/>
          </a:xfrm>
          <a:prstGeom prst="rect">
            <a:avLst/>
          </a:prstGeom>
          <a:solidFill>
            <a:srgbClr val="F2F2F2"/>
          </a:solidFill>
          <a:ln w="6350">
            <a:solidFill>
              <a:srgbClr val="F2F2F2"/>
            </a:solidFill>
            <a:prstDash val="solid"/>
          </a:ln>
        </p:spPr>
      </p:sp>
      <p:sp>
        <p:nvSpPr>
          <p:cNvPr id="11" name="Text 9"/>
          <p:cNvSpPr/>
          <p:nvPr/>
        </p:nvSpPr>
        <p:spPr>
          <a:xfrm>
            <a:off x="4502048" y="2000250"/>
            <a:ext cx="3187598"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§17.3.1</a:t>
            </a:r>
            <a:endParaRPr lang="en-US" sz="1600" dirty="0"/>
          </a:p>
        </p:txBody>
      </p:sp>
      <p:sp>
        <p:nvSpPr>
          <p:cNvPr id="12" name="Text 10"/>
          <p:cNvSpPr/>
          <p:nvPr/>
        </p:nvSpPr>
        <p:spPr>
          <a:xfrm>
            <a:off x="4502048" y="2276475"/>
            <a:ext cx="3187598" cy="79057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RESTRICTED or above “shall not” go to public cloud.</a:t>
            </a:r>
            <a:endParaRPr lang="en-US" sz="2000" dirty="0"/>
          </a:p>
        </p:txBody>
      </p:sp>
      <p:sp>
        <p:nvSpPr>
          <p:cNvPr id="13" name="Text 11"/>
          <p:cNvSpPr/>
          <p:nvPr/>
        </p:nvSpPr>
        <p:spPr>
          <a:xfrm>
            <a:off x="4502048" y="3143250"/>
            <a:ext cx="3187598" cy="12001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Mandatory — no exceptions written in.</a:t>
            </a:r>
            <a:endParaRPr lang="en-US" sz="2000" dirty="0"/>
          </a:p>
        </p:txBody>
      </p:sp>
      <p:sp>
        <p:nvSpPr>
          <p:cNvPr id="14" name="Shape 12"/>
          <p:cNvSpPr/>
          <p:nvPr/>
        </p:nvSpPr>
        <p:spPr>
          <a:xfrm>
            <a:off x="8089697" y="1847850"/>
            <a:ext cx="3568598" cy="28575"/>
          </a:xfrm>
          <a:prstGeom prst="rect">
            <a:avLst/>
          </a:prstGeom>
          <a:solidFill>
            <a:srgbClr val="D04A02"/>
          </a:solidFill>
          <a:ln/>
        </p:spPr>
      </p:sp>
      <p:sp>
        <p:nvSpPr>
          <p:cNvPr id="15" name="Shape 13"/>
          <p:cNvSpPr/>
          <p:nvPr/>
        </p:nvSpPr>
        <p:spPr>
          <a:xfrm>
            <a:off x="8089697" y="1876425"/>
            <a:ext cx="3568598" cy="2543175"/>
          </a:xfrm>
          <a:prstGeom prst="rect">
            <a:avLst/>
          </a:prstGeom>
          <a:solidFill>
            <a:srgbClr val="FDF0E6"/>
          </a:solidFill>
          <a:ln w="6350">
            <a:solidFill>
              <a:srgbClr val="FDF0E6"/>
            </a:solidFill>
            <a:prstDash val="solid"/>
          </a:ln>
        </p:spPr>
      </p:sp>
      <p:sp>
        <p:nvSpPr>
          <p:cNvPr id="16" name="Text 14"/>
          <p:cNvSpPr/>
          <p:nvPr/>
        </p:nvSpPr>
        <p:spPr>
          <a:xfrm>
            <a:off x="8280197" y="2000250"/>
            <a:ext cx="3187598"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SO…</a:t>
            </a:r>
            <a:endParaRPr lang="en-US" sz="1600" dirty="0"/>
          </a:p>
        </p:txBody>
      </p:sp>
      <p:sp>
        <p:nvSpPr>
          <p:cNvPr id="17" name="Text 15"/>
          <p:cNvSpPr/>
          <p:nvPr/>
        </p:nvSpPr>
        <p:spPr>
          <a:xfrm>
            <a:off x="8280197" y="2276475"/>
            <a:ext cx="3187598"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Citizen data on a public SaaS tool?</a:t>
            </a:r>
            <a:endParaRPr lang="en-US" sz="2000" dirty="0"/>
          </a:p>
        </p:txBody>
      </p:sp>
      <p:sp>
        <p:nvSpPr>
          <p:cNvPr id="18" name="Text 16"/>
          <p:cNvSpPr/>
          <p:nvPr/>
        </p:nvSpPr>
        <p:spPr>
          <a:xfrm>
            <a:off x="8280197" y="2886075"/>
            <a:ext cx="3187598" cy="14573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Whether it is a breach depends on the first verb, not the second.</a:t>
            </a:r>
            <a:endParaRPr lang="en-US" sz="2000" dirty="0"/>
          </a:p>
        </p:txBody>
      </p:sp>
      <p:sp>
        <p:nvSpPr>
          <p:cNvPr id="19" name="Text 17"/>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§4.2, §17.3.1, §20.1.4</a:t>
            </a:r>
            <a:endParaRPr lang="en-US" sz="1300" dirty="0"/>
          </a:p>
        </p:txBody>
      </p:sp>
      <p:sp>
        <p:nvSpPr>
          <p:cNvPr id="20" name="Text 18"/>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22</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D04A02"/>
                </a:solidFill>
                <a:latin typeface="Arial" pitchFamily="34" charset="0"/>
                <a:ea typeface="Arial" pitchFamily="34" charset="-122"/>
                <a:cs typeface="Arial" pitchFamily="34" charset="-120"/>
              </a:rPr>
              <a:t>UNIQUE 1 · PULSE CHECK</a:t>
            </a:r>
            <a:endParaRPr lang="en-US" sz="1600" dirty="0"/>
          </a:p>
        </p:txBody>
      </p:sp>
      <p:sp>
        <p:nvSpPr>
          <p:cNvPr id="3" name="Shape 1"/>
          <p:cNvSpPr/>
          <p:nvPr/>
        </p:nvSpPr>
        <p:spPr>
          <a:xfrm>
            <a:off x="533400" y="895350"/>
            <a:ext cx="609600" cy="28575"/>
          </a:xfrm>
          <a:prstGeom prst="rect">
            <a:avLst/>
          </a:prstGeom>
          <a:solidFill>
            <a:srgbClr val="D04A02"/>
          </a:solidFill>
          <a:ln/>
        </p:spPr>
      </p:sp>
      <p:sp>
        <p:nvSpPr>
          <p:cNvPr id="4" name="Text 2"/>
          <p:cNvSpPr/>
          <p:nvPr/>
        </p:nvSpPr>
        <p:spPr>
          <a:xfrm>
            <a:off x="533400" y="1797898"/>
            <a:ext cx="9906000" cy="2500203"/>
          </a:xfrm>
          <a:prstGeom prst="rect">
            <a:avLst/>
          </a:prstGeom>
          <a:noFill/>
          <a:ln/>
        </p:spPr>
        <p:txBody>
          <a:bodyPr wrap="square" rtlCol="0" anchor="t"/>
          <a:lstStyle/>
          <a:p>
            <a:pPr indent="0" marL="0">
              <a:lnSpc>
                <a:spcPct val="118000"/>
              </a:lnSpc>
              <a:buNone/>
            </a:pPr>
            <a:r>
              <a:rPr lang="en-US" sz="3400" dirty="0">
                <a:solidFill>
                  <a:srgbClr val="1A1A1A"/>
                </a:solidFill>
                <a:latin typeface="Georgia" pitchFamily="34" charset="0"/>
                <a:ea typeface="Georgia" pitchFamily="34" charset="-122"/>
                <a:cs typeface="Georgia" pitchFamily="34" charset="-120"/>
              </a:rPr>
              <a:t>A department runs citizen appointment bookings — names, HKID numbers, phone numbers — on a public SaaS platform.</a:t>
            </a:r>
            <a:endParaRPr lang="en-US" sz="3400" dirty="0"/>
          </a:p>
          <a:p>
            <a:pPr indent="0" marL="0">
              <a:lnSpc>
                <a:spcPct val="118000"/>
              </a:lnSpc>
              <a:buNone/>
            </a:pPr>
            <a:r>
              <a:rPr lang="en-US" sz="3400" dirty="0">
                <a:solidFill>
                  <a:srgbClr val="1A1A1A"/>
                </a:solidFill>
                <a:latin typeface="Georgia" pitchFamily="34" charset="0"/>
                <a:ea typeface="Georgia" pitchFamily="34" charset="-122"/>
                <a:cs typeface="Georgia" pitchFamily="34" charset="-120"/>
              </a:rPr>
              <a:t>Compliant with S17?</a:t>
            </a:r>
            <a:endParaRPr lang="en-US" sz="3400" dirty="0"/>
          </a:p>
        </p:txBody>
      </p:sp>
      <p:sp>
        <p:nvSpPr>
          <p:cNvPr id="5" name="Text 3"/>
          <p:cNvSpPr/>
          <p:nvPr/>
        </p:nvSpPr>
        <p:spPr>
          <a:xfrm>
            <a:off x="533400" y="4564802"/>
            <a:ext cx="9525000" cy="22860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HANDS UP: COMPLIANT · NOT COMPLIANT · IT DEPENDS</a:t>
            </a:r>
            <a:endParaRPr lang="en-US" sz="16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23</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1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Answer: it depends — on one verb and one decision.</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824745"/>
                <a:gridCol w="3848811"/>
                <a:gridCol w="3207342"/>
                <a:gridCol w="3243997"/>
              </a:tblGrid>
              <a:tr h="7620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Step</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Question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If yes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If no</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620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Has the department classified this data?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Go to step 2</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Finding: classification not done (§7.2.2, §10.2.1)</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620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2</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Is it classified RESTRICTED or above?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B3261E"/>
                          </a:solidFill>
                          <a:latin typeface="Arial" pitchFamily="34" charset="0"/>
                          <a:ea typeface="Arial" pitchFamily="34" charset="-122"/>
                          <a:cs typeface="Arial" pitchFamily="34" charset="-120"/>
                        </a:rPr>
                        <a:t>Finding under §17.3.1 — a “shall”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Go to step 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620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Is the lower classification reasoned, approved and documented?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Observation at most — a “should” departure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Observation: undocumented departure from §20.1.4</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600325"/>
            <a:ext cx="11124895" cy="19050"/>
          </a:xfrm>
          <a:prstGeom prst="rect">
            <a:avLst/>
          </a:prstGeom>
          <a:solidFill>
            <a:srgbClr val="1A1A1A"/>
          </a:solidFill>
          <a:ln/>
        </p:spPr>
      </p:sp>
      <p:sp>
        <p:nvSpPr>
          <p:cNvPr id="6" name="Shape 3"/>
          <p:cNvSpPr/>
          <p:nvPr/>
        </p:nvSpPr>
        <p:spPr>
          <a:xfrm>
            <a:off x="533400" y="5105400"/>
            <a:ext cx="11124895" cy="28575"/>
          </a:xfrm>
          <a:prstGeom prst="rect">
            <a:avLst/>
          </a:prstGeom>
          <a:solidFill>
            <a:srgbClr val="D04A02"/>
          </a:solidFill>
          <a:ln/>
        </p:spPr>
      </p:sp>
      <p:sp>
        <p:nvSpPr>
          <p:cNvPr id="7" name="Shape 4"/>
          <p:cNvSpPr/>
          <p:nvPr/>
        </p:nvSpPr>
        <p:spPr>
          <a:xfrm>
            <a:off x="533400" y="5133975"/>
            <a:ext cx="11124895" cy="885825"/>
          </a:xfrm>
          <a:prstGeom prst="rect">
            <a:avLst/>
          </a:prstGeom>
          <a:solidFill>
            <a:srgbClr val="FDF0E6"/>
          </a:solidFill>
          <a:ln w="6350">
            <a:solidFill>
              <a:srgbClr val="FDF0E6"/>
            </a:solidFill>
            <a:prstDash val="solid"/>
          </a:ln>
        </p:spPr>
      </p:sp>
      <p:sp>
        <p:nvSpPr>
          <p:cNvPr id="8" name="Text 5"/>
          <p:cNvSpPr/>
          <p:nvPr/>
        </p:nvSpPr>
        <p:spPr>
          <a:xfrm>
            <a:off x="723900" y="525780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Same system, same data — a finding or an observation, depending on one verb and one decision.</a:t>
            </a:r>
            <a:endParaRPr lang="en-US" sz="2000" dirty="0"/>
          </a:p>
        </p:txBody>
      </p:sp>
      <p:sp>
        <p:nvSpPr>
          <p:cNvPr id="9" name="Text 6"/>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§4.2, §7.2.2, §10.2.1, §17.3.1, §20.1.4 · illustrative audit logic</a:t>
            </a:r>
            <a:endParaRPr lang="en-US" sz="1300" dirty="0"/>
          </a:p>
        </p:txBody>
      </p:sp>
      <p:sp>
        <p:nvSpPr>
          <p:cNvPr id="10" name="Text 7"/>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24</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2 · EVERY SYSTEM GETS A TIER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Tiers: a mainland idea, adapted for Hong Kong.</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381250"/>
                <a:gridCol w="2762250"/>
                <a:gridCol w="2990850"/>
                <a:gridCol w="2990850"/>
              </a:tblGrid>
              <a:tr h="628650">
                <a:tc>
                  <a:txBody>
                    <a:bodyPr/>
                    <a:lstStyle/>
                    <a:p>
                      <a:pPr algn="l" indent="0" marL="0">
                        <a:buNone/>
                      </a:pP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ISO 27001</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GB/T 22239 (MLPS 2.0)</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S17 / G3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What is graded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Nothing — one ISMS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Each system</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Each system</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Levels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None; controls chosen by risk</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Five protection levels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Three tiers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Higher level means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More baseline requirements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Tier 1 + G3 Appendix C</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Who signs the level</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The organisation</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The operator, overseen by the authorities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Head of B/D or delegated directorate officer</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66975"/>
            <a:ext cx="11124895" cy="19050"/>
          </a:xfrm>
          <a:prstGeom prst="rect">
            <a:avLst/>
          </a:prstGeom>
          <a:solidFill>
            <a:srgbClr val="1A1A1A"/>
          </a:solidFill>
          <a:ln/>
        </p:spPr>
      </p:sp>
      <p:sp>
        <p:nvSpPr>
          <p:cNvPr id="6" name="Text 3"/>
          <p:cNvSpPr/>
          <p:nvPr/>
        </p:nvSpPr>
        <p:spPr>
          <a:xfrm>
            <a:off x="533400" y="5181600"/>
            <a:ext cx="11124895" cy="749300"/>
          </a:xfrm>
          <a:prstGeom prst="rect">
            <a:avLst/>
          </a:prstGeom>
          <a:noFill/>
          <a:ln/>
        </p:spPr>
        <p:txBody>
          <a:bodyPr wrap="square" rtlCol="0" anchor="t"/>
          <a:lstStyle/>
          <a:p>
            <a:pPr indent="0" marL="0">
              <a:lnSpc>
                <a:spcPct val="125000"/>
              </a:lnSpc>
              <a:buNone/>
            </a:pPr>
            <a:r>
              <a:rPr lang="en-US" sz="2000" dirty="0">
                <a:solidFill>
                  <a:srgbClr val="3D3D3D"/>
                </a:solidFill>
                <a:latin typeface="Arial" pitchFamily="34" charset="0"/>
                <a:ea typeface="Arial" pitchFamily="34" charset="-122"/>
                <a:cs typeface="Arial" pitchFamily="34" charset="-120"/>
              </a:rPr>
              <a:t>S17 takes the idea — grade each system, raise the bar with the grade — and keeps it to three tiers.</a:t>
            </a:r>
            <a:endParaRPr lang="en-US" sz="2000" dirty="0"/>
          </a:p>
        </p:txBody>
      </p:sp>
      <p:sp>
        <p:nvSpPr>
          <p:cNvPr id="7" name="Text 4"/>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§3, §4.1, §7.2.2 · GB/T 22239-2019 · ISO/IEC 27001:2022</a:t>
            </a:r>
            <a:endParaRPr lang="en-US" sz="1300" dirty="0"/>
          </a:p>
        </p:txBody>
      </p:sp>
      <p:sp>
        <p:nvSpPr>
          <p:cNvPr id="8" name="Text 5"/>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25</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2 · PULSE CHECK</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Tier 1, 2 or 3? Show of hands.</a:t>
            </a:r>
            <a:endParaRPr lang="en-US" sz="3000" dirty="0"/>
          </a:p>
        </p:txBody>
      </p:sp>
      <p:sp>
        <p:nvSpPr>
          <p:cNvPr id="4" name="Text 2"/>
          <p:cNvSpPr/>
          <p:nvPr/>
        </p:nvSpPr>
        <p:spPr>
          <a:xfrm>
            <a:off x="533400" y="1847850"/>
            <a:ext cx="11124895" cy="3810000"/>
          </a:xfrm>
          <a:prstGeom prst="rect">
            <a:avLst/>
          </a:prstGeom>
          <a:noFill/>
          <a:ln/>
        </p:spPr>
        <p:txBody>
          <a:bodyPr wrap="square" rtlCol="0" anchor="t"/>
          <a:lstStyle/>
          <a:p>
            <a:pPr indent="0" marL="0">
              <a:lnSpc>
                <a:spcPct val="135000"/>
              </a:lnSpc>
              <a:spcAft>
                <a:spcPts val="800"/>
              </a:spcAft>
              <a:buNone/>
            </a:pPr>
            <a:r>
              <a:rPr lang="en-US" sz="2600" dirty="0">
                <a:solidFill>
                  <a:srgbClr val="3D3D3D"/>
                </a:solidFill>
                <a:latin typeface="Arial" pitchFamily="34" charset="0"/>
                <a:ea typeface="Arial" pitchFamily="34" charset="-122"/>
                <a:cs typeface="Arial" pitchFamily="34" charset="-120"/>
              </a:rPr>
              <a:t>①   A department’s public information website</a:t>
            </a:r>
            <a:endParaRPr lang="en-US" sz="2600" dirty="0"/>
          </a:p>
          <a:p>
            <a:pPr indent="0" marL="0">
              <a:lnSpc>
                <a:spcPct val="135000"/>
              </a:lnSpc>
              <a:spcAft>
                <a:spcPts val="800"/>
              </a:spcAft>
              <a:buNone/>
            </a:pPr>
            <a:r>
              <a:rPr lang="en-US" sz="2600" dirty="0">
                <a:solidFill>
                  <a:srgbClr val="3D3D3D"/>
                </a:solidFill>
                <a:latin typeface="Arial" pitchFamily="34" charset="0"/>
                <a:ea typeface="Arial" pitchFamily="34" charset="-122"/>
                <a:cs typeface="Arial" pitchFamily="34" charset="-120"/>
              </a:rPr>
              <a:t>②   An internal leave-application system</a:t>
            </a:r>
            <a:endParaRPr lang="en-US" sz="2600" dirty="0"/>
          </a:p>
          <a:p>
            <a:pPr indent="0" marL="0">
              <a:lnSpc>
                <a:spcPct val="135000"/>
              </a:lnSpc>
              <a:spcAft>
                <a:spcPts val="800"/>
              </a:spcAft>
              <a:buNone/>
            </a:pPr>
            <a:r>
              <a:rPr lang="en-US" sz="2600" dirty="0">
                <a:solidFill>
                  <a:srgbClr val="3D3D3D"/>
                </a:solidFill>
                <a:latin typeface="Arial" pitchFamily="34" charset="0"/>
                <a:ea typeface="Arial" pitchFamily="34" charset="-122"/>
                <a:cs typeface="Arial" pitchFamily="34" charset="-120"/>
              </a:rPr>
              <a:t>③   A licence application and payment portal holding citizen data</a:t>
            </a:r>
            <a:endParaRPr lang="en-US" sz="2600" dirty="0"/>
          </a:p>
          <a:p>
            <a:pPr indent="0" marL="0">
              <a:lnSpc>
                <a:spcPct val="135000"/>
              </a:lnSpc>
              <a:spcAft>
                <a:spcPts val="800"/>
              </a:spcAft>
              <a:buNone/>
            </a:pPr>
            <a:r>
              <a:rPr lang="en-US" sz="2600" dirty="0">
                <a:solidFill>
                  <a:srgbClr val="3D3D3D"/>
                </a:solidFill>
                <a:latin typeface="Arial" pitchFamily="34" charset="0"/>
                <a:ea typeface="Arial" pitchFamily="34" charset="-122"/>
                <a:cs typeface="Arial" pitchFamily="34" charset="-120"/>
              </a:rPr>
              <a:t>④   An emergency-dispatch system</a:t>
            </a:r>
            <a:endParaRPr lang="en-US" sz="2600" dirty="0"/>
          </a:p>
          <a:p>
            <a:pPr indent="0" marL="0">
              <a:lnSpc>
                <a:spcPct val="135000"/>
              </a:lnSpc>
              <a:spcAft>
                <a:spcPts val="800"/>
              </a:spcAft>
              <a:buNone/>
            </a:pPr>
            <a:r>
              <a:rPr lang="en-US" sz="2600" dirty="0">
                <a:solidFill>
                  <a:srgbClr val="3D3D3D"/>
                </a:solidFill>
                <a:latin typeface="Arial" pitchFamily="34" charset="0"/>
                <a:ea typeface="Arial" pitchFamily="34" charset="-122"/>
                <a:cs typeface="Arial" pitchFamily="34" charset="-120"/>
              </a:rPr>
              <a:t>⑤   The department-wide email platform</a:t>
            </a:r>
            <a:endParaRPr lang="en-US" sz="26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26</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2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No answer key, only reasons and a signature.</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298980"/>
                <a:gridCol w="3024065"/>
                <a:gridCol w="4801849"/>
              </a:tblGrid>
              <a:tr h="5143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System</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 defensible reading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The factor doing the work</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143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① Public website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Tier 1 — but argue it</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Government image: a defacement makes the news</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143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② Leave system</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Tier 1</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Limited impact, no dependency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143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③ Licence and payment portal</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Tier 2 arguable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Personal privacy, financial loss, public confidence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143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④ Emergency dispatch</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Tier 3</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Essential service — harm to public safety</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14350">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⑤ Department-wide email</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Tier 2 arguable</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D3D3D"/>
                          </a:solidFill>
                          <a:latin typeface="Arial" pitchFamily="34" charset="0"/>
                          <a:ea typeface="Arial" pitchFamily="34" charset="-122"/>
                          <a:cs typeface="Arial" pitchFamily="34" charset="-120"/>
                        </a:rPr>
                        <a:t>Interdependency: everything else relies on it</a:t>
                      </a:r>
                      <a:endParaRPr lang="en-US" sz="18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52675"/>
            <a:ext cx="11124895" cy="19050"/>
          </a:xfrm>
          <a:prstGeom prst="rect">
            <a:avLst/>
          </a:prstGeom>
          <a:solidFill>
            <a:srgbClr val="1A1A1A"/>
          </a:solidFill>
          <a:ln/>
        </p:spPr>
      </p:sp>
      <p:sp>
        <p:nvSpPr>
          <p:cNvPr id="6" name="Shape 3"/>
          <p:cNvSpPr/>
          <p:nvPr/>
        </p:nvSpPr>
        <p:spPr>
          <a:xfrm>
            <a:off x="533400" y="5105400"/>
            <a:ext cx="11124895" cy="28575"/>
          </a:xfrm>
          <a:prstGeom prst="rect">
            <a:avLst/>
          </a:prstGeom>
          <a:solidFill>
            <a:srgbClr val="D04A02"/>
          </a:solidFill>
          <a:ln/>
        </p:spPr>
      </p:sp>
      <p:sp>
        <p:nvSpPr>
          <p:cNvPr id="7" name="Shape 4"/>
          <p:cNvSpPr/>
          <p:nvPr/>
        </p:nvSpPr>
        <p:spPr>
          <a:xfrm>
            <a:off x="533400" y="5133975"/>
            <a:ext cx="11124895" cy="923925"/>
          </a:xfrm>
          <a:prstGeom prst="rect">
            <a:avLst/>
          </a:prstGeom>
          <a:solidFill>
            <a:srgbClr val="FDF0E6"/>
          </a:solidFill>
          <a:ln w="6350">
            <a:solidFill>
              <a:srgbClr val="FDF0E6"/>
            </a:solidFill>
            <a:prstDash val="solid"/>
          </a:ln>
        </p:spPr>
      </p:sp>
      <p:sp>
        <p:nvSpPr>
          <p:cNvPr id="8" name="Text 5"/>
          <p:cNvSpPr/>
          <p:nvPr/>
        </p:nvSpPr>
        <p:spPr>
          <a:xfrm>
            <a:off x="723900" y="525780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THE AUDITOR’S ASK</a:t>
            </a:r>
            <a:endParaRPr lang="en-US" sz="1600" dirty="0"/>
          </a:p>
        </p:txBody>
      </p:sp>
      <p:sp>
        <p:nvSpPr>
          <p:cNvPr id="9" name="Text 6"/>
          <p:cNvSpPr/>
          <p:nvPr/>
        </p:nvSpPr>
        <p:spPr>
          <a:xfrm>
            <a:off x="723900" y="5534025"/>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Show me the classification assessment for each system, and who endorsed it.</a:t>
            </a:r>
            <a:endParaRPr lang="en-US" sz="2000" dirty="0"/>
          </a:p>
        </p:txBody>
      </p:sp>
      <p:sp>
        <p:nvSpPr>
          <p:cNvPr id="10" name="Text 7"/>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G3 IT Security Guidelines v10.2 (Apr 2025) §7.2(b), Appendix B · readings are illustrative, not DPO guidance</a:t>
            </a:r>
            <a:endParaRPr lang="en-US" sz="1300" dirty="0"/>
          </a:p>
        </p:txBody>
      </p:sp>
      <p:sp>
        <p:nvSpPr>
          <p:cNvPr id="11" name="Text 8"/>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27</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3 · NAMED ROLES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Security has a rank, and a central nervous system.</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1714500"/>
                <a:gridCol w="2952750"/>
                <a:gridCol w="6457950"/>
              </a:tblGrid>
              <a:tr h="5334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Level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Role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S17 asks of it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Central</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ISMC · ITSWG</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Endorse Government security policy; the working group coordinates and monitors compliance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Central</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GIRO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Central inventory of all Government security incidents; coordinates multi-point attacks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Central</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GovCERT.HK</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Security alerts; bridge to HKCERT and other CSIRTs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Department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DITSO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Appointed by the Head of B/D — D3 or above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Department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ISIRT Commander</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Leads incident decisions; reports to GIRO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Department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IT Security Administrator</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Should not be the System Administrator</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717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§5.1–§5.3</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28</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3 · PULSE CHECK</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Four quick ones. Hands up if you know.</a:t>
            </a:r>
            <a:endParaRPr lang="en-US" sz="3000" dirty="0"/>
          </a:p>
        </p:txBody>
      </p:sp>
      <p:sp>
        <p:nvSpPr>
          <p:cNvPr id="4" name="Text 2"/>
          <p:cNvSpPr/>
          <p:nvPr/>
        </p:nvSpPr>
        <p:spPr>
          <a:xfrm>
            <a:off x="533400" y="1847850"/>
            <a:ext cx="11124895" cy="4305300"/>
          </a:xfrm>
          <a:prstGeom prst="rect">
            <a:avLst/>
          </a:prstGeom>
          <a:noFill/>
          <a:ln/>
        </p:spPr>
        <p:txBody>
          <a:bodyPr wrap="square" rtlCol="0" anchor="t"/>
          <a:lstStyle/>
          <a:p>
            <a:pPr indent="0" marL="0">
              <a:lnSpc>
                <a:spcPct val="130000"/>
              </a:lnSpc>
              <a:spcAft>
                <a:spcPts val="1000"/>
              </a:spcAft>
              <a:buNone/>
            </a:pPr>
            <a:r>
              <a:rPr lang="en-US" sz="2200" dirty="0">
                <a:solidFill>
                  <a:srgbClr val="3D3D3D"/>
                </a:solidFill>
                <a:latin typeface="Arial" pitchFamily="34" charset="0"/>
                <a:ea typeface="Arial" pitchFamily="34" charset="-122"/>
                <a:cs typeface="Arial" pitchFamily="34" charset="-120"/>
              </a:rPr>
              <a:t>①  A small department has no officer at D3 or above. Who becomes DITSO?</a:t>
            </a:r>
            <a:endParaRPr lang="en-US" sz="2200" dirty="0"/>
          </a:p>
          <a:p>
            <a:pPr indent="0" marL="0">
              <a:lnSpc>
                <a:spcPct val="130000"/>
              </a:lnSpc>
              <a:spcAft>
                <a:spcPts val="1000"/>
              </a:spcAft>
              <a:buNone/>
            </a:pPr>
            <a:r>
              <a:rPr lang="en-US" sz="2200" dirty="0">
                <a:solidFill>
                  <a:srgbClr val="3D3D3D"/>
                </a:solidFill>
                <a:latin typeface="Arial" pitchFamily="34" charset="0"/>
                <a:ea typeface="Arial" pitchFamily="34" charset="-122"/>
                <a:cs typeface="Arial" pitchFamily="34" charset="-120"/>
              </a:rPr>
              <a:t>②  Can the Departmental Security Officer also be the DITSO?</a:t>
            </a:r>
            <a:endParaRPr lang="en-US" sz="2200" dirty="0"/>
          </a:p>
          <a:p>
            <a:pPr indent="0" marL="0">
              <a:lnSpc>
                <a:spcPct val="130000"/>
              </a:lnSpc>
              <a:spcAft>
                <a:spcPts val="1000"/>
              </a:spcAft>
              <a:buNone/>
            </a:pPr>
            <a:r>
              <a:rPr lang="en-US" sz="2200" dirty="0">
                <a:solidFill>
                  <a:srgbClr val="3D3D3D"/>
                </a:solidFill>
                <a:latin typeface="Arial" pitchFamily="34" charset="0"/>
                <a:ea typeface="Arial" pitchFamily="34" charset="-122"/>
                <a:cs typeface="Arial" pitchFamily="34" charset="-120"/>
              </a:rPr>
              <a:t>③  Night shift wants one shared admin account. Who can approve it?</a:t>
            </a:r>
            <a:endParaRPr lang="en-US" sz="2200" dirty="0"/>
          </a:p>
          <a:p>
            <a:pPr indent="0" marL="0">
              <a:lnSpc>
                <a:spcPct val="130000"/>
              </a:lnSpc>
              <a:spcAft>
                <a:spcPts val="1000"/>
              </a:spcAft>
              <a:buNone/>
            </a:pPr>
            <a:r>
              <a:rPr lang="en-US" sz="2200" dirty="0">
                <a:solidFill>
                  <a:srgbClr val="3D3D3D"/>
                </a:solidFill>
                <a:latin typeface="Arial" pitchFamily="34" charset="0"/>
                <a:ea typeface="Arial" pitchFamily="34" charset="-122"/>
                <a:cs typeface="Arial" pitchFamily="34" charset="-120"/>
              </a:rPr>
              <a:t>④  A department contains ransomware itself in two hours. Does anyone outside need to know?</a:t>
            </a:r>
            <a:endParaRPr lang="en-US" sz="22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29</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3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rank rules, answered.</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714750"/>
                <a:gridCol w="5505450"/>
                <a:gridCol w="1905000"/>
              </a:tblGrid>
              <a:tr h="5524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Question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Answer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① No officer at D3 or above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The highest-ranking directorate officer becomes DITSO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§5.2.1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② DSO as DITSO?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Yes — S17 allows the DSO to serve as DITSO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§5.2.3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③ Shared night-shift admin account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Only with explicit DITSO approval</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§11.2.6</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④ Contained it in two hours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Yes — phone GIRO within 60 minutes; preliminary form within 48 hours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S17 §18.1.5 · G3 §18.1(b)</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90775"/>
            <a:ext cx="11124895" cy="19050"/>
          </a:xfrm>
          <a:prstGeom prst="rect">
            <a:avLst/>
          </a:prstGeom>
          <a:solidFill>
            <a:srgbClr val="1A1A1A"/>
          </a:solidFill>
          <a:ln/>
        </p:spPr>
      </p:sp>
      <p:sp>
        <p:nvSpPr>
          <p:cNvPr id="6" name="Shape 3"/>
          <p:cNvSpPr/>
          <p:nvPr/>
        </p:nvSpPr>
        <p:spPr>
          <a:xfrm>
            <a:off x="533400" y="4781550"/>
            <a:ext cx="11124895" cy="28575"/>
          </a:xfrm>
          <a:prstGeom prst="rect">
            <a:avLst/>
          </a:prstGeom>
          <a:solidFill>
            <a:srgbClr val="D04A02"/>
          </a:solidFill>
          <a:ln/>
        </p:spPr>
      </p:sp>
      <p:sp>
        <p:nvSpPr>
          <p:cNvPr id="7" name="Shape 4"/>
          <p:cNvSpPr/>
          <p:nvPr/>
        </p:nvSpPr>
        <p:spPr>
          <a:xfrm>
            <a:off x="533400" y="4810125"/>
            <a:ext cx="11124895" cy="771525"/>
          </a:xfrm>
          <a:prstGeom prst="rect">
            <a:avLst/>
          </a:prstGeom>
          <a:solidFill>
            <a:srgbClr val="FDF0E6"/>
          </a:solidFill>
          <a:ln w="6350">
            <a:solidFill>
              <a:srgbClr val="FDF0E6"/>
            </a:solidFill>
            <a:prstDash val="solid"/>
          </a:ln>
        </p:spPr>
      </p:sp>
      <p:sp>
        <p:nvSpPr>
          <p:cNvPr id="8" name="Text 5"/>
          <p:cNvSpPr/>
          <p:nvPr/>
        </p:nvSpPr>
        <p:spPr>
          <a:xfrm>
            <a:off x="723900" y="4933950"/>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“We fixed it ourselves” is not a reason not to report.</a:t>
            </a:r>
            <a:endParaRPr lang="en-US" sz="2000" dirty="0"/>
          </a:p>
        </p:txBody>
      </p:sp>
      <p:sp>
        <p:nvSpPr>
          <p:cNvPr id="9"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30</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4 · SECURITY REVIEWS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 review clock that also runs on events.</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619500"/>
                <a:gridCol w="5905500"/>
                <a:gridCol w="1600200"/>
              </a:tblGrid>
              <a:tr h="5334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Trigger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is required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At least every two years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Security risk assessment of information systems and production applications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§20.2.1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At least every two years, if personal data</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A privacy impact assessment as well</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§20.2.1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Before production rollout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Security risk assessment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§20.2.1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Before major enhancements or changes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Security risk assessment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§20.2.1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At least every two years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Independent audit of compliance and effectiveness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§20.2.2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Always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Auditors shall not audit their own work; SRA and audit tools restricted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§20.2.2–20.2.3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717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§20.2 · compare ISO/IEC 27001:2022 clause 9.2 (“planned intervals”)</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31</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4 · PULSE CHECK</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When is the next one due?</a:t>
            </a:r>
            <a:endParaRPr lang="en-US" sz="3000" dirty="0"/>
          </a:p>
        </p:txBody>
      </p:sp>
      <p:sp>
        <p:nvSpPr>
          <p:cNvPr id="4" name="Text 2"/>
          <p:cNvSpPr/>
          <p:nvPr/>
        </p:nvSpPr>
        <p:spPr>
          <a:xfrm>
            <a:off x="533400" y="1847850"/>
            <a:ext cx="11124895" cy="4305300"/>
          </a:xfrm>
          <a:prstGeom prst="rect">
            <a:avLst/>
          </a:prstGeom>
          <a:noFill/>
          <a:ln/>
        </p:spPr>
        <p:txBody>
          <a:bodyPr wrap="square" rtlCol="0" anchor="t"/>
          <a:lstStyle/>
          <a:p>
            <a:pPr indent="0" marL="0">
              <a:lnSpc>
                <a:spcPct val="130000"/>
              </a:lnSpc>
              <a:spcAft>
                <a:spcPts val="1000"/>
              </a:spcAft>
              <a:buNone/>
            </a:pPr>
            <a:r>
              <a:rPr lang="en-US" sz="2200" dirty="0">
                <a:solidFill>
                  <a:srgbClr val="3D3D3D"/>
                </a:solidFill>
                <a:latin typeface="Arial" pitchFamily="34" charset="0"/>
                <a:ea typeface="Arial" pitchFamily="34" charset="-122"/>
                <a:cs typeface="Arial" pitchFamily="34" charset="-120"/>
              </a:rPr>
              <a:t>①  The last SRA was 20 months ago. A major new online module goes live next month. When is the next SRA due?</a:t>
            </a:r>
            <a:endParaRPr lang="en-US" sz="2200" dirty="0"/>
          </a:p>
          <a:p>
            <a:pPr indent="0" marL="0">
              <a:lnSpc>
                <a:spcPct val="130000"/>
              </a:lnSpc>
              <a:spcAft>
                <a:spcPts val="1000"/>
              </a:spcAft>
              <a:buNone/>
            </a:pPr>
            <a:r>
              <a:rPr lang="en-US" sz="2200" dirty="0">
                <a:solidFill>
                  <a:srgbClr val="3D3D3D"/>
                </a:solidFill>
                <a:latin typeface="Arial" pitchFamily="34" charset="0"/>
                <a:ea typeface="Arial" pitchFamily="34" charset="-122"/>
                <a:cs typeface="Arial" pitchFamily="34" charset="-120"/>
              </a:rPr>
              <a:t>②  The system holds citizens’ personal data. Is the SRA enough?</a:t>
            </a:r>
            <a:endParaRPr lang="en-US" sz="2200" dirty="0"/>
          </a:p>
          <a:p>
            <a:pPr indent="0" marL="0">
              <a:lnSpc>
                <a:spcPct val="130000"/>
              </a:lnSpc>
              <a:spcAft>
                <a:spcPts val="1000"/>
              </a:spcAft>
              <a:buNone/>
            </a:pPr>
            <a:r>
              <a:rPr lang="en-US" sz="2200" dirty="0">
                <a:solidFill>
                  <a:srgbClr val="3D3D3D"/>
                </a:solidFill>
                <a:latin typeface="Arial" pitchFamily="34" charset="0"/>
                <a:ea typeface="Arial" pitchFamily="34" charset="-122"/>
                <a:cs typeface="Arial" pitchFamily="34" charset="-120"/>
              </a:rPr>
              <a:t>③  The firm that ran the SRA offers to do the audit, “since they already know the system”. Acceptable?</a:t>
            </a:r>
            <a:endParaRPr lang="en-US" sz="22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32</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4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event beats the clock.</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857500"/>
                <a:gridCol w="4191000"/>
                <a:gridCol w="4076700"/>
              </a:tblGrid>
              <a:tr h="5524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Question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Answer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① Next SRA?</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Before go-live — now, not in four months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Major change triggers an SRA (§20.2.1)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② SRA enough?</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No — a PIA is needed too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Personal data (§20.2.1)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③ Same firm audits?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No</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Auditors shall not audit their own work; the audit is not a check on SRA fixes (S17 §20.2.2 · G3 §20.2(b))</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90775"/>
            <a:ext cx="11124895" cy="19050"/>
          </a:xfrm>
          <a:prstGeom prst="rect">
            <a:avLst/>
          </a:prstGeom>
          <a:solidFill>
            <a:srgbClr val="1A1A1A"/>
          </a:solidFill>
          <a:ln/>
        </p:spPr>
      </p:sp>
      <p:sp>
        <p:nvSpPr>
          <p:cNvPr id="6" name="Shape 3"/>
          <p:cNvSpPr/>
          <p:nvPr/>
        </p:nvSpPr>
        <p:spPr>
          <a:xfrm>
            <a:off x="533400" y="4229100"/>
            <a:ext cx="11124895" cy="28575"/>
          </a:xfrm>
          <a:prstGeom prst="rect">
            <a:avLst/>
          </a:prstGeom>
          <a:solidFill>
            <a:srgbClr val="D04A02"/>
          </a:solidFill>
          <a:ln/>
        </p:spPr>
      </p:sp>
      <p:sp>
        <p:nvSpPr>
          <p:cNvPr id="7" name="Shape 4"/>
          <p:cNvSpPr/>
          <p:nvPr/>
        </p:nvSpPr>
        <p:spPr>
          <a:xfrm>
            <a:off x="533400" y="4257675"/>
            <a:ext cx="11124895" cy="771525"/>
          </a:xfrm>
          <a:prstGeom prst="rect">
            <a:avLst/>
          </a:prstGeom>
          <a:solidFill>
            <a:srgbClr val="FDF0E6"/>
          </a:solidFill>
          <a:ln w="6350">
            <a:solidFill>
              <a:srgbClr val="FDF0E6"/>
            </a:solidFill>
            <a:prstDash val="solid"/>
          </a:ln>
        </p:spPr>
      </p:sp>
      <p:sp>
        <p:nvSpPr>
          <p:cNvPr id="8" name="Text 5"/>
          <p:cNvSpPr/>
          <p:nvPr/>
        </p:nvSpPr>
        <p:spPr>
          <a:xfrm>
            <a:off x="723900" y="4381500"/>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Knowing the system is exactly the problem, not the qualification.</a:t>
            </a:r>
            <a:endParaRPr lang="en-US" sz="2000" dirty="0"/>
          </a:p>
        </p:txBody>
      </p:sp>
      <p:sp>
        <p:nvSpPr>
          <p:cNvPr id="9"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33</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5 · PRIVACY INSIDE SECURITY</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Security written with privacy in mind.</a:t>
            </a:r>
            <a:endParaRPr lang="en-US" sz="3000" dirty="0"/>
          </a:p>
        </p:txBody>
      </p:sp>
      <p:sp>
        <p:nvSpPr>
          <p:cNvPr id="4" name="Shape 2"/>
          <p:cNvSpPr/>
          <p:nvPr/>
        </p:nvSpPr>
        <p:spPr>
          <a:xfrm>
            <a:off x="533400" y="1847850"/>
            <a:ext cx="5457673" cy="28575"/>
          </a:xfrm>
          <a:prstGeom prst="rect">
            <a:avLst/>
          </a:prstGeom>
          <a:solidFill>
            <a:srgbClr val="1A1A1A"/>
          </a:solidFill>
          <a:ln/>
        </p:spPr>
      </p:sp>
      <p:sp>
        <p:nvSpPr>
          <p:cNvPr id="5" name="Shape 3"/>
          <p:cNvSpPr/>
          <p:nvPr/>
        </p:nvSpPr>
        <p:spPr>
          <a:xfrm>
            <a:off x="533400" y="1876425"/>
            <a:ext cx="5457673" cy="2019300"/>
          </a:xfrm>
          <a:prstGeom prst="rect">
            <a:avLst/>
          </a:prstGeom>
          <a:solidFill>
            <a:srgbClr val="F2F2F2"/>
          </a:solidFill>
          <a:ln w="6350">
            <a:solidFill>
              <a:srgbClr val="F2F2F2"/>
            </a:solidFill>
            <a:prstDash val="solid"/>
          </a:ln>
        </p:spPr>
      </p:sp>
      <p:sp>
        <p:nvSpPr>
          <p:cNvPr id="6" name="Text 4"/>
          <p:cNvSpPr/>
          <p:nvPr/>
        </p:nvSpPr>
        <p:spPr>
          <a:xfrm>
            <a:off x="723900" y="20002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§7.1.5</a:t>
            </a:r>
            <a:endParaRPr lang="en-US" sz="1600" dirty="0"/>
          </a:p>
        </p:txBody>
      </p:sp>
      <p:sp>
        <p:nvSpPr>
          <p:cNvPr id="7" name="Text 5"/>
          <p:cNvSpPr/>
          <p:nvPr/>
        </p:nvSpPr>
        <p:spPr>
          <a:xfrm>
            <a:off x="723900"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Management may examine everything.</a:t>
            </a:r>
            <a:endParaRPr lang="en-US" sz="2000" dirty="0"/>
          </a:p>
        </p:txBody>
      </p:sp>
      <p:sp>
        <p:nvSpPr>
          <p:cNvPr id="8" name="Text 6"/>
          <p:cNvSpPr/>
          <p:nvPr/>
        </p:nvSpPr>
        <p:spPr>
          <a:xfrm>
            <a:off x="723900" y="2628900"/>
            <a:ext cx="5076673" cy="11906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The right to examine all information on Government systems — subject to the PDPO.</a:t>
            </a:r>
            <a:endParaRPr lang="en-US" sz="2000" dirty="0"/>
          </a:p>
        </p:txBody>
      </p:sp>
      <p:sp>
        <p:nvSpPr>
          <p:cNvPr id="9" name="Shape 7"/>
          <p:cNvSpPr/>
          <p:nvPr/>
        </p:nvSpPr>
        <p:spPr>
          <a:xfrm>
            <a:off x="6200623" y="1847850"/>
            <a:ext cx="5457673" cy="28575"/>
          </a:xfrm>
          <a:prstGeom prst="rect">
            <a:avLst/>
          </a:prstGeom>
          <a:solidFill>
            <a:srgbClr val="D04A02"/>
          </a:solidFill>
          <a:ln/>
        </p:spPr>
      </p:sp>
      <p:sp>
        <p:nvSpPr>
          <p:cNvPr id="10" name="Shape 8"/>
          <p:cNvSpPr/>
          <p:nvPr/>
        </p:nvSpPr>
        <p:spPr>
          <a:xfrm>
            <a:off x="6200623" y="1876425"/>
            <a:ext cx="5457673" cy="2019300"/>
          </a:xfrm>
          <a:prstGeom prst="rect">
            <a:avLst/>
          </a:prstGeom>
          <a:solidFill>
            <a:srgbClr val="FDF0E6"/>
          </a:solidFill>
          <a:ln w="6350">
            <a:solidFill>
              <a:srgbClr val="FDF0E6"/>
            </a:solidFill>
            <a:prstDash val="solid"/>
          </a:ln>
        </p:spPr>
      </p:sp>
      <p:sp>
        <p:nvSpPr>
          <p:cNvPr id="11" name="Text 9"/>
          <p:cNvSpPr/>
          <p:nvPr/>
        </p:nvSpPr>
        <p:spPr>
          <a:xfrm>
            <a:off x="6391123" y="2000250"/>
            <a:ext cx="5076673"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§14.4.4</a:t>
            </a:r>
            <a:endParaRPr lang="en-US" sz="1600" dirty="0"/>
          </a:p>
        </p:txBody>
      </p:sp>
      <p:sp>
        <p:nvSpPr>
          <p:cNvPr id="12" name="Text 10"/>
          <p:cNvSpPr/>
          <p:nvPr/>
        </p:nvSpPr>
        <p:spPr>
          <a:xfrm>
            <a:off x="6391123"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But logs may not profile a person.</a:t>
            </a:r>
            <a:endParaRPr lang="en-US" sz="2000" dirty="0"/>
          </a:p>
        </p:txBody>
      </p:sp>
      <p:sp>
        <p:nvSpPr>
          <p:cNvPr id="13" name="Text 11"/>
          <p:cNvSpPr/>
          <p:nvPr/>
        </p:nvSpPr>
        <p:spPr>
          <a:xfrm>
            <a:off x="6391123" y="2628900"/>
            <a:ext cx="5076673" cy="11906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Unless it is a necessary audit activity approved by a directorate officer.</a:t>
            </a:r>
            <a:endParaRPr lang="en-US" sz="2000" dirty="0"/>
          </a:p>
        </p:txBody>
      </p:sp>
      <p:sp>
        <p:nvSpPr>
          <p:cNvPr id="14" name="Shape 12"/>
          <p:cNvSpPr/>
          <p:nvPr/>
        </p:nvSpPr>
        <p:spPr>
          <a:xfrm>
            <a:off x="533400" y="4105275"/>
            <a:ext cx="5457673" cy="28575"/>
          </a:xfrm>
          <a:prstGeom prst="rect">
            <a:avLst/>
          </a:prstGeom>
          <a:solidFill>
            <a:srgbClr val="1A1A1A"/>
          </a:solidFill>
          <a:ln/>
        </p:spPr>
      </p:sp>
      <p:sp>
        <p:nvSpPr>
          <p:cNvPr id="15" name="Shape 13"/>
          <p:cNvSpPr/>
          <p:nvPr/>
        </p:nvSpPr>
        <p:spPr>
          <a:xfrm>
            <a:off x="533400" y="4133850"/>
            <a:ext cx="5457673" cy="1781175"/>
          </a:xfrm>
          <a:prstGeom prst="rect">
            <a:avLst/>
          </a:prstGeom>
          <a:solidFill>
            <a:srgbClr val="F2F2F2"/>
          </a:solidFill>
          <a:ln w="6350">
            <a:solidFill>
              <a:srgbClr val="F2F2F2"/>
            </a:solidFill>
            <a:prstDash val="solid"/>
          </a:ln>
        </p:spPr>
      </p:sp>
      <p:sp>
        <p:nvSpPr>
          <p:cNvPr id="16" name="Text 14"/>
          <p:cNvSpPr/>
          <p:nvPr/>
        </p:nvSpPr>
        <p:spPr>
          <a:xfrm>
            <a:off x="723900" y="4257675"/>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§20.1.4</a:t>
            </a:r>
            <a:endParaRPr lang="en-US" sz="1600" dirty="0"/>
          </a:p>
        </p:txBody>
      </p:sp>
      <p:sp>
        <p:nvSpPr>
          <p:cNvPr id="17" name="Text 15"/>
          <p:cNvSpPr/>
          <p:nvPr/>
        </p:nvSpPr>
        <p:spPr>
          <a:xfrm>
            <a:off x="723900" y="453390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Personal data is classified.</a:t>
            </a:r>
            <a:endParaRPr lang="en-US" sz="2000" dirty="0"/>
          </a:p>
        </p:txBody>
      </p:sp>
      <p:sp>
        <p:nvSpPr>
          <p:cNvPr id="18" name="Text 16"/>
          <p:cNvSpPr/>
          <p:nvPr/>
        </p:nvSpPr>
        <p:spPr>
          <a:xfrm>
            <a:off x="723900" y="4886325"/>
            <a:ext cx="5076673" cy="9525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It should be RESTRICTED or above, which brings in Unique 1.</a:t>
            </a:r>
            <a:endParaRPr lang="en-US" sz="2000" dirty="0"/>
          </a:p>
        </p:txBody>
      </p:sp>
      <p:sp>
        <p:nvSpPr>
          <p:cNvPr id="19" name="Shape 17"/>
          <p:cNvSpPr/>
          <p:nvPr/>
        </p:nvSpPr>
        <p:spPr>
          <a:xfrm>
            <a:off x="6200623" y="4105275"/>
            <a:ext cx="5457673" cy="28575"/>
          </a:xfrm>
          <a:prstGeom prst="rect">
            <a:avLst/>
          </a:prstGeom>
          <a:solidFill>
            <a:srgbClr val="1A1A1A"/>
          </a:solidFill>
          <a:ln/>
        </p:spPr>
      </p:sp>
      <p:sp>
        <p:nvSpPr>
          <p:cNvPr id="20" name="Shape 18"/>
          <p:cNvSpPr/>
          <p:nvPr/>
        </p:nvSpPr>
        <p:spPr>
          <a:xfrm>
            <a:off x="6200623" y="4133850"/>
            <a:ext cx="5457673" cy="1781175"/>
          </a:xfrm>
          <a:prstGeom prst="rect">
            <a:avLst/>
          </a:prstGeom>
          <a:solidFill>
            <a:srgbClr val="F2F2F2"/>
          </a:solidFill>
          <a:ln w="6350">
            <a:solidFill>
              <a:srgbClr val="F2F2F2"/>
            </a:solidFill>
            <a:prstDash val="solid"/>
          </a:ln>
        </p:spPr>
      </p:sp>
      <p:sp>
        <p:nvSpPr>
          <p:cNvPr id="21" name="Text 19"/>
          <p:cNvSpPr/>
          <p:nvPr/>
        </p:nvSpPr>
        <p:spPr>
          <a:xfrm>
            <a:off x="6391123" y="4257675"/>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§20.2.1</a:t>
            </a:r>
            <a:endParaRPr lang="en-US" sz="1600" dirty="0"/>
          </a:p>
        </p:txBody>
      </p:sp>
      <p:sp>
        <p:nvSpPr>
          <p:cNvPr id="22" name="Text 20"/>
          <p:cNvSpPr/>
          <p:nvPr/>
        </p:nvSpPr>
        <p:spPr>
          <a:xfrm>
            <a:off x="6391123" y="453390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 PIA sits beside the SRA.</a:t>
            </a:r>
            <a:endParaRPr lang="en-US" sz="2000" dirty="0"/>
          </a:p>
        </p:txBody>
      </p:sp>
      <p:sp>
        <p:nvSpPr>
          <p:cNvPr id="23" name="Text 21"/>
          <p:cNvSpPr/>
          <p:nvPr/>
        </p:nvSpPr>
        <p:spPr>
          <a:xfrm>
            <a:off x="6391123" y="4886325"/>
            <a:ext cx="5076673" cy="9525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Every two years, for systems with personal data.</a:t>
            </a:r>
            <a:endParaRPr lang="en-US" sz="2000" dirty="0"/>
          </a:p>
        </p:txBody>
      </p:sp>
      <p:sp>
        <p:nvSpPr>
          <p:cNvPr id="24" name="Text 22"/>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§7.1.5, §14.4.4, §20.1.4, §20.2.1</a:t>
            </a:r>
            <a:endParaRPr lang="en-US" sz="1300" dirty="0"/>
          </a:p>
        </p:txBody>
      </p:sp>
      <p:sp>
        <p:nvSpPr>
          <p:cNvPr id="25" name="Text 2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34</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5 · PULSE CHECK</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Do you hand over the logs?</a:t>
            </a:r>
            <a:endParaRPr lang="en-US" sz="3000" dirty="0"/>
          </a:p>
        </p:txBody>
      </p:sp>
      <p:sp>
        <p:nvSpPr>
          <p:cNvPr id="4" name="Text 2"/>
          <p:cNvSpPr/>
          <p:nvPr/>
        </p:nvSpPr>
        <p:spPr>
          <a:xfrm>
            <a:off x="533400" y="1847850"/>
            <a:ext cx="11124895" cy="4305300"/>
          </a:xfrm>
          <a:prstGeom prst="rect">
            <a:avLst/>
          </a:prstGeom>
          <a:noFill/>
          <a:ln/>
        </p:spPr>
        <p:txBody>
          <a:bodyPr wrap="square" rtlCol="0" anchor="t"/>
          <a:lstStyle/>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A manager suspects an officer of wasting time online.</a:t>
            </a: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They ask IT security for that officer’s browsing logs for the past three months.</a:t>
            </a:r>
            <a:endParaRPr lang="en-US" sz="2600" dirty="0"/>
          </a:p>
          <a:p>
            <a:pPr indent="0" marL="0">
              <a:lnSpc>
                <a:spcPct val="130000"/>
              </a:lnSpc>
              <a:spcAft>
                <a:spcPts val="1000"/>
              </a:spcAft>
              <a:buNone/>
            </a:pP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Yes · No · Only if…</a:t>
            </a:r>
            <a:endParaRPr lang="en-US" sz="26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35</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5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Answer: only if it is an approved audit.</a:t>
            </a:r>
            <a:endParaRPr lang="en-US" sz="3000" dirty="0"/>
          </a:p>
        </p:txBody>
      </p:sp>
      <p:sp>
        <p:nvSpPr>
          <p:cNvPr id="4" name="Shape 2"/>
          <p:cNvSpPr/>
          <p:nvPr/>
        </p:nvSpPr>
        <p:spPr>
          <a:xfrm>
            <a:off x="533400" y="1847850"/>
            <a:ext cx="11124895" cy="28575"/>
          </a:xfrm>
          <a:prstGeom prst="rect">
            <a:avLst/>
          </a:prstGeom>
          <a:solidFill>
            <a:srgbClr val="D04A02"/>
          </a:solidFill>
          <a:ln/>
        </p:spPr>
      </p:sp>
      <p:sp>
        <p:nvSpPr>
          <p:cNvPr id="5" name="Shape 3"/>
          <p:cNvSpPr/>
          <p:nvPr/>
        </p:nvSpPr>
        <p:spPr>
          <a:xfrm>
            <a:off x="533400" y="1876425"/>
            <a:ext cx="11124895" cy="1400175"/>
          </a:xfrm>
          <a:prstGeom prst="rect">
            <a:avLst/>
          </a:prstGeom>
          <a:solidFill>
            <a:srgbClr val="FDF0E6"/>
          </a:solidFill>
          <a:ln w="6350">
            <a:solidFill>
              <a:srgbClr val="FDF0E6"/>
            </a:solidFill>
            <a:prstDash val="solid"/>
          </a:ln>
        </p:spPr>
      </p:sp>
      <p:sp>
        <p:nvSpPr>
          <p:cNvPr id="6" name="Text 4"/>
          <p:cNvSpPr/>
          <p:nvPr/>
        </p:nvSpPr>
        <p:spPr>
          <a:xfrm>
            <a:off x="723900" y="200025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S17 §14.4.4</a:t>
            </a:r>
            <a:endParaRPr lang="en-US" sz="1600" dirty="0"/>
          </a:p>
        </p:txBody>
      </p:sp>
      <p:sp>
        <p:nvSpPr>
          <p:cNvPr id="7" name="Text 5"/>
          <p:cNvSpPr/>
          <p:nvPr/>
        </p:nvSpPr>
        <p:spPr>
          <a:xfrm>
            <a:off x="723900" y="2276475"/>
            <a:ext cx="10743895" cy="79057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“Logs shall not be used to profile the activity of a particular user unless it relates to a necessary audit activity as approved by a directorate officer.”</a:t>
            </a:r>
            <a:endParaRPr lang="en-US" sz="2000" dirty="0"/>
          </a:p>
        </p:txBody>
      </p:sp>
      <p:sp>
        <p:nvSpPr>
          <p:cNvPr id="8" name="Shape 6"/>
          <p:cNvSpPr/>
          <p:nvPr/>
        </p:nvSpPr>
        <p:spPr>
          <a:xfrm>
            <a:off x="533400" y="3486150"/>
            <a:ext cx="5457673" cy="28575"/>
          </a:xfrm>
          <a:prstGeom prst="rect">
            <a:avLst/>
          </a:prstGeom>
          <a:solidFill>
            <a:srgbClr val="1A1A1A"/>
          </a:solidFill>
          <a:ln/>
        </p:spPr>
      </p:sp>
      <p:sp>
        <p:nvSpPr>
          <p:cNvPr id="9" name="Shape 7"/>
          <p:cNvSpPr/>
          <p:nvPr/>
        </p:nvSpPr>
        <p:spPr>
          <a:xfrm>
            <a:off x="533400" y="3514725"/>
            <a:ext cx="5457673" cy="1828800"/>
          </a:xfrm>
          <a:prstGeom prst="rect">
            <a:avLst/>
          </a:prstGeom>
          <a:solidFill>
            <a:srgbClr val="F2F2F2"/>
          </a:solidFill>
          <a:ln w="6350">
            <a:solidFill>
              <a:srgbClr val="F2F2F2"/>
            </a:solidFill>
            <a:prstDash val="solid"/>
          </a:ln>
        </p:spPr>
      </p:sp>
      <p:sp>
        <p:nvSpPr>
          <p:cNvPr id="10" name="Text 8"/>
          <p:cNvSpPr/>
          <p:nvPr/>
        </p:nvSpPr>
        <p:spPr>
          <a:xfrm>
            <a:off x="723900" y="36385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WHY NOT JUST YES</a:t>
            </a:r>
            <a:endParaRPr lang="en-US" sz="1600" dirty="0"/>
          </a:p>
        </p:txBody>
      </p:sp>
      <p:sp>
        <p:nvSpPr>
          <p:cNvPr id="11" name="Text 9"/>
          <p:cNvSpPr/>
          <p:nvPr/>
        </p:nvSpPr>
        <p:spPr>
          <a:xfrm>
            <a:off x="723900" y="39147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 manager’s hunch is not an audit.</a:t>
            </a:r>
            <a:endParaRPr lang="en-US" sz="2000" dirty="0"/>
          </a:p>
        </p:txBody>
      </p:sp>
      <p:sp>
        <p:nvSpPr>
          <p:cNvPr id="12" name="Text 10"/>
          <p:cNvSpPr/>
          <p:nvPr/>
        </p:nvSpPr>
        <p:spPr>
          <a:xfrm>
            <a:off x="723900" y="4267200"/>
            <a:ext cx="5076673" cy="10001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No directorate approval, no necessary audit activity.</a:t>
            </a:r>
            <a:endParaRPr lang="en-US" sz="2000" dirty="0"/>
          </a:p>
        </p:txBody>
      </p:sp>
      <p:sp>
        <p:nvSpPr>
          <p:cNvPr id="13" name="Shape 11"/>
          <p:cNvSpPr/>
          <p:nvPr/>
        </p:nvSpPr>
        <p:spPr>
          <a:xfrm>
            <a:off x="6200623" y="3486150"/>
            <a:ext cx="5457673" cy="28575"/>
          </a:xfrm>
          <a:prstGeom prst="rect">
            <a:avLst/>
          </a:prstGeom>
          <a:solidFill>
            <a:srgbClr val="1A1A1A"/>
          </a:solidFill>
          <a:ln/>
        </p:spPr>
      </p:sp>
      <p:sp>
        <p:nvSpPr>
          <p:cNvPr id="14" name="Shape 12"/>
          <p:cNvSpPr/>
          <p:nvPr/>
        </p:nvSpPr>
        <p:spPr>
          <a:xfrm>
            <a:off x="6200623" y="3514725"/>
            <a:ext cx="5457673" cy="1828800"/>
          </a:xfrm>
          <a:prstGeom prst="rect">
            <a:avLst/>
          </a:prstGeom>
          <a:solidFill>
            <a:srgbClr val="F2F2F2"/>
          </a:solidFill>
          <a:ln w="6350">
            <a:solidFill>
              <a:srgbClr val="F2F2F2"/>
            </a:solidFill>
            <a:prstDash val="solid"/>
          </a:ln>
        </p:spPr>
      </p:sp>
      <p:sp>
        <p:nvSpPr>
          <p:cNvPr id="15" name="Text 13"/>
          <p:cNvSpPr/>
          <p:nvPr/>
        </p:nvSpPr>
        <p:spPr>
          <a:xfrm>
            <a:off x="6391123" y="36385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WHAT THE AUDITOR TESTS</a:t>
            </a:r>
            <a:endParaRPr lang="en-US" sz="1600" dirty="0"/>
          </a:p>
        </p:txBody>
      </p:sp>
      <p:sp>
        <p:nvSpPr>
          <p:cNvPr id="16" name="Text 14"/>
          <p:cNvSpPr/>
          <p:nvPr/>
        </p:nvSpPr>
        <p:spPr>
          <a:xfrm>
            <a:off x="6391123" y="3914775"/>
            <a:ext cx="5076673"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Every log-profiling request, and its approval.</a:t>
            </a:r>
            <a:endParaRPr lang="en-US" sz="2000" dirty="0"/>
          </a:p>
        </p:txBody>
      </p:sp>
      <p:sp>
        <p:nvSpPr>
          <p:cNvPr id="17" name="Text 15"/>
          <p:cNvSpPr/>
          <p:nvPr/>
        </p:nvSpPr>
        <p:spPr>
          <a:xfrm>
            <a:off x="6391123" y="4524375"/>
            <a:ext cx="5076673" cy="7429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Ask for the list over the last year.</a:t>
            </a:r>
            <a:endParaRPr lang="en-US" sz="2000" dirty="0"/>
          </a:p>
        </p:txBody>
      </p:sp>
      <p:sp>
        <p:nvSpPr>
          <p:cNvPr id="18" name="Text 16"/>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§7.1.5, §14.4.4</a:t>
            </a:r>
            <a:endParaRPr lang="en-US" sz="1300" dirty="0"/>
          </a:p>
        </p:txBody>
      </p:sp>
      <p:sp>
        <p:nvSpPr>
          <p:cNvPr id="19" name="Text 17"/>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36</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6 · OUTSOURCING</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Vendors are inside the policy, not outside it.</a:t>
            </a:r>
            <a:endParaRPr lang="en-US" sz="3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095500"/>
                <a:gridCol w="9029700"/>
              </a:tblGrid>
              <a:tr h="5334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it means if you are the vendor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§2.2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Vendors, contractors and consultants are named in the target audience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§17.1.1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You comply with the department’s IT security policy and Government requirements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§17.1.2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Risks assessed; security measures, service levels and responsibilities written into the agreement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§17.2.2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The department keeps audit and compliance-monitoring rights, or you supply periodic security audit reports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§17.2.3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Government data cleared or destroyed at contract end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§17.3.1–17.3.2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No RESTRICTED+ in public cloud; shared responsibilities documented before signing</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717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§2.2, §17</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37</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6 · PULSE CHECK</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You won the contract. Now what?</a:t>
            </a:r>
            <a:endParaRPr lang="en-US" sz="3000" dirty="0"/>
          </a:p>
        </p:txBody>
      </p:sp>
      <p:sp>
        <p:nvSpPr>
          <p:cNvPr id="4" name="Text 2"/>
          <p:cNvSpPr/>
          <p:nvPr/>
        </p:nvSpPr>
        <p:spPr>
          <a:xfrm>
            <a:off x="533400" y="1847850"/>
            <a:ext cx="11124895" cy="4305300"/>
          </a:xfrm>
          <a:prstGeom prst="rect">
            <a:avLst/>
          </a:prstGeom>
          <a:noFill/>
          <a:ln/>
        </p:spPr>
        <p:txBody>
          <a:bodyPr wrap="square" rtlCol="0" anchor="t"/>
          <a:lstStyle/>
          <a:p>
            <a:pPr indent="0" marL="0">
              <a:lnSpc>
                <a:spcPct val="130000"/>
              </a:lnSpc>
              <a:spcAft>
                <a:spcPts val="1000"/>
              </a:spcAft>
              <a:buNone/>
            </a:pPr>
            <a:r>
              <a:rPr lang="en-US" sz="2400" dirty="0">
                <a:solidFill>
                  <a:srgbClr val="3D3D3D"/>
                </a:solidFill>
                <a:latin typeface="Arial" pitchFamily="34" charset="0"/>
                <a:ea typeface="Arial" pitchFamily="34" charset="-122"/>
                <a:cs typeface="Arial" pitchFamily="34" charset="-120"/>
              </a:rPr>
              <a:t>Your firm wins a two-year contract to run a department’s citizen-enquiry system on your own cloud tenancy.</a:t>
            </a:r>
            <a:endParaRPr lang="en-US" sz="2400" dirty="0"/>
          </a:p>
          <a:p>
            <a:pPr indent="0" marL="0">
              <a:lnSpc>
                <a:spcPct val="130000"/>
              </a:lnSpc>
              <a:spcAft>
                <a:spcPts val="1000"/>
              </a:spcAft>
              <a:buNone/>
            </a:pPr>
            <a:endParaRPr lang="en-US" sz="2400" dirty="0"/>
          </a:p>
          <a:p>
            <a:pPr indent="0" marL="0">
              <a:lnSpc>
                <a:spcPct val="130000"/>
              </a:lnSpc>
              <a:spcAft>
                <a:spcPts val="1000"/>
              </a:spcAft>
              <a:buNone/>
            </a:pPr>
            <a:r>
              <a:rPr lang="en-US" sz="2400" dirty="0">
                <a:solidFill>
                  <a:srgbClr val="3D3D3D"/>
                </a:solidFill>
                <a:latin typeface="Arial" pitchFamily="34" charset="0"/>
                <a:ea typeface="Arial" pitchFamily="34" charset="-122"/>
                <a:cs typeface="Arial" pitchFamily="34" charset="-120"/>
              </a:rPr>
              <a:t>Name three things the department will expect you to show.</a:t>
            </a:r>
            <a:endParaRPr lang="en-US" sz="2400" dirty="0"/>
          </a:p>
          <a:p>
            <a:pPr indent="0" marL="0">
              <a:lnSpc>
                <a:spcPct val="130000"/>
              </a:lnSpc>
              <a:spcAft>
                <a:spcPts val="1000"/>
              </a:spcAft>
              <a:buNone/>
            </a:pPr>
            <a:r>
              <a:rPr lang="en-US" sz="2400" dirty="0">
                <a:solidFill>
                  <a:srgbClr val="3D3D3D"/>
                </a:solidFill>
                <a:latin typeface="Arial" pitchFamily="34" charset="0"/>
                <a:ea typeface="Arial" pitchFamily="34" charset="-122"/>
                <a:cs typeface="Arial" pitchFamily="34" charset="-120"/>
              </a:rPr>
              <a:t>And one question you should ask before you sign.</a:t>
            </a:r>
            <a:endParaRPr lang="en-US" sz="24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38</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UNIQUE 6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they will expect, and the question that decides it.</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8572500"/>
                <a:gridCol w="2552700"/>
              </a:tblGrid>
              <a:tr h="5524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Expect to show</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Compliance with the department’s IT security policy</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§17.1.1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Risk assessment and security measures written into the contract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§17.1.2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Audit rights for the department, or your own periodic audit reports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§17.2.2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 plan to clear or destroy Government data at contract end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§17.2.3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b="1" dirty="0">
                          <a:solidFill>
                            <a:srgbClr val="D04A02"/>
                          </a:solidFill>
                          <a:latin typeface="Arial" pitchFamily="34" charset="0"/>
                          <a:ea typeface="Arial" pitchFamily="34" charset="-122"/>
                          <a:cs typeface="Arial" pitchFamily="34" charset="-120"/>
                        </a:rPr>
                        <a:t>Ask first: what classification is this data?</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§20.1.4 → §17.3.1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90775"/>
            <a:ext cx="11124895" cy="19050"/>
          </a:xfrm>
          <a:prstGeom prst="rect">
            <a:avLst/>
          </a:prstGeom>
          <a:solidFill>
            <a:srgbClr val="1A1A1A"/>
          </a:solidFill>
          <a:ln/>
        </p:spPr>
      </p:sp>
      <p:sp>
        <p:nvSpPr>
          <p:cNvPr id="6" name="Shape 3"/>
          <p:cNvSpPr/>
          <p:nvPr/>
        </p:nvSpPr>
        <p:spPr>
          <a:xfrm>
            <a:off x="533400" y="5334000"/>
            <a:ext cx="11124895" cy="28575"/>
          </a:xfrm>
          <a:prstGeom prst="rect">
            <a:avLst/>
          </a:prstGeom>
          <a:solidFill>
            <a:srgbClr val="D04A02"/>
          </a:solidFill>
          <a:ln/>
        </p:spPr>
      </p:sp>
      <p:sp>
        <p:nvSpPr>
          <p:cNvPr id="7" name="Shape 4"/>
          <p:cNvSpPr/>
          <p:nvPr/>
        </p:nvSpPr>
        <p:spPr>
          <a:xfrm>
            <a:off x="533400" y="5362575"/>
            <a:ext cx="11124895" cy="771525"/>
          </a:xfrm>
          <a:prstGeom prst="rect">
            <a:avLst/>
          </a:prstGeom>
          <a:solidFill>
            <a:srgbClr val="FDF0E6"/>
          </a:solidFill>
          <a:ln w="6350">
            <a:solidFill>
              <a:srgbClr val="FDF0E6"/>
            </a:solidFill>
            <a:prstDash val="solid"/>
          </a:ln>
        </p:spPr>
      </p:sp>
      <p:sp>
        <p:nvSpPr>
          <p:cNvPr id="8" name="Text 5"/>
          <p:cNvSpPr/>
          <p:nvPr/>
        </p:nvSpPr>
        <p:spPr>
          <a:xfrm>
            <a:off x="723900" y="548640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Personal data → RESTRICTED+ → no public cloud. Is your tenancy public cloud?</a:t>
            </a:r>
            <a:endParaRPr lang="en-US" sz="2000" dirty="0"/>
          </a:p>
        </p:txBody>
      </p:sp>
      <p:sp>
        <p:nvSpPr>
          <p:cNvPr id="9"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39</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WHERE THE NUMBERS LIVE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S17 leaves the numbers out. G3 puts them in.</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190750"/>
                <a:gridCol w="4095750"/>
                <a:gridCol w="4838700"/>
              </a:tblGrid>
              <a:tr h="5334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Topic</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S17 says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G3 adds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Log retention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“Commensurate with their usefulness” (§14.4.3)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Email and Internet-access logs: no less than six months (§14.4)</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Patching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“Depending on the risk level” (§14.6.2)</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Internet-facing: fix within a month (should) (§14.6(g))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Passwords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 “strict password policy” (§11.4.3)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At least 8 characters; stronger rules for classified systems (§11.4(b))</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Incident reporting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“Reported immediately” (§18.1.5)</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GIRO by phone within 60 minutes; form within 48 hours (§18.1(b))</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EDR / SOC</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Not named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Tier 3: 24×7 monitoring with SIEM, EDR/NDR (App. C)</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71725"/>
            <a:ext cx="11124895" cy="19050"/>
          </a:xfrm>
          <a:prstGeom prst="rect">
            <a:avLst/>
          </a:prstGeom>
          <a:solidFill>
            <a:srgbClr val="1A1A1A"/>
          </a:solidFill>
          <a:ln/>
        </p:spPr>
      </p:sp>
      <p:sp>
        <p:nvSpPr>
          <p:cNvPr id="6" name="Shape 3"/>
          <p:cNvSpPr/>
          <p:nvPr/>
        </p:nvSpPr>
        <p:spPr>
          <a:xfrm>
            <a:off x="533400" y="5200650"/>
            <a:ext cx="11124895" cy="28575"/>
          </a:xfrm>
          <a:prstGeom prst="rect">
            <a:avLst/>
          </a:prstGeom>
          <a:solidFill>
            <a:srgbClr val="D04A02"/>
          </a:solidFill>
          <a:ln/>
        </p:spPr>
      </p:sp>
      <p:sp>
        <p:nvSpPr>
          <p:cNvPr id="7" name="Shape 4"/>
          <p:cNvSpPr/>
          <p:nvPr/>
        </p:nvSpPr>
        <p:spPr>
          <a:xfrm>
            <a:off x="533400" y="5229225"/>
            <a:ext cx="11124895" cy="638175"/>
          </a:xfrm>
          <a:prstGeom prst="rect">
            <a:avLst/>
          </a:prstGeom>
          <a:solidFill>
            <a:srgbClr val="FDF0E6"/>
          </a:solidFill>
          <a:ln w="6350">
            <a:solidFill>
              <a:srgbClr val="FDF0E6"/>
            </a:solidFill>
            <a:prstDash val="solid"/>
          </a:ln>
        </p:spPr>
      </p:sp>
      <p:sp>
        <p:nvSpPr>
          <p:cNvPr id="8" name="Text 5"/>
          <p:cNvSpPr/>
          <p:nvPr/>
        </p:nvSpPr>
        <p:spPr>
          <a:xfrm>
            <a:off x="723900" y="535305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Cite S17. Test with G3. If both are silent, test the department’s own standard.</a:t>
            </a:r>
            <a:endParaRPr lang="en-US" sz="2000" dirty="0"/>
          </a:p>
        </p:txBody>
      </p:sp>
      <p:sp>
        <p:nvSpPr>
          <p:cNvPr id="9" name="Text 6"/>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§11.4.3, §14.4.3, §14.6.2, §18.1.5 · G3 IT Security Guidelines v10.2 (Apr 2025) §11.4(b), §14.4, §14.6(g), §18.1(b), App. C</a:t>
            </a:r>
            <a:endParaRPr lang="en-US" sz="1300" dirty="0"/>
          </a:p>
        </p:txBody>
      </p:sp>
      <p:sp>
        <p:nvSpPr>
          <p:cNvPr id="10" name="Text 7"/>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40</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WORKED EXAMPLE · PATCHING</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S17 gives no number. G3 gives one, and a softer one.</a:t>
            </a:r>
            <a:endParaRPr lang="en-US" sz="3000" dirty="0"/>
          </a:p>
        </p:txBody>
      </p:sp>
      <p:sp>
        <p:nvSpPr>
          <p:cNvPr id="4" name="Shape 2"/>
          <p:cNvSpPr/>
          <p:nvPr/>
        </p:nvSpPr>
        <p:spPr>
          <a:xfrm>
            <a:off x="533400" y="1847850"/>
            <a:ext cx="11124895" cy="28575"/>
          </a:xfrm>
          <a:prstGeom prst="rect">
            <a:avLst/>
          </a:prstGeom>
          <a:solidFill>
            <a:srgbClr val="D04A02"/>
          </a:solidFill>
          <a:ln/>
        </p:spPr>
      </p:sp>
      <p:sp>
        <p:nvSpPr>
          <p:cNvPr id="5" name="Shape 3"/>
          <p:cNvSpPr/>
          <p:nvPr/>
        </p:nvSpPr>
        <p:spPr>
          <a:xfrm>
            <a:off x="533400" y="1876425"/>
            <a:ext cx="11124895" cy="2219325"/>
          </a:xfrm>
          <a:prstGeom prst="rect">
            <a:avLst/>
          </a:prstGeom>
          <a:solidFill>
            <a:srgbClr val="FDF0E6"/>
          </a:solidFill>
          <a:ln w="6350">
            <a:solidFill>
              <a:srgbClr val="FDF0E6"/>
            </a:solidFill>
            <a:prstDash val="solid"/>
          </a:ln>
        </p:spPr>
      </p:sp>
      <p:sp>
        <p:nvSpPr>
          <p:cNvPr id="6" name="Text 4"/>
          <p:cNvSpPr/>
          <p:nvPr/>
        </p:nvSpPr>
        <p:spPr>
          <a:xfrm>
            <a:off x="723900" y="200025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S17 §14.6.2</a:t>
            </a:r>
            <a:endParaRPr lang="en-US" sz="1600" dirty="0"/>
          </a:p>
        </p:txBody>
      </p:sp>
      <p:sp>
        <p:nvSpPr>
          <p:cNvPr id="7" name="Text 5"/>
          <p:cNvSpPr/>
          <p:nvPr/>
        </p:nvSpPr>
        <p:spPr>
          <a:xfrm>
            <a:off x="723900" y="2276475"/>
            <a:ext cx="10743895" cy="79057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“Depending on the risk level, B/Ds shall determine the appropriate patch management strategy, including patch checking and patching frequency for their information systems.”</a:t>
            </a:r>
            <a:endParaRPr lang="en-US" sz="2000" dirty="0"/>
          </a:p>
        </p:txBody>
      </p:sp>
      <p:sp>
        <p:nvSpPr>
          <p:cNvPr id="8" name="Text 6"/>
          <p:cNvSpPr/>
          <p:nvPr/>
        </p:nvSpPr>
        <p:spPr>
          <a:xfrm>
            <a:off x="723900" y="3143250"/>
            <a:ext cx="10743895" cy="8763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Servers and devices in Internet-facing systems shall be subject to stringent patch management.</a:t>
            </a:r>
            <a:endParaRPr lang="en-US" sz="2000" dirty="0"/>
          </a:p>
        </p:txBody>
      </p:sp>
      <p:sp>
        <p:nvSpPr>
          <p:cNvPr id="9" name="Shape 7"/>
          <p:cNvSpPr/>
          <p:nvPr/>
        </p:nvSpPr>
        <p:spPr>
          <a:xfrm>
            <a:off x="533400" y="4286250"/>
            <a:ext cx="5457673" cy="28575"/>
          </a:xfrm>
          <a:prstGeom prst="rect">
            <a:avLst/>
          </a:prstGeom>
          <a:solidFill>
            <a:srgbClr val="1A1A1A"/>
          </a:solidFill>
          <a:ln/>
        </p:spPr>
      </p:sp>
      <p:sp>
        <p:nvSpPr>
          <p:cNvPr id="10" name="Shape 8"/>
          <p:cNvSpPr/>
          <p:nvPr/>
        </p:nvSpPr>
        <p:spPr>
          <a:xfrm>
            <a:off x="533400" y="4314825"/>
            <a:ext cx="5457673" cy="1647825"/>
          </a:xfrm>
          <a:prstGeom prst="rect">
            <a:avLst/>
          </a:prstGeom>
          <a:solidFill>
            <a:srgbClr val="F2F2F2"/>
          </a:solidFill>
          <a:ln w="6350">
            <a:solidFill>
              <a:srgbClr val="F2F2F2"/>
            </a:solidFill>
            <a:prstDash val="solid"/>
          </a:ln>
        </p:spPr>
      </p:sp>
      <p:sp>
        <p:nvSpPr>
          <p:cNvPr id="11" name="Text 9"/>
          <p:cNvSpPr/>
          <p:nvPr/>
        </p:nvSpPr>
        <p:spPr>
          <a:xfrm>
            <a:off x="723900" y="44386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What G3 adds (§14.6(g))</a:t>
            </a:r>
            <a:endParaRPr lang="en-US" sz="2000" dirty="0"/>
          </a:p>
        </p:txBody>
      </p:sp>
      <p:sp>
        <p:nvSpPr>
          <p:cNvPr id="12" name="Text 10"/>
          <p:cNvSpPr/>
          <p:nvPr/>
        </p:nvSpPr>
        <p:spPr>
          <a:xfrm>
            <a:off x="723900" y="4791075"/>
            <a:ext cx="5076673" cy="109537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Internet-facing: known vulnerabilities fixed within a month — a “should”.</a:t>
            </a:r>
            <a:endParaRPr lang="en-US" sz="2000" dirty="0"/>
          </a:p>
        </p:txBody>
      </p:sp>
      <p:sp>
        <p:nvSpPr>
          <p:cNvPr id="13" name="Shape 11"/>
          <p:cNvSpPr/>
          <p:nvPr/>
        </p:nvSpPr>
        <p:spPr>
          <a:xfrm>
            <a:off x="6200623" y="4286250"/>
            <a:ext cx="5457673" cy="28575"/>
          </a:xfrm>
          <a:prstGeom prst="rect">
            <a:avLst/>
          </a:prstGeom>
          <a:solidFill>
            <a:srgbClr val="1A1A1A"/>
          </a:solidFill>
          <a:ln/>
        </p:spPr>
      </p:sp>
      <p:sp>
        <p:nvSpPr>
          <p:cNvPr id="14" name="Shape 12"/>
          <p:cNvSpPr/>
          <p:nvPr/>
        </p:nvSpPr>
        <p:spPr>
          <a:xfrm>
            <a:off x="6200623" y="4314825"/>
            <a:ext cx="5457673" cy="1647825"/>
          </a:xfrm>
          <a:prstGeom prst="rect">
            <a:avLst/>
          </a:prstGeom>
          <a:solidFill>
            <a:srgbClr val="F2F2F2"/>
          </a:solidFill>
          <a:ln w="6350">
            <a:solidFill>
              <a:srgbClr val="F2F2F2"/>
            </a:solidFill>
            <a:prstDash val="solid"/>
          </a:ln>
        </p:spPr>
      </p:sp>
      <p:sp>
        <p:nvSpPr>
          <p:cNvPr id="15" name="Text 13"/>
          <p:cNvSpPr/>
          <p:nvPr/>
        </p:nvSpPr>
        <p:spPr>
          <a:xfrm>
            <a:off x="6391123" y="44386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What Tier 2 adds (App. C)</a:t>
            </a:r>
            <a:endParaRPr lang="en-US" sz="2000" dirty="0"/>
          </a:p>
        </p:txBody>
      </p:sp>
      <p:sp>
        <p:nvSpPr>
          <p:cNvPr id="16" name="Text 14"/>
          <p:cNvSpPr/>
          <p:nvPr/>
        </p:nvSpPr>
        <p:spPr>
          <a:xfrm>
            <a:off x="6391123" y="4791075"/>
            <a:ext cx="5076673" cy="109537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Typically within a month — a “shall” — or tell the DITSO why.</a:t>
            </a:r>
            <a:endParaRPr lang="en-US" sz="2000" dirty="0"/>
          </a:p>
        </p:txBody>
      </p:sp>
      <p:sp>
        <p:nvSpPr>
          <p:cNvPr id="17" name="Text 15"/>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§14.6.2–§14.6.4 · G3 IT Security Guidelines v10.2 (Apr 2025) §14.6(g)</a:t>
            </a:r>
            <a:endParaRPr lang="en-US" sz="1300" dirty="0"/>
          </a:p>
        </p:txBody>
      </p:sp>
      <p:sp>
        <p:nvSpPr>
          <p:cNvPr id="18" name="Text 1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41</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WORKED EXAMPLE · PATCHING</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Audit it in three steps: exists, fits, followed.</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1741129"/>
                <a:gridCol w="4398641"/>
                <a:gridCol w="4985126"/>
              </a:tblGrid>
              <a:tr h="7620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Step</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Test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Evidence to request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620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 · Exists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Is there a documented, approved patch management strategy?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The strategy document, approval record, version date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620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2 · Fits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Is it risk-based? Does it meet G3’s one-month benchmark for Internet-facing?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Risk levels and timelines by tier; list of Internet-facing systems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6200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3 · Followed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Were patches applied within those timelines?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Patch records and scans for a sample; exceptions with compensating measures; DITSO notices for Tier 2 misses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600325"/>
            <a:ext cx="11124895" cy="19050"/>
          </a:xfrm>
          <a:prstGeom prst="rect">
            <a:avLst/>
          </a:prstGeom>
          <a:solidFill>
            <a:srgbClr val="1A1A1A"/>
          </a:solidFill>
          <a:ln/>
        </p:spPr>
      </p:sp>
      <p:sp>
        <p:nvSpPr>
          <p:cNvPr id="6" name="Shape 3"/>
          <p:cNvSpPr/>
          <p:nvPr/>
        </p:nvSpPr>
        <p:spPr>
          <a:xfrm>
            <a:off x="533400" y="5067300"/>
            <a:ext cx="11124895" cy="28575"/>
          </a:xfrm>
          <a:prstGeom prst="rect">
            <a:avLst/>
          </a:prstGeom>
          <a:solidFill>
            <a:srgbClr val="D04A02"/>
          </a:solidFill>
          <a:ln/>
        </p:spPr>
      </p:sp>
      <p:sp>
        <p:nvSpPr>
          <p:cNvPr id="7" name="Shape 4"/>
          <p:cNvSpPr/>
          <p:nvPr/>
        </p:nvSpPr>
        <p:spPr>
          <a:xfrm>
            <a:off x="533400" y="5095875"/>
            <a:ext cx="11124895" cy="638175"/>
          </a:xfrm>
          <a:prstGeom prst="rect">
            <a:avLst/>
          </a:prstGeom>
          <a:solidFill>
            <a:srgbClr val="FDF0E6"/>
          </a:solidFill>
          <a:ln w="6350">
            <a:solidFill>
              <a:srgbClr val="FDF0E6"/>
            </a:solidFill>
            <a:prstDash val="solid"/>
          </a:ln>
        </p:spPr>
      </p:sp>
      <p:sp>
        <p:nvSpPr>
          <p:cNvPr id="8" name="Text 5"/>
          <p:cNvSpPr/>
          <p:nvPr/>
        </p:nvSpPr>
        <p:spPr>
          <a:xfrm>
            <a:off x="723900" y="521970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Steps 1–2 test design. Step 3 tests operating effectiveness — Week 1, again.</a:t>
            </a:r>
            <a:endParaRPr lang="en-US" sz="2000" dirty="0"/>
          </a:p>
        </p:txBody>
      </p:sp>
      <p:sp>
        <p:nvSpPr>
          <p:cNvPr id="9" name="Text 6"/>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§14.6.2–§14.6.4 · design vs. operating effectiveness, Week 1</a:t>
            </a:r>
            <a:endParaRPr lang="en-US" sz="1300" dirty="0"/>
          </a:p>
        </p:txBody>
      </p:sp>
      <p:sp>
        <p:nvSpPr>
          <p:cNvPr id="10" name="Text 7"/>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42</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2 · WRAP-UP</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to take away.</a:t>
            </a:r>
            <a:endParaRPr lang="en-US" sz="3000" dirty="0"/>
          </a:p>
        </p:txBody>
      </p:sp>
      <p:sp>
        <p:nvSpPr>
          <p:cNvPr id="4" name="Text 2"/>
          <p:cNvSpPr/>
          <p:nvPr/>
        </p:nvSpPr>
        <p:spPr>
          <a:xfrm>
            <a:off x="533400" y="1847850"/>
            <a:ext cx="11124895" cy="4191000"/>
          </a:xfrm>
          <a:prstGeom prst="rect">
            <a:avLst/>
          </a:prstGeom>
          <a:noFill/>
          <a:ln/>
        </p:spPr>
        <p:txBody>
          <a:bodyPr wrap="square" rtlCol="0" anchor="t"/>
          <a:lstStyle/>
          <a:p>
            <a:pPr marL="342900" indent="-342900">
              <a:lnSpc>
                <a:spcPct val="12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Read S17 for the requirement, then G3 at the same section number for the evidence.</a:t>
            </a:r>
            <a:endParaRPr lang="en-US" sz="2000" dirty="0"/>
          </a:p>
          <a:p>
            <a:pPr marL="342900" indent="-342900">
              <a:lnSpc>
                <a:spcPct val="12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Check the verb — shall is a finding, should needs a reason.</a:t>
            </a:r>
            <a:endParaRPr lang="en-US" sz="2000" dirty="0"/>
          </a:p>
          <a:p>
            <a:pPr marL="342900" indent="-342900">
              <a:lnSpc>
                <a:spcPct val="12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Ask what classification the data carries. It decides the controls.</a:t>
            </a:r>
            <a:endParaRPr lang="en-US" sz="2000" dirty="0"/>
          </a:p>
          <a:p>
            <a:pPr marL="342900" indent="-342900">
              <a:lnSpc>
                <a:spcPct val="12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Ask for the tier and who signed it. Tier 2 and 3 bring G3 Appendix C.</a:t>
            </a:r>
            <a:endParaRPr lang="en-US" sz="2000" dirty="0"/>
          </a:p>
          <a:p>
            <a:pPr marL="342900" indent="-342900">
              <a:lnSpc>
                <a:spcPct val="12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Watch the events, not just the clock: go-live and major change trigger an SRA.</a:t>
            </a:r>
            <a:endParaRPr lang="en-US" sz="2000" dirty="0"/>
          </a:p>
          <a:p>
            <a:pPr marL="342900" indent="-342900">
              <a:lnSpc>
                <a:spcPct val="12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Cite S17, test with G3 — that is where the numbers live.</a:t>
            </a:r>
            <a:endParaRPr lang="en-US" sz="2000" dirty="0"/>
          </a:p>
        </p:txBody>
      </p:sp>
      <p:sp>
        <p:nvSpPr>
          <p:cNvPr id="5"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 G3 IT Security Guidelines v10.2 (Apr 2025)</a:t>
            </a:r>
            <a:endParaRPr lang="en-US" sz="13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43</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BREAK  ·  10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Break.</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Module 3 after the break: G3, where the numbers live.</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44</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MODULE 3  ·  40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G3: Where the</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Numbers Live.</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Module 2 was S17, the what. Module 3 is G3, the how.</a:t>
            </a:r>
            <a:endParaRPr lang="en-US" sz="2000" dirty="0"/>
          </a:p>
          <a:p>
            <a:pPr indent="0" marL="0">
              <a:lnSpc>
                <a:spcPct val="135000"/>
              </a:lnSpc>
              <a:buNone/>
            </a:pP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1. G3 at a glance</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2. Same clause, two documents</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3. Appendix B: how a tier is decided</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4. Appendix C: what Tier 2 and 3 add</a:t>
            </a:r>
            <a:endParaRPr lang="en-US" sz="2000" dirty="0"/>
          </a:p>
          <a:p>
            <a:pPr indent="0" marL="0">
              <a:lnSpc>
                <a:spcPct val="135000"/>
              </a:lnSpc>
              <a:buNone/>
            </a:pPr>
            <a:r>
              <a:rPr lang="en-US" sz="2000" dirty="0">
                <a:solidFill>
                  <a:srgbClr val="7A7A7A"/>
                </a:solidFill>
                <a:latin typeface="Arial" pitchFamily="34" charset="0"/>
                <a:ea typeface="Arial" pitchFamily="34" charset="-122"/>
                <a:cs typeface="Arial" pitchFamily="34" charset="-120"/>
              </a:rPr>
              <a:t>5. Appendix D: how DPO checks</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45</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G3 AT A GLANCE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G3 is not optional reading.</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381250"/>
                <a:gridCol w="3810000"/>
                <a:gridCol w="4933950"/>
              </a:tblGrid>
              <a:tr h="533400">
                <a:tc>
                  <a:txBody>
                    <a:bodyPr/>
                    <a:lstStyle/>
                    <a:p>
                      <a:pPr algn="l" indent="0" marL="0">
                        <a:buNone/>
                      </a:pP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S17</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G3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Job</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The minimum requirements — the what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Implementation detail — the how</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Length</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About 40 pages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About 120 pages, plus Appendices A–D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Structure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21 sections; control areas §7–§20</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The same 21 sections and headings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Numbers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Almost none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Many: months, hours, characters, cycles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Mandatory?</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Yes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Yes — “B/Ds shall adopt all the mandatory security requirements set out in this document” (§2.3)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Tier 2 / 3 extras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None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Appendix C</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717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G3 IT Security Guidelines v10.2 (Apr 2025) §2.3, §4 · S17 v8.2</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46</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SAME CLAUSE, TWO DOCUMENTS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Same clause, two documents: people and data.</a:t>
            </a:r>
            <a:endParaRPr lang="en-US" sz="3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1905000"/>
                <a:gridCol w="3143250"/>
                <a:gridCol w="6076950"/>
              </a:tblGrid>
              <a:tr h="9525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Topic</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S17 says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G3 says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9525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Access review</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“Periodically review” privileges (§11.2.4)</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Regularly reviewed — “e.g. at least once annually, preferably twice per year”; high-privilege accounts checked by an independent party (should) (§11.2(a))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9525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Passwords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 “strict password policy” (§11.4.3)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Minimum 8 characters (shall). Systems with classified data: 8 with all 4 character types, or 10 from 3; 8 remembered; lockout after 5 or fewer; change every 6 months (§11.4(b))</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9525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Logs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“Commensurate with their usefulness” (§14.4.3)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Email and Internet-access logs kept no less than 6 months; clocks synced at least monthly (§14.4)</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7908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v8.2 §11.2.4, §11.4.3, §14.4.3 · G3 IT Security Guidelines v10.2 (Apr 2025) §11.2(a), §11.4(b), §14.4</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47</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SAME CLAUSE, TWO DOCUMENTS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Same clause, two documents: operations and incidents.</a:t>
            </a:r>
            <a:endParaRPr lang="en-US" sz="3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095500"/>
                <a:gridCol w="2952750"/>
                <a:gridCol w="6076950"/>
              </a:tblGrid>
              <a:tr h="8382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Topic</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S17 says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G3 says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8382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Patching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“Depending on the risk level” (§14.6.2)</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Internet-facing: known vulnerabilities fixed within a month (should); end-of-support migration plan 6 months ahead (should) (§14.6(g))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8382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Internet-facing testing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Nothing specific</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Vulnerability scan at least annually, before go-live and before major change; penetration test in every SRA (shall) (§20.2(c))</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83820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Incident reporting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“Reported immediately” (§18.1.5)</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Phone GIRO within 60 minutes; preliminary form within 48 hours; report within a week of resolution (§18.1(b))</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8382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Incident drills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Test the response plan (§18.1.3)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Drills at least every two years, preferably annually (§18.1)</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6765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v8.2 §14.6.2, §18.1 · G3 IT Security Guidelines v10.2 (Apr 2025) §14.6(g), §18.1(b)–(c), §20.2(c)</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48</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PULSE CHECK</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Finding, or not?</a:t>
            </a:r>
            <a:endParaRPr lang="en-US" sz="3000" dirty="0"/>
          </a:p>
        </p:txBody>
      </p:sp>
      <p:sp>
        <p:nvSpPr>
          <p:cNvPr id="4" name="Text 2"/>
          <p:cNvSpPr/>
          <p:nvPr/>
        </p:nvSpPr>
        <p:spPr>
          <a:xfrm>
            <a:off x="533400" y="1847850"/>
            <a:ext cx="11124895" cy="4305300"/>
          </a:xfrm>
          <a:prstGeom prst="rect">
            <a:avLst/>
          </a:prstGeom>
          <a:noFill/>
          <a:ln/>
        </p:spPr>
        <p:txBody>
          <a:bodyPr wrap="square" rtlCol="0" anchor="t"/>
          <a:lstStyle/>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A department reviews privileged access every 18 months.</a:t>
            </a: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G3 says access rights are “regularly reviewed (e.g. at least once annually, preferably twice per year)”.</a:t>
            </a:r>
            <a:endParaRPr lang="en-US" sz="2600" dirty="0"/>
          </a:p>
          <a:p>
            <a:pPr indent="0" marL="0">
              <a:lnSpc>
                <a:spcPct val="130000"/>
              </a:lnSpc>
              <a:spcAft>
                <a:spcPts val="1000"/>
              </a:spcAft>
              <a:buNone/>
            </a:pP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Finding · Observation · It depends</a:t>
            </a:r>
            <a:endParaRPr lang="en-US" sz="26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49</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It depends on the tier.</a:t>
            </a:r>
            <a:endParaRPr lang="en-US" sz="3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381250"/>
                <a:gridCol w="5048250"/>
                <a:gridCol w="3695700"/>
              </a:tblGrid>
              <a:tr h="7620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If the system is…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The rule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So…</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620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Tier 1</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“Regularly reviewed” (shall); “annually” is only an example (e.g.)</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Observation: ask why 18 months is regular enough for this risk</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76200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Tier 2 or 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Independent privileged-account check every 6 months (shall, App. C)</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B3261E"/>
                          </a:solidFill>
                          <a:latin typeface="Arial" pitchFamily="34" charset="0"/>
                          <a:ea typeface="Arial" pitchFamily="34" charset="-122"/>
                          <a:cs typeface="Arial" pitchFamily="34" charset="-120"/>
                        </a:rPr>
                        <a:t>Finding</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600325"/>
            <a:ext cx="11124895" cy="19050"/>
          </a:xfrm>
          <a:prstGeom prst="rect">
            <a:avLst/>
          </a:prstGeom>
          <a:solidFill>
            <a:srgbClr val="1A1A1A"/>
          </a:solidFill>
          <a:ln/>
        </p:spPr>
      </p:sp>
      <p:sp>
        <p:nvSpPr>
          <p:cNvPr id="6" name="Shape 3"/>
          <p:cNvSpPr/>
          <p:nvPr/>
        </p:nvSpPr>
        <p:spPr>
          <a:xfrm>
            <a:off x="533400" y="4305300"/>
            <a:ext cx="11124895" cy="28575"/>
          </a:xfrm>
          <a:prstGeom prst="rect">
            <a:avLst/>
          </a:prstGeom>
          <a:solidFill>
            <a:srgbClr val="D04A02"/>
          </a:solidFill>
          <a:ln/>
        </p:spPr>
      </p:sp>
      <p:sp>
        <p:nvSpPr>
          <p:cNvPr id="7" name="Shape 4"/>
          <p:cNvSpPr/>
          <p:nvPr/>
        </p:nvSpPr>
        <p:spPr>
          <a:xfrm>
            <a:off x="533400" y="4333875"/>
            <a:ext cx="11124895" cy="771525"/>
          </a:xfrm>
          <a:prstGeom prst="rect">
            <a:avLst/>
          </a:prstGeom>
          <a:solidFill>
            <a:srgbClr val="FDF0E6"/>
          </a:solidFill>
          <a:ln w="6350">
            <a:solidFill>
              <a:srgbClr val="FDF0E6"/>
            </a:solidFill>
            <a:prstDash val="solid"/>
          </a:ln>
        </p:spPr>
      </p:sp>
      <p:sp>
        <p:nvSpPr>
          <p:cNvPr id="8" name="Text 5"/>
          <p:cNvSpPr/>
          <p:nvPr/>
        </p:nvSpPr>
        <p:spPr>
          <a:xfrm>
            <a:off x="723900" y="445770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Read the “e.g.” carefully, and ask for the tier before you judge any number.</a:t>
            </a:r>
            <a:endParaRPr lang="en-US" sz="2000" dirty="0"/>
          </a:p>
        </p:txBody>
      </p:sp>
      <p:sp>
        <p:nvSpPr>
          <p:cNvPr id="9"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50</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HOW A TIER IS DECIDED</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Appendix B: one “High” makes it Tier 2.</a:t>
            </a:r>
            <a:endParaRPr lang="en-US" sz="3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381250"/>
                <a:gridCol w="7048500"/>
                <a:gridCol w="1695450"/>
              </a:tblGrid>
              <a:tr h="4953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Aspect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Examples G3 asks you to consider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Rate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Defence / security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Lives or property; law and order; statutory duties; loss of data or personal information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H / M / 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Financial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Direct loss; lost or delayed revenue; clean-up cost; compensation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H / M / 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Government image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Reputation; public confidence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H / M / 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Services to users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How many users; the public or internal; senior officers’ decision-making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H / M / 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33625"/>
            <a:ext cx="11124895" cy="19050"/>
          </a:xfrm>
          <a:prstGeom prst="rect">
            <a:avLst/>
          </a:prstGeom>
          <a:solidFill>
            <a:srgbClr val="1A1A1A"/>
          </a:solidFill>
          <a:ln/>
        </p:spPr>
      </p:sp>
      <p:sp>
        <p:nvSpPr>
          <p:cNvPr id="6" name="Shape 3"/>
          <p:cNvSpPr/>
          <p:nvPr/>
        </p:nvSpPr>
        <p:spPr>
          <a:xfrm>
            <a:off x="533400" y="4476750"/>
            <a:ext cx="11124895" cy="28575"/>
          </a:xfrm>
          <a:prstGeom prst="rect">
            <a:avLst/>
          </a:prstGeom>
          <a:solidFill>
            <a:srgbClr val="D04A02"/>
          </a:solidFill>
          <a:ln/>
        </p:spPr>
      </p:sp>
      <p:sp>
        <p:nvSpPr>
          <p:cNvPr id="7" name="Shape 4"/>
          <p:cNvSpPr/>
          <p:nvPr/>
        </p:nvSpPr>
        <p:spPr>
          <a:xfrm>
            <a:off x="533400" y="4505325"/>
            <a:ext cx="11124895" cy="1095375"/>
          </a:xfrm>
          <a:prstGeom prst="rect">
            <a:avLst/>
          </a:prstGeom>
          <a:solidFill>
            <a:srgbClr val="FDF0E6"/>
          </a:solidFill>
          <a:ln w="6350">
            <a:solidFill>
              <a:srgbClr val="FDF0E6"/>
            </a:solidFill>
            <a:prstDash val="solid"/>
          </a:ln>
        </p:spPr>
      </p:sp>
      <p:sp>
        <p:nvSpPr>
          <p:cNvPr id="8" name="Text 5"/>
          <p:cNvSpPr/>
          <p:nvPr/>
        </p:nvSpPr>
        <p:spPr>
          <a:xfrm>
            <a:off x="723900" y="4629150"/>
            <a:ext cx="10743895"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THE RULE</a:t>
            </a:r>
            <a:endParaRPr lang="en-US" sz="1600" dirty="0"/>
          </a:p>
        </p:txBody>
      </p:sp>
      <p:sp>
        <p:nvSpPr>
          <p:cNvPr id="9" name="Text 6"/>
          <p:cNvSpPr/>
          <p:nvPr/>
        </p:nvSpPr>
        <p:spPr>
          <a:xfrm>
            <a:off x="723900" y="4905375"/>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Any aspect rated High → overall High → Tier 2. Tier 3 = a Tier 2 system directly providing an essential service.</a:t>
            </a:r>
            <a:endParaRPr lang="en-US" sz="2000" dirty="0"/>
          </a:p>
        </p:txBody>
      </p:sp>
      <p:sp>
        <p:nvSpPr>
          <p:cNvPr id="10" name="Text 7"/>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G3 IT Security Guidelines v10.2 (Apr 2025) Appendix B — essential-service sectors include aviation, banking, energy, healthcare, land transport, water, emergency services</a:t>
            </a:r>
            <a:endParaRPr lang="en-US" sz="1300" dirty="0"/>
          </a:p>
        </p:txBody>
      </p:sp>
      <p:sp>
        <p:nvSpPr>
          <p:cNvPr id="11" name="Text 8"/>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51</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PULSE CHECK</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Back to the licence portal.</a:t>
            </a:r>
            <a:endParaRPr lang="en-US" sz="3000" dirty="0"/>
          </a:p>
        </p:txBody>
      </p:sp>
      <p:sp>
        <p:nvSpPr>
          <p:cNvPr id="4" name="Text 2"/>
          <p:cNvSpPr/>
          <p:nvPr/>
        </p:nvSpPr>
        <p:spPr>
          <a:xfrm>
            <a:off x="533400" y="1847850"/>
            <a:ext cx="11124895" cy="4305300"/>
          </a:xfrm>
          <a:prstGeom prst="rect">
            <a:avLst/>
          </a:prstGeom>
          <a:noFill/>
          <a:ln/>
        </p:spPr>
        <p:txBody>
          <a:bodyPr wrap="square" rtlCol="0" anchor="t"/>
          <a:lstStyle/>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Defence / security: Medium</a:t>
            </a: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Financial: Medium</a:t>
            </a: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Government image: High</a:t>
            </a: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Services to users: Medium</a:t>
            </a:r>
            <a:endParaRPr lang="en-US" sz="2600" dirty="0"/>
          </a:p>
          <a:p>
            <a:pPr indent="0" marL="0">
              <a:lnSpc>
                <a:spcPct val="130000"/>
              </a:lnSpc>
              <a:spcAft>
                <a:spcPts val="1000"/>
              </a:spcAft>
              <a:buNone/>
            </a:pP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Tier 1, 2 or 3?</a:t>
            </a:r>
            <a:endParaRPr lang="en-US" sz="26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52</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Tier 2. One High is enough.</a:t>
            </a:r>
            <a:endParaRPr lang="en-US" sz="30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143250"/>
                <a:gridCol w="5810250"/>
                <a:gridCol w="2171700"/>
              </a:tblGrid>
              <a:tr h="5524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Step</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Result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Source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Any aspect High?</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Yes — Government image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App. B</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Overall impact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High → Tier 2</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App. B</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Essential service?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Licensing is not in the essential-service sectors → not Tier 3</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App. B</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What the auditor then asks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Who endorsed it? Was it sent to DPO? Are the Tier 2 controls in place?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§7.2(b) · App. C · App. 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90775"/>
            <a:ext cx="11124895" cy="19050"/>
          </a:xfrm>
          <a:prstGeom prst="rect">
            <a:avLst/>
          </a:prstGeom>
          <a:solidFill>
            <a:srgbClr val="1A1A1A"/>
          </a:solidFill>
          <a:ln/>
        </p:spPr>
      </p:sp>
      <p:sp>
        <p:nvSpPr>
          <p:cNvPr id="6" name="Shape 3"/>
          <p:cNvSpPr/>
          <p:nvPr/>
        </p:nvSpPr>
        <p:spPr>
          <a:xfrm>
            <a:off x="533400" y="4781550"/>
            <a:ext cx="11124895" cy="28575"/>
          </a:xfrm>
          <a:prstGeom prst="rect">
            <a:avLst/>
          </a:prstGeom>
          <a:solidFill>
            <a:srgbClr val="D04A02"/>
          </a:solidFill>
          <a:ln/>
        </p:spPr>
      </p:sp>
      <p:sp>
        <p:nvSpPr>
          <p:cNvPr id="7" name="Shape 4"/>
          <p:cNvSpPr/>
          <p:nvPr/>
        </p:nvSpPr>
        <p:spPr>
          <a:xfrm>
            <a:off x="533400" y="4810125"/>
            <a:ext cx="11124895" cy="771525"/>
          </a:xfrm>
          <a:prstGeom prst="rect">
            <a:avLst/>
          </a:prstGeom>
          <a:solidFill>
            <a:srgbClr val="FDF0E6"/>
          </a:solidFill>
          <a:ln w="6350">
            <a:solidFill>
              <a:srgbClr val="FDF0E6"/>
            </a:solidFill>
            <a:prstDash val="solid"/>
          </a:ln>
        </p:spPr>
      </p:sp>
      <p:sp>
        <p:nvSpPr>
          <p:cNvPr id="8" name="Text 5"/>
          <p:cNvSpPr/>
          <p:nvPr/>
        </p:nvSpPr>
        <p:spPr>
          <a:xfrm>
            <a:off x="723900" y="4933950"/>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In Module 2 we said “Tier 2 arguable”. Appendix B settles the argument.</a:t>
            </a:r>
            <a:endParaRPr lang="en-US" sz="2000" dirty="0"/>
          </a:p>
        </p:txBody>
      </p:sp>
      <p:sp>
        <p:nvSpPr>
          <p:cNvPr id="9"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53</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WHAT TIER 2 ADDS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Appendix C, Tier 2: access and operations.</a:t>
            </a:r>
            <a:endParaRPr lang="en-US" sz="30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857500"/>
                <a:gridCol w="8267700"/>
              </a:tblGrid>
              <a:tr h="5715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Area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Tier 2 requirement (all “shall”)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715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Privileged accounts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Independent check of usage at least every six months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715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No technical control?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Administrative procedures — e.g. a sealed-envelope password, or a split password needing two staff</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715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Authentication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Strong password policy — also on any system that could compromise it; MFA for interactive privileged logon, where technically feasible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715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Backups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Local and off-site, stored at a secure, remote location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715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Capacity and end-of-support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Documented capacity plan; migration plan at least six months before end of support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7150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Vulnerabilities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Fixed typically within a month of the patch; if not, tell the DITSO the rationale and risks, then update monthly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098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G3 IT Security Guidelines v10.2 (Apr 2025) Appendix C — Access Control (a)–(d), Operations Security (a)–(d)</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54</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WHAT TIER 2 ADDS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Appendix C, Tier 2: build, continuity and testing.</a:t>
            </a:r>
            <a:endParaRPr lang="en-US" sz="30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857500"/>
                <a:gridCol w="8267700"/>
              </a:tblGrid>
              <a:tr h="6096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Area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Tier 2 requirement (all “shall”)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Build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“Shift-left”: secure coding and security review at design; the pre-production SRA verifies the follow-up</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Hardening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Hardened before go-live, and that hardened build is the baseline for later changes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Continuity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IT contingency plan; disaster recovery documented, regularly tested, tied to the business continuity plan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Vulnerability scanning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At least once a year, before go-live, and before major changes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0960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Penetration testing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In every SRA; Internet-facing Tier 2 at least once a year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479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G3 IT Security Guidelines v10.2 (Apr 2025) Appendix C — System Acquisition (a)–(b), Business Continuity (a), Compliance (a)–(b)</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55</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WHAT TIER 3 ADDS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Appendix C, Tier 3: where the EDR and SOC landed.</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286000"/>
                <a:gridCol w="8839200"/>
              </a:tblGrid>
              <a:tr h="5905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Area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Tier 3 requirement (on top of Tier 2, all “shall”)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Governance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Steering committee with senior management and the DITSO, meeting regularly, minutes documented; at least one security-unit member certified (e.g. CISA, CISSP, CISP)</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Risk</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A risk register for each Tier 3 system: risks, likelihood, severity, mitigation, monitoring</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People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A structured training programme, covering vendors too — or a contract clause making them train their staff</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Monitoring</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24×7 security surveillance; SIEM correlating firewall, IDS/IPS, EDR/NDR data</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Resilience</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Enough to prevent disruption of the essential service; failover tested regularly</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Assessment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SRA at least annually, with scanning, pen testing, configuration and source code review; pen test by an independent, accredited provider; reports endorsed by the DITSO</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288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G3 IT Security Guidelines v10.2 (Apr 2025) Appendix C — Sections 5, 7, 9, 14(e), 19(b), 20(c)</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56</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PULSE CHECK</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Five weeks late.</a:t>
            </a:r>
            <a:endParaRPr lang="en-US" sz="3000" dirty="0"/>
          </a:p>
        </p:txBody>
      </p:sp>
      <p:sp>
        <p:nvSpPr>
          <p:cNvPr id="4" name="Text 2"/>
          <p:cNvSpPr/>
          <p:nvPr/>
        </p:nvSpPr>
        <p:spPr>
          <a:xfrm>
            <a:off x="533400" y="1847850"/>
            <a:ext cx="11124895" cy="4305300"/>
          </a:xfrm>
          <a:prstGeom prst="rect">
            <a:avLst/>
          </a:prstGeom>
          <a:noFill/>
          <a:ln/>
        </p:spPr>
        <p:txBody>
          <a:bodyPr wrap="square" rtlCol="0" anchor="t"/>
          <a:lstStyle/>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A Tier 2, Internet-facing system.</a:t>
            </a: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A critical security patch was released five weeks ago. It still isn’t applied.</a:t>
            </a:r>
            <a:endParaRPr lang="en-US" sz="2600" dirty="0"/>
          </a:p>
          <a:p>
            <a:pPr indent="0" marL="0">
              <a:lnSpc>
                <a:spcPct val="130000"/>
              </a:lnSpc>
              <a:spcAft>
                <a:spcPts val="1000"/>
              </a:spcAft>
              <a:buNone/>
            </a:pP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Finding? What would you ask for first?</a:t>
            </a:r>
            <a:endParaRPr lang="en-US" sz="26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57</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Not automatically. Look for the DITSO trail.</a:t>
            </a:r>
            <a:endParaRPr lang="en-US" sz="3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5334000"/>
                <a:gridCol w="3238500"/>
                <a:gridCol w="2552700"/>
              </a:tblGrid>
              <a:tr h="5524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Ask for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If it exists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If it does not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The risk assessment of this vulnerability and the mitigation schedule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Shows a considered decision</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B3261E"/>
                          </a:solidFill>
                          <a:latin typeface="Arial" pitchFamily="34" charset="0"/>
                          <a:ea typeface="Arial" pitchFamily="34" charset="-122"/>
                          <a:cs typeface="Arial" pitchFamily="34" charset="-120"/>
                        </a:rPr>
                        <a:t>Finding</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The notice to the DITSO: rationale, risks, approach, schedule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Required once past one month</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B3261E"/>
                          </a:solidFill>
                          <a:latin typeface="Arial" pitchFamily="34" charset="0"/>
                          <a:ea typeface="Arial" pitchFamily="34" charset="-122"/>
                          <a:cs typeface="Arial" pitchFamily="34" charset="-120"/>
                        </a:rPr>
                        <a:t>Finding</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Monthly updates to the DITSO until fixed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Visibility maintained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B3261E"/>
                          </a:solidFill>
                          <a:latin typeface="Arial" pitchFamily="34" charset="0"/>
                          <a:ea typeface="Arial" pitchFamily="34" charset="-122"/>
                          <a:cs typeface="Arial" pitchFamily="34" charset="-120"/>
                        </a:rPr>
                        <a:t>Finding</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90775"/>
            <a:ext cx="11124895" cy="19050"/>
          </a:xfrm>
          <a:prstGeom prst="rect">
            <a:avLst/>
          </a:prstGeom>
          <a:solidFill>
            <a:srgbClr val="1A1A1A"/>
          </a:solidFill>
          <a:ln/>
        </p:spPr>
      </p:sp>
      <p:sp>
        <p:nvSpPr>
          <p:cNvPr id="6" name="Shape 3"/>
          <p:cNvSpPr/>
          <p:nvPr/>
        </p:nvSpPr>
        <p:spPr>
          <a:xfrm>
            <a:off x="533400" y="4229100"/>
            <a:ext cx="11124895" cy="28575"/>
          </a:xfrm>
          <a:prstGeom prst="rect">
            <a:avLst/>
          </a:prstGeom>
          <a:solidFill>
            <a:srgbClr val="D04A02"/>
          </a:solidFill>
          <a:ln/>
        </p:spPr>
      </p:sp>
      <p:sp>
        <p:nvSpPr>
          <p:cNvPr id="7" name="Shape 4"/>
          <p:cNvSpPr/>
          <p:nvPr/>
        </p:nvSpPr>
        <p:spPr>
          <a:xfrm>
            <a:off x="533400" y="4257675"/>
            <a:ext cx="11124895" cy="771525"/>
          </a:xfrm>
          <a:prstGeom prst="rect">
            <a:avLst/>
          </a:prstGeom>
          <a:solidFill>
            <a:srgbClr val="FDF0E6"/>
          </a:solidFill>
          <a:ln w="6350">
            <a:solidFill>
              <a:srgbClr val="FDF0E6"/>
            </a:solidFill>
            <a:prstDash val="solid"/>
          </a:ln>
        </p:spPr>
      </p:sp>
      <p:sp>
        <p:nvSpPr>
          <p:cNvPr id="8" name="Text 5"/>
          <p:cNvSpPr/>
          <p:nvPr/>
        </p:nvSpPr>
        <p:spPr>
          <a:xfrm>
            <a:off x="723900" y="438150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“Typically within a month” is not a hard deadline, but missing it without the trail is a finding.</a:t>
            </a:r>
            <a:endParaRPr lang="en-US" sz="2000" dirty="0"/>
          </a:p>
        </p:txBody>
      </p:sp>
      <p:sp>
        <p:nvSpPr>
          <p:cNvPr id="9"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58</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PULSE CHECK</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right certificate?</a:t>
            </a:r>
            <a:endParaRPr lang="en-US" sz="3000" dirty="0"/>
          </a:p>
        </p:txBody>
      </p:sp>
      <p:sp>
        <p:nvSpPr>
          <p:cNvPr id="4" name="Text 2"/>
          <p:cNvSpPr/>
          <p:nvPr/>
        </p:nvSpPr>
        <p:spPr>
          <a:xfrm>
            <a:off x="533400" y="1847850"/>
            <a:ext cx="11124895" cy="4305300"/>
          </a:xfrm>
          <a:prstGeom prst="rect">
            <a:avLst/>
          </a:prstGeom>
          <a:noFill/>
          <a:ln/>
        </p:spPr>
        <p:txBody>
          <a:bodyPr wrap="square" rtlCol="0" anchor="t"/>
          <a:lstStyle/>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A Tier 3 system.</a:t>
            </a: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The department’s own security team runs the annual penetration test.</a:t>
            </a: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The test lead holds an OSCP.</a:t>
            </a:r>
            <a:endParaRPr lang="en-US" sz="2600" dirty="0"/>
          </a:p>
          <a:p>
            <a:pPr indent="0" marL="0">
              <a:lnSpc>
                <a:spcPct val="130000"/>
              </a:lnSpc>
              <a:spcAft>
                <a:spcPts val="1000"/>
              </a:spcAft>
              <a:buNone/>
            </a:pP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Compliant?</a:t>
            </a:r>
            <a:endParaRPr lang="en-US" sz="26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59</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No. Right certificate, wrong independence.</a:t>
            </a:r>
            <a:endParaRPr lang="en-US" sz="3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8267700"/>
                <a:gridCol w="2857500"/>
              </a:tblGrid>
              <a:tr h="5524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Requirement for a Tier 3 penetration test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Met?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Included in an SRA conducted at least annually</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Yes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Tester holds an accreditation such as CISP-PTE, CREST CCT APP, GPEN or OSCP</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Yes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Conducted by an independent service provider</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B3261E"/>
                          </a:solidFill>
                          <a:latin typeface="Arial" pitchFamily="34" charset="0"/>
                          <a:ea typeface="Arial" pitchFamily="34" charset="-122"/>
                          <a:cs typeface="Arial" pitchFamily="34" charset="-120"/>
                        </a:rPr>
                        <a:t>No — in-house team</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5245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Reports, risk register and rectification plan endorsed by the DITSO, and sent to DPO within 30 days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Ask for them</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90775"/>
            <a:ext cx="11124895" cy="19050"/>
          </a:xfrm>
          <a:prstGeom prst="rect">
            <a:avLst/>
          </a:prstGeom>
          <a:solidFill>
            <a:srgbClr val="1A1A1A"/>
          </a:solidFill>
          <a:ln/>
        </p:spPr>
      </p:sp>
      <p:sp>
        <p:nvSpPr>
          <p:cNvPr id="6" name="Shape 3"/>
          <p:cNvSpPr/>
          <p:nvPr/>
        </p:nvSpPr>
        <p:spPr>
          <a:xfrm>
            <a:off x="533400" y="4781550"/>
            <a:ext cx="11124895" cy="28575"/>
          </a:xfrm>
          <a:prstGeom prst="rect">
            <a:avLst/>
          </a:prstGeom>
          <a:solidFill>
            <a:srgbClr val="D04A02"/>
          </a:solidFill>
          <a:ln/>
        </p:spPr>
      </p:sp>
      <p:sp>
        <p:nvSpPr>
          <p:cNvPr id="7" name="Shape 4"/>
          <p:cNvSpPr/>
          <p:nvPr/>
        </p:nvSpPr>
        <p:spPr>
          <a:xfrm>
            <a:off x="533400" y="4810125"/>
            <a:ext cx="11124895" cy="771525"/>
          </a:xfrm>
          <a:prstGeom prst="rect">
            <a:avLst/>
          </a:prstGeom>
          <a:solidFill>
            <a:srgbClr val="FDF0E6"/>
          </a:solidFill>
          <a:ln w="6350">
            <a:solidFill>
              <a:srgbClr val="FDF0E6"/>
            </a:solidFill>
            <a:prstDash val="solid"/>
          </a:ln>
        </p:spPr>
      </p:sp>
      <p:sp>
        <p:nvSpPr>
          <p:cNvPr id="8" name="Text 5"/>
          <p:cNvSpPr/>
          <p:nvPr/>
        </p:nvSpPr>
        <p:spPr>
          <a:xfrm>
            <a:off x="723900" y="4933950"/>
            <a:ext cx="10743895"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For Tier 3, both conditions apply: the right qualification and an independent provider.</a:t>
            </a:r>
            <a:endParaRPr lang="en-US" sz="2000" dirty="0"/>
          </a:p>
        </p:txBody>
      </p:sp>
      <p:sp>
        <p:nvSpPr>
          <p:cNvPr id="9"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60</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COMPLIANCE MONITORING</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Appendix D: how DPO keeps watch.</a:t>
            </a:r>
            <a:endParaRPr lang="en-US" sz="3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7905750"/>
                <a:gridCol w="3219450"/>
              </a:tblGrid>
              <a:tr h="4953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goes to DPO</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When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Tier 3: the IT security management unit’s set-up, reporting lines and roles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Once; changes within 30 days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List of Tier 2 and 3 systems, with classification details, endorsed by the Head of B/D</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3D3D3D"/>
                          </a:solidFill>
                          <a:latin typeface="Arial" pitchFamily="34" charset="0"/>
                          <a:ea typeface="Arial" pitchFamily="34" charset="-122"/>
                          <a:cs typeface="Arial" pitchFamily="34" charset="-120"/>
                        </a:rPr>
                        <a:t>Once; changes within 30 days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Tier 3: incident response plan</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On request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SRA, audit and PIA documentation, results and rectification status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On DPO’s regular requests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Tier 3: SRA reports, risk registers, scan and pen-test reports, rectification plans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Within 30 days of completion</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Tier 3: audit reports; rectification plans if non-compliant</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30 days; then a further 30 days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95300">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DPO’s own compliance audits and security surveys</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3D3D3D"/>
                          </a:solidFill>
                          <a:latin typeface="Arial" pitchFamily="34" charset="0"/>
                          <a:ea typeface="Arial" pitchFamily="34" charset="-122"/>
                          <a:cs typeface="Arial" pitchFamily="34" charset="-120"/>
                        </a:rPr>
                        <a:t>Participate as scheduled</a:t>
                      </a:r>
                      <a:endParaRPr lang="en-US" sz="15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336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G3 IT Security Guidelines v10.2 (Apr 2025) Appendix D items 1–8 · §20.2(d)</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61</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PULSE CHECK</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quiet downgrade.</a:t>
            </a:r>
            <a:endParaRPr lang="en-US" sz="3000" dirty="0"/>
          </a:p>
        </p:txBody>
      </p:sp>
      <p:sp>
        <p:nvSpPr>
          <p:cNvPr id="4" name="Text 2"/>
          <p:cNvSpPr/>
          <p:nvPr/>
        </p:nvSpPr>
        <p:spPr>
          <a:xfrm>
            <a:off x="533400" y="1847850"/>
            <a:ext cx="11124895" cy="4305300"/>
          </a:xfrm>
          <a:prstGeom prst="rect">
            <a:avLst/>
          </a:prstGeom>
          <a:noFill/>
          <a:ln/>
        </p:spPr>
        <p:txBody>
          <a:bodyPr wrap="square" rtlCol="0" anchor="t"/>
          <a:lstStyle/>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In March, a department reassesses a system and moves it from Tier 2 to Tier 1.</a:t>
            </a:r>
            <a:endParaRPr lang="en-US" sz="2600" dirty="0"/>
          </a:p>
          <a:p>
            <a:pPr indent="0" marL="0">
              <a:lnSpc>
                <a:spcPct val="130000"/>
              </a:lnSpc>
              <a:spcAft>
                <a:spcPts val="1000"/>
              </a:spcAft>
              <a:buNone/>
            </a:pP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Who needs to know, by when?</a:t>
            </a: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And why would an auditor look at this closely?</a:t>
            </a:r>
            <a:endParaRPr lang="en-US" sz="26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62</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DPO, within 30 days — and it is a red flag.</a:t>
            </a:r>
            <a:endParaRPr lang="en-US" sz="3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3143250"/>
                <a:gridCol w="5905500"/>
                <a:gridCol w="2076450"/>
              </a:tblGrid>
              <a:tr h="6286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Question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Answer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Source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Who signs the new tier?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Head of B/D or an explicitly delegated directorate officer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G3 §7.2(b)</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Who needs to know, by when?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DPO, within 30 days of the change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App. D item 2</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Why look closely?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A downgrade switches off every Appendix C control at once. It is the cheapest way to cut compliance cost.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What to ask for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The new Appendix B ratings; what changed; the endorsement; the DPO notice; which Tier 2 controls were dropped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App. B · App. 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66975"/>
            <a:ext cx="11124895" cy="19050"/>
          </a:xfrm>
          <a:prstGeom prst="rect">
            <a:avLst/>
          </a:prstGeom>
          <a:solidFill>
            <a:srgbClr val="1A1A1A"/>
          </a:solidFill>
          <a:ln/>
        </p:spPr>
      </p:sp>
      <p:sp>
        <p:nvSpPr>
          <p:cNvPr id="6" name="Shape 3"/>
          <p:cNvSpPr/>
          <p:nvPr/>
        </p:nvSpPr>
        <p:spPr>
          <a:xfrm>
            <a:off x="533400" y="5162550"/>
            <a:ext cx="11124895" cy="28575"/>
          </a:xfrm>
          <a:prstGeom prst="rect">
            <a:avLst/>
          </a:prstGeom>
          <a:solidFill>
            <a:srgbClr val="D04A02"/>
          </a:solidFill>
          <a:ln/>
        </p:spPr>
      </p:sp>
      <p:sp>
        <p:nvSpPr>
          <p:cNvPr id="7" name="Shape 4"/>
          <p:cNvSpPr/>
          <p:nvPr/>
        </p:nvSpPr>
        <p:spPr>
          <a:xfrm>
            <a:off x="533400" y="5191125"/>
            <a:ext cx="11124895" cy="771525"/>
          </a:xfrm>
          <a:prstGeom prst="rect">
            <a:avLst/>
          </a:prstGeom>
          <a:solidFill>
            <a:srgbClr val="FDF0E6"/>
          </a:solidFill>
          <a:ln w="6350">
            <a:solidFill>
              <a:srgbClr val="FDF0E6"/>
            </a:solidFill>
            <a:prstDash val="solid"/>
          </a:ln>
        </p:spPr>
      </p:sp>
      <p:sp>
        <p:nvSpPr>
          <p:cNvPr id="8" name="Text 5"/>
          <p:cNvSpPr/>
          <p:nvPr/>
        </p:nvSpPr>
        <p:spPr>
          <a:xfrm>
            <a:off x="723900" y="5314950"/>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Tier changes deserve the same scrutiny as the controls they switch off.</a:t>
            </a:r>
            <a:endParaRPr lang="en-US" sz="2000" dirty="0"/>
          </a:p>
        </p:txBody>
      </p:sp>
      <p:sp>
        <p:nvSpPr>
          <p:cNvPr id="9" name="Text 6"/>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63</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WHOLE CLASS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You audit it tomorrow.</a:t>
            </a:r>
            <a:endParaRPr lang="en-US" sz="3000" dirty="0"/>
          </a:p>
        </p:txBody>
      </p:sp>
      <p:sp>
        <p:nvSpPr>
          <p:cNvPr id="4" name="Text 2"/>
          <p:cNvSpPr/>
          <p:nvPr/>
        </p:nvSpPr>
        <p:spPr>
          <a:xfrm>
            <a:off x="533400" y="1847850"/>
            <a:ext cx="11124895" cy="4305300"/>
          </a:xfrm>
          <a:prstGeom prst="rect">
            <a:avLst/>
          </a:prstGeom>
          <a:noFill/>
          <a:ln/>
        </p:spPr>
        <p:txBody>
          <a:bodyPr wrap="square" rtlCol="0" anchor="t"/>
          <a:lstStyle/>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A Tier 2, Internet-facing licence portal holding citizens’ personal data.</a:t>
            </a:r>
            <a:endParaRPr lang="en-US" sz="2600" dirty="0"/>
          </a:p>
          <a:p>
            <a:pPr indent="0" marL="0">
              <a:lnSpc>
                <a:spcPct val="130000"/>
              </a:lnSpc>
              <a:spcAft>
                <a:spcPts val="1000"/>
              </a:spcAft>
              <a:buNone/>
            </a:pP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Using S17 and G3, what is on your evidence list?</a:t>
            </a:r>
            <a:endParaRPr lang="en-US" sz="2600" dirty="0"/>
          </a:p>
          <a:p>
            <a:pPr indent="0" marL="0">
              <a:lnSpc>
                <a:spcPct val="130000"/>
              </a:lnSpc>
              <a:spcAft>
                <a:spcPts val="1000"/>
              </a:spcAft>
              <a:buNone/>
            </a:pPr>
            <a:r>
              <a:rPr lang="en-US" sz="2600" dirty="0">
                <a:solidFill>
                  <a:srgbClr val="3D3D3D"/>
                </a:solidFill>
                <a:latin typeface="Arial" pitchFamily="34" charset="0"/>
                <a:ea typeface="Arial" pitchFamily="34" charset="-122"/>
                <a:cs typeface="Arial" pitchFamily="34" charset="-120"/>
              </a:rPr>
              <a:t>Shout them out — aim for ten.</a:t>
            </a:r>
            <a:endParaRPr lang="en-US" sz="26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64</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MODULE 3 ·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 Tier 2 evidence list, in ten lines.</a:t>
            </a:r>
            <a:endParaRPr lang="en-US" sz="30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8001000"/>
                <a:gridCol w="3124200"/>
              </a:tblGrid>
              <a:tr h="3810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Evidence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Source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Classification of the data, and where it is hosted (public cloud?)</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S17 §20.1.4, §17.3.1</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Appendix B tier assessment, endorsement, and the DPO list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G3 §7.2(b), App. B, App. D</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Latest SRA and PIA — within two years, and before go-live or major change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S17 §20.2.1</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Independent audit report — by an auditor who did not do the SRA</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S17 §20.2.2 · G3 §20.2(b)</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Six-monthly independent privileged-account checks; MFA for privileged logon</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G3 App. C</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Password settings against the strong password policy</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G3 §11.4(b)</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Annual vulnerability scan and annual pen test; hardening baseline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G3 App. C</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Patch records; DITSO notices for anything past a month</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G3 App. C</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Log retention settings; incident plan, drills and GIRO reporting procedure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G3 §14.4, §18.1</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38100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Backups (local and off-site); tested DR and IT contingency plan</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G3 App. C</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219325"/>
            <a:ext cx="11124895" cy="19050"/>
          </a:xfrm>
          <a:prstGeom prst="rect">
            <a:avLst/>
          </a:prstGeom>
          <a:solidFill>
            <a:srgbClr val="1A1A1A"/>
          </a:solidFill>
          <a:ln/>
        </p:spPr>
      </p:sp>
      <p:sp>
        <p:nvSpPr>
          <p:cNvPr id="6"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65</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WEEK 4 · CLOSE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S17 and G3, in one slide.</a:t>
            </a:r>
            <a:endParaRPr lang="en-US" sz="3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381250"/>
                <a:gridCol w="4000500"/>
                <a:gridCol w="4743450"/>
              </a:tblGrid>
              <a:tr h="533400">
                <a:tc>
                  <a:txBody>
                    <a:bodyPr/>
                    <a:lstStyle/>
                    <a:p>
                      <a:pPr algn="l" indent="0" marL="0">
                        <a:buNone/>
                      </a:pP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S17</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G3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Tells you</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What must be achieved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How, and how often</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Numbers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Almost none — the two-year review cycle</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Months, hours, characters, cycles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Tiers</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Requires every system to be tiered</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App. B decides the tier; App. C sets the Tier 2/3 bar</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Oversight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Roles, GIRO, independent audit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App. D: what goes to DPO, and when</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33400">
                <a:tc>
                  <a:txBody>
                    <a:bodyPr/>
                    <a:lstStyle/>
                    <a:p>
                      <a:pPr algn="l" indent="0" marL="0">
                        <a:buNone/>
                      </a:pPr>
                      <a:r>
                        <a:rPr lang="en-US" sz="1700" dirty="0">
                          <a:solidFill>
                            <a:srgbClr val="3D3D3D"/>
                          </a:solidFill>
                          <a:latin typeface="Arial" pitchFamily="34" charset="0"/>
                          <a:ea typeface="Arial" pitchFamily="34" charset="-122"/>
                          <a:cs typeface="Arial" pitchFamily="34" charset="-120"/>
                        </a:rPr>
                        <a:t>As an auditor</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Cite it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3D3D3D"/>
                          </a:solidFill>
                          <a:latin typeface="Arial" pitchFamily="34" charset="0"/>
                          <a:ea typeface="Arial" pitchFamily="34" charset="-122"/>
                          <a:cs typeface="Arial" pitchFamily="34" charset="-120"/>
                        </a:rPr>
                        <a:t>Test with it</a:t>
                      </a:r>
                      <a:endParaRPr lang="en-US" sz="17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371725"/>
            <a:ext cx="11124895" cy="19050"/>
          </a:xfrm>
          <a:prstGeom prst="rect">
            <a:avLst/>
          </a:prstGeom>
          <a:solidFill>
            <a:srgbClr val="1A1A1A"/>
          </a:solidFill>
          <a:ln/>
        </p:spPr>
      </p:sp>
      <p:sp>
        <p:nvSpPr>
          <p:cNvPr id="6" name="Shape 3"/>
          <p:cNvSpPr/>
          <p:nvPr/>
        </p:nvSpPr>
        <p:spPr>
          <a:xfrm>
            <a:off x="533400" y="5200650"/>
            <a:ext cx="11124895" cy="28575"/>
          </a:xfrm>
          <a:prstGeom prst="rect">
            <a:avLst/>
          </a:prstGeom>
          <a:solidFill>
            <a:srgbClr val="D04A02"/>
          </a:solidFill>
          <a:ln/>
        </p:spPr>
      </p:sp>
      <p:sp>
        <p:nvSpPr>
          <p:cNvPr id="7" name="Shape 4"/>
          <p:cNvSpPr/>
          <p:nvPr/>
        </p:nvSpPr>
        <p:spPr>
          <a:xfrm>
            <a:off x="533400" y="5229225"/>
            <a:ext cx="11124895" cy="638175"/>
          </a:xfrm>
          <a:prstGeom prst="rect">
            <a:avLst/>
          </a:prstGeom>
          <a:solidFill>
            <a:srgbClr val="FDF0E6"/>
          </a:solidFill>
          <a:ln w="6350">
            <a:solidFill>
              <a:srgbClr val="FDF0E6"/>
            </a:solidFill>
            <a:prstDash val="solid"/>
          </a:ln>
        </p:spPr>
      </p:sp>
      <p:sp>
        <p:nvSpPr>
          <p:cNvPr id="8" name="Text 5"/>
          <p:cNvSpPr/>
          <p:nvPr/>
        </p:nvSpPr>
        <p:spPr>
          <a:xfrm>
            <a:off x="723900" y="5353050"/>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Ask the classification. Ask the tier. Cite S17. Test with G3.</a:t>
            </a:r>
            <a:endParaRPr lang="en-US" sz="2000" dirty="0"/>
          </a:p>
        </p:txBody>
      </p:sp>
      <p:sp>
        <p:nvSpPr>
          <p:cNvPr id="9" name="Text 6"/>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v8.2 · G3 IT Security Guidelines v10.2 (Apr 2025)</a:t>
            </a:r>
            <a:endParaRPr lang="en-US" sz="1300" dirty="0"/>
          </a:p>
        </p:txBody>
      </p:sp>
      <p:sp>
        <p:nvSpPr>
          <p:cNvPr id="10" name="Text 7"/>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66</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APPENDIX  ·  READING PACK</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The 14 Areas,</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Clause by Clause.</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Not presented in class. The clauses I would test first in each area, for students to read after the session.</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67</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APPENDIX · THE 14 AREAS · §7–§10</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Governance, people and assets.</a:t>
            </a:r>
            <a:endParaRPr lang="en-US" sz="3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1282937"/>
                <a:gridCol w="5864854"/>
                <a:gridCol w="3977104"/>
              </a:tblGrid>
              <a:tr h="5905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it says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Why I would look</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§7.1.5</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Management shall reserve the right to examine all information on Government systems (subject to PDPO)</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Is that right communicated to staff?</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§7.2.2</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Classified protection: assess and tier every system</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The tier decides the test plan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§9.1.4</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Integrity check for civil servants accessing information above RESTRICTED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Unusual — not an ISO control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§10.1.1</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Inventory of systems, hardware, software, service agreements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No inventory, no scope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§10.2.2</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All classified information shall be encrypted in storage, whatever the media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Absolute — no risk-based wiggle room</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288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§7–§10</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68</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APPENDIX · THE 14 AREAS · §11–§13</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Access, cryptography and physical security.</a:t>
            </a:r>
            <a:endParaRPr lang="en-US" sz="30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1832767"/>
                <a:gridCol w="5864854"/>
                <a:gridCol w="3427274"/>
              </a:tblGrid>
              <a:tr h="5905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it says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Why I would look</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§11.2.4</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Periodically review user privileges; keep approval and review records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Records = evidence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§11.2.6</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One user-ID, one user. Shared or group IDs only with DITSO approval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Ask for the exception list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§11.4.5</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Change vendor default passwords before operation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 classic pen-test finding</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§12.1.1</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Manage crypto keys across the whole life cycle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Who holds the keys?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59055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§13.1.4 / 13.1.6</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Authorised access list for computer rooms; visitor records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Easy sample test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2887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§11–§13</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69</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APPENDIX · THE 14 AREAS · §14–§15</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Operations and communications.</a:t>
            </a:r>
            <a:endParaRPr lang="en-US" sz="30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1924405"/>
                <a:gridCol w="6048131"/>
                <a:gridCol w="3152359"/>
              </a:tblGrid>
              <a:tr h="6477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it says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Why I would look</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477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§14.3.3</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Review backups and run restoration tests; define and document the frequency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 backup never restored is a hope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477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§14.4.3–14.4.4</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Keep logs tamper-proof; do not use logs to profile a user without directorate approval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Security and privacy in one clause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4770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§14.6.2</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Patch strategy and frequency set “depending on the risk level”; Internet-facing = stringent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No number — coming up</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477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§15.1.6 / 15.1.10</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No private devices on the Government network, and no simultaneous external + Government connection, without DITSO approval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Exception lists again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477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§15.2.1</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Above CONFIDENTIAL: encrypted, and only inside an isolated LAN approved by the Government Security Officer</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Architecture set by classification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860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§14–§15</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70</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APPENDIX · THE 14 AREAS · §16–§20</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Build, buy, respond, recover and prove it.</a:t>
            </a:r>
            <a:endParaRPr lang="en-US" sz="30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1924405"/>
                <a:gridCol w="6231408"/>
                <a:gridCol w="2969082"/>
              </a:tblGrid>
              <a:tr h="6477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it says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Why I would look</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477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§16.2.7</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Development and support staff cannot access classified production data without Information Owner approval</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Dev/prod separation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477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§17.1.1 / 17.2.2</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Vendors must comply with the department’s policy; B/Ds reserve audit rights, or get periodic audit reports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Right-to-audit clauses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4770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§17.3.1</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RESTRICTED or above shall not be stored or processed in public cloud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Coming up</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47700">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§18.1.5</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Observed or suspected incidents reported immediately to the responsible party</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G3: phone GIRO within 60 minutes</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47700">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§20.2.1–20.2.2</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3D3D3D"/>
                          </a:solidFill>
                          <a:latin typeface="Arial" pitchFamily="34" charset="0"/>
                          <a:ea typeface="Arial" pitchFamily="34" charset="-122"/>
                          <a:cs typeface="Arial" pitchFamily="34" charset="-120"/>
                        </a:rPr>
                        <a:t>Risk assessment and PIA at least every two years; audit at least every two years; auditors shall not audit their own work</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D3D3D"/>
                          </a:solidFill>
                          <a:latin typeface="Arial" pitchFamily="34" charset="0"/>
                          <a:ea typeface="Arial" pitchFamily="34" charset="-122"/>
                          <a:cs typeface="Arial" pitchFamily="34" charset="-120"/>
                        </a:rPr>
                        <a:t>This is the SRAA</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5" name="Shape 2"/>
          <p:cNvSpPr/>
          <p:nvPr/>
        </p:nvSpPr>
        <p:spPr>
          <a:xfrm>
            <a:off x="533400" y="2486025"/>
            <a:ext cx="11124895" cy="19050"/>
          </a:xfrm>
          <a:prstGeom prst="rect">
            <a:avLst/>
          </a:prstGeom>
          <a:solidFill>
            <a:srgbClr val="1A1A1A"/>
          </a:solidFill>
          <a:ln/>
        </p:spPr>
      </p:sp>
      <p:sp>
        <p:nvSpPr>
          <p:cNvPr id="6" name="Text 3"/>
          <p:cNvSpPr/>
          <p:nvPr/>
        </p:nvSpPr>
        <p:spPr>
          <a:xfrm>
            <a:off x="533400" y="6229350"/>
            <a:ext cx="11124895" cy="247650"/>
          </a:xfrm>
          <a:prstGeom prst="rect">
            <a:avLst/>
          </a:prstGeom>
          <a:noFill/>
          <a:ln/>
        </p:spPr>
        <p:txBody>
          <a:bodyPr wrap="square" rtlCol="0" anchor="ctr"/>
          <a:lstStyle/>
          <a:p>
            <a:pPr indent="0" marL="0">
              <a:buNone/>
            </a:pPr>
            <a:r>
              <a:rPr lang="en-US" sz="1300" dirty="0">
                <a:solidFill>
                  <a:srgbClr val="7A7A7A"/>
                </a:solidFill>
                <a:latin typeface="Arial" pitchFamily="34" charset="0"/>
                <a:ea typeface="Arial" pitchFamily="34" charset="-122"/>
                <a:cs typeface="Arial" pitchFamily="34" charset="-120"/>
              </a:rPr>
              <a:t>S17 Baseline IT Security Policy v8.2 (Apr 2025) §16–§20</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4 · S17 and G3  ·  71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CS5292 Week 4 — S17 and G3 (Modules 2 and 3)</dc:title>
  <dc:subject>PptxGenJS Presentation</dc:subject>
  <dc:creator>Jason Lee</dc:creator>
  <cp:lastModifiedBy>Jason Lee</cp:lastModifiedBy>
  <cp:revision>1</cp:revision>
  <dcterms:created xsi:type="dcterms:W3CDTF">2026-09-22T23:42:55Z</dcterms:created>
  <dcterms:modified xsi:type="dcterms:W3CDTF">2026-09-22T23:42:55Z</dcterms:modified>
</cp:coreProperties>
</file>