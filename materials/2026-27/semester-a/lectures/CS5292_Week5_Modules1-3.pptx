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New or revised</c:v>
                </c:pt>
              </c:strCache>
            </c:strRef>
          </c:tx>
          <c:spPr>
            <a:solidFill>
              <a:srgbClr val="D04A02"/>
            </a:solidFill>
            <a:effectLst/>
          </c:spPr>
          <c:invertIfNegative val="0"/>
          <c:dLbls>
            <c:numFmt formatCode="#,##0"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cat>
            <c:multiLvlStrRef>
              <c:f>Sheet1!$A$2:$A$8</c:f>
              <c:multiLvlStrCache>
                <c:ptCount val="7"/>
                <c:lvl>
                  <c:pt idx="0">
                    <c:v>6 Situational awareness</c:v>
                  </c:pt>
                  <c:pt idx="1">
                    <c:v>7 Third-party risk mgmt</c:v>
                  </c:pt>
                  <c:pt idx="2">
                    <c:v>2 Identification</c:v>
                  </c:pt>
                  <c:pt idx="3">
                    <c:v>4 Detection</c:v>
                  </c:pt>
                  <c:pt idx="4">
                    <c:v>1 Governance</c:v>
                  </c:pt>
                  <c:pt idx="5">
                    <c:v>3 Protection</c:v>
                  </c:pt>
                  <c:pt idx="6">
                    <c:v>5 Response and recovery</c:v>
                  </c:pt>
                </c:lvl>
              </c:multiLvlStrCache>
            </c:multiLvlStrRef>
          </c:cat>
          <c:val>
            <c:numRef>
              <c:f>Sheet1!$B$2:$B$8</c:f>
              <c:numCache>
                <c:formatCode>General</c:formatCode>
                <c:ptCount val="7"/>
                <c:pt idx="0">
                  <c:v>3</c:v>
                </c:pt>
                <c:pt idx="1">
                  <c:v>13</c:v>
                </c:pt>
                <c:pt idx="2">
                  <c:v>13</c:v>
                </c:pt>
                <c:pt idx="3">
                  <c:v>14</c:v>
                </c:pt>
                <c:pt idx="4">
                  <c:v>15</c:v>
                </c:pt>
                <c:pt idx="5">
                  <c:v>50</c:v>
                </c:pt>
                <c:pt idx="6">
                  <c:v>66</c:v>
                </c:pt>
              </c:numCache>
            </c:numRef>
          </c:val>
        </c:ser>
        <c:dLbls>
          <c:numFmt formatCode="#,##0"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8D8D8"/>
            </a:solidFill>
            <a:prstDash val="solid"/>
            <a:round/>
          </a:ln>
        </c:spPr>
        <c:txPr>
          <a:bodyPr/>
          <a:lstStyle/>
          <a:p>
            <a:pPr>
              <a:defRPr sz="1400" b="0" i="0" u="none" strike="noStrike">
                <a:solidFill>
                  <a:srgbClr val="3D3D3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8D8D8"/>
              </a:solidFill>
              <a:prstDash val="solid"/>
              <a:round/>
            </a:ln>
          </c:spPr>
        </c:majorGridlines>
        <c:numFmt formatCode="General" sourceLinked="0"/>
        <c:majorTickMark val="out"/>
        <c:minorTickMark val="none"/>
        <c:tickLblPos val="low"/>
        <c:spPr>
          <a:ln w="12700" cap="flat">
            <a:solidFill>
              <a:srgbClr val="D8D8D8"/>
            </a:solidFill>
            <a:prstDash val="solid"/>
            <a:round/>
          </a:ln>
        </c:spPr>
        <c:txPr>
          <a:bodyPr/>
          <a:lstStyle/>
          <a:p>
            <a:pPr>
              <a:defRPr sz="1200" b="0" i="0" u="none" strike="noStrike">
                <a:solidFill>
                  <a:srgbClr val="7A7A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Good evening, everyone. Welcome to Week 5.
Quick recap of the arc. Week 2 was Cap. 653, the newest law. Week 3 was the PDPO, the oldest. Week 4 was S17 and G3: not a law, but mandatory for every Government department.
Tonight we move sideways into regulated sectors. Banks and insurers aren't governed here by an ordinance written for cyber. They're governed by their regulator. For banks, that's the HKMA and C-RAF. For insurers, it's the Insurance Authority and GL20.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Here's the shape of tonight.
Module one is our guest, Eleanor Heung from the Insurance Authority, for about half an hour. Then a ten-minute break.
Module two is me, for fifty minutes: the HKMA's Cyber Resilience Assessment Framework, C-RAF. I'll tell it partly from the inside, because I was on the team that helped the HKMA rewrite it into version 2.0. Then another ten-minute break.
And module three is you, for thirty-five minutes. In groups, you'll do the first thing a real assessment team does: work out what to ask a bank for, then read what the bank actually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It's my pleasure to introduce our guest tonight, Eleanor Heung.
Eleanor is Policy and Legislation Manager at the Insurance Authority. Before that, she was part of the project team that helped the IA uplift GL20, its Guideline on Cybersecurity. And she has assessed both insurers and banks, against GL20 and against the HKMA's C-RAF 2.0. So she's seen this from the assessor's side, and now from the regulator's side.
As you listen, think about three things. How does a regulator decide what to ask for? What changes when you move from assessor to regulator? And where do the banking and insurance expectations meet? Because in Module 3, you'll be the assessor.
Eleanor, over to you.
[HAND OVER TO ELEANOR'S DECK — 30 to 35 minutes including Q&amp;A. When she finishes, go to the break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[THANK ELEANOR. TEN-MINUTE BREAK. Resume with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Welcome back, everyone.
Eleanor showed you how the Insurance Authority thinks. Now let's look at the banking regulator, because GL20's newest version borrows a lot from what the HKMA built.
We've got five parts. Why the HKMA built C-RAF in 2016. How version 2.0 was made in 2019 and 2020, which is the project I worked on. What actually changed. Then the 174 new or revised controls, read through the request list we used with banks. And finally, what's happened since, and whether there's a 3.0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Let's start with why this exists at all.
Remember from Week 1 that regulation tends to follow incidents. This is one of the clearest examples.
February 2016. Attackers get into Bangladesh Bank's SWIFT environment and send fraudulent payment instructions. Eighty-one million US dollars is gone. Every central bank in the world pays attention, because the weak point wasn't SWIFT itself. It was the bank's own controls around it.
Three months later, in May 2016, the HKMA holds a Cybersecurity Summit and announces the Cybersecurity Fortification Initiative, the CFI. A circular follows a week later.
In December 2016, it goes live. And by September 2017 the first thirty or so banks have done their assessments. By June 2018, they've done their attack simulation tests.
That's fast for a regulator. Eighteen months from announcement to thirty banks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CFI has three pillars.
C-RAF is the assessment framework. That's what tonight is mostly about.
PDP, the Professional Development Programme, answers a question regulators often forget: who is qualified to do the assessing? It's a list of certifications for assessors and testers. It matters to you, because it's one of the places where a regulator tells the market which qualifications count.
And CISP is the Cyber Intelligence Sharing Platform, so banks can warn each other.
Why three pillars? Because a framework on its own doesn't help if there aren't enough qualified people to run it, and if banks never learn from each other's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C-RAF in one picture.
Step one, the Inherent Risk Assessment. The bank rates itself on a set of indicators: its technologies, its delivery channels, its products, its size, and its track record of attacks. Each comes out Low, Medium or High, and they add up to an overall rating.
Step two, the Maturity Assessment. That rating sets the bar. Look at the table. Low risk means you must reach Baseline maturity. Medium means Intermediate. High means Advanced. And the levels stack: a High-risk bank assesses every Control Principle at all three levels.
Step three is iCAST, the intelligence-led cyber attack simulation test. If you're Medium or High, you're expected to do one. Week 8 goes deep on iCAST, so tonight I'll only touch it.
Notice the design logic. This isn't one standard for everyone, like S17's Tier 1. It's "the riskier you are, the more you must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HKMA rolled it out in three waves.
Phase one was about thirty institutions: the major retail banks, selected global banks, and a few smaller ones. Phase two was about sixty more, with higher risk profiles. Phase three was the remaining ninety or so, finishing in 2019, with iCAST by mid-2020.
So, roughly speaking, by 2020 every authorized institution in Hong Kong had been through C-RAF once.
Now read the orange box, because it's the part auditors care about. In June 2018 the HKMA said: once you've been assessed, fix the gaps, put governance around the fixing, and keep the board informed. An assessment that finds gaps isn't the end. It's the start of a remediation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So what happens next? A year or two later, the regulator wants to know the gaps are really closed. And often the bank brings in an independent party to check.
This is called remediation validation, and it's pure audit work. You take the original findings. For each one, you collect the evidence of the fix: the new policy, the configuration, the records. Where it matters, you re-test technically. And you confirm what's still open.
On the right is a sanitised sample report. Twenty-seven control gaps from the Maturity Assessment. And here's the audit lesson: the report doesn't just list twenty-seven fixes. It traces them to six root causes. The biggest one, eight gaps, is "ineffective IT operations and processes". Asset management, access control, patching, network connections.
Why does that matter? Because fixing twenty-seven symptoms one by one is how you end up with twenty-seven new ones next time. Fix the root cause, and several gaps close together.
Remember Week 1: design versus operating effectiveness. A remediation validation is an operating-effectiveness test of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Fast forward to 2019. Why review something that was only three years old?
Three reasons. First, one full round was done, so for the first time there was real experience to learn from. Real complaints, too.
Second, technology had moved. Cloud, APIs, virtual banks, agile delivery. Hong Kong's virtual banks were being licensed in 2019. Some of the 1.0 controls read as if they were written for a bank with one data centre.
Third, the industry itself asked for changes: clearer guidance, less duplication, and a better PDP and CISP.
So the HKMA ran a formal tender, and in May 2019 engaged PwC as the independent consultant. I was on that team. So for the next few slides I'll tell you what we actually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Here's how version 2.0 was actually built. Four verbs: listen, benchmark, consult, publish.
Listen. In July 2019, the HKMA sent a feedback questionnaire to every institution that had done C-RAF. We followed up with interviews: banks, service providers, the industry associations.
Benchmark. At the same time we compared C-RAF against the overseas frameworks. More on that on the next slide.
Then the recommendations went up to HKMA senior management for endorsement.
Consult. On 16 January 2020, the HKMA held an industry symposium to preview the changes. Then the consultation paper went out to the members of the two banking associations, HKAB and the DTCA. Fun fact: if you look at the consultation paper, comments were to be sent to two people at PwC: Felix Kan, our Week 2 guest, and me.
Then two workshops with the banks, in March and June 2020, in the middle of COVID.
Publish. The circular came out on 3 November 2020, and 2.0 took effect on 1 January 2021.
So from kick-off to go-live, about eighteen months. That's normal for a regulator. It's slow because of the consulting, and the consulting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Benchmarking was one of the most interesting parts of the work.
For the Maturity Assessment, the key references were the US FFIEC's Cybersecurity Assessment Tool, NIST CSF, Singapore's MAS Technology Risk Management Guidelines, and the CPMI-IOSCO guidance for financial market infrastructures.
Remember from Week 1: C-RAF's structure, inherent risk plus maturity, echoes the FFIEC tool. And iCAST's lineage is the Bank of England's CBEST. So we benchmarked iCAST against CBEST, the ECB's TIBER-EU, Singapore's ABS guidelines, and GFMA. You'll meet most of those again in Week 8.
For PDP, we looked at which certifications the UK, EU and Singapore schemes recognise. And for CISP, we looked at other sharing platforms, including the Government's own Cybersec Infohub.
The lesson here for you as future assessors: a local framework is rarely invented from nothing. When you meet a new regulation, ask what it was benchmarked against. That tells you how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So what did the industry tell us?
The headline was positive. More than eighty industry participants gave feedback. Over ninety-five percent of the banks that had done the Maturity Assessment said it was meaningful: it validated gaps they'd found in other exercises, and it helped justify their cyber investment. Over ninety percent said the inherent risk outcome was what they expected.
But look at the orange box, because that's where the work was. The same people said there was too much duplication between controls. Controls were open to interpretation, so the first and second lines of defence spent ages debating what a control actually meant. In the first round, some banks used their own first-line staff as assessors, because there weren't enough qualified people. And many said the shared threat intelligence wasn't actionable.
[OPTIONAL, FROM THE PROJECT:] On iCAST, most banks told us they'd had to write their own tailored threat intelligence report anyway, whatever their risk level. That fed straight into a 2.0 requirement.
So: supportive of the framework, critical of how it was run. And that's a very common pattern. When you audit a framework's rollout, the complaints are usually about operation, not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consultation paper grouped nineteen recommendations under six themes. I'll go through them quickly.
Effectiveness: can the bank tell whether its controls actually work? That's where the Blue Team requirement for iCAST came from. More on that shortly.
Alignment: catch up with overseas practice. New controls for new technology, an updated certification list.
Guidance: less room for argument. A refined way to calculate inherent risk, which is our next question. And objectives plus sample success criteria for every Control Principle, so the first and second lines stop debating what a control means.
Flexibility: reduce cost without reducing resilience. A foreign bank branch can reuse its head office's assessment, under conditions. And a bank can simply opt in to "High" and skip the risk assessment.
Simplicity: for example, a generic threat landscape report that banks can start from.
And Collaboration: improvements to the sharing platform.
If you ever have to propose changes to a framework, notice this pattern. Every recommendation is tied to a theme, and every theme is tied to something the industry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At the January 2020 symposium, these were the ideas that got the most attention.
First, the upward override. Domestic systemically important banks and virtual banks are presumed High risk anyway. Why make them spend weeks proving it? So they skip the Inherent Risk Assessment. And any other bank can opt in to High and skip it too. It sounds odd: why volunteer to be High? Because sometimes it's cheaper to assess everything than to argue about your rating.
Second, leveraging group assessments. A foreign branch can reuse its head office's assessment, if five conditions hold. It covers the Hong Kong systems and people. It was done by qualified people. It's reported in the HKMA format. Hong Kong-relevant findings are highlighted. And any gaps are filled with a local assessment.
Third, independent assessors. The assessor must be independent of whoever designs, implements or operates the controls. That closed the first-line-assessor problem from round one.
Fourth, a three-year cycle, sooner for High risk or major change. Compare that with Week 4, where G3 asked for every two years, and yearly for Tier 3.
And fifth, fewer and clearer controls. Consolidate duplicates, and make the prescriptive ones principle-based.
Keep that last one in mind. We'll come back to whether it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Okay, pulse check. This is one of the actual worked examples from the consultation paper.
A bank rates its inherent risk indicators. Fourteen come out High, sixteen Medium, twenty-nine Low. What's its overall inherent risk?
Hands up for Low... Medium... High...
[COUNT. MOST WILL SAY LOW.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Under C-RAF 1.0, the answer was Low, because the rule was simply: whichever level has the most indicators wins. Twenty-nine Low is the biggest number.
But look at it again. Thirty of the fifty-nine indicators are Medium or High. More than half the bank is not low risk. So is "Low" really right?
C-RAF 2.0 added one rule. If Low wins, but the Low count is equal to or less than High plus Medium together, the bank moves up to Medium. Twenty-nine is less than thirty, so this bank is Medium.
The rule only moves Low upward. A Medium result stays Medium.
And here's why this tiny counting rule matters. Low means Baseline maturity. Medium means Intermediate. That's roughly a hundred and forty more Control Principles to assess, and an iCAST. One rule in the methodology, and the size of the whole engagement changes.
As an auditor, always check how the scope was calculated before you check anything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So, after all that consultation, what actually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 it is in numbers.
C-RAF 1.0 had 366 Control Principles. C-RAF 2.0 has 482. That's about a third more, and the growth is spread evenly across all three levels.
But the total hides the real change. When we compared the two versions line by line, 174 of the 482 were either new or materially revised. That's more than a third of the framework. And 106 were totally new: 40 at Baseline, 35 at Intermediate, and 31 at Advanced. The other 68 or so were existing principles with changed wording.
Now, remember the symposium slide: "fewer, clearer controls". The framework got bigger, not smaller. Some duplicates were consolidated, but far more was added. When you compare what a consultation promises with what gets published, that's a very normal result, and a good thing to notice as an auditor.
The 174 figure is our own gap analysis, not an HKMA number. For banks it mattered a lot, because it told them where to focus: the deltas.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Where did those 174 changes land? This chart counts them by domain, from our request list.
Look at the bottom bar. Response and recovery: 66. That domain has 101 principles in total, so two out of every three are new or revised. Protection is next with 50, then the rest are in the teens, and situational awareness has just three.
Why so lopsided? The HKMA's own circular tells you. It says recent international sound practices on cyber incident response and recovery were incorporated into the enhanced control principles.
And from the project side, there's a second reason. We had spent those years doing incident response for real clients. Ransomware, business email compromise, and so on. And iCAST 1.0 had shown banks were much better at preventing than at detecting and recovering. So 2.0 moved the weight from "keep them out" to "assume they get in: how fast do you see it, and how well do you recover?"
That's the single most important thing to remember about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Here's the structure of the Maturity Assessment in 2.0. Seven domains, and each has a few components.
You'll recognise the shape from Week 1: it's very close to NIST CSF's identify, protect, detect, respond, recover, with governance at the centre and the external environment around it.
Two things to notice. First, domain 5 now has four components, including cyber forensics as its own component. Second, domain 7. In 1.0 it was called "External connections". In 2.0 it's "Third-party risk management", with third-party management and ongoing monitoring as components. That rename tells you what the regulator was worried about: not just connections, but the suppliers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Let's look at the detail, domain by domain. This wording is from the summary we used with banks in early 2021.
Governance. For the first time, C-RAF expects the bank to appoint a CISO and a Head of Technology Risk Management. That sounds obvious today. In 2016, plenty of banks in Hong Kong didn't have a named CISO. Staffing gets tougher too: training tailored to the role, and encouraging staff to keep their qualifications current.
Identification. 1.0 asked you to identify risks. 2.0 asks what you did next: treatment strategies and ongoing monitoring. And even medium-risk banks should now evaluate whether cyber insurance reduces their exposure. That's a nice link to Eleanor's world.
Protection. New requirements on remote access, wireless, mobile, physical access, and cryptographic keys. Virtualisation and IoT. Secure development, including Agile, DevOps and APIs. And patch and change management, enriched to consider automation.
Notice how many of these map to 2019's technology: remote access, APIs, DevOps. That's the "technology had moved" point, turned into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And the other half.
Detection: continuous, 24×7 detection and response, and endpoint behavioural detection, meaning EDR. In other words, antivirus signatures are no longer enough. And security logs for key systems have to be readily available, for example in a SIEM, for long enough to investigate an incident.
Response and recovery is where most of the new material sits. Preparation and governance. Then the actual response: containment, investigation, eradication, recovery. Cyber forensics as its own area: how you collect evidence, preserve it, and keep it. And communication and continuous improvement.
Situational awareness: how to share threat intelligence, inside and outside the bank. And third parties: stronger protection for external connections, and due diligence when you choose a service provider.
If you're wondering where the "assume breach" idea shows up in a regulation, this slide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So why these particular controls? This slide is the part I care most about, because it's where incident response and audit meet.
In March 2021 I presented a webinar on 2.0. On the left are the recurring issues we saw in real incident response work and in iCAST 1.0 tests. Weak passwords on high-privilege accounts. Service accounts with far too much privilege. Attackers stealing credentials from memory and reusing them, what's called pass-the-hash. Inconsistent restrictions on remote desktop and file sharing. Flat networks. Unpatched machines. And ransomware discovered late, with no logs left to work out what happened.
On the right is what 2.0 asks for. Every one of those failures has a control aimed at it.
That's the point I want you to take away. The best control frameworks are written by people who've cleaned up after incidents. When you read a control and think "why would anyone need to say that?", the answer is usually: because someone didn't do it, and it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Two quick points on the other pillars. Week 8 goes deep on iCAST, so this is just the headline.
In 1.0, iCAST was mostly a red team exercise: can the attackers get in? 2.0 asks a harder question: did the defenders notice, and how well did they respond? So the bank now writes a Blue Team report on its own detection, response and recovery. And there's a 360-degree replay workshop, where the red team and blue team walk through the attack together. Plus clearer rules on scoping, the control group, the tailored threat intelligence report, MITRE ATT&amp;CK, and cleaning up afterwards.
On the right, PDP. The qualification list was widened. For iCAST, CREST is still the reference, but equivalents like GPEN, OSCE and OSCP now count. And there's a new threat intelligence specialist role, with qualifications such as CREST's CRTIA and GIAC's GCTI.
Full disclosure: I hold several of those. And because this part is really about your careers, I'm going to spend a few more slides on PDP than the regulator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the actual list the HKMA published with 2.0. It's a table of roles, and for each role, which certificates count.
Notice the structure. There's one assessor role, for C-RAF. And there are five roles for iCAST: the manager who runs the test, the threat intelligence specialist who writes the tailored threat report, the specialist who runs the attack scenarios, and two kinds of tester, infrastructure and web applications.
For the iCAST roles, the reference is CREST, the UK-based accreditation body. The column on the right is everything the HKMA accepts as equivalent. The asterisks are what version 2.0 added. That was deliberate: the industry told us there weren't enough qualified people, so the list was widened to recognise equivalent qualifications from overseas.
I've highlighted two rows in orange: the assessor, and the entry-level tester. Those are the two doors most of you could walk through in the next year or two. Next two slides, one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Start with the assessor. Look at the orange column.
The HKMA's list for C-RAF assessors: CISA, CISSP, CISM, CRISC, plus a few others.
Now remember Week 2. The Code of Practice under Cap. 653, the critical infrastructure law, names CISP, CISA, CISM and CISSP for the person supervising the security management unit.
Week 4. G3, the Government's baseline, gives CISA, CISSP and CISP as examples of what an independent security auditor should hold.
And insurance. Under GL20, which Eleanor walked you through, the assessment teams you meet in practice carry the same certificates: CISSP, CISA, CISM, CRISC.
So here's the pattern. It's the same small family of certificates everywhere you look. Banking regulator, insurance regulator, the critical infrastructure law, and Government. If you're choosing where to invest your study time, that's a strong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If you're wondering what the differences are, here's the one-line version.
CISA is the auditor's certificate: planning, testing, evidence, reporting. It's the closest to what we practise every week in this course.
CISM is for running a security programme. CRISC is IT risk, the language of the second line of defence. Those three are ISACA.
CISSP is ISC2's, and it's the broad one: eight domains, from architecture to operations.
In Week 12, representatives from the ISACA China Hong Kong Chapter and from ISC2 will be here in person. I'll introduce you to them directly. And yes, I'm asking both of them for a discount for this class. I'll let you know what they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the tester side, for iCAST.
Think of it as a ladder. At the bottom, the tester. The most entry-level certificates on the HKMA's list are OSCP, from OffSec, and CRTP, the Certified Red Team Professional, which focuses on attacking Active Directory. Both were added in 2.0, for both infrastructure and web testing.
Why do those count? Because they're practical exams. You get a lab, and you have to actually compromise machines within a time limit. Nobody passes OSCP by memorising a book.
Then you climb. Specialist, who runs the attack scenarios: CRTE, OSCE, GXPN. Threat intelligence: CRTIA and GCTI. That's where I sit, by the way. And at the top, the manager, who leads the whole test and is responsible for doing it safely in a live bank.
So if you're an auditor who wants to understand the other side, OSCP or CRTP is where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practical slide.
OffSec, who run OSCP, don't have an office in Hong Kong. They cover Asia-Pacific from Singapore. I've arranged a fifteen percent discount off the list price for students in this class. I'm also asking whether they'll come and speak. If you're interested, come and find me and I'll introduce you.
ISACA and ISC2 will both be here in Week 12. Same offer: I'll connect you, and I'm asking them for a student discount too.
And one piece of good practice before you spend your money. Check the current list on the HKMA's website, and the current exam price. Lists and prices both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Last one on this. Everything I said about testers leads to Week 8.
That's our deep dive on iCAST, for banks, and TIBAS, its insurance cousin under GL20. Same idea: use real threat intelligence to design an attack tailored to the institution, then run it. For TIBAS, at least three end-to-end scenarios, at least every three years or after a significant change.
And in Week 8 we'll have a hacker in the room, someone who does this for a living, showing you what it looks like from the attacker's side. Bring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And the rollout. 2.0 took effect on 1 January 2021, and again the HKMA used three groups.
Group 1, the major retail banks, selected foreign branches, and any new institution that had never been assessed, had to finish the risk and maturity assessments by September 2021, and iCAST by June 2022. Groups 2 and 3 followed, with the last iCAST deadline at the end of 2023.
And because 2.0 says "generally every three years", by the time Group 3 finished, Group 1 was due again. So from 2021 onwards, C-RAF stopped being a project and became a permanent cycle for Hong Kong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Now, how do you actually assess a bank against 482 principles? You start with a request for information. You've been writing RFIs since Week 1, so let's look at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the structure of the request list we used for C-RAF 2.0 assessments. One row for every Control Principle, so 482 rows.
The first columns place the principle: domain, component, sub-component, and maturity level. Then the HKMA's wording, word for word. We never paraphrase the control in an RFI. You quote it.
Then the column in bold: is this new on top of 1.0? A hundred and seventy-four rows say yes. For a bank that did 1.0 three years earlier, that column is the most useful one in the sheet. It says: start here.
Then what we're asking for. And this is the part that separates a good RFI from a lazy one. Every row has a "detailed elaboration": in plain words, what we want to see and why. You'll see some in a moment.
Then, does it need sampling? And finally the working columns: status, the outcome code, and the justification.
The outcome codes come from the framework itself. Y for yes. N for no. AC, alternative controls. RA, risk accepted. And NA, not applicable. Keep those in mind for the scoring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Example one, from Governance. A new Baseline principle: the institution has appointed cyber security management roles, such as a CISO or a Head of Technology Risk Management, to oversee and govern the cybersecurity programme.
What did we ask for? Two documents: the organisation charts showing the reporting lines, and the job descriptions.
And what did we want to see? Clear reporting lines up to senior management or a committee. And then the Intermediate principle right below it: the three lines of defence are independent. The first line, typically the CISO, and the second line, typically the Head of TRM, are defined and separated.
Here's the audit trick. An org chart often answers two principles at once. If the CISO and the Head of TRM report to the same person, and that person runs IT operations, you've found an independence problem without asking a single extra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Example two, from Protection. Remote access: a new principle at every level.
Baseline says remote access by employees, contractors and third parties uses encrypted connections and multi-factor authentication. Sound familiar? It's the same lesson as Week 3, where missing MFA kept showing up in PCPD's cases, and Week 4, where G3 made it a "shall".
We asked for the policy and a network diagram of the remote access paths. Notice "contractors and third parties". Vendors' remote access is exactly where banks tend to forget MFA.
And what did we want to see? If it's a VPN, does it enforce encryption and MFA? We'd happily accept a demo or a screenshot instead of a document. That's a practical point: evidence doesn't have to be paper.
Then the principle climbs. At Intermediate, all remote access goes through centrally managed points, like a jump host, so it can be monitored. At Advanced, can you cut off remote access fast? That's usually an EDR feature, which leads us to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Example three, from Detection, both new at Intermediate. EDR on endpoints with reasonable coverage. And resources for continuous, 24×7 detection and response.
We asked for the monitoring policy, and how the security operations centre is set up. In-house, run by the group, outsourced, or a mix. Is it really 24×7? Are there retainers for incident response?
And what did we want to see? "Reasonable coverage" is a phrase an auditor has to pin down. So the question is: is EDR on every endpoint? If not, which ones are missing, and why? Very often the answer is legacy systems that can't run the agent. That's acceptable, if there's a compensating control, like segmenting those machines off.
My favourite question for any "24×7" claim: who looks at an alert at three in the morning on a public holiday? Ask for the roster. A 24×7 SOC on paper and a 24×7 SOC in practice are two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Example four, from the domain with the most change: response and recovery. This one is new at Baseline, so every bank has to meet it.
The collected evidence must establish, at minimum, what happened, when, where, the source, the outcome, and who was involved. Six questions. If your evidence can't answer them, you can't reconstruct an incident.
We asked for the forensics framework. And we accepted something realistic: many banks don't have in-house forensic experts, so we asked for the contract with the third-party provider, and any training they gave.
What did we want to see? How evidence is preserved, for example hashing it so you can prove it wasn't changed. And the list of evidence the bank would collect, and how they decided that list.
Link this to the root-cause slide. Ransomware discovered late, with no logs left. This principle is the direct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Your turn. Here's another new Intermediate principle, from Detection. Security audit logs for key systems and endpoints should be readily available for review, for example in a SIEM, and cover an adequate period for incident response investigation.
Two minutes with the person next to you. What would you put in the RFI? What documents, and what would you want to see?
[GIVE TWO MINUTES. TAKE THREE OR FOUR ANSWERS.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what we asked for.
The monitoring policy, to learn which tools exist and what feeds them. Then screenshots of the actual retention settings in the SIEM and the EDR. That's the important bit: the setting is the evidence. The policy only tells you what they intended.
And then the bold row. The principle says "adequate period". That's not a number. So we asked how the bank decided what adequate means. Typically we'd see logs kept in the SIEM for up to a year, and EDR telemetry for thirty to ninety days. Is ninety days enough? Well, attackers often sit inside a network for months before they're found. So a good answer ties the retention period to how long it realistically takes to detect an intrusion.
Compare Week 4. G3 gave you a number: six months for email and Internet logs. C-RAF deliberately doesn't. It's principle-based, so the bank has to justify its own number. And your job as the assessor is to find out who chose it,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Two last mechanics, because they come up in your group task and the midterm.
On the left: sampling. Some principles need evidence that a control ran repeatedly, so you test a sample. This is the kind of guidance we worked to. A control that runs once a year, you test one. Quarterly, two. Monthly, two to five. Weekly, five, ten or fifteen depending on risk. Daily, twenty, thirty or forty. It's the same logic as the audit sampling brief from earlier in the course.
On the right: how the answers become a rating. For each component, you count Yes, Alternative Control, Risk Accepted, and Not Applicable, and divide by the total number of principles at that level. So eight principles with one No gives eighty-seven and a half percent.
And notice the rule in the last line. Every No needs a remediation plan and a timeline, written in the justification. So the rating isn't the end product. The remediation plan is. Which takes us right back to the remediation validation we saw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Last part. What's happened since 2.0 went live, and where does it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So what's happened since?
2021 to 2023: every group went through 2.0 and iCAST.
In May 2021, the HKMA added Secure Tertiary Data Backup: a third, immutable, air-gapped copy of critical data. That's a direct response to ransomware.
In November 2024, a new supervisory module, TM-C-1, set out how the HKMA supervises cyber risk, replacing guidance from 2015.
December 2024 is the one I want to connect to Eleanor. The Insurance Authority's revised GL20 took on a C-RAF-style structure: inherent risk, maturity assessment, and its own attack simulation, called TIBAS. So the banking framework became the template for insurance.
And then June 2026: a circular on AI-empowered threats, a new Cyber Resilience Testing Framework focused on how well banks respond and recover from a breach, and the HKMA's Code of Practice for banks designated under Cap. 653. So Week 2's law now reaches banks too, through their own regulator.
Notice the direction: from "do you have controls?" towards "can you survive and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So, is there a 3.0? Let me be very clear first: the HKMA has not published a C-RAF 3.0. What follows is my own view, from doing these assessments.
On the left: what running 2.0 for five years shows. A lot of the Baseline principles come back with the same answer at almost every bank. They've become a floor everyone meets. The same document gets cited as evidence under many different principles: one policy, twenty attestations. And some principles overlap so much that the write-ups for them look almost identical. In other words, the promise from the symposium, fewer and clearer controls, is still open.
On the right: the directions I think are worth debating. Consolidate overlapping principles into fewer outcome-based tests. For detection and response, stop asking banks to describe their capability, and score it from exercises, like purple teaming, where red and blue work together. Publish the controls in a machine-readable form, so assessment can be tool-assisted. Let AI do the evidence extraction, but keep judgement with humans: board oversight and risk culture can't be scored by a machine. And add modules for new risks, like AI or quantum, without rewriting everything.
The test I'd apply to any 3.0 proposal: who stops doing what? If no one's workload goes down, the bank, the assessor or the regulator, it's decoration, not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Let me leave you with seven things.
One: C-RAF exists because of an incident. Regulation follows the headline.
Two: inherent risk sets the bar. Before you test anything, check how the rating was calculated.
Three: 2.0 has 482 principles, 174 of them new or revised, and the weight moved to response and recovery.
Four: good controls are written by people who've cleaned up after incidents.
Five: a good RFI quotes the control, asks for specific evidence, and says what good looks like.
Six: watch the soft words. "Adequate", "reasonable", "24×7". Pin them down. Ask who decided, and why.
And seven: a rating isn't the end. It ends in a remediation plan, and the plan ends in validation.
Now, ten-minute break. When you come back, you'll be the assessment team. Please sit with two or three people you haven't worked with yet, and have the Week 5 Module 3 worksheet open from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[TEN-MINUTE BREAK. On Canvas, publish the worksheet and group template now. Keep the ABC Bank documents unpublished until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Welcome back. For the next thirty-five minutes, you're the assessment team.
Three steps. Ten minutes to draft your request list. Five minutes to call out what you'd ask for. Then ten minutes to read what the bank actually sent, and ask me questions. The rest becomes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Here's the client: ABC Bank. It's due its C-RAF 2.0 maturity assessment, and you're the independent assessor. We start where every assessment starts: Domain 1, governance.
Five Baseline Control Principles. The exact wording is on your worksheet, and please read it carefully, because the details matter.
One: someone in management, or a Board committee, is accountable to the Board for cybersecurity and business continuity. Note: both.
Two: cyber risks get onto management meeting agendas when something visible happens, like a major incident in the news or a regulatory alert.
Three: at least once a year, a written report on cyber, including incidents, and on business continuity, goes to the Board or a Board committee.
Four: there are policies covering incident response and resilience.
Five: an audit is performed regularly to give the Board and senior management an independent and objective opinion on cyber risk management, governance and controls, against existing and emerging threats. This one is new in C-RAF 2.0; it's one of the controls we talked about in Module 2. Notice the words "regularly", "opinion" and "emerging".
These are real. The documents you'll see in Step 3 are sanitised versions of what a real institution gave its assessor, and the model answer is based on that assessor's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Step one. Ten minutes in your groups.
Before you see anything from the bank: for each of the five controls, what would you ask for? Which documents, which samples, which walkthroughs?
Remember the weak and strong examples from the RFI section. "Please provide the policy" is weak. "The policy in force during 2025, with the committee minute approving it" is strong. And for each request, say which words of the Control Principle it proves.
Use Part A of the worksheet. Off you go.
[WALK THE ROOM. PROMPTS: "Control 1 says 'cybersecurity AND business continuity' — have you covered both?" · "Who approves it?" · "How would you prove 'at least annually'?" · Two-minute warning at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Step two. Five minutes. Let's hear it.
One group per control. Call out the document names you'd request. Everyone else, add anything they missed.
[TAKE ONE GROUP PER CONTROL, 1 MINUTE EACH. WRITE THE NAMES ON THE BOARD. Expect: committee terms of reference, Board / committee minutes, cyber security policy, incident response plan, BCM policy and BCP, KRI reports, internal audit plan, latest cyber audit report, Audit Committee minutes.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what the real assessor relied on. Compare with your lists.
Notice two things. First, a few documents carry most of the controls: the risk committee's terms of reference and the business continuity policy. When one document supports many controls, you read it very carefully: which version, who approved it, when was it last reviewed?
Second, some of what the assessor cited is not in your pack: the Group Cyber Security Policy, the KRI report to the Q1 2026 committee meeting, and the Audit Committee minutes. That's realistic. Those stay on your RFI as open items.
For control five, the audit one, the evidence is a chain: the Audit Committee's terms of reference, the Internal Audit Policy, the Board approving the audit plan, the cyber audit report itself, and the tracker showing findings being closed. If your group asked for the audit plan and the latest cyber audit report, you were thinking like an assessor.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Step three. I'm publishing the ABC Bank documents on Canvas now: D01 to D15.
[PUBLISH THE DOCUMENTS.]
Ten minutes. Split them within your group. Start with the incident response plan, the cyber risk management policy, the Board minutes approving the audit plans, and the internal audit report.
And before you read the content, read the first page. Version, owner, approval date, approver. You'd be surprised how often that page tells you more than the rest of the document.
Ask me anything. I was on the assessment team for this one.
[LIKELY QUESTIONS AND ANSWERS:
— D08's approval date is a placeholder and the version says both 2.0 and 1.2: yes, and in a real assessment you'd ask for the signed-off version.
— D09 is a "first draft" with no approval: it can't be relied on as an approved policy.
— D03 says the Head of IT develops the BCP; D04 says the Group Head of Business Operations owns it: who is accountable? Good catch; that's a follow-up question.
— The RMCC ToR should be reviewed annually but is dated 2023: ask for evidence of the reviews.
— D13: cybersecurity is in the 2024 audit plan but not in 2025. Is that "regularly"? Ask for the 2026 plan, and whether the 2025 vendor-management audit covered cyber supply-chain risk.
— D14's disclaimer says "no audit opinion". Does that meet the "independent and objective opinion" wording? Good question; the Head of Internal Audit's own conclusion to the Audit Committee would close it.
— D15 says the Incident Response Plan approval was closed in January 2025, but D08 still has placeholder approval fields. Which version did Internal Audit see?
Two-minute warning at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Time's up. The rest becomes homework, in the same groups.
For each of the five controls, three things. First, the evidence: which documents, which sections. Second, your result, using the C-RAF codes, Y, N, AC, RA or NA, with a short justification: what the evidence shows, and what it doesn't. Third, your outstanding RFI: what you'd still ask for, including the documents that weren't in the pack.
It's Part B of the worksheet, in the same Excel template. One file per group on Canvas before the Week 6 class. I'll upload the model answer, what good looks like, after the deadline, so you can compare.
A tip: the real assessor concluded "yes" on all five. Your job isn't only to agree. It's to say what a sharper reviewer would still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To close. Thank you again to Eleanor.
Next week, Herman Sin from the Jockey Club on NIST CSF 2.0: what you use when there's no law and no sector regulator. Submit your homework before class, and read the NIST CSF 2.0 overview.
And a heads-up: the Week 7 midterm includes evidence-based justification and RFI drafting. That's exactly what you practised tonight.
Good night,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1809750"/>
            <a:ext cx="7239000" cy="2667000"/>
          </a:xfrm>
          <a:prstGeom prst="rect">
            <a:avLst/>
          </a:prstGeom>
          <a:noFill/>
          <a:ln/>
        </p:spPr>
        <p:txBody>
          <a:bodyPr wrap="square" rtlCol="0" anchor="t"/>
          <a:lstStyle/>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C-RAF: from 2016 to 3.0.</a:t>
            </a:r>
            <a:endParaRPr lang="en-US" sz="5000" dirty="0"/>
          </a:p>
        </p:txBody>
      </p:sp>
      <p:sp>
        <p:nvSpPr>
          <p:cNvPr id="3" name="Shape 1"/>
          <p:cNvSpPr/>
          <p:nvPr/>
        </p:nvSpPr>
        <p:spPr>
          <a:xfrm>
            <a:off x="533400" y="4305300"/>
            <a:ext cx="1143000" cy="28575"/>
          </a:xfrm>
          <a:prstGeom prst="rect">
            <a:avLst/>
          </a:prstGeom>
          <a:solidFill>
            <a:srgbClr val="D04A02"/>
          </a:solidFill>
          <a:ln/>
        </p:spPr>
      </p:sp>
      <p:sp>
        <p:nvSpPr>
          <p:cNvPr id="4" name="Text 2"/>
          <p:cNvSpPr/>
          <p:nvPr/>
        </p:nvSpPr>
        <p:spPr>
          <a:xfrm>
            <a:off x="533400" y="4533900"/>
            <a:ext cx="8572500" cy="857250"/>
          </a:xfrm>
          <a:prstGeom prst="rect">
            <a:avLst/>
          </a:prstGeom>
          <a:noFill/>
          <a:ln/>
        </p:spPr>
        <p:txBody>
          <a:bodyPr wrap="square" rtlCol="0" anchor="t"/>
          <a:lstStyle/>
          <a:p>
            <a:pPr indent="0" marL="0">
              <a:lnSpc>
                <a:spcPct val="125000"/>
              </a:lnSpc>
              <a:buNone/>
            </a:pPr>
            <a:r>
              <a:rPr lang="en-US" sz="2000" b="1" dirty="0">
                <a:solidFill>
                  <a:srgbClr val="3D3D3D"/>
                </a:solidFill>
                <a:latin typeface="Arial" pitchFamily="34" charset="0"/>
                <a:ea typeface="Arial" pitchFamily="34" charset="-122"/>
                <a:cs typeface="Arial" pitchFamily="34" charset="-120"/>
              </a:rPr>
              <a:t>How Hong Kong’s banks came to be measured for cyber resilience — told by one of the people who rewrote the measure</a:t>
            </a:r>
            <a:endParaRPr lang="en-US" sz="2000" dirty="0"/>
          </a:p>
        </p:txBody>
      </p:sp>
      <p:sp>
        <p:nvSpPr>
          <p:cNvPr id="5" name="Text 3"/>
          <p:cNvSpPr/>
          <p:nvPr/>
        </p:nvSpPr>
        <p:spPr>
          <a:xfrm>
            <a:off x="533400" y="5295900"/>
            <a:ext cx="8572500" cy="800100"/>
          </a:xfrm>
          <a:prstGeom prst="rect">
            <a:avLst/>
          </a:prstGeom>
          <a:noFill/>
          <a:ln/>
        </p:spPr>
        <p:txBody>
          <a:bodyPr wrap="square" rtlCol="0" anchor="t"/>
          <a:lstStyle/>
          <a:p>
            <a:pPr indent="0" marL="0">
              <a:lnSpc>
                <a:spcPct val="130000"/>
              </a:lnSpc>
              <a:buNone/>
            </a:pPr>
            <a:r>
              <a:rPr lang="en-US" sz="2000" dirty="0">
                <a:solidFill>
                  <a:srgbClr val="7A7A7A"/>
                </a:solidFill>
                <a:latin typeface="Arial" pitchFamily="34" charset="0"/>
                <a:ea typeface="Arial" pitchFamily="34" charset="-122"/>
                <a:cs typeface="Arial" pitchFamily="34" charset="-120"/>
              </a:rPr>
              <a:t>CS5292 Week 5 · 30 September 2026</a:t>
            </a:r>
            <a:endParaRPr lang="en-US" sz="2000" dirty="0"/>
          </a:p>
          <a:p>
            <a:pPr indent="0" marL="0">
              <a:lnSpc>
                <a:spcPct val="130000"/>
              </a:lnSpc>
              <a:buNone/>
            </a:pPr>
            <a:r>
              <a:rPr lang="en-US" sz="2000" dirty="0">
                <a:solidFill>
                  <a:srgbClr val="7A7A7A"/>
                </a:solidFill>
                <a:latin typeface="Arial" pitchFamily="34" charset="0"/>
                <a:ea typeface="Arial" pitchFamily="34" charset="-122"/>
                <a:cs typeface="Arial" pitchFamily="34" charset="-120"/>
              </a:rPr>
              <a:t>Guest: Eleanor Heung, Insurance Authority</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WEEK 5 · RUN OF SHOW</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Tonight, in three modules.</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330517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MODULE 1 · 30–35 MIN</a:t>
            </a:r>
            <a:endParaRPr lang="en-US" sz="1600" dirty="0"/>
          </a:p>
        </p:txBody>
      </p:sp>
      <p:sp>
        <p:nvSpPr>
          <p:cNvPr id="7" name="Text 5"/>
          <p:cNvSpPr/>
          <p:nvPr/>
        </p:nvSpPr>
        <p:spPr>
          <a:xfrm>
            <a:off x="723900" y="2276475"/>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Insurtech and the role of the regulator</a:t>
            </a:r>
            <a:endParaRPr lang="en-US" sz="2000" dirty="0"/>
          </a:p>
        </p:txBody>
      </p:sp>
      <p:sp>
        <p:nvSpPr>
          <p:cNvPr id="8" name="Text 6"/>
          <p:cNvSpPr/>
          <p:nvPr/>
        </p:nvSpPr>
        <p:spPr>
          <a:xfrm>
            <a:off x="723900" y="2886075"/>
            <a:ext cx="3187598" cy="22193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Our guest, Eleanor Heung of the Insurance Authority: how a regulator thinks about technology, innovation and cyber risk.</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330517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MODULE 2 · 50 MIN</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C-RAF, from the inside</a:t>
            </a:r>
            <a:endParaRPr lang="en-US" sz="2000" dirty="0"/>
          </a:p>
        </p:txBody>
      </p:sp>
      <p:sp>
        <p:nvSpPr>
          <p:cNvPr id="13" name="Text 11"/>
          <p:cNvSpPr/>
          <p:nvPr/>
        </p:nvSpPr>
        <p:spPr>
          <a:xfrm>
            <a:off x="4502048" y="2628900"/>
            <a:ext cx="3187598" cy="24765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Why the HKMA built C-RAF, how 2.0 was rewritten in 2019–20, what changed, and what comes next.</a:t>
            </a:r>
            <a:endParaRPr lang="en-US" sz="2000" dirty="0"/>
          </a:p>
        </p:txBody>
      </p:sp>
      <p:sp>
        <p:nvSpPr>
          <p:cNvPr id="14" name="Shape 12"/>
          <p:cNvSpPr/>
          <p:nvPr/>
        </p:nvSpPr>
        <p:spPr>
          <a:xfrm>
            <a:off x="8089697" y="1847850"/>
            <a:ext cx="3568598" cy="28575"/>
          </a:xfrm>
          <a:prstGeom prst="rect">
            <a:avLst/>
          </a:prstGeom>
          <a:solidFill>
            <a:srgbClr val="D04A02"/>
          </a:solidFill>
          <a:ln/>
        </p:spPr>
      </p:sp>
      <p:sp>
        <p:nvSpPr>
          <p:cNvPr id="15" name="Shape 13"/>
          <p:cNvSpPr/>
          <p:nvPr/>
        </p:nvSpPr>
        <p:spPr>
          <a:xfrm>
            <a:off x="8089697" y="1876425"/>
            <a:ext cx="3568598" cy="3305175"/>
          </a:xfrm>
          <a:prstGeom prst="rect">
            <a:avLst/>
          </a:prstGeom>
          <a:solidFill>
            <a:srgbClr val="FDF0E6"/>
          </a:solidFill>
          <a:ln w="6350">
            <a:solidFill>
              <a:srgbClr val="FDF0E6"/>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MODULE 3 · 35 MIN</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Your turn: the RFI</a:t>
            </a:r>
            <a:endParaRPr lang="en-US" sz="2000" dirty="0"/>
          </a:p>
        </p:txBody>
      </p:sp>
      <p:sp>
        <p:nvSpPr>
          <p:cNvPr id="18" name="Text 16"/>
          <p:cNvSpPr/>
          <p:nvPr/>
        </p:nvSpPr>
        <p:spPr>
          <a:xfrm>
            <a:off x="8280197" y="2628900"/>
            <a:ext cx="3187598" cy="24765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In groups: what would you ask a bank for? Then read what it actually sent.</a:t>
            </a:r>
            <a:endParaRPr lang="en-US" sz="2000" dirty="0"/>
          </a:p>
        </p:txBody>
      </p:sp>
      <p:sp>
        <p:nvSpPr>
          <p:cNvPr id="19" name="Text 17"/>
          <p:cNvSpPr/>
          <p:nvPr/>
        </p:nvSpPr>
        <p:spPr>
          <a:xfrm>
            <a:off x="533400" y="5391150"/>
            <a:ext cx="11124895" cy="374650"/>
          </a:xfrm>
          <a:prstGeom prst="rect">
            <a:avLst/>
          </a:prstGeom>
          <a:noFill/>
          <a:ln/>
        </p:spPr>
        <p:txBody>
          <a:bodyPr wrap="square" rtlCol="0" anchor="t"/>
          <a:lstStyle/>
          <a:p>
            <a:pPr indent="0" marL="0">
              <a:lnSpc>
                <a:spcPct val="125000"/>
              </a:lnSpc>
              <a:buNone/>
            </a:pPr>
            <a:r>
              <a:rPr lang="en-US" sz="2000" dirty="0">
                <a:solidFill>
                  <a:srgbClr val="3D3D3D"/>
                </a:solidFill>
                <a:latin typeface="Arial" pitchFamily="34" charset="0"/>
                <a:ea typeface="Arial" pitchFamily="34" charset="-122"/>
                <a:cs typeface="Arial" pitchFamily="34" charset="-120"/>
              </a:rPr>
              <a:t>A 10-minute break after Module 1, and another after Module 2.</a:t>
            </a:r>
            <a:endParaRPr lang="en-US" sz="2000" dirty="0"/>
          </a:p>
        </p:txBody>
      </p:sp>
      <p:sp>
        <p:nvSpPr>
          <p:cNvPr id="20" name="Text 1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1 · GUEST SPEAKER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Please welcome Eleanor Heung.</a:t>
            </a:r>
            <a:endParaRPr lang="en-US" sz="3000" dirty="0"/>
          </a:p>
        </p:txBody>
      </p:sp>
      <p:sp>
        <p:nvSpPr>
          <p:cNvPr id="4" name="Shape 2"/>
          <p:cNvSpPr/>
          <p:nvPr/>
        </p:nvSpPr>
        <p:spPr>
          <a:xfrm>
            <a:off x="533400" y="1847850"/>
            <a:ext cx="5334000" cy="28575"/>
          </a:xfrm>
          <a:prstGeom prst="rect">
            <a:avLst/>
          </a:prstGeom>
          <a:solidFill>
            <a:srgbClr val="D04A02"/>
          </a:solidFill>
          <a:ln/>
        </p:spPr>
      </p:sp>
      <p:sp>
        <p:nvSpPr>
          <p:cNvPr id="5" name="Shape 3"/>
          <p:cNvSpPr/>
          <p:nvPr/>
        </p:nvSpPr>
        <p:spPr>
          <a:xfrm>
            <a:off x="533400" y="1876425"/>
            <a:ext cx="5334000" cy="3781425"/>
          </a:xfrm>
          <a:prstGeom prst="rect">
            <a:avLst/>
          </a:prstGeom>
          <a:solidFill>
            <a:srgbClr val="FDF0E6"/>
          </a:solidFill>
          <a:ln w="6350">
            <a:solidFill>
              <a:srgbClr val="FDF0E6"/>
            </a:solidFill>
            <a:prstDash val="solid"/>
          </a:ln>
        </p:spPr>
      </p:sp>
      <p:sp>
        <p:nvSpPr>
          <p:cNvPr id="6" name="Text 4"/>
          <p:cNvSpPr/>
          <p:nvPr/>
        </p:nvSpPr>
        <p:spPr>
          <a:xfrm>
            <a:off x="723900" y="2000250"/>
            <a:ext cx="4953000"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INSURANCE AUTHORITY</a:t>
            </a:r>
            <a:endParaRPr lang="en-US" sz="1600" dirty="0"/>
          </a:p>
        </p:txBody>
      </p:sp>
      <p:sp>
        <p:nvSpPr>
          <p:cNvPr id="7" name="Text 5"/>
          <p:cNvSpPr/>
          <p:nvPr/>
        </p:nvSpPr>
        <p:spPr>
          <a:xfrm>
            <a:off x="723900" y="2276475"/>
            <a:ext cx="4953000"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Eleanor Heung — Policy and Legislation Manager</a:t>
            </a:r>
            <a:endParaRPr lang="en-US" sz="2000" dirty="0"/>
          </a:p>
        </p:txBody>
      </p:sp>
      <p:sp>
        <p:nvSpPr>
          <p:cNvPr id="8" name="Text 6"/>
          <p:cNvSpPr/>
          <p:nvPr/>
        </p:nvSpPr>
        <p:spPr>
          <a:xfrm>
            <a:off x="723900" y="2886075"/>
            <a:ext cx="4953000" cy="2695575"/>
          </a:xfrm>
          <a:prstGeom prst="rect">
            <a:avLst/>
          </a:prstGeom>
          <a:noFill/>
          <a:ln/>
        </p:spPr>
        <p:txBody>
          <a:bodyPr wrap="square" rtlCol="0" anchor="t"/>
          <a:lstStyle/>
          <a:p>
            <a:pPr indent="0" marL="0">
              <a:lnSpc>
                <a:spcPct val="130000"/>
              </a:lnSpc>
              <a:buNone/>
            </a:pPr>
            <a:r>
              <a:rPr lang="en-US" sz="1900" dirty="0">
                <a:solidFill>
                  <a:srgbClr val="3D3D3D"/>
                </a:solidFill>
                <a:latin typeface="Arial" pitchFamily="34" charset="0"/>
                <a:ea typeface="Arial" pitchFamily="34" charset="-122"/>
                <a:cs typeface="Arial" pitchFamily="34" charset="-120"/>
              </a:rPr>
              <a:t>Part of the project team that uplifted the IA’s Guideline on Cybersecurity (GL20).</a:t>
            </a:r>
            <a:endParaRPr lang="en-US" sz="1900" dirty="0"/>
          </a:p>
          <a:p>
            <a:pPr indent="0" marL="0">
              <a:lnSpc>
                <a:spcPct val="130000"/>
              </a:lnSpc>
              <a:buNone/>
            </a:pPr>
            <a:r>
              <a:rPr lang="en-US" sz="1900" dirty="0">
                <a:solidFill>
                  <a:srgbClr val="3D3D3D"/>
                </a:solidFill>
                <a:latin typeface="Arial" pitchFamily="34" charset="0"/>
                <a:ea typeface="Arial" pitchFamily="34" charset="-122"/>
                <a:cs typeface="Arial" pitchFamily="34" charset="-120"/>
              </a:rPr>
              <a:t>Has assessed insurers and banks against both GL20 and the HKMA’s C-RAF 2.0.</a:t>
            </a:r>
            <a:endParaRPr lang="en-US" sz="1900" dirty="0"/>
          </a:p>
          <a:p>
            <a:pPr indent="0" marL="0">
              <a:lnSpc>
                <a:spcPct val="130000"/>
              </a:lnSpc>
              <a:buNone/>
            </a:pPr>
            <a:r>
              <a:rPr lang="en-US" sz="1900" dirty="0">
                <a:solidFill>
                  <a:srgbClr val="3D3D3D"/>
                </a:solidFill>
                <a:latin typeface="Arial" pitchFamily="34" charset="0"/>
                <a:ea typeface="Arial" pitchFamily="34" charset="-122"/>
                <a:cs typeface="Arial" pitchFamily="34" charset="-120"/>
              </a:rPr>
              <a:t>Now on the regulator’s side of the table.</a:t>
            </a:r>
            <a:endParaRPr lang="en-US" sz="1900" dirty="0"/>
          </a:p>
        </p:txBody>
      </p:sp>
      <p:sp>
        <p:nvSpPr>
          <p:cNvPr id="9" name="Shape 7"/>
          <p:cNvSpPr/>
          <p:nvPr/>
        </p:nvSpPr>
        <p:spPr>
          <a:xfrm>
            <a:off x="6096000" y="1847850"/>
            <a:ext cx="5562295" cy="28575"/>
          </a:xfrm>
          <a:prstGeom prst="rect">
            <a:avLst/>
          </a:prstGeom>
          <a:solidFill>
            <a:srgbClr val="1A1A1A"/>
          </a:solidFill>
          <a:ln/>
        </p:spPr>
      </p:sp>
      <p:sp>
        <p:nvSpPr>
          <p:cNvPr id="10" name="Shape 8"/>
          <p:cNvSpPr/>
          <p:nvPr/>
        </p:nvSpPr>
        <p:spPr>
          <a:xfrm>
            <a:off x="6096000" y="1876425"/>
            <a:ext cx="5562295" cy="3781425"/>
          </a:xfrm>
          <a:prstGeom prst="rect">
            <a:avLst/>
          </a:prstGeom>
          <a:solidFill>
            <a:srgbClr val="F2F2F2"/>
          </a:solidFill>
          <a:ln w="6350">
            <a:solidFill>
              <a:srgbClr val="F2F2F2"/>
            </a:solidFill>
            <a:prstDash val="solid"/>
          </a:ln>
        </p:spPr>
      </p:sp>
      <p:sp>
        <p:nvSpPr>
          <p:cNvPr id="11" name="Text 9"/>
          <p:cNvSpPr/>
          <p:nvPr/>
        </p:nvSpPr>
        <p:spPr>
          <a:xfrm>
            <a:off x="6286500" y="2000250"/>
            <a:ext cx="5181295"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LISTEN FOR</a:t>
            </a:r>
            <a:endParaRPr lang="en-US" sz="1600" dirty="0"/>
          </a:p>
        </p:txBody>
      </p:sp>
      <p:sp>
        <p:nvSpPr>
          <p:cNvPr id="12" name="Text 10"/>
          <p:cNvSpPr/>
          <p:nvPr/>
        </p:nvSpPr>
        <p:spPr>
          <a:xfrm>
            <a:off x="6286500" y="2276475"/>
            <a:ext cx="51812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How does a regulator decide what to ask for?</a:t>
            </a:r>
            <a:endParaRPr lang="en-US" sz="2000" dirty="0"/>
          </a:p>
        </p:txBody>
      </p:sp>
      <p:sp>
        <p:nvSpPr>
          <p:cNvPr id="13" name="Text 11"/>
          <p:cNvSpPr/>
          <p:nvPr/>
        </p:nvSpPr>
        <p:spPr>
          <a:xfrm>
            <a:off x="6286500" y="2886075"/>
            <a:ext cx="5181295" cy="2695575"/>
          </a:xfrm>
          <a:prstGeom prst="rect">
            <a:avLst/>
          </a:prstGeom>
          <a:noFill/>
          <a:ln/>
        </p:spPr>
        <p:txBody>
          <a:bodyPr wrap="square" rtlCol="0" anchor="t"/>
          <a:lstStyle/>
          <a:p>
            <a:pPr indent="0" marL="0">
              <a:lnSpc>
                <a:spcPct val="130000"/>
              </a:lnSpc>
              <a:buNone/>
            </a:pPr>
            <a:r>
              <a:rPr lang="en-US" sz="1900" dirty="0">
                <a:solidFill>
                  <a:srgbClr val="3D3D3D"/>
                </a:solidFill>
                <a:latin typeface="Arial" pitchFamily="34" charset="0"/>
                <a:ea typeface="Arial" pitchFamily="34" charset="-122"/>
                <a:cs typeface="Arial" pitchFamily="34" charset="-120"/>
              </a:rPr>
              <a:t>What changes when you move from assessor to regulator?</a:t>
            </a:r>
            <a:endParaRPr lang="en-US" sz="1900" dirty="0"/>
          </a:p>
          <a:p>
            <a:pPr indent="0" marL="0">
              <a:lnSpc>
                <a:spcPct val="130000"/>
              </a:lnSpc>
              <a:buNone/>
            </a:pPr>
            <a:r>
              <a:rPr lang="en-US" sz="1900" dirty="0">
                <a:solidFill>
                  <a:srgbClr val="3D3D3D"/>
                </a:solidFill>
                <a:latin typeface="Arial" pitchFamily="34" charset="0"/>
                <a:ea typeface="Arial" pitchFamily="34" charset="-122"/>
                <a:cs typeface="Arial" pitchFamily="34" charset="-120"/>
              </a:rPr>
              <a:t>Where do banking and insurance expectations meet?</a:t>
            </a:r>
            <a:endParaRPr lang="en-US" sz="1900" dirty="0"/>
          </a:p>
          <a:p>
            <a:pPr indent="0" marL="0">
              <a:lnSpc>
                <a:spcPct val="130000"/>
              </a:lnSpc>
              <a:buNone/>
            </a:pPr>
            <a:r>
              <a:rPr lang="en-US" sz="1900" dirty="0">
                <a:solidFill>
                  <a:srgbClr val="3D3D3D"/>
                </a:solidFill>
                <a:latin typeface="Arial" pitchFamily="34" charset="0"/>
                <a:ea typeface="Arial" pitchFamily="34" charset="-122"/>
                <a:cs typeface="Arial" pitchFamily="34" charset="-120"/>
              </a:rPr>
              <a:t>What does a regulator want to see in evidence?</a:t>
            </a:r>
            <a:endParaRPr lang="en-US" sz="1900" dirty="0"/>
          </a:p>
        </p:txBody>
      </p:sp>
      <p:sp>
        <p:nvSpPr>
          <p:cNvPr id="14" name="Text 1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Module 1 · 30–35 minutes including Q&amp;A · followed by a 10-minute break</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BREAK  ·  10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Break.</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Thank you, Eleanor.</a:t>
            </a:r>
            <a:endParaRPr lang="en-US" sz="2000" dirty="0"/>
          </a:p>
          <a:p>
            <a:pPr indent="0" marL="0">
              <a:lnSpc>
                <a:spcPct val="135000"/>
              </a:lnSpc>
              <a:buNone/>
            </a:pP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Module 2 after the break: C-RAF, from the inside.</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MODULE 2  ·  50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C-RAF,</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from the Inside.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1. 2016: why the HKMA built it</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2. 2019–20: how 2.0 was made</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3. What changed in 2.0</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4. The 174, read through an RFI</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5. Since then — and a 3.0?</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WHY THE HKMA BUILT IT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2016: a heist abroad, then a framework.</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571750"/>
                <a:gridCol w="8991600"/>
              </a:tblGrid>
              <a:tr h="6667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happened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Feb 2016</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Bangladesh Bank: attackers use its SWIFT access to send fraudulent transfers — US$81m lost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18 May 2016</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HKMA Cybersecurity Summit: the Cybersecurity Fortification Initiative (CFI) is announced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24 May 2016</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CFI circular to all authorized institutions (AIs)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21 Dec 2016</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C-RAF launched; the professional development programme and the intelligence-sharing platform go live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Sep 2017 · Jun 2018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Phase 1 (~30 AIs) completes the assessments, then the iCAST tests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5050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circulars 24 May 2016 and 21 Dec 2016 · HKMA Cybersecurity Summit speech, 18 May 2016 · Week 1: “Before the Frameworks”</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WHY THE HKMA BUILT IT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CFI stands on three pillars.</a:t>
            </a:r>
            <a:endParaRPr lang="en-US" sz="3000" dirty="0"/>
          </a:p>
        </p:txBody>
      </p:sp>
      <p:sp>
        <p:nvSpPr>
          <p:cNvPr id="4" name="Shape 2"/>
          <p:cNvSpPr/>
          <p:nvPr/>
        </p:nvSpPr>
        <p:spPr>
          <a:xfrm>
            <a:off x="533400" y="1847850"/>
            <a:ext cx="3568598" cy="28575"/>
          </a:xfrm>
          <a:prstGeom prst="rect">
            <a:avLst/>
          </a:prstGeom>
          <a:solidFill>
            <a:srgbClr val="D04A02"/>
          </a:solidFill>
          <a:ln/>
        </p:spPr>
      </p:sp>
      <p:sp>
        <p:nvSpPr>
          <p:cNvPr id="5" name="Shape 3"/>
          <p:cNvSpPr/>
          <p:nvPr/>
        </p:nvSpPr>
        <p:spPr>
          <a:xfrm>
            <a:off x="533400" y="1876425"/>
            <a:ext cx="3568598" cy="3781425"/>
          </a:xfrm>
          <a:prstGeom prst="rect">
            <a:avLst/>
          </a:prstGeom>
          <a:solidFill>
            <a:srgbClr val="FDF0E6"/>
          </a:solidFill>
          <a:ln w="6350">
            <a:solidFill>
              <a:srgbClr val="FDF0E6"/>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ASSESS</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C-RAF</a:t>
            </a:r>
            <a:endParaRPr lang="en-US" sz="2000" dirty="0"/>
          </a:p>
        </p:txBody>
      </p:sp>
      <p:sp>
        <p:nvSpPr>
          <p:cNvPr id="8" name="Text 6"/>
          <p:cNvSpPr/>
          <p:nvPr/>
        </p:nvSpPr>
        <p:spPr>
          <a:xfrm>
            <a:off x="723900" y="2628900"/>
            <a:ext cx="3187598" cy="29527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The Cyber Resilience Assessment Framework. How each bank measures its inherent risk and its cyber maturity, and tests itself with a simulated attack.</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378142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PEOPLE</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PDP</a:t>
            </a:r>
            <a:endParaRPr lang="en-US" sz="2000" dirty="0"/>
          </a:p>
        </p:txBody>
      </p:sp>
      <p:sp>
        <p:nvSpPr>
          <p:cNvPr id="13" name="Text 11"/>
          <p:cNvSpPr/>
          <p:nvPr/>
        </p:nvSpPr>
        <p:spPr>
          <a:xfrm>
            <a:off x="4502048" y="2628900"/>
            <a:ext cx="3187598" cy="29527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The Professional Development Programme. Who is qualified to do the assessing and the testing.</a:t>
            </a:r>
            <a:endParaRPr lang="en-US" sz="2000" dirty="0"/>
          </a:p>
        </p:txBody>
      </p:sp>
      <p:sp>
        <p:nvSpPr>
          <p:cNvPr id="14" name="Shape 12"/>
          <p:cNvSpPr/>
          <p:nvPr/>
        </p:nvSpPr>
        <p:spPr>
          <a:xfrm>
            <a:off x="8089697" y="1847850"/>
            <a:ext cx="3568598" cy="28575"/>
          </a:xfrm>
          <a:prstGeom prst="rect">
            <a:avLst/>
          </a:prstGeom>
          <a:solidFill>
            <a:srgbClr val="1A1A1A"/>
          </a:solidFill>
          <a:ln/>
        </p:spPr>
      </p:sp>
      <p:sp>
        <p:nvSpPr>
          <p:cNvPr id="15" name="Shape 13"/>
          <p:cNvSpPr/>
          <p:nvPr/>
        </p:nvSpPr>
        <p:spPr>
          <a:xfrm>
            <a:off x="8089697" y="1876425"/>
            <a:ext cx="3568598" cy="3781425"/>
          </a:xfrm>
          <a:prstGeom prst="rect">
            <a:avLst/>
          </a:prstGeom>
          <a:solidFill>
            <a:srgbClr val="F2F2F2"/>
          </a:solidFill>
          <a:ln w="6350">
            <a:solidFill>
              <a:srgbClr val="F2F2F2"/>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SHARE</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CISP</a:t>
            </a:r>
            <a:endParaRPr lang="en-US" sz="2000" dirty="0"/>
          </a:p>
        </p:txBody>
      </p:sp>
      <p:sp>
        <p:nvSpPr>
          <p:cNvPr id="18" name="Text 16"/>
          <p:cNvSpPr/>
          <p:nvPr/>
        </p:nvSpPr>
        <p:spPr>
          <a:xfrm>
            <a:off x="8280197" y="2628900"/>
            <a:ext cx="3187598" cy="29527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The Cyber Intelligence Sharing Platform. How banks share threat intelligence with each other.</a:t>
            </a:r>
            <a:endParaRPr lang="en-US" sz="2000" dirty="0"/>
          </a:p>
        </p:txBody>
      </p:sp>
      <p:sp>
        <p:nvSpPr>
          <p:cNvPr id="19" name="Text 1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 21 Dec 2016 · HKMA circular “Cybersecurity Fortification Initiative 2.0”, 3 Nov 2020, and Annex</a:t>
            </a:r>
            <a:endParaRPr lang="en-US" sz="1300" dirty="0"/>
          </a:p>
        </p:txBody>
      </p:sp>
      <p:sp>
        <p:nvSpPr>
          <p:cNvPr id="20" name="Text 1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HOW C-RAF WORKS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Risk sets the bar; maturity is measured against it.</a:t>
            </a:r>
            <a:endParaRPr lang="en-US" sz="3000" dirty="0"/>
          </a:p>
        </p:txBody>
      </p:sp>
      <p:sp>
        <p:nvSpPr>
          <p:cNvPr id="4" name="Shape 2"/>
          <p:cNvSpPr/>
          <p:nvPr/>
        </p:nvSpPr>
        <p:spPr>
          <a:xfrm>
            <a:off x="533400" y="1847850"/>
            <a:ext cx="7048500" cy="28575"/>
          </a:xfrm>
          <a:prstGeom prst="rect">
            <a:avLst/>
          </a:prstGeom>
          <a:solidFill>
            <a:srgbClr val="1A1A1A"/>
          </a:solidFill>
          <a:ln/>
        </p:spPr>
      </p:sp>
      <p:pic>
        <p:nvPicPr>
          <p:cNvPr id="5" name="Image 0" descr="/home/claude/w5/vis/fig_process.png">    </p:cNvPr>
          <p:cNvPicPr>
            <a:picLocks noChangeAspect="1"/>
          </p:cNvPicPr>
          <p:nvPr/>
        </p:nvPicPr>
        <p:blipFill>
          <a:blip r:embed="rId1"/>
          <a:srcRect l="0" r="0" t="0" b="0"/>
          <a:stretch/>
        </p:blipFill>
        <p:spPr>
          <a:xfrm>
            <a:off x="533400" y="1943100"/>
            <a:ext cx="7048500" cy="3714750"/>
          </a:xfrm>
          <a:prstGeom prst="rect">
            <a:avLst/>
          </a:prstGeom>
        </p:spPr>
      </p:pic>
      <p:sp>
        <p:nvSpPr>
          <p:cNvPr id="6" name="Text 3"/>
          <p:cNvSpPr/>
          <p:nvPr/>
        </p:nvSpPr>
        <p:spPr>
          <a:xfrm>
            <a:off x="533400" y="5695950"/>
            <a:ext cx="7048500" cy="247650"/>
          </a:xfrm>
          <a:prstGeom prst="rect">
            <a:avLst/>
          </a:prstGeom>
          <a:noFill/>
          <a:ln/>
        </p:spPr>
        <p:txBody>
          <a:bodyPr wrap="square" rtlCol="0" anchor="ctr"/>
          <a:lstStyle/>
          <a:p>
            <a:pPr indent="0" marL="0">
              <a:buNone/>
            </a:pPr>
            <a:r>
              <a:rPr lang="en-US" sz="1600" i="1" dirty="0">
                <a:solidFill>
                  <a:srgbClr val="7A7A7A"/>
                </a:solidFill>
                <a:latin typeface="Arial" pitchFamily="34" charset="0"/>
                <a:ea typeface="Arial" pitchFamily="34" charset="-122"/>
                <a:cs typeface="Arial" pitchFamily="34" charset="-120"/>
              </a:rPr>
              <a:t>HKMA C-RAF 2.0, Figure 1: process flow</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058150" y="1847850"/>
          <a:ext cx="3600145" cy="914400"/>
        </p:xfrm>
        <a:graphic>
          <a:graphicData uri="http://schemas.openxmlformats.org/drawingml/2006/table">
            <a:tbl>
              <a:tblPr/>
              <a:tblGrid>
                <a:gridCol w="1800073"/>
                <a:gridCol w="1800073"/>
              </a:tblGrid>
              <a:tr h="4572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Inherent risk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Must reach</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Low</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Baseline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Medium</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Intermediate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High</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Advanced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8" name="Shape 4"/>
          <p:cNvSpPr/>
          <p:nvPr/>
        </p:nvSpPr>
        <p:spPr>
          <a:xfrm>
            <a:off x="8058150" y="2295525"/>
            <a:ext cx="3600145" cy="19050"/>
          </a:xfrm>
          <a:prstGeom prst="rect">
            <a:avLst/>
          </a:prstGeom>
          <a:solidFill>
            <a:srgbClr val="1A1A1A"/>
          </a:solidFill>
          <a:ln/>
        </p:spPr>
      </p:sp>
      <p:sp>
        <p:nvSpPr>
          <p:cNvPr id="9" name="Shape 5"/>
          <p:cNvSpPr/>
          <p:nvPr/>
        </p:nvSpPr>
        <p:spPr>
          <a:xfrm>
            <a:off x="8058150" y="3905250"/>
            <a:ext cx="3600145" cy="28575"/>
          </a:xfrm>
          <a:prstGeom prst="rect">
            <a:avLst/>
          </a:prstGeom>
          <a:solidFill>
            <a:srgbClr val="D04A02"/>
          </a:solidFill>
          <a:ln/>
        </p:spPr>
      </p:sp>
      <p:sp>
        <p:nvSpPr>
          <p:cNvPr id="10" name="Shape 6"/>
          <p:cNvSpPr/>
          <p:nvPr/>
        </p:nvSpPr>
        <p:spPr>
          <a:xfrm>
            <a:off x="8058150" y="3933825"/>
            <a:ext cx="3600145" cy="2219325"/>
          </a:xfrm>
          <a:prstGeom prst="rect">
            <a:avLst/>
          </a:prstGeom>
          <a:solidFill>
            <a:srgbClr val="FDF0E6"/>
          </a:solidFill>
          <a:ln w="6350">
            <a:solidFill>
              <a:srgbClr val="FDF0E6"/>
            </a:solidFill>
            <a:prstDash val="solid"/>
          </a:ln>
        </p:spPr>
      </p:sp>
      <p:sp>
        <p:nvSpPr>
          <p:cNvPr id="11" name="Text 7"/>
          <p:cNvSpPr/>
          <p:nvPr/>
        </p:nvSpPr>
        <p:spPr>
          <a:xfrm>
            <a:off x="8248650" y="4057650"/>
            <a:ext cx="321914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THE LEVELS STACK</a:t>
            </a:r>
            <a:endParaRPr lang="en-US" sz="1600" dirty="0"/>
          </a:p>
        </p:txBody>
      </p:sp>
      <p:sp>
        <p:nvSpPr>
          <p:cNvPr id="12" name="Text 8"/>
          <p:cNvSpPr/>
          <p:nvPr/>
        </p:nvSpPr>
        <p:spPr>
          <a:xfrm>
            <a:off x="8248650" y="4333875"/>
            <a:ext cx="3219145" cy="79057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High risk = assess every principle at all three levels.</a:t>
            </a:r>
            <a:endParaRPr lang="en-US" sz="2000" dirty="0"/>
          </a:p>
        </p:txBody>
      </p:sp>
      <p:sp>
        <p:nvSpPr>
          <p:cNvPr id="13" name="Text 9"/>
          <p:cNvSpPr/>
          <p:nvPr/>
        </p:nvSpPr>
        <p:spPr>
          <a:xfrm>
            <a:off x="8248650" y="5200650"/>
            <a:ext cx="3219145" cy="876300"/>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Medium or High also means iCAST.</a:t>
            </a:r>
            <a:endParaRPr lang="en-US" sz="1800" dirty="0"/>
          </a:p>
        </p:txBody>
      </p:sp>
      <p:sp>
        <p:nvSpPr>
          <p:cNvPr id="14" name="Text 10"/>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§1.1.4, §2.6, §3.3.1</a:t>
            </a:r>
            <a:endParaRPr lang="en-US" sz="1300" dirty="0"/>
          </a:p>
        </p:txBody>
      </p:sp>
      <p:sp>
        <p:nvSpPr>
          <p:cNvPr id="15" name="Text 11"/>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HOW C-RAF WORKS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C-RAF 1.0 rolled out in three waves.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143000"/>
                <a:gridCol w="4953000"/>
                <a:gridCol w="3048000"/>
                <a:gridCol w="2419350"/>
              </a:tblGrid>
              <a:tr h="6667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Phase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Risk + maturity assessment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iCAST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~30 AIs: all major retail banks, selected global banks, a few smaller AIs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End-Sep 2017</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End-Jun 2018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~60 AIs with higher risk profiles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End-Dec 2018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End-Sep 2019</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~90 remaining AIs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End-Sep 2019</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Mid-2020</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505075"/>
            <a:ext cx="11124895" cy="19050"/>
          </a:xfrm>
          <a:prstGeom prst="rect">
            <a:avLst/>
          </a:prstGeom>
          <a:solidFill>
            <a:srgbClr val="1A1A1A"/>
          </a:solidFill>
          <a:ln/>
        </p:spPr>
      </p:sp>
      <p:sp>
        <p:nvSpPr>
          <p:cNvPr id="6" name="Shape 3"/>
          <p:cNvSpPr/>
          <p:nvPr/>
        </p:nvSpPr>
        <p:spPr>
          <a:xfrm>
            <a:off x="533400" y="4724400"/>
            <a:ext cx="11124895" cy="28575"/>
          </a:xfrm>
          <a:prstGeom prst="rect">
            <a:avLst/>
          </a:prstGeom>
          <a:solidFill>
            <a:srgbClr val="D04A02"/>
          </a:solidFill>
          <a:ln/>
        </p:spPr>
      </p:sp>
      <p:sp>
        <p:nvSpPr>
          <p:cNvPr id="7" name="Shape 4"/>
          <p:cNvSpPr/>
          <p:nvPr/>
        </p:nvSpPr>
        <p:spPr>
          <a:xfrm>
            <a:off x="533400" y="4752975"/>
            <a:ext cx="11124895" cy="1114425"/>
          </a:xfrm>
          <a:prstGeom prst="rect">
            <a:avLst/>
          </a:prstGeom>
          <a:solidFill>
            <a:srgbClr val="FDF0E6"/>
          </a:solidFill>
          <a:ln w="6350">
            <a:solidFill>
              <a:srgbClr val="FDF0E6"/>
            </a:solidFill>
            <a:prstDash val="solid"/>
          </a:ln>
        </p:spPr>
      </p:sp>
      <p:sp>
        <p:nvSpPr>
          <p:cNvPr id="8" name="Text 5"/>
          <p:cNvSpPr/>
          <p:nvPr/>
        </p:nvSpPr>
        <p:spPr>
          <a:xfrm>
            <a:off x="723900" y="487680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HKMA, JUNE 2018</a:t>
            </a:r>
            <a:endParaRPr lang="en-US" sz="1600" dirty="0"/>
          </a:p>
        </p:txBody>
      </p:sp>
      <p:sp>
        <p:nvSpPr>
          <p:cNvPr id="9" name="Text 6"/>
          <p:cNvSpPr/>
          <p:nvPr/>
        </p:nvSpPr>
        <p:spPr>
          <a:xfrm>
            <a:off x="723900" y="515302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Once assessed, AIs should devote adequate management attention and resources to rectifying all the control gaps identified.</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circulars 21 Dec 2016 and 12 Jun 2018 (“Implementation of Cyber Resilience Assessment Framework”)</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AFTER THE ASSESSMENT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Then the regulator asks: did you actually fix it?</a:t>
            </a:r>
            <a:endParaRPr lang="en-US" sz="3000" dirty="0"/>
          </a:p>
        </p:txBody>
      </p:sp>
      <p:sp>
        <p:nvSpPr>
          <p:cNvPr id="4" name="Shape 2"/>
          <p:cNvSpPr/>
          <p:nvPr/>
        </p:nvSpPr>
        <p:spPr>
          <a:xfrm>
            <a:off x="533400" y="1847850"/>
            <a:ext cx="5457673" cy="28575"/>
          </a:xfrm>
          <a:prstGeom prst="rect">
            <a:avLst/>
          </a:prstGeom>
          <a:solidFill>
            <a:srgbClr val="1A1A1A"/>
          </a:solidFill>
          <a:ln/>
        </p:spPr>
      </p:sp>
      <p:sp>
        <p:nvSpPr>
          <p:cNvPr id="5" name="Shape 3"/>
          <p:cNvSpPr/>
          <p:nvPr/>
        </p:nvSpPr>
        <p:spPr>
          <a:xfrm>
            <a:off x="533400" y="1876425"/>
            <a:ext cx="5457673" cy="3781425"/>
          </a:xfrm>
          <a:prstGeom prst="rect">
            <a:avLst/>
          </a:prstGeom>
          <a:solidFill>
            <a:srgbClr val="F2F2F2"/>
          </a:solidFill>
          <a:ln w="6350">
            <a:solidFill>
              <a:srgbClr val="F2F2F2"/>
            </a:solidFill>
            <a:prstDash val="solid"/>
          </a:ln>
        </p:spPr>
      </p:sp>
      <p:sp>
        <p:nvSpPr>
          <p:cNvPr id="6" name="Text 4"/>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A REMEDIATION VALIDATION, IN PRACTICE</a:t>
            </a:r>
            <a:endParaRPr lang="en-US" sz="1600" dirty="0"/>
          </a:p>
        </p:txBody>
      </p:sp>
      <p:sp>
        <p:nvSpPr>
          <p:cNvPr id="7" name="Text 5"/>
          <p:cNvSpPr/>
          <p:nvPr/>
        </p:nvSpPr>
        <p:spPr>
          <a:xfrm>
            <a:off x="723900" y="2276475"/>
            <a:ext cx="5076673"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An independent check of every gap, a year or two later.</a:t>
            </a:r>
            <a:endParaRPr lang="en-US" sz="2000" dirty="0"/>
          </a:p>
        </p:txBody>
      </p:sp>
      <p:sp>
        <p:nvSpPr>
          <p:cNvPr id="8" name="Text 6"/>
          <p:cNvSpPr/>
          <p:nvPr/>
        </p:nvSpPr>
        <p:spPr>
          <a:xfrm>
            <a:off x="723900" y="2886075"/>
            <a:ext cx="5076673" cy="2695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Read the Maturity Assessment and iCAST findings.</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Collect evidence of each fix: policies, configurations, records.</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Re-test technically where needed.</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Confirm what is still open, and the plan to close it.</a:t>
            </a:r>
            <a:endParaRPr lang="en-US" sz="1800" dirty="0"/>
          </a:p>
        </p:txBody>
      </p:sp>
      <p:sp>
        <p:nvSpPr>
          <p:cNvPr id="9" name="Shape 7"/>
          <p:cNvSpPr/>
          <p:nvPr/>
        </p:nvSpPr>
        <p:spPr>
          <a:xfrm>
            <a:off x="6200623" y="1847850"/>
            <a:ext cx="5457673" cy="28575"/>
          </a:xfrm>
          <a:prstGeom prst="rect">
            <a:avLst/>
          </a:prstGeom>
          <a:solidFill>
            <a:srgbClr val="D04A02"/>
          </a:solidFill>
          <a:ln/>
        </p:spPr>
      </p:sp>
      <p:sp>
        <p:nvSpPr>
          <p:cNvPr id="10" name="Shape 8"/>
          <p:cNvSpPr/>
          <p:nvPr/>
        </p:nvSpPr>
        <p:spPr>
          <a:xfrm>
            <a:off x="6200623" y="1876425"/>
            <a:ext cx="5457673" cy="3781425"/>
          </a:xfrm>
          <a:prstGeom prst="rect">
            <a:avLst/>
          </a:prstGeom>
          <a:solidFill>
            <a:srgbClr val="FDF0E6"/>
          </a:solidFill>
          <a:ln w="6350">
            <a:solidFill>
              <a:srgbClr val="FDF0E6"/>
            </a:solidFill>
            <a:prstDash val="solid"/>
          </a:ln>
        </p:spPr>
      </p:sp>
      <p:sp>
        <p:nvSpPr>
          <p:cNvPr id="11" name="Text 9"/>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FROM A SANITISED SAMPLE REPORT</a:t>
            </a:r>
            <a:endParaRPr lang="en-US" sz="1600" dirty="0"/>
          </a:p>
        </p:txBody>
      </p:sp>
      <p:sp>
        <p:nvSpPr>
          <p:cNvPr id="12" name="Text 10"/>
          <p:cNvSpPr/>
          <p:nvPr/>
        </p:nvSpPr>
        <p:spPr>
          <a:xfrm>
            <a:off x="6391123" y="2276475"/>
            <a:ext cx="5076673"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27 Maturity Assessment gaps, traced to 6 root causes.</a:t>
            </a:r>
            <a:endParaRPr lang="en-US" sz="2000" dirty="0"/>
          </a:p>
        </p:txBody>
      </p:sp>
      <p:sp>
        <p:nvSpPr>
          <p:cNvPr id="13" name="Text 11"/>
          <p:cNvSpPr/>
          <p:nvPr/>
        </p:nvSpPr>
        <p:spPr>
          <a:xfrm>
            <a:off x="6391123" y="2886075"/>
            <a:ext cx="5076673" cy="2695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The biggest: “ineffective IT operations and processes” — 8 gaps across Identification, Protection and Detection.</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Others: management oversight, cyber risk management, training, incident response, third parties.</a:t>
            </a:r>
            <a:endParaRPr lang="en-US" sz="1800" dirty="0"/>
          </a:p>
        </p:txBody>
      </p:sp>
      <p:sp>
        <p:nvSpPr>
          <p:cNvPr id="14" name="Text 1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sample report, “Independent Assessment on the Remediation Status … C-RAF Maturity Assessment and iCAST” (bank anonymised as “ABC”)</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HOW 2.0 WAS MADE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2019: one round done, and the world had moved.</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311467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EXPERIENCE</a:t>
            </a:r>
            <a:endParaRPr lang="en-US" sz="1600" dirty="0"/>
          </a:p>
        </p:txBody>
      </p:sp>
      <p:sp>
        <p:nvSpPr>
          <p:cNvPr id="7" name="Text 5"/>
          <p:cNvSpPr/>
          <p:nvPr/>
        </p:nvSpPr>
        <p:spPr>
          <a:xfrm>
            <a:off x="723900" y="2276475"/>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One full round complete</a:t>
            </a:r>
            <a:endParaRPr lang="en-US" sz="2000" dirty="0"/>
          </a:p>
        </p:txBody>
      </p:sp>
      <p:sp>
        <p:nvSpPr>
          <p:cNvPr id="8" name="Text 6"/>
          <p:cNvSpPr/>
          <p:nvPr/>
        </p:nvSpPr>
        <p:spPr>
          <a:xfrm>
            <a:off x="723900" y="2886075"/>
            <a:ext cx="3187598" cy="20288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Most AIs had been through C-RAF 1.0. There was now real experience — and real complaints — to learn from.</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311467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LANDSCAPE</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Technology had moved</a:t>
            </a:r>
            <a:endParaRPr lang="en-US" sz="2000" dirty="0"/>
          </a:p>
        </p:txBody>
      </p:sp>
      <p:sp>
        <p:nvSpPr>
          <p:cNvPr id="13" name="Text 11"/>
          <p:cNvSpPr/>
          <p:nvPr/>
        </p:nvSpPr>
        <p:spPr>
          <a:xfrm>
            <a:off x="4502048" y="2628900"/>
            <a:ext cx="3187598" cy="2286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Cloud, APIs, virtual banks, agile delivery. Some 1.0 controls read as if written for a data centre.</a:t>
            </a:r>
            <a:endParaRPr lang="en-US" sz="2000" dirty="0"/>
          </a:p>
        </p:txBody>
      </p:sp>
      <p:sp>
        <p:nvSpPr>
          <p:cNvPr id="14" name="Shape 12"/>
          <p:cNvSpPr/>
          <p:nvPr/>
        </p:nvSpPr>
        <p:spPr>
          <a:xfrm>
            <a:off x="8089697" y="1847850"/>
            <a:ext cx="3568598" cy="28575"/>
          </a:xfrm>
          <a:prstGeom prst="rect">
            <a:avLst/>
          </a:prstGeom>
          <a:solidFill>
            <a:srgbClr val="1A1A1A"/>
          </a:solidFill>
          <a:ln/>
        </p:spPr>
      </p:sp>
      <p:sp>
        <p:nvSpPr>
          <p:cNvPr id="15" name="Shape 13"/>
          <p:cNvSpPr/>
          <p:nvPr/>
        </p:nvSpPr>
        <p:spPr>
          <a:xfrm>
            <a:off x="8089697" y="1876425"/>
            <a:ext cx="3568598" cy="3114675"/>
          </a:xfrm>
          <a:prstGeom prst="rect">
            <a:avLst/>
          </a:prstGeom>
          <a:solidFill>
            <a:srgbClr val="F2F2F2"/>
          </a:solidFill>
          <a:ln w="6350">
            <a:solidFill>
              <a:srgbClr val="F2F2F2"/>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FEEDBACK</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Industry asked</a:t>
            </a:r>
            <a:endParaRPr lang="en-US" sz="2000" dirty="0"/>
          </a:p>
        </p:txBody>
      </p:sp>
      <p:sp>
        <p:nvSpPr>
          <p:cNvPr id="18" name="Text 16"/>
          <p:cNvSpPr/>
          <p:nvPr/>
        </p:nvSpPr>
        <p:spPr>
          <a:xfrm>
            <a:off x="8280197" y="2628900"/>
            <a:ext cx="3187598" cy="2286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Banks wanted clearer guidance, less duplication, and better PDP and CISP.</a:t>
            </a:r>
            <a:endParaRPr lang="en-US" sz="2000" dirty="0"/>
          </a:p>
        </p:txBody>
      </p:sp>
      <p:sp>
        <p:nvSpPr>
          <p:cNvPr id="19" name="Shape 17"/>
          <p:cNvSpPr/>
          <p:nvPr/>
        </p:nvSpPr>
        <p:spPr>
          <a:xfrm>
            <a:off x="533400" y="5181600"/>
            <a:ext cx="11124895" cy="28575"/>
          </a:xfrm>
          <a:prstGeom prst="rect">
            <a:avLst/>
          </a:prstGeom>
          <a:solidFill>
            <a:srgbClr val="D04A02"/>
          </a:solidFill>
          <a:ln/>
        </p:spPr>
      </p:sp>
      <p:sp>
        <p:nvSpPr>
          <p:cNvPr id="20" name="Shape 18"/>
          <p:cNvSpPr/>
          <p:nvPr/>
        </p:nvSpPr>
        <p:spPr>
          <a:xfrm>
            <a:off x="533400" y="5210175"/>
            <a:ext cx="11124895" cy="828675"/>
          </a:xfrm>
          <a:prstGeom prst="rect">
            <a:avLst/>
          </a:prstGeom>
          <a:solidFill>
            <a:srgbClr val="FDF0E6"/>
          </a:solidFill>
          <a:ln w="6350">
            <a:solidFill>
              <a:srgbClr val="FDF0E6"/>
            </a:solidFill>
            <a:prstDash val="solid"/>
          </a:ln>
        </p:spPr>
      </p:sp>
      <p:sp>
        <p:nvSpPr>
          <p:cNvPr id="21" name="Text 19"/>
          <p:cNvSpPr/>
          <p:nvPr/>
        </p:nvSpPr>
        <p:spPr>
          <a:xfrm>
            <a:off x="723900" y="53340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After a formal tender, the HKMA engaged PwC in May 2019 as the independent consultant for the review.</a:t>
            </a:r>
            <a:endParaRPr lang="en-US" sz="2000" dirty="0"/>
          </a:p>
        </p:txBody>
      </p:sp>
      <p:sp>
        <p:nvSpPr>
          <p:cNvPr id="22" name="Text 20"/>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The Proposed CFI Version 2.0 — Consultation Paper (Jan 2020), Foreword and Executive Summary · HKMA C-RAF 2.0 (Nov 2020) §1.1.1</a:t>
            </a:r>
            <a:endParaRPr lang="en-US" sz="1300" dirty="0"/>
          </a:p>
        </p:txBody>
      </p:sp>
      <p:sp>
        <p:nvSpPr>
          <p:cNvPr id="23" name="Text 21"/>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HOW 2.0 WAS MADE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How 2.0 was built: listen, benchmark, consult, publish.</a:t>
            </a:r>
            <a:endParaRPr lang="en-US" sz="3000" dirty="0"/>
          </a:p>
        </p:txBody>
      </p:sp>
      <p:sp>
        <p:nvSpPr>
          <p:cNvPr id="4" name="Shape 2"/>
          <p:cNvSpPr/>
          <p:nvPr/>
        </p:nvSpPr>
        <p:spPr>
          <a:xfrm>
            <a:off x="533400" y="1847850"/>
            <a:ext cx="6667500" cy="28575"/>
          </a:xfrm>
          <a:prstGeom prst="rect">
            <a:avLst/>
          </a:prstGeom>
          <a:solidFill>
            <a:srgbClr val="1A1A1A"/>
          </a:solidFill>
          <a:ln/>
        </p:spPr>
      </p:sp>
      <p:pic>
        <p:nvPicPr>
          <p:cNvPr id="5" name="Image 0" descr="/home/claude/w5/vis/fig_timeline.png">    </p:cNvPr>
          <p:cNvPicPr>
            <a:picLocks noChangeAspect="1"/>
          </p:cNvPicPr>
          <p:nvPr/>
        </p:nvPicPr>
        <p:blipFill>
          <a:blip r:embed="rId1"/>
          <a:srcRect l="0" r="0" t="0" b="0"/>
          <a:stretch/>
        </p:blipFill>
        <p:spPr>
          <a:xfrm>
            <a:off x="533400" y="1943100"/>
            <a:ext cx="6667500" cy="3810000"/>
          </a:xfrm>
          <a:prstGeom prst="rect">
            <a:avLst/>
          </a:prstGeom>
        </p:spPr>
      </p:pic>
      <p:sp>
        <p:nvSpPr>
          <p:cNvPr id="6" name="Text 3"/>
          <p:cNvSpPr/>
          <p:nvPr/>
        </p:nvSpPr>
        <p:spPr>
          <a:xfrm>
            <a:off x="533400" y="5791200"/>
            <a:ext cx="6667500" cy="247650"/>
          </a:xfrm>
          <a:prstGeom prst="rect">
            <a:avLst/>
          </a:prstGeom>
          <a:noFill/>
          <a:ln/>
        </p:spPr>
        <p:txBody>
          <a:bodyPr wrap="square" rtlCol="0" anchor="ctr"/>
          <a:lstStyle/>
          <a:p>
            <a:pPr indent="0" marL="0">
              <a:buNone/>
            </a:pPr>
            <a:r>
              <a:rPr lang="en-US" sz="1600" i="1" dirty="0">
                <a:solidFill>
                  <a:srgbClr val="7A7A7A"/>
                </a:solidFill>
                <a:latin typeface="Arial" pitchFamily="34" charset="0"/>
                <a:ea typeface="Arial" pitchFamily="34" charset="-122"/>
                <a:cs typeface="Arial" pitchFamily="34" charset="-120"/>
              </a:rPr>
              <a:t>Consultation paper (Jan 2020): the review timeline</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486650" y="1847850"/>
          <a:ext cx="4171645" cy="914400"/>
        </p:xfrm>
        <a:graphic>
          <a:graphicData uri="http://schemas.openxmlformats.org/drawingml/2006/table">
            <a:tbl>
              <a:tblPr/>
              <a:tblGrid>
                <a:gridCol w="1333500"/>
                <a:gridCol w="2838145"/>
              </a:tblGrid>
              <a:tr h="4381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Milestone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May 2019</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Kick-off</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Jul 2019</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Questionnaire and interviews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Oct 2019</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HKMA senior management endorse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16 Jan 2020</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Industry symposium</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Jan–Feb 2020</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Consultation paper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Mar, Jun 2020</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HKAB workshops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3 Nov 2020</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CFI 2.0 published</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 Jan 2021</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Effective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8" name="Shape 4"/>
          <p:cNvSpPr/>
          <p:nvPr/>
        </p:nvSpPr>
        <p:spPr>
          <a:xfrm>
            <a:off x="7486650" y="2276475"/>
            <a:ext cx="4171645" cy="19050"/>
          </a:xfrm>
          <a:prstGeom prst="rect">
            <a:avLst/>
          </a:prstGeom>
          <a:solidFill>
            <a:srgbClr val="1A1A1A"/>
          </a:solidFill>
          <a:ln/>
        </p:spPr>
      </p:sp>
      <p:sp>
        <p:nvSpPr>
          <p:cNvPr id="9" name="Text 5"/>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The Proposed CFI Version 2.0 — Consultation Paper (Jan 2020) §5 · HKMA circular “Cybersecurity Fortification Initiative 2.0”, 3 Nov 2020, and Annex</a:t>
            </a:r>
            <a:endParaRPr lang="en-US" sz="1300" dirty="0"/>
          </a:p>
        </p:txBody>
      </p:sp>
      <p:sp>
        <p:nvSpPr>
          <p:cNvPr id="10"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HOW 2.0 WAS MADE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We benchmarked each pillar against the world.</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667000"/>
                <a:gridCol w="8896350"/>
              </a:tblGrid>
              <a:tr h="7239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Pillar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Benchmarked against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Maturity Assessment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US FFIEC Cybersecurity Assessment Tool · NIST CSF · MAS Technology Risk Management Guidelines · CPMI-IOSCO cyber resilience guidance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iCAST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Bank of England CBEST · ECB TIBER-EU · ABS Adversarial Attack Simulation Exercises (Singapore) · GFMA penetration testing framework</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PDP</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Certifications recognised by the UK, EU and Singapore schemes: CREST, GIAC, Offensive Security and others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239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CISP</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Hong Kong’s Cybersec Infohub, FS-ISAC, HKCERT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5622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§1.1.6 footnote 1 · HKMA, The Proposed CFI Version 2.0 — Consultation Paper (Jan 2020)</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13</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HOW 2.0 WAS MADE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the industry told us.</a:t>
            </a:r>
            <a:endParaRPr lang="en-US" sz="3000" dirty="0"/>
          </a:p>
        </p:txBody>
      </p:sp>
      <p:sp>
        <p:nvSpPr>
          <p:cNvPr id="4" name="Shape 2"/>
          <p:cNvSpPr/>
          <p:nvPr/>
        </p:nvSpPr>
        <p:spPr>
          <a:xfrm>
            <a:off x="533400" y="1847850"/>
            <a:ext cx="3568598" cy="28575"/>
          </a:xfrm>
          <a:prstGeom prst="rect">
            <a:avLst/>
          </a:prstGeom>
          <a:solidFill>
            <a:srgbClr val="D04A02"/>
          </a:solidFill>
          <a:ln/>
        </p:spPr>
      </p:sp>
      <p:sp>
        <p:nvSpPr>
          <p:cNvPr id="5" name="Text 3"/>
          <p:cNvSpPr/>
          <p:nvPr/>
        </p:nvSpPr>
        <p:spPr>
          <a:xfrm>
            <a:off x="533400" y="1981200"/>
            <a:ext cx="35685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80+</a:t>
            </a:r>
            <a:endParaRPr lang="en-US" sz="3400" dirty="0"/>
          </a:p>
        </p:txBody>
      </p:sp>
      <p:sp>
        <p:nvSpPr>
          <p:cNvPr id="6" name="Text 4"/>
          <p:cNvSpPr/>
          <p:nvPr/>
        </p:nvSpPr>
        <p:spPr>
          <a:xfrm>
            <a:off x="533400" y="2571750"/>
            <a:ext cx="3568598" cy="85725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industry participants gave feedback before the consultation paper was drafted</a:t>
            </a:r>
            <a:endParaRPr lang="en-US" sz="1600" dirty="0"/>
          </a:p>
        </p:txBody>
      </p:sp>
      <p:sp>
        <p:nvSpPr>
          <p:cNvPr id="7" name="Shape 5"/>
          <p:cNvSpPr/>
          <p:nvPr/>
        </p:nvSpPr>
        <p:spPr>
          <a:xfrm>
            <a:off x="4311548" y="1847850"/>
            <a:ext cx="3568598" cy="28575"/>
          </a:xfrm>
          <a:prstGeom prst="rect">
            <a:avLst/>
          </a:prstGeom>
          <a:solidFill>
            <a:srgbClr val="D04A02"/>
          </a:solidFill>
          <a:ln/>
        </p:spPr>
      </p:sp>
      <p:sp>
        <p:nvSpPr>
          <p:cNvPr id="8" name="Text 6"/>
          <p:cNvSpPr/>
          <p:nvPr/>
        </p:nvSpPr>
        <p:spPr>
          <a:xfrm>
            <a:off x="4311548" y="1981200"/>
            <a:ext cx="35685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&gt; 95%</a:t>
            </a:r>
            <a:endParaRPr lang="en-US" sz="3400" dirty="0"/>
          </a:p>
        </p:txBody>
      </p:sp>
      <p:sp>
        <p:nvSpPr>
          <p:cNvPr id="9" name="Text 7"/>
          <p:cNvSpPr/>
          <p:nvPr/>
        </p:nvSpPr>
        <p:spPr>
          <a:xfrm>
            <a:off x="4311548" y="2571750"/>
            <a:ext cx="3568598" cy="85725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of AIs that completed the Maturity Assessment found it meaningful</a:t>
            </a:r>
            <a:endParaRPr lang="en-US" sz="1600" dirty="0"/>
          </a:p>
        </p:txBody>
      </p:sp>
      <p:sp>
        <p:nvSpPr>
          <p:cNvPr id="10" name="Shape 8"/>
          <p:cNvSpPr/>
          <p:nvPr/>
        </p:nvSpPr>
        <p:spPr>
          <a:xfrm>
            <a:off x="8089697" y="1847850"/>
            <a:ext cx="3568598" cy="28575"/>
          </a:xfrm>
          <a:prstGeom prst="rect">
            <a:avLst/>
          </a:prstGeom>
          <a:solidFill>
            <a:srgbClr val="D04A02"/>
          </a:solidFill>
          <a:ln/>
        </p:spPr>
      </p:sp>
      <p:sp>
        <p:nvSpPr>
          <p:cNvPr id="11" name="Text 9"/>
          <p:cNvSpPr/>
          <p:nvPr/>
        </p:nvSpPr>
        <p:spPr>
          <a:xfrm>
            <a:off x="8089697" y="1981200"/>
            <a:ext cx="35685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&gt; 90%</a:t>
            </a:r>
            <a:endParaRPr lang="en-US" sz="3400" dirty="0"/>
          </a:p>
        </p:txBody>
      </p:sp>
      <p:sp>
        <p:nvSpPr>
          <p:cNvPr id="12" name="Text 10"/>
          <p:cNvSpPr/>
          <p:nvPr/>
        </p:nvSpPr>
        <p:spPr>
          <a:xfrm>
            <a:off x="8089697" y="2571750"/>
            <a:ext cx="3568598" cy="85725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said their Inherent Risk Assessment outcome matched what they expected</a:t>
            </a:r>
            <a:endParaRPr lang="en-US" sz="1600" dirty="0"/>
          </a:p>
        </p:txBody>
      </p:sp>
      <p:sp>
        <p:nvSpPr>
          <p:cNvPr id="13" name="Shape 11"/>
          <p:cNvSpPr/>
          <p:nvPr/>
        </p:nvSpPr>
        <p:spPr>
          <a:xfrm>
            <a:off x="533400" y="3752850"/>
            <a:ext cx="11124895" cy="28575"/>
          </a:xfrm>
          <a:prstGeom prst="rect">
            <a:avLst/>
          </a:prstGeom>
          <a:solidFill>
            <a:srgbClr val="D04A02"/>
          </a:solidFill>
          <a:ln/>
        </p:spPr>
      </p:sp>
      <p:sp>
        <p:nvSpPr>
          <p:cNvPr id="14" name="Shape 12"/>
          <p:cNvSpPr/>
          <p:nvPr/>
        </p:nvSpPr>
        <p:spPr>
          <a:xfrm>
            <a:off x="533400" y="3781425"/>
            <a:ext cx="11124895" cy="1876425"/>
          </a:xfrm>
          <a:prstGeom prst="rect">
            <a:avLst/>
          </a:prstGeom>
          <a:solidFill>
            <a:srgbClr val="FDF0E6"/>
          </a:solidFill>
          <a:ln w="6350">
            <a:solidFill>
              <a:srgbClr val="FDF0E6"/>
            </a:solidFill>
            <a:prstDash val="solid"/>
          </a:ln>
        </p:spPr>
      </p:sp>
      <p:sp>
        <p:nvSpPr>
          <p:cNvPr id="15" name="Text 13"/>
          <p:cNvSpPr/>
          <p:nvPr/>
        </p:nvSpPr>
        <p:spPr>
          <a:xfrm>
            <a:off x="723900" y="3905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BUT THE SAME FEEDBACK SAID</a:t>
            </a:r>
            <a:endParaRPr lang="en-US" sz="1600" dirty="0"/>
          </a:p>
        </p:txBody>
      </p:sp>
      <p:sp>
        <p:nvSpPr>
          <p:cNvPr id="16" name="Text 14"/>
          <p:cNvSpPr/>
          <p:nvPr/>
        </p:nvSpPr>
        <p:spPr>
          <a:xfrm>
            <a:off x="723900" y="418147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Too much duplication. Controls open to interpretation. Assessors too close to the controls. Threat intelligence not actionable.</a:t>
            </a:r>
            <a:endParaRPr lang="en-US" sz="2000" dirty="0"/>
          </a:p>
        </p:txBody>
      </p:sp>
      <p:sp>
        <p:nvSpPr>
          <p:cNvPr id="17" name="Text 15"/>
          <p:cNvSpPr/>
          <p:nvPr/>
        </p:nvSpPr>
        <p:spPr>
          <a:xfrm>
            <a:off x="723900" y="4791075"/>
            <a:ext cx="10743895" cy="79057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Supportive of the framework — critical of how it was run. That is what 2.0 had to fix.</a:t>
            </a:r>
            <a:endParaRPr lang="en-US" sz="2000" dirty="0"/>
          </a:p>
        </p:txBody>
      </p:sp>
      <p:sp>
        <p:nvSpPr>
          <p:cNvPr id="18" name="Text 1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The Proposed CFI Version 2.0 — Consultation Paper (Jan 2020) Foreword ¶2, Executive Summary ¶3, §2.1.1</a:t>
            </a:r>
            <a:endParaRPr lang="en-US" sz="1300" dirty="0"/>
          </a:p>
        </p:txBody>
      </p:sp>
      <p:sp>
        <p:nvSpPr>
          <p:cNvPr id="19" name="Text 1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14</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HOW 2.0 WAS MADE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Nineteen recommendations, under six themes.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190750"/>
                <a:gridCol w="3429000"/>
                <a:gridCol w="5943600"/>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Theme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Aim</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For example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Effectiveness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Better evaluate the quality of controls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Blue Team requirements for iCAST; principle-based Control Principles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Alignment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Match overseas practice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New controls for new technology; updated certification list; standard iCAST risk rating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Guidance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Clear advice on key topics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Refined inherent risk calculation; objectives and sample success criteria per Control Principle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Flexibility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Cut compliance cost, not resilience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Leverage group or head-office assessments; opt in to “High”</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Simplicity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Streamline the assessment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 generic threat landscape report to start the tailored one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Collaboration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Peers, ecosystem, HKMA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Technical and process enhancements to CISP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288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The Proposed CFI Version 2.0 — Consultation Paper (Jan 2020) Executive Summary ¶6–7</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HOW 2.0 WAS MADE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Five ideas we previewed at the symposium.</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429000"/>
                <a:gridCol w="8134350"/>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Idea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means in 2.0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Upward override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D-SIBs and virtual banks are presumed High risk; any AI may opt in to High. Either way, skip the Inherent Risk Assessment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Leverage group assessments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Reuse a group or head-office assessment if 5 conditions hold: scope, qualification, HKMA format, HK referencing, fill the gaps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Independent assessors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Assessors and testers independent of those who design, implement or operate the controls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 three-year cycle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Assess generally every three years — sooner for High risk or major change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Fewer, clearer controls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Consolidate duplicates; replace over-prescriptive controls with principle-based ones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669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The Proposed CFI Version 2.0 — Consultation Paper (Jan 2020) §2 · HKMA C-RAF 2.0 (Nov 2020) §1.2.2–1.2.4, §2.5.1–2.5.2</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85725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 · INHERENT RISK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2098518"/>
            <a:ext cx="9906000" cy="1898965"/>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A bank rates its inherent risk indicators: 14 High, 16 Medium, 29 Low.</a:t>
            </a:r>
            <a:endParaRPr lang="en-US" sz="3400" dirty="0"/>
          </a:p>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What is its overall inherent risk?</a:t>
            </a:r>
            <a:endParaRPr lang="en-US" sz="3400" dirty="0"/>
          </a:p>
        </p:txBody>
      </p:sp>
      <p:sp>
        <p:nvSpPr>
          <p:cNvPr id="5" name="Text 3"/>
          <p:cNvSpPr/>
          <p:nvPr/>
        </p:nvSpPr>
        <p:spPr>
          <a:xfrm>
            <a:off x="533400" y="4264182"/>
            <a:ext cx="85725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HANDS UP: LOW · MEDIUM · HIGH</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17</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PULSE CHECK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Low under 1.0. Medium under 2.0.</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5334000"/>
                <a:gridCol w="2476500"/>
                <a:gridCol w="3752850"/>
              </a:tblGrid>
              <a:tr h="6667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Rule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Result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C-RAF 1.0: the level with the most indicators wins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Low</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29 Low is the largest count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C-RAF 2.0: if Low wins, but Low ≤ High + Medium, move up</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D04A02"/>
                          </a:solidFill>
                          <a:latin typeface="Arial" pitchFamily="34" charset="0"/>
                          <a:ea typeface="Arial" pitchFamily="34" charset="-122"/>
                          <a:cs typeface="Arial" pitchFamily="34" charset="-120"/>
                        </a:rPr>
                        <a:t>Medium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29 Low ≤ 14 High + 16 Medium = 30</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667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rule does not apply to a Medium result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Medium stays Medium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E.g. 16 High · 29 Medium · 14 Low</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505075"/>
            <a:ext cx="11124895" cy="19050"/>
          </a:xfrm>
          <a:prstGeom prst="rect">
            <a:avLst/>
          </a:prstGeom>
          <a:solidFill>
            <a:srgbClr val="1A1A1A"/>
          </a:solidFill>
          <a:ln/>
        </p:spPr>
      </p:sp>
      <p:sp>
        <p:nvSpPr>
          <p:cNvPr id="6" name="Shape 3"/>
          <p:cNvSpPr/>
          <p:nvPr/>
        </p:nvSpPr>
        <p:spPr>
          <a:xfrm>
            <a:off x="533400" y="4686300"/>
            <a:ext cx="11124895" cy="28575"/>
          </a:xfrm>
          <a:prstGeom prst="rect">
            <a:avLst/>
          </a:prstGeom>
          <a:solidFill>
            <a:srgbClr val="D04A02"/>
          </a:solidFill>
          <a:ln/>
        </p:spPr>
      </p:sp>
      <p:sp>
        <p:nvSpPr>
          <p:cNvPr id="7" name="Shape 4"/>
          <p:cNvSpPr/>
          <p:nvPr/>
        </p:nvSpPr>
        <p:spPr>
          <a:xfrm>
            <a:off x="533400" y="4714875"/>
            <a:ext cx="11124895" cy="771525"/>
          </a:xfrm>
          <a:prstGeom prst="rect">
            <a:avLst/>
          </a:prstGeom>
          <a:solidFill>
            <a:srgbClr val="FDF0E6"/>
          </a:solidFill>
          <a:ln w="6350">
            <a:solidFill>
              <a:srgbClr val="FDF0E6"/>
            </a:solidFill>
            <a:prstDash val="solid"/>
          </a:ln>
        </p:spPr>
      </p:sp>
      <p:sp>
        <p:nvSpPr>
          <p:cNvPr id="8" name="Text 5"/>
          <p:cNvSpPr/>
          <p:nvPr/>
        </p:nvSpPr>
        <p:spPr>
          <a:xfrm>
            <a:off x="723900" y="48387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One counting rule moves a bank from Baseline to Intermediate — about 139 more Control Principles to assess.</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18</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3 · WHAT CHANGED  ·  15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What Changed</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in C-RAF 2.0.</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From 366 to 482 Control Principles.</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174 new or revised.</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106 brand new.</a:t>
            </a:r>
            <a:endParaRPr lang="en-US" sz="2000" dirty="0"/>
          </a:p>
          <a:p>
            <a:pPr indent="0" marL="0">
              <a:lnSpc>
                <a:spcPct val="135000"/>
              </a:lnSpc>
              <a:buNone/>
            </a:pP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Most of the change landed in one domain.</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482 Control Principles — 174 new or revised.</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762250"/>
                <a:gridCol w="1905000"/>
                <a:gridCol w="1905000"/>
                <a:gridCol w="1905000"/>
                <a:gridCol w="3086100"/>
              </a:tblGrid>
              <a:tr h="5143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Maturity level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C-RAF 1.0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C-RAF 2.0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Increase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New or revised in 2.0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Baseline</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166</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216</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+30%</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73</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Intermediate</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104</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139</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+34%</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48</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Advanced</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96</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127</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+32%</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D3D3D"/>
                          </a:solidFill>
                          <a:latin typeface="Arial" pitchFamily="34" charset="0"/>
                          <a:ea typeface="Arial" pitchFamily="34" charset="-122"/>
                          <a:cs typeface="Arial" pitchFamily="34" charset="-120"/>
                        </a:rPr>
                        <a:t>53</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900" b="1" dirty="0">
                          <a:solidFill>
                            <a:srgbClr val="3D3D3D"/>
                          </a:solidFill>
                          <a:latin typeface="Arial" pitchFamily="34" charset="0"/>
                          <a:ea typeface="Arial" pitchFamily="34" charset="-122"/>
                          <a:cs typeface="Arial" pitchFamily="34" charset="-120"/>
                        </a:rPr>
                        <a:t>Total</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b="1" dirty="0">
                          <a:solidFill>
                            <a:srgbClr val="3D3D3D"/>
                          </a:solidFill>
                          <a:latin typeface="Arial" pitchFamily="34" charset="0"/>
                          <a:ea typeface="Arial" pitchFamily="34" charset="-122"/>
                          <a:cs typeface="Arial" pitchFamily="34" charset="-120"/>
                        </a:rPr>
                        <a:t>366</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b="1" dirty="0">
                          <a:solidFill>
                            <a:srgbClr val="3D3D3D"/>
                          </a:solidFill>
                          <a:latin typeface="Arial" pitchFamily="34" charset="0"/>
                          <a:ea typeface="Arial" pitchFamily="34" charset="-122"/>
                          <a:cs typeface="Arial" pitchFamily="34" charset="-120"/>
                        </a:rPr>
                        <a:t>482</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b="1" dirty="0">
                          <a:solidFill>
                            <a:srgbClr val="3D3D3D"/>
                          </a:solidFill>
                          <a:latin typeface="Arial" pitchFamily="34" charset="0"/>
                          <a:ea typeface="Arial" pitchFamily="34" charset="-122"/>
                          <a:cs typeface="Arial" pitchFamily="34" charset="-120"/>
                        </a:rPr>
                        <a:t>+32%</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900" b="1" dirty="0">
                          <a:solidFill>
                            <a:srgbClr val="D04A02"/>
                          </a:solidFill>
                          <a:latin typeface="Arial" pitchFamily="34" charset="0"/>
                          <a:ea typeface="Arial" pitchFamily="34" charset="-122"/>
                          <a:cs typeface="Arial" pitchFamily="34" charset="-120"/>
                        </a:rPr>
                        <a:t>174 (36%)</a:t>
                      </a:r>
                      <a:endParaRPr lang="en-US" sz="19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52675"/>
            <a:ext cx="11124895" cy="19050"/>
          </a:xfrm>
          <a:prstGeom prst="rect">
            <a:avLst/>
          </a:prstGeom>
          <a:solidFill>
            <a:srgbClr val="1A1A1A"/>
          </a:solidFill>
          <a:ln/>
        </p:spPr>
      </p:sp>
      <p:sp>
        <p:nvSpPr>
          <p:cNvPr id="6" name="Shape 3"/>
          <p:cNvSpPr/>
          <p:nvPr/>
        </p:nvSpPr>
        <p:spPr>
          <a:xfrm>
            <a:off x="533400" y="4705350"/>
            <a:ext cx="3568598" cy="28575"/>
          </a:xfrm>
          <a:prstGeom prst="rect">
            <a:avLst/>
          </a:prstGeom>
          <a:solidFill>
            <a:srgbClr val="D04A02"/>
          </a:solidFill>
          <a:ln/>
        </p:spPr>
      </p:sp>
      <p:sp>
        <p:nvSpPr>
          <p:cNvPr id="7" name="Text 4"/>
          <p:cNvSpPr/>
          <p:nvPr/>
        </p:nvSpPr>
        <p:spPr>
          <a:xfrm>
            <a:off x="533400" y="4838700"/>
            <a:ext cx="35685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106</a:t>
            </a:r>
            <a:endParaRPr lang="en-US" sz="3400" dirty="0"/>
          </a:p>
        </p:txBody>
      </p:sp>
      <p:sp>
        <p:nvSpPr>
          <p:cNvPr id="8" name="Text 5"/>
          <p:cNvSpPr/>
          <p:nvPr/>
        </p:nvSpPr>
        <p:spPr>
          <a:xfrm>
            <a:off x="533400" y="5429250"/>
            <a:ext cx="3568598" cy="85725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totally new principles</a:t>
            </a:r>
            <a:endParaRPr lang="en-US" sz="1600" dirty="0"/>
          </a:p>
        </p:txBody>
      </p:sp>
      <p:sp>
        <p:nvSpPr>
          <p:cNvPr id="9" name="Shape 6"/>
          <p:cNvSpPr/>
          <p:nvPr/>
        </p:nvSpPr>
        <p:spPr>
          <a:xfrm>
            <a:off x="4311548" y="4705350"/>
            <a:ext cx="3568598" cy="28575"/>
          </a:xfrm>
          <a:prstGeom prst="rect">
            <a:avLst/>
          </a:prstGeom>
          <a:solidFill>
            <a:srgbClr val="D04A02"/>
          </a:solidFill>
          <a:ln/>
        </p:spPr>
      </p:sp>
      <p:sp>
        <p:nvSpPr>
          <p:cNvPr id="10" name="Text 7"/>
          <p:cNvSpPr/>
          <p:nvPr/>
        </p:nvSpPr>
        <p:spPr>
          <a:xfrm>
            <a:off x="4311548" y="4838700"/>
            <a:ext cx="35685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40 · 35 · 31</a:t>
            </a:r>
            <a:endParaRPr lang="en-US" sz="3400" dirty="0"/>
          </a:p>
        </p:txBody>
      </p:sp>
      <p:sp>
        <p:nvSpPr>
          <p:cNvPr id="11" name="Text 8"/>
          <p:cNvSpPr/>
          <p:nvPr/>
        </p:nvSpPr>
        <p:spPr>
          <a:xfrm>
            <a:off x="4311548" y="5429250"/>
            <a:ext cx="3568598" cy="85725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new at B · I · A</a:t>
            </a:r>
            <a:endParaRPr lang="en-US" sz="1600" dirty="0"/>
          </a:p>
        </p:txBody>
      </p:sp>
      <p:sp>
        <p:nvSpPr>
          <p:cNvPr id="12" name="Shape 9"/>
          <p:cNvSpPr/>
          <p:nvPr/>
        </p:nvSpPr>
        <p:spPr>
          <a:xfrm>
            <a:off x="8089697" y="4705350"/>
            <a:ext cx="3568598" cy="28575"/>
          </a:xfrm>
          <a:prstGeom prst="rect">
            <a:avLst/>
          </a:prstGeom>
          <a:solidFill>
            <a:srgbClr val="D04A02"/>
          </a:solidFill>
          <a:ln/>
        </p:spPr>
      </p:sp>
      <p:sp>
        <p:nvSpPr>
          <p:cNvPr id="13" name="Text 10"/>
          <p:cNvSpPr/>
          <p:nvPr/>
        </p:nvSpPr>
        <p:spPr>
          <a:xfrm>
            <a:off x="8089697" y="4838700"/>
            <a:ext cx="35685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~68</a:t>
            </a:r>
            <a:endParaRPr lang="en-US" sz="3400" dirty="0"/>
          </a:p>
        </p:txBody>
      </p:sp>
      <p:sp>
        <p:nvSpPr>
          <p:cNvPr id="14" name="Text 11"/>
          <p:cNvSpPr/>
          <p:nvPr/>
        </p:nvSpPr>
        <p:spPr>
          <a:xfrm>
            <a:off x="8089697" y="5429250"/>
            <a:ext cx="3568598" cy="85725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1.0 principles reworded</a:t>
            </a:r>
            <a:endParaRPr lang="en-US" sz="1600" dirty="0"/>
          </a:p>
        </p:txBody>
      </p:sp>
      <p:sp>
        <p:nvSpPr>
          <p:cNvPr id="15" name="Text 1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C-RAF 1.0 → 2.0 gap analysis and Information Request List (2021–22), anonymised · C-RAF 1.0 (Dec 2016) and HKMA C-RAF 2.0 (Nov 2020) Appendix B</a:t>
            </a:r>
            <a:endParaRPr lang="en-US" sz="1300" dirty="0"/>
          </a:p>
        </p:txBody>
      </p:sp>
      <p:sp>
        <p:nvSpPr>
          <p:cNvPr id="16" name="Text 1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20</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Most of the change landed in response and recovery.</a:t>
            </a:r>
            <a:endParaRPr lang="en-US" sz="3000" dirty="0"/>
          </a:p>
        </p:txBody>
      </p:sp>
      <p:sp>
        <p:nvSpPr>
          <p:cNvPr id="4" name="Text 2"/>
          <p:cNvSpPr/>
          <p:nvPr/>
        </p:nvSpPr>
        <p:spPr>
          <a:xfrm>
            <a:off x="533400" y="1847850"/>
            <a:ext cx="7239000" cy="1905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NEW OR REVISED CONTROL PRINCIPLES, BY DOMAIN (OF 174)</a:t>
            </a:r>
            <a:endParaRPr lang="en-US" sz="1600" dirty="0"/>
          </a:p>
        </p:txBody>
      </p:sp>
      <p:graphicFrame>
        <p:nvGraphicFramePr>
          <p:cNvPr id="5" name="Chart 0" descr=""/>
          <p:cNvGraphicFramePr/>
          <p:nvPr/>
        </p:nvGraphicFramePr>
        <p:xfrm>
          <a:off x="533400" y="2114550"/>
          <a:ext cx="7239000" cy="39243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58150" y="1847850"/>
            <a:ext cx="3600145" cy="28575"/>
          </a:xfrm>
          <a:prstGeom prst="rect">
            <a:avLst/>
          </a:prstGeom>
          <a:solidFill>
            <a:srgbClr val="D04A02"/>
          </a:solidFill>
          <a:ln/>
        </p:spPr>
      </p:sp>
      <p:sp>
        <p:nvSpPr>
          <p:cNvPr id="7" name="Shape 4"/>
          <p:cNvSpPr/>
          <p:nvPr/>
        </p:nvSpPr>
        <p:spPr>
          <a:xfrm>
            <a:off x="8058150" y="1876425"/>
            <a:ext cx="3600145" cy="4162425"/>
          </a:xfrm>
          <a:prstGeom prst="rect">
            <a:avLst/>
          </a:prstGeom>
          <a:solidFill>
            <a:srgbClr val="FDF0E6"/>
          </a:solidFill>
          <a:ln w="6350">
            <a:solidFill>
              <a:srgbClr val="FDF0E6"/>
            </a:solidFill>
            <a:prstDash val="solid"/>
          </a:ln>
        </p:spPr>
      </p:sp>
      <p:sp>
        <p:nvSpPr>
          <p:cNvPr id="8" name="Text 5"/>
          <p:cNvSpPr/>
          <p:nvPr/>
        </p:nvSpPr>
        <p:spPr>
          <a:xfrm>
            <a:off x="8248650" y="2000250"/>
            <a:ext cx="321914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WHY</a:t>
            </a:r>
            <a:endParaRPr lang="en-US" sz="1600" dirty="0"/>
          </a:p>
        </p:txBody>
      </p:sp>
      <p:sp>
        <p:nvSpPr>
          <p:cNvPr id="9" name="Text 6"/>
          <p:cNvSpPr/>
          <p:nvPr/>
        </p:nvSpPr>
        <p:spPr>
          <a:xfrm>
            <a:off x="8248650" y="2276475"/>
            <a:ext cx="3219145" cy="104775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Response and recovery: 66 of its 101 principles are new or revised.</a:t>
            </a:r>
            <a:endParaRPr lang="en-US" sz="2000" dirty="0"/>
          </a:p>
        </p:txBody>
      </p:sp>
      <p:sp>
        <p:nvSpPr>
          <p:cNvPr id="10" name="Text 7"/>
          <p:cNvSpPr/>
          <p:nvPr/>
        </p:nvSpPr>
        <p:spPr>
          <a:xfrm>
            <a:off x="8248650" y="3400425"/>
            <a:ext cx="3219145" cy="256222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The 2.0 circular says it directly: international sound practice on cyber incident response and recovery was built into the control principles.</a:t>
            </a:r>
            <a:endParaRPr lang="en-US" sz="1800" dirty="0"/>
          </a:p>
        </p:txBody>
      </p:sp>
      <p:sp>
        <p:nvSpPr>
          <p:cNvPr id="11" name="Text 8"/>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C-RAF 1.0 → 2.0 gap analysis and Information Request List (2021–22), anonymised (Information Request List, “additional to C-RAF 1.0” flag) · HKMA circular “Cybersecurity Fortification Initiative 2.0”, 3 Nov 2020, and Annex</a:t>
            </a:r>
            <a:endParaRPr lang="en-US" sz="1300" dirty="0"/>
          </a:p>
        </p:txBody>
      </p:sp>
      <p:sp>
        <p:nvSpPr>
          <p:cNvPr id="12" name="Text 9"/>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Seven domains, twenty-six components.</a:t>
            </a:r>
            <a:endParaRPr lang="en-US" sz="3000" dirty="0"/>
          </a:p>
        </p:txBody>
      </p:sp>
      <p:sp>
        <p:nvSpPr>
          <p:cNvPr id="4" name="Shape 2"/>
          <p:cNvSpPr/>
          <p:nvPr/>
        </p:nvSpPr>
        <p:spPr>
          <a:xfrm>
            <a:off x="533400" y="1847850"/>
            <a:ext cx="3905250" cy="28575"/>
          </a:xfrm>
          <a:prstGeom prst="rect">
            <a:avLst/>
          </a:prstGeom>
          <a:solidFill>
            <a:srgbClr val="1A1A1A"/>
          </a:solidFill>
          <a:ln/>
        </p:spPr>
      </p:sp>
      <p:pic>
        <p:nvPicPr>
          <p:cNvPr id="5" name="Image 0" descr="/home/claude/w5/vis/fig_domains.png">    </p:cNvPr>
          <p:cNvPicPr>
            <a:picLocks noChangeAspect="1"/>
          </p:cNvPicPr>
          <p:nvPr/>
        </p:nvPicPr>
        <p:blipFill>
          <a:blip r:embed="rId1"/>
          <a:srcRect l="0" r="0" t="0" b="0"/>
          <a:stretch/>
        </p:blipFill>
        <p:spPr>
          <a:xfrm>
            <a:off x="533400" y="1943100"/>
            <a:ext cx="3905250" cy="3810000"/>
          </a:xfrm>
          <a:prstGeom prst="rect">
            <a:avLst/>
          </a:prstGeom>
        </p:spPr>
      </p:pic>
      <p:sp>
        <p:nvSpPr>
          <p:cNvPr id="6" name="Text 3"/>
          <p:cNvSpPr/>
          <p:nvPr/>
        </p:nvSpPr>
        <p:spPr>
          <a:xfrm>
            <a:off x="533400" y="5791200"/>
            <a:ext cx="3905250" cy="247650"/>
          </a:xfrm>
          <a:prstGeom prst="rect">
            <a:avLst/>
          </a:prstGeom>
          <a:noFill/>
          <a:ln/>
        </p:spPr>
        <p:txBody>
          <a:bodyPr wrap="square" rtlCol="0" anchor="ctr"/>
          <a:lstStyle/>
          <a:p>
            <a:pPr indent="0" marL="0">
              <a:buNone/>
            </a:pPr>
            <a:r>
              <a:rPr lang="en-US" sz="1600" i="1" dirty="0">
                <a:solidFill>
                  <a:srgbClr val="7A7A7A"/>
                </a:solidFill>
                <a:latin typeface="Arial" pitchFamily="34" charset="0"/>
                <a:ea typeface="Arial" pitchFamily="34" charset="-122"/>
                <a:cs typeface="Arial" pitchFamily="34" charset="-120"/>
              </a:rPr>
              <a:t>C-RAF 2.0, Figure 8</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724400" y="1847850"/>
          <a:ext cx="6933895" cy="914400"/>
        </p:xfrm>
        <a:graphic>
          <a:graphicData uri="http://schemas.openxmlformats.org/drawingml/2006/table">
            <a:tbl>
              <a:tblPr/>
              <a:tblGrid>
                <a:gridCol w="2190750"/>
                <a:gridCol w="4743145"/>
              </a:tblGrid>
              <a:tr h="3810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Domain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Components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 Governance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Oversight · Strategy and policies · Cyber risk management · Audit · Staffing and training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2 Identification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IT asset management · Cyber risk identification, assessment, treatment and monitoring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3 Protection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Access · Infrastructure · Data · Secure development · Patch and change · Remediation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4 Detection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Vulnerability · Anomalous activity · Cyber incident detection · Threat monitoring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b="1" dirty="0">
                          <a:solidFill>
                            <a:srgbClr val="3D3D3D"/>
                          </a:solidFill>
                          <a:latin typeface="Arial" pitchFamily="34" charset="0"/>
                          <a:ea typeface="Arial" pitchFamily="34" charset="-122"/>
                          <a:cs typeface="Arial" pitchFamily="34" charset="-120"/>
                        </a:rPr>
                        <a:t>5 Response and recovery</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3D3D3D"/>
                          </a:solidFill>
                          <a:latin typeface="Arial" pitchFamily="34" charset="0"/>
                          <a:ea typeface="Arial" pitchFamily="34" charset="-122"/>
                          <a:cs typeface="Arial" pitchFamily="34" charset="-120"/>
                        </a:rPr>
                        <a:t>Preparation · Analysis, mitigation, restoration · Cyber forensics · Communication and improvement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6 Situational awareness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Threat intelligence · Threat intelligence sharing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b="1" dirty="0">
                          <a:solidFill>
                            <a:srgbClr val="3D3D3D"/>
                          </a:solidFill>
                          <a:latin typeface="Arial" pitchFamily="34" charset="0"/>
                          <a:ea typeface="Arial" pitchFamily="34" charset="-122"/>
                          <a:cs typeface="Arial" pitchFamily="34" charset="-120"/>
                        </a:rPr>
                        <a:t>7 Third-party risk mgmt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External connections · Third-party management · Ongoing monitoring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8" name="Shape 4"/>
          <p:cNvSpPr/>
          <p:nvPr/>
        </p:nvSpPr>
        <p:spPr>
          <a:xfrm>
            <a:off x="4724400" y="2219325"/>
            <a:ext cx="6933895" cy="19050"/>
          </a:xfrm>
          <a:prstGeom prst="rect">
            <a:avLst/>
          </a:prstGeom>
          <a:solidFill>
            <a:srgbClr val="1A1A1A"/>
          </a:solidFill>
          <a:ln/>
        </p:spPr>
      </p:sp>
      <p:sp>
        <p:nvSpPr>
          <p:cNvPr id="9" name="Text 5"/>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§3.1, Figure 9 · Domain 7 was “External connections” in 1.0</a:t>
            </a:r>
            <a:endParaRPr lang="en-US" sz="1300" dirty="0"/>
          </a:p>
        </p:txBody>
      </p:sp>
      <p:sp>
        <p:nvSpPr>
          <p:cNvPr id="10"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22</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DETAIL</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is new: governance, identification and protection.</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143250"/>
                <a:gridCol w="8420100"/>
              </a:tblGrid>
              <a:tr h="4191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2.0 now expects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Cyber risk management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Appointment of a CISO and a Head of Technology Risk Management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Staffing</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Staff with the knowledge, skills and tools for their role: tailored training; renewing qualifications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Cyber risk treatment and monitoring</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What happens after a risk is identified: treatment strategies, ongoing monitoring. Medium-risk AIs should also evaluate cyber insurance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Access control</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Remote, wireless, mobile and physical access; cryptographic key management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Infrastructure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Virtualisation and IoT security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Secure development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SDLC, Agile and DevOps — covering applications and their APIs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Patch and change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Existing controls enriched to consider automation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2574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C-RAF 2.0 Maturity Assessment detailed changes (2021) · HKMA C-RAF 2.0 (Nov 2020) Appendix B</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23</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DETAIL</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New in detection, response, intel and third parties.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143250"/>
                <a:gridCol w="8420100"/>
              </a:tblGrid>
              <a:tr h="4191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2.0 now expects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Detection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Continuous (24×7) detection and response; endpoint behavioural detection such as EDR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Logs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Security audit logs for key systems and endpoints readily available — e.g. in a SIEM — for a period adequate for investigation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Response: preparation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Incident response and recovery governance; stakeholder engagement and reporting</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Response: action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Containment, investigation, eradication, response and recovery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Cyber forensics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Evidence collection, preservation, retention and storage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Communication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Continuous improvement; ongoing communication with internal and external stakeholders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Intel and suppliers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Sharing intelligence internally and externally; stronger third-party protection; due diligence in selecting providers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2574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C-RAF 2.0 Maturity Assessment detailed changes (2021) · HKMA C-RAF 2.0 (Nov 2020) Appendix B</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24</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LESSONS FROM THE FIELD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Why these controls? We kept seeing the same failures.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5810250"/>
                <a:gridCol w="5753100"/>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Seen in incident response and iCAST 1.0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2.0 now asks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Common or weak passwords on high-privilege accounts; privileged credentials poorly managed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Privileged access management; authorisation of privileged commands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Excessive privileges on service accounts; pass-the-hash and memory credential theft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Endpoint behavioural detection (EDR), not signatures alone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Inconsistent SMB and RDP restrictions; weak network segregation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Remote access through controlled points; MFA; segmentation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Unpatched workstations and applications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Risk-based and automated patching, prioritised with threat intelligence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Ransomware found late, with no logs to reconstruct it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24×7 detection; logs retained for investigation; forensic readiness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669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“Achieve cyber resilience with HKMA CFI 2.0” webinar (5 Mar 2021) · HKMA C-RAF 2.0 (Nov 2020) Appendix B</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25</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ICAST AND PDP</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iCAST 2.0 adds defenders; PDP adds qualifications.</a:t>
            </a:r>
            <a:endParaRPr lang="en-US" sz="3000" dirty="0"/>
          </a:p>
        </p:txBody>
      </p:sp>
      <p:sp>
        <p:nvSpPr>
          <p:cNvPr id="4" name="Shape 2"/>
          <p:cNvSpPr/>
          <p:nvPr/>
        </p:nvSpPr>
        <p:spPr>
          <a:xfrm>
            <a:off x="533400" y="1847850"/>
            <a:ext cx="5457673" cy="28575"/>
          </a:xfrm>
          <a:prstGeom prst="rect">
            <a:avLst/>
          </a:prstGeom>
          <a:solidFill>
            <a:srgbClr val="D04A02"/>
          </a:solidFill>
          <a:ln/>
        </p:spPr>
      </p:sp>
      <p:sp>
        <p:nvSpPr>
          <p:cNvPr id="5" name="Shape 3"/>
          <p:cNvSpPr/>
          <p:nvPr/>
        </p:nvSpPr>
        <p:spPr>
          <a:xfrm>
            <a:off x="533400" y="1876425"/>
            <a:ext cx="5457673" cy="4067175"/>
          </a:xfrm>
          <a:prstGeom prst="rect">
            <a:avLst/>
          </a:prstGeom>
          <a:solidFill>
            <a:srgbClr val="FDF0E6"/>
          </a:solidFill>
          <a:ln w="6350">
            <a:solidFill>
              <a:srgbClr val="FDF0E6"/>
            </a:solidFill>
            <a:prstDash val="solid"/>
          </a:ln>
        </p:spPr>
      </p:sp>
      <p:sp>
        <p:nvSpPr>
          <p:cNvPr id="6" name="Text 4"/>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ICAST 2.0</a:t>
            </a:r>
            <a:endParaRPr lang="en-US" sz="1600" dirty="0"/>
          </a:p>
        </p:txBody>
      </p:sp>
      <p:sp>
        <p:nvSpPr>
          <p:cNvPr id="7" name="Text 5"/>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Not just “did the red team get in?”</a:t>
            </a:r>
            <a:endParaRPr lang="en-US" sz="2000" dirty="0"/>
          </a:p>
        </p:txBody>
      </p:sp>
      <p:sp>
        <p:nvSpPr>
          <p:cNvPr id="8" name="Text 6"/>
          <p:cNvSpPr/>
          <p:nvPr/>
        </p:nvSpPr>
        <p:spPr>
          <a:xfrm>
            <a:off x="723900" y="2628900"/>
            <a:ext cx="5076673" cy="3238500"/>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Control group terms of reference</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Scoping of critical functions</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 tailored threat intelligence report</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Scenarios referencing MITRE ATT&amp;CK</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Clean-up requirements after testing</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 Blue Team report on detection, response and recovery</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 360-degree replay workshop, red and blue together</a:t>
            </a:r>
            <a:endParaRPr lang="en-US" sz="18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40671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PDP 2.0</a:t>
            </a:r>
            <a:endParaRPr lang="en-US" sz="1600" dirty="0"/>
          </a:p>
        </p:txBody>
      </p:sp>
      <p:sp>
        <p:nvSpPr>
          <p:cNvPr id="12" name="Text 10"/>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More routes to “qualified”.</a:t>
            </a:r>
            <a:endParaRPr lang="en-US" sz="2000" dirty="0"/>
          </a:p>
        </p:txBody>
      </p:sp>
      <p:sp>
        <p:nvSpPr>
          <p:cNvPr id="13" name="Text 11"/>
          <p:cNvSpPr/>
          <p:nvPr/>
        </p:nvSpPr>
        <p:spPr>
          <a:xfrm>
            <a:off x="6391123" y="2628900"/>
            <a:ext cx="5076673" cy="3238500"/>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C-RAF assessors: CISA, CISSP, CISM, CRISC, CEH and others.</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iCAST roles: CREST, plus equivalents such as GPEN, OSCE, OSCP.</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New threat intelligence role: CRTIA, GCTI and others.</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 new iCAST Threat Intelligence Specialist role.</a:t>
            </a:r>
            <a:endParaRPr lang="en-US" sz="1800" dirty="0"/>
          </a:p>
        </p:txBody>
      </p:sp>
      <p:sp>
        <p:nvSpPr>
          <p:cNvPr id="14" name="Text 1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 “Cybersecurity Fortification Initiative 2.0”, 3 Nov 2020, and Annex, Annex (qualification table) · HKMA C-RAF 2.0 (Nov 2020) Ch. 4–5 · PwC CFI 2.0 sharing (Dec 2020)</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26</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PDP, THE QUALIFICATION LIST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PDP answers one question: who is qualified to do this?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143250"/>
                <a:gridCol w="2190750"/>
                <a:gridCol w="6229350"/>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Role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CREST reference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Equivalent qualifications accepted (examples)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C-RAF Assessor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 none —</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CISA · CISSP · CISM · CRISC · CSX-F / CSX-P · CISP-HK · CEH*</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iCAST Manager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CCSAM</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HKIB CCASP Manager · GPEN + GXPN · OSCE + OSEE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iCAST Threat Intel Specialist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CCTIM* · CRTIA*</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CCASP Manager · GPEN · GXPN · OSCE · OSEE · GCTI* · CCIP*</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iCAST Specialist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CCSAS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CCASP Specialist · GPEN + GXPN · OSCE + OSEE · eCPTX* · eWPTX* · CRTE*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iCAST Tester — infrastructure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CCT Infrastructure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CCASP Infrastructure · GPEN · OSCE · OSCP* · CRTP* · eCPPT* · eWPT* · CPTO*</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iCAST Tester — web applications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CCT Applications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CCASP Web Apps · GWAPT · OSWE · OSCP* · CRTP* · eCPPT* · eWPT* · CPTO*</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288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 “Cybersecurity Fortification Initiative 2.0”, 3 Nov 2020, and Annex: “List of equivalent qualifications”. * = added in 2.0</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27</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PDP · THE C-RAF ASSESSOR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assessor: same certificates, every regime.</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571750"/>
                <a:gridCol w="3143250"/>
                <a:gridCol w="4038600"/>
                <a:gridCol w="1809750"/>
              </a:tblGrid>
              <a:tr h="5334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Regime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Role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Certifications named or seen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In this course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HKMA C-RAF 2.0 (PDP)</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C-RAF assessor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CISA · CISSP · CISM · CRISC  (+ CSX, CISP-HK, CEH)</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Tonight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Cap. 653 Code of Practice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Supervisor of the security management unit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CISP · CISA · CISM · CISSP</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Week 2</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OGCIO G3</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Independent security auditor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CISA · CISSP · CISP (examples)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Week 4</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IA GL20</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Insurer cyber assessment teams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D04A02"/>
                          </a:solidFill>
                          <a:latin typeface="Arial" pitchFamily="34" charset="0"/>
                          <a:ea typeface="Arial" pitchFamily="34" charset="-122"/>
                          <a:cs typeface="Arial" pitchFamily="34" charset="-120"/>
                        </a:rPr>
                        <a:t>CISSP · CISA · CISM · CRISC — widely seen in practice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Module 1 · Week 8</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Shape 3"/>
          <p:cNvSpPr/>
          <p:nvPr/>
        </p:nvSpPr>
        <p:spPr>
          <a:xfrm>
            <a:off x="533400" y="4739640"/>
            <a:ext cx="11124895" cy="28575"/>
          </a:xfrm>
          <a:prstGeom prst="rect">
            <a:avLst/>
          </a:prstGeom>
          <a:solidFill>
            <a:srgbClr val="D04A02"/>
          </a:solidFill>
          <a:ln/>
        </p:spPr>
      </p:sp>
      <p:sp>
        <p:nvSpPr>
          <p:cNvPr id="7" name="Shape 4"/>
          <p:cNvSpPr/>
          <p:nvPr/>
        </p:nvSpPr>
        <p:spPr>
          <a:xfrm>
            <a:off x="533400" y="4768215"/>
            <a:ext cx="11124895" cy="847725"/>
          </a:xfrm>
          <a:prstGeom prst="rect">
            <a:avLst/>
          </a:prstGeom>
          <a:solidFill>
            <a:srgbClr val="FDF0E6"/>
          </a:solidFill>
          <a:ln w="6350">
            <a:solidFill>
              <a:srgbClr val="FDF0E6"/>
            </a:solidFill>
            <a:prstDash val="solid"/>
          </a:ln>
        </p:spPr>
      </p:sp>
      <p:sp>
        <p:nvSpPr>
          <p:cNvPr id="8" name="Text 5"/>
          <p:cNvSpPr/>
          <p:nvPr/>
        </p:nvSpPr>
        <p:spPr>
          <a:xfrm>
            <a:off x="723900" y="489204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THE PATTERN</a:t>
            </a:r>
            <a:endParaRPr lang="en-US" sz="1600" dirty="0"/>
          </a:p>
        </p:txBody>
      </p:sp>
      <p:sp>
        <p:nvSpPr>
          <p:cNvPr id="9" name="Text 6"/>
          <p:cNvSpPr/>
          <p:nvPr/>
        </p:nvSpPr>
        <p:spPr>
          <a:xfrm>
            <a:off x="723900" y="516826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Learn one family of certifications and it opens doors across banking, insurance, critical infrastructure and Government.</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 “Cybersecurity Fortification Initiative 2.0”, 3 Nov 2020, and Annex: “List of equivalent qualifications”. * = added in 2.0 · Cap. 653 Code of Practice §5.3 · G3 §20.2(b) · GL20 row: lecturer’s practice observation</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28</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PDP · THE C-RAF ASSESSOR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Which assessor certificate says what?</a:t>
            </a:r>
            <a:endParaRPr lang="en-US" sz="3000" dirty="0"/>
          </a:p>
        </p:txBody>
      </p:sp>
      <p:sp>
        <p:nvSpPr>
          <p:cNvPr id="4" name="Shape 2"/>
          <p:cNvSpPr/>
          <p:nvPr/>
        </p:nvSpPr>
        <p:spPr>
          <a:xfrm>
            <a:off x="533400" y="1847850"/>
            <a:ext cx="2624061" cy="28575"/>
          </a:xfrm>
          <a:prstGeom prst="rect">
            <a:avLst/>
          </a:prstGeom>
          <a:solidFill>
            <a:srgbClr val="D04A02"/>
          </a:solidFill>
          <a:ln/>
        </p:spPr>
      </p:sp>
      <p:sp>
        <p:nvSpPr>
          <p:cNvPr id="5" name="Shape 3"/>
          <p:cNvSpPr/>
          <p:nvPr/>
        </p:nvSpPr>
        <p:spPr>
          <a:xfrm>
            <a:off x="533400" y="1876425"/>
            <a:ext cx="2624061" cy="2828925"/>
          </a:xfrm>
          <a:prstGeom prst="rect">
            <a:avLst/>
          </a:prstGeom>
          <a:solidFill>
            <a:srgbClr val="FDF0E6"/>
          </a:solidFill>
          <a:ln w="6350">
            <a:solidFill>
              <a:srgbClr val="FDF0E6"/>
            </a:solidFill>
            <a:prstDash val="solid"/>
          </a:ln>
        </p:spPr>
      </p:sp>
      <p:sp>
        <p:nvSpPr>
          <p:cNvPr id="6" name="Text 4"/>
          <p:cNvSpPr/>
          <p:nvPr/>
        </p:nvSpPr>
        <p:spPr>
          <a:xfrm>
            <a:off x="723900" y="2000250"/>
            <a:ext cx="2243061"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ISACA</a:t>
            </a:r>
            <a:endParaRPr lang="en-US" sz="1600" dirty="0"/>
          </a:p>
        </p:txBody>
      </p:sp>
      <p:sp>
        <p:nvSpPr>
          <p:cNvPr id="7" name="Text 5"/>
          <p:cNvSpPr/>
          <p:nvPr/>
        </p:nvSpPr>
        <p:spPr>
          <a:xfrm>
            <a:off x="723900"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CISA</a:t>
            </a:r>
            <a:endParaRPr lang="en-US" sz="2000" dirty="0"/>
          </a:p>
        </p:txBody>
      </p:sp>
      <p:sp>
        <p:nvSpPr>
          <p:cNvPr id="8" name="Text 6"/>
          <p:cNvSpPr/>
          <p:nvPr/>
        </p:nvSpPr>
        <p:spPr>
          <a:xfrm>
            <a:off x="723900"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The auditor’s certificate: plan, test controls, gather evidence, report. Closest to this course.</a:t>
            </a:r>
            <a:endParaRPr lang="en-US" sz="1500" dirty="0"/>
          </a:p>
        </p:txBody>
      </p:sp>
      <p:sp>
        <p:nvSpPr>
          <p:cNvPr id="9" name="Shape 7"/>
          <p:cNvSpPr/>
          <p:nvPr/>
        </p:nvSpPr>
        <p:spPr>
          <a:xfrm>
            <a:off x="3367011" y="1847850"/>
            <a:ext cx="2624061" cy="28575"/>
          </a:xfrm>
          <a:prstGeom prst="rect">
            <a:avLst/>
          </a:prstGeom>
          <a:solidFill>
            <a:srgbClr val="1A1A1A"/>
          </a:solidFill>
          <a:ln/>
        </p:spPr>
      </p:sp>
      <p:sp>
        <p:nvSpPr>
          <p:cNvPr id="10" name="Shape 8"/>
          <p:cNvSpPr/>
          <p:nvPr/>
        </p:nvSpPr>
        <p:spPr>
          <a:xfrm>
            <a:off x="3367011" y="1876425"/>
            <a:ext cx="2624061" cy="2828925"/>
          </a:xfrm>
          <a:prstGeom prst="rect">
            <a:avLst/>
          </a:prstGeom>
          <a:solidFill>
            <a:srgbClr val="F2F2F2"/>
          </a:solidFill>
          <a:ln w="6350">
            <a:solidFill>
              <a:srgbClr val="F2F2F2"/>
            </a:solidFill>
            <a:prstDash val="solid"/>
          </a:ln>
        </p:spPr>
      </p:sp>
      <p:sp>
        <p:nvSpPr>
          <p:cNvPr id="11" name="Text 9"/>
          <p:cNvSpPr/>
          <p:nvPr/>
        </p:nvSpPr>
        <p:spPr>
          <a:xfrm>
            <a:off x="3557511" y="2000250"/>
            <a:ext cx="2243061"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ISACA</a:t>
            </a:r>
            <a:endParaRPr lang="en-US" sz="1600" dirty="0"/>
          </a:p>
        </p:txBody>
      </p:sp>
      <p:sp>
        <p:nvSpPr>
          <p:cNvPr id="12" name="Text 10"/>
          <p:cNvSpPr/>
          <p:nvPr/>
        </p:nvSpPr>
        <p:spPr>
          <a:xfrm>
            <a:off x="3557511"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CISM</a:t>
            </a:r>
            <a:endParaRPr lang="en-US" sz="2000" dirty="0"/>
          </a:p>
        </p:txBody>
      </p:sp>
      <p:sp>
        <p:nvSpPr>
          <p:cNvPr id="13" name="Text 11"/>
          <p:cNvSpPr/>
          <p:nvPr/>
        </p:nvSpPr>
        <p:spPr>
          <a:xfrm>
            <a:off x="3557511"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Running a security programme: governance, risk, programme management, incident management.</a:t>
            </a:r>
            <a:endParaRPr lang="en-US" sz="1500" dirty="0"/>
          </a:p>
        </p:txBody>
      </p:sp>
      <p:sp>
        <p:nvSpPr>
          <p:cNvPr id="14" name="Shape 12"/>
          <p:cNvSpPr/>
          <p:nvPr/>
        </p:nvSpPr>
        <p:spPr>
          <a:xfrm>
            <a:off x="6200623" y="1847850"/>
            <a:ext cx="2624061" cy="28575"/>
          </a:xfrm>
          <a:prstGeom prst="rect">
            <a:avLst/>
          </a:prstGeom>
          <a:solidFill>
            <a:srgbClr val="1A1A1A"/>
          </a:solidFill>
          <a:ln/>
        </p:spPr>
      </p:sp>
      <p:sp>
        <p:nvSpPr>
          <p:cNvPr id="15" name="Shape 13"/>
          <p:cNvSpPr/>
          <p:nvPr/>
        </p:nvSpPr>
        <p:spPr>
          <a:xfrm>
            <a:off x="6200623" y="1876425"/>
            <a:ext cx="2624061" cy="2828925"/>
          </a:xfrm>
          <a:prstGeom prst="rect">
            <a:avLst/>
          </a:prstGeom>
          <a:solidFill>
            <a:srgbClr val="F2F2F2"/>
          </a:solidFill>
          <a:ln w="6350">
            <a:solidFill>
              <a:srgbClr val="F2F2F2"/>
            </a:solidFill>
            <a:prstDash val="solid"/>
          </a:ln>
        </p:spPr>
      </p:sp>
      <p:sp>
        <p:nvSpPr>
          <p:cNvPr id="16" name="Text 14"/>
          <p:cNvSpPr/>
          <p:nvPr/>
        </p:nvSpPr>
        <p:spPr>
          <a:xfrm>
            <a:off x="6391123" y="2000250"/>
            <a:ext cx="2243061"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ISACA</a:t>
            </a:r>
            <a:endParaRPr lang="en-US" sz="1600" dirty="0"/>
          </a:p>
        </p:txBody>
      </p:sp>
      <p:sp>
        <p:nvSpPr>
          <p:cNvPr id="17" name="Text 15"/>
          <p:cNvSpPr/>
          <p:nvPr/>
        </p:nvSpPr>
        <p:spPr>
          <a:xfrm>
            <a:off x="6391123"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CRISC</a:t>
            </a:r>
            <a:endParaRPr lang="en-US" sz="2000" dirty="0"/>
          </a:p>
        </p:txBody>
      </p:sp>
      <p:sp>
        <p:nvSpPr>
          <p:cNvPr id="18" name="Text 16"/>
          <p:cNvSpPr/>
          <p:nvPr/>
        </p:nvSpPr>
        <p:spPr>
          <a:xfrm>
            <a:off x="6391123"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IT risk: identify, assess, respond and monitor. The second line of defence’s language.</a:t>
            </a:r>
            <a:endParaRPr lang="en-US" sz="1500" dirty="0"/>
          </a:p>
        </p:txBody>
      </p:sp>
      <p:sp>
        <p:nvSpPr>
          <p:cNvPr id="19" name="Shape 17"/>
          <p:cNvSpPr/>
          <p:nvPr/>
        </p:nvSpPr>
        <p:spPr>
          <a:xfrm>
            <a:off x="9034234" y="1847850"/>
            <a:ext cx="2624061" cy="28575"/>
          </a:xfrm>
          <a:prstGeom prst="rect">
            <a:avLst/>
          </a:prstGeom>
          <a:solidFill>
            <a:srgbClr val="1A1A1A"/>
          </a:solidFill>
          <a:ln/>
        </p:spPr>
      </p:sp>
      <p:sp>
        <p:nvSpPr>
          <p:cNvPr id="20" name="Shape 18"/>
          <p:cNvSpPr/>
          <p:nvPr/>
        </p:nvSpPr>
        <p:spPr>
          <a:xfrm>
            <a:off x="9034234" y="1876425"/>
            <a:ext cx="2624061" cy="2828925"/>
          </a:xfrm>
          <a:prstGeom prst="rect">
            <a:avLst/>
          </a:prstGeom>
          <a:solidFill>
            <a:srgbClr val="F2F2F2"/>
          </a:solidFill>
          <a:ln w="6350">
            <a:solidFill>
              <a:srgbClr val="F2F2F2"/>
            </a:solidFill>
            <a:prstDash val="solid"/>
          </a:ln>
        </p:spPr>
      </p:sp>
      <p:sp>
        <p:nvSpPr>
          <p:cNvPr id="21" name="Text 19"/>
          <p:cNvSpPr/>
          <p:nvPr/>
        </p:nvSpPr>
        <p:spPr>
          <a:xfrm>
            <a:off x="9224734" y="2000250"/>
            <a:ext cx="2243061"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ISC2</a:t>
            </a:r>
            <a:endParaRPr lang="en-US" sz="1600" dirty="0"/>
          </a:p>
        </p:txBody>
      </p:sp>
      <p:sp>
        <p:nvSpPr>
          <p:cNvPr id="22" name="Text 20"/>
          <p:cNvSpPr/>
          <p:nvPr/>
        </p:nvSpPr>
        <p:spPr>
          <a:xfrm>
            <a:off x="9224734"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CISSP</a:t>
            </a:r>
            <a:endParaRPr lang="en-US" sz="2000" dirty="0"/>
          </a:p>
        </p:txBody>
      </p:sp>
      <p:sp>
        <p:nvSpPr>
          <p:cNvPr id="23" name="Text 21"/>
          <p:cNvSpPr/>
          <p:nvPr/>
        </p:nvSpPr>
        <p:spPr>
          <a:xfrm>
            <a:off x="9224734"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Broad security practice across eight domains, from architecture to operations. Widely asked for in security roles.</a:t>
            </a:r>
            <a:endParaRPr lang="en-US" sz="1500" dirty="0"/>
          </a:p>
        </p:txBody>
      </p:sp>
      <p:sp>
        <p:nvSpPr>
          <p:cNvPr id="24" name="Shape 22"/>
          <p:cNvSpPr/>
          <p:nvPr/>
        </p:nvSpPr>
        <p:spPr>
          <a:xfrm>
            <a:off x="533400" y="4876800"/>
            <a:ext cx="11124895" cy="28575"/>
          </a:xfrm>
          <a:prstGeom prst="rect">
            <a:avLst/>
          </a:prstGeom>
          <a:solidFill>
            <a:srgbClr val="D04A02"/>
          </a:solidFill>
          <a:ln/>
        </p:spPr>
      </p:sp>
      <p:sp>
        <p:nvSpPr>
          <p:cNvPr id="25" name="Shape 23"/>
          <p:cNvSpPr/>
          <p:nvPr/>
        </p:nvSpPr>
        <p:spPr>
          <a:xfrm>
            <a:off x="533400" y="4905375"/>
            <a:ext cx="11124895" cy="1190625"/>
          </a:xfrm>
          <a:prstGeom prst="rect">
            <a:avLst/>
          </a:prstGeom>
          <a:solidFill>
            <a:srgbClr val="FDF0E6"/>
          </a:solidFill>
          <a:ln w="6350">
            <a:solidFill>
              <a:srgbClr val="FDF0E6"/>
            </a:solidFill>
            <a:prstDash val="solid"/>
          </a:ln>
        </p:spPr>
      </p:sp>
      <p:sp>
        <p:nvSpPr>
          <p:cNvPr id="26" name="Text 24"/>
          <p:cNvSpPr/>
          <p:nvPr/>
        </p:nvSpPr>
        <p:spPr>
          <a:xfrm>
            <a:off x="723900" y="502920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WEEK 12 · 18 NOVEMBER</a:t>
            </a:r>
            <a:endParaRPr lang="en-US" sz="1600" dirty="0"/>
          </a:p>
        </p:txBody>
      </p:sp>
      <p:sp>
        <p:nvSpPr>
          <p:cNvPr id="27" name="Text 25"/>
          <p:cNvSpPr/>
          <p:nvPr/>
        </p:nvSpPr>
        <p:spPr>
          <a:xfrm>
            <a:off x="723900" y="5305425"/>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ISACA China Hong Kong Chapter and ISC2 join us in class.</a:t>
            </a:r>
            <a:endParaRPr lang="en-US" sz="2000" dirty="0"/>
          </a:p>
        </p:txBody>
      </p:sp>
      <p:sp>
        <p:nvSpPr>
          <p:cNvPr id="28" name="Text 26"/>
          <p:cNvSpPr/>
          <p:nvPr/>
        </p:nvSpPr>
        <p:spPr>
          <a:xfrm>
            <a:off x="723900" y="5657850"/>
            <a:ext cx="10743895" cy="3619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I’ll introduce you to them directly — and I’m asking both for a student discount.</a:t>
            </a:r>
            <a:endParaRPr lang="en-US" sz="2000" dirty="0"/>
          </a:p>
        </p:txBody>
      </p:sp>
      <p:sp>
        <p:nvSpPr>
          <p:cNvPr id="29" name="Text 2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ISACA and ISC2 certification descriptions, summarised · CS5292 course schedule</a:t>
            </a:r>
            <a:endParaRPr lang="en-US" sz="1300" dirty="0"/>
          </a:p>
        </p:txBody>
      </p:sp>
      <p:sp>
        <p:nvSpPr>
          <p:cNvPr id="30" name="Text 2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29</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PDP · THE ICAST TESTER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tester: start with OSCP or CRTP, then climb.</a:t>
            </a:r>
            <a:endParaRPr lang="en-US" sz="3000" dirty="0"/>
          </a:p>
        </p:txBody>
      </p:sp>
      <p:sp>
        <p:nvSpPr>
          <p:cNvPr id="4" name="Shape 2"/>
          <p:cNvSpPr/>
          <p:nvPr/>
        </p:nvSpPr>
        <p:spPr>
          <a:xfrm>
            <a:off x="533400" y="1847850"/>
            <a:ext cx="2624061" cy="28575"/>
          </a:xfrm>
          <a:prstGeom prst="rect">
            <a:avLst/>
          </a:prstGeom>
          <a:solidFill>
            <a:srgbClr val="D04A02"/>
          </a:solidFill>
          <a:ln/>
        </p:spPr>
      </p:sp>
      <p:sp>
        <p:nvSpPr>
          <p:cNvPr id="5" name="Shape 3"/>
          <p:cNvSpPr/>
          <p:nvPr/>
        </p:nvSpPr>
        <p:spPr>
          <a:xfrm>
            <a:off x="533400" y="1876425"/>
            <a:ext cx="2624061" cy="2828925"/>
          </a:xfrm>
          <a:prstGeom prst="rect">
            <a:avLst/>
          </a:prstGeom>
          <a:solidFill>
            <a:srgbClr val="FDF0E6"/>
          </a:solidFill>
          <a:ln w="6350">
            <a:solidFill>
              <a:srgbClr val="FDF0E6"/>
            </a:solidFill>
            <a:prstDash val="solid"/>
          </a:ln>
        </p:spPr>
      </p:sp>
      <p:sp>
        <p:nvSpPr>
          <p:cNvPr id="6" name="Text 4"/>
          <p:cNvSpPr/>
          <p:nvPr/>
        </p:nvSpPr>
        <p:spPr>
          <a:xfrm>
            <a:off x="723900" y="2000250"/>
            <a:ext cx="2243061"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1 · START HERE</a:t>
            </a:r>
            <a:endParaRPr lang="en-US" sz="1600" dirty="0"/>
          </a:p>
        </p:txBody>
      </p:sp>
      <p:sp>
        <p:nvSpPr>
          <p:cNvPr id="7" name="Text 5"/>
          <p:cNvSpPr/>
          <p:nvPr/>
        </p:nvSpPr>
        <p:spPr>
          <a:xfrm>
            <a:off x="723900"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Tester</a:t>
            </a:r>
            <a:endParaRPr lang="en-US" sz="2000" dirty="0"/>
          </a:p>
        </p:txBody>
      </p:sp>
      <p:sp>
        <p:nvSpPr>
          <p:cNvPr id="8" name="Text 6"/>
          <p:cNvSpPr/>
          <p:nvPr/>
        </p:nvSpPr>
        <p:spPr>
          <a:xfrm>
            <a:off x="723900"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Entry level. OSCP* or CRTP* — both added in 2.0 for infrastructure and web testing. Also: CREST CCT, GPEN, eCPPT*.</a:t>
            </a:r>
            <a:endParaRPr lang="en-US" sz="1500" dirty="0"/>
          </a:p>
        </p:txBody>
      </p:sp>
      <p:sp>
        <p:nvSpPr>
          <p:cNvPr id="9" name="Shape 7"/>
          <p:cNvSpPr/>
          <p:nvPr/>
        </p:nvSpPr>
        <p:spPr>
          <a:xfrm>
            <a:off x="3367011" y="1847850"/>
            <a:ext cx="2624061" cy="28575"/>
          </a:xfrm>
          <a:prstGeom prst="rect">
            <a:avLst/>
          </a:prstGeom>
          <a:solidFill>
            <a:srgbClr val="1A1A1A"/>
          </a:solidFill>
          <a:ln/>
        </p:spPr>
      </p:sp>
      <p:sp>
        <p:nvSpPr>
          <p:cNvPr id="10" name="Shape 8"/>
          <p:cNvSpPr/>
          <p:nvPr/>
        </p:nvSpPr>
        <p:spPr>
          <a:xfrm>
            <a:off x="3367011" y="1876425"/>
            <a:ext cx="2624061" cy="2828925"/>
          </a:xfrm>
          <a:prstGeom prst="rect">
            <a:avLst/>
          </a:prstGeom>
          <a:solidFill>
            <a:srgbClr val="F2F2F2"/>
          </a:solidFill>
          <a:ln w="6350">
            <a:solidFill>
              <a:srgbClr val="F2F2F2"/>
            </a:solidFill>
            <a:prstDash val="solid"/>
          </a:ln>
        </p:spPr>
      </p:sp>
      <p:sp>
        <p:nvSpPr>
          <p:cNvPr id="11" name="Text 9"/>
          <p:cNvSpPr/>
          <p:nvPr/>
        </p:nvSpPr>
        <p:spPr>
          <a:xfrm>
            <a:off x="3557511" y="2000250"/>
            <a:ext cx="2243061"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3557511"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Specialist</a:t>
            </a:r>
            <a:endParaRPr lang="en-US" sz="2000" dirty="0"/>
          </a:p>
        </p:txBody>
      </p:sp>
      <p:sp>
        <p:nvSpPr>
          <p:cNvPr id="13" name="Text 11"/>
          <p:cNvSpPr/>
          <p:nvPr/>
        </p:nvSpPr>
        <p:spPr>
          <a:xfrm>
            <a:off x="3557511"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Runs the attack scenarios. CRTE*, OSCE, GXPN, eCPTX*, CREST CCSAS.</a:t>
            </a:r>
            <a:endParaRPr lang="en-US" sz="1500" dirty="0"/>
          </a:p>
        </p:txBody>
      </p:sp>
      <p:sp>
        <p:nvSpPr>
          <p:cNvPr id="14" name="Shape 12"/>
          <p:cNvSpPr/>
          <p:nvPr/>
        </p:nvSpPr>
        <p:spPr>
          <a:xfrm>
            <a:off x="6200623" y="1847850"/>
            <a:ext cx="2624061" cy="28575"/>
          </a:xfrm>
          <a:prstGeom prst="rect">
            <a:avLst/>
          </a:prstGeom>
          <a:solidFill>
            <a:srgbClr val="1A1A1A"/>
          </a:solidFill>
          <a:ln/>
        </p:spPr>
      </p:sp>
      <p:sp>
        <p:nvSpPr>
          <p:cNvPr id="15" name="Shape 13"/>
          <p:cNvSpPr/>
          <p:nvPr/>
        </p:nvSpPr>
        <p:spPr>
          <a:xfrm>
            <a:off x="6200623" y="1876425"/>
            <a:ext cx="2624061" cy="2828925"/>
          </a:xfrm>
          <a:prstGeom prst="rect">
            <a:avLst/>
          </a:prstGeom>
          <a:solidFill>
            <a:srgbClr val="F2F2F2"/>
          </a:solidFill>
          <a:ln w="6350">
            <a:solidFill>
              <a:srgbClr val="F2F2F2"/>
            </a:solidFill>
            <a:prstDash val="solid"/>
          </a:ln>
        </p:spPr>
      </p:sp>
      <p:sp>
        <p:nvSpPr>
          <p:cNvPr id="16" name="Text 14"/>
          <p:cNvSpPr/>
          <p:nvPr/>
        </p:nvSpPr>
        <p:spPr>
          <a:xfrm>
            <a:off x="6391123" y="2000250"/>
            <a:ext cx="2243061"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2</a:t>
            </a:r>
            <a:endParaRPr lang="en-US" sz="1600" dirty="0"/>
          </a:p>
        </p:txBody>
      </p:sp>
      <p:sp>
        <p:nvSpPr>
          <p:cNvPr id="17" name="Text 15"/>
          <p:cNvSpPr/>
          <p:nvPr/>
        </p:nvSpPr>
        <p:spPr>
          <a:xfrm>
            <a:off x="6391123"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Threat intel</a:t>
            </a:r>
            <a:endParaRPr lang="en-US" sz="2000" dirty="0"/>
          </a:p>
        </p:txBody>
      </p:sp>
      <p:sp>
        <p:nvSpPr>
          <p:cNvPr id="18" name="Text 16"/>
          <p:cNvSpPr/>
          <p:nvPr/>
        </p:nvSpPr>
        <p:spPr>
          <a:xfrm>
            <a:off x="6391123"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Writes the tailored threat report. CRTIA*, GCTI*, CCIP*, CREST CCTIM*.</a:t>
            </a:r>
            <a:endParaRPr lang="en-US" sz="1500" dirty="0"/>
          </a:p>
        </p:txBody>
      </p:sp>
      <p:sp>
        <p:nvSpPr>
          <p:cNvPr id="19" name="Shape 17"/>
          <p:cNvSpPr/>
          <p:nvPr/>
        </p:nvSpPr>
        <p:spPr>
          <a:xfrm>
            <a:off x="9034234" y="1847850"/>
            <a:ext cx="2624061" cy="28575"/>
          </a:xfrm>
          <a:prstGeom prst="rect">
            <a:avLst/>
          </a:prstGeom>
          <a:solidFill>
            <a:srgbClr val="1A1A1A"/>
          </a:solidFill>
          <a:ln/>
        </p:spPr>
      </p:sp>
      <p:sp>
        <p:nvSpPr>
          <p:cNvPr id="20" name="Shape 18"/>
          <p:cNvSpPr/>
          <p:nvPr/>
        </p:nvSpPr>
        <p:spPr>
          <a:xfrm>
            <a:off x="9034234" y="1876425"/>
            <a:ext cx="2624061" cy="2828925"/>
          </a:xfrm>
          <a:prstGeom prst="rect">
            <a:avLst/>
          </a:prstGeom>
          <a:solidFill>
            <a:srgbClr val="F2F2F2"/>
          </a:solidFill>
          <a:ln w="6350">
            <a:solidFill>
              <a:srgbClr val="F2F2F2"/>
            </a:solidFill>
            <a:prstDash val="solid"/>
          </a:ln>
        </p:spPr>
      </p:sp>
      <p:sp>
        <p:nvSpPr>
          <p:cNvPr id="21" name="Text 19"/>
          <p:cNvSpPr/>
          <p:nvPr/>
        </p:nvSpPr>
        <p:spPr>
          <a:xfrm>
            <a:off x="9224734" y="2000250"/>
            <a:ext cx="2243061"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3</a:t>
            </a:r>
            <a:endParaRPr lang="en-US" sz="1600" dirty="0"/>
          </a:p>
        </p:txBody>
      </p:sp>
      <p:sp>
        <p:nvSpPr>
          <p:cNvPr id="22" name="Text 20"/>
          <p:cNvSpPr/>
          <p:nvPr/>
        </p:nvSpPr>
        <p:spPr>
          <a:xfrm>
            <a:off x="9224734" y="2276475"/>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Manager</a:t>
            </a:r>
            <a:endParaRPr lang="en-US" sz="2000" dirty="0"/>
          </a:p>
        </p:txBody>
      </p:sp>
      <p:sp>
        <p:nvSpPr>
          <p:cNvPr id="23" name="Text 21"/>
          <p:cNvSpPr/>
          <p:nvPr/>
        </p:nvSpPr>
        <p:spPr>
          <a:xfrm>
            <a:off x="9224734" y="2628900"/>
            <a:ext cx="2243061" cy="20002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Leads the test and owns safety. CREST CCSAM, OSCE + OSEE, GPEN + GXPN.</a:t>
            </a:r>
            <a:endParaRPr lang="en-US" sz="1500" dirty="0"/>
          </a:p>
        </p:txBody>
      </p:sp>
      <p:sp>
        <p:nvSpPr>
          <p:cNvPr id="24" name="Shape 22"/>
          <p:cNvSpPr/>
          <p:nvPr/>
        </p:nvSpPr>
        <p:spPr>
          <a:xfrm>
            <a:off x="533400" y="4876800"/>
            <a:ext cx="11124895" cy="28575"/>
          </a:xfrm>
          <a:prstGeom prst="rect">
            <a:avLst/>
          </a:prstGeom>
          <a:solidFill>
            <a:srgbClr val="1A1A1A"/>
          </a:solidFill>
          <a:ln/>
        </p:spPr>
      </p:sp>
      <p:sp>
        <p:nvSpPr>
          <p:cNvPr id="25" name="Shape 23"/>
          <p:cNvSpPr/>
          <p:nvPr/>
        </p:nvSpPr>
        <p:spPr>
          <a:xfrm>
            <a:off x="533400" y="4905375"/>
            <a:ext cx="11124895" cy="1019175"/>
          </a:xfrm>
          <a:prstGeom prst="rect">
            <a:avLst/>
          </a:prstGeom>
          <a:solidFill>
            <a:srgbClr val="F2F2F2"/>
          </a:solidFill>
          <a:ln w="6350">
            <a:solidFill>
              <a:srgbClr val="F2F2F2"/>
            </a:solidFill>
            <a:prstDash val="solid"/>
          </a:ln>
        </p:spPr>
      </p:sp>
      <p:sp>
        <p:nvSpPr>
          <p:cNvPr id="26" name="Text 24"/>
          <p:cNvSpPr/>
          <p:nvPr/>
        </p:nvSpPr>
        <p:spPr>
          <a:xfrm>
            <a:off x="723900" y="5029200"/>
            <a:ext cx="10743895"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WHY OSCP AND CRTP</a:t>
            </a:r>
            <a:endParaRPr lang="en-US" sz="1600" dirty="0"/>
          </a:p>
        </p:txBody>
      </p:sp>
      <p:sp>
        <p:nvSpPr>
          <p:cNvPr id="27" name="Text 25"/>
          <p:cNvSpPr/>
          <p:nvPr/>
        </p:nvSpPr>
        <p:spPr>
          <a:xfrm>
            <a:off x="723900" y="530542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Hands-on exams: you have to actually break in, not just answer questions. That is why the regulator accepts them for testers.</a:t>
            </a:r>
            <a:endParaRPr lang="en-US" sz="2000" dirty="0"/>
          </a:p>
        </p:txBody>
      </p:sp>
      <p:sp>
        <p:nvSpPr>
          <p:cNvPr id="28" name="Text 2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 “Cybersecurity Fortification Initiative 2.0”, 3 Nov 2020, and Annex: “List of equivalent qualifications”. * = added in 2.0</a:t>
            </a:r>
            <a:endParaRPr lang="en-US" sz="1300" dirty="0"/>
          </a:p>
        </p:txBody>
      </p:sp>
      <p:sp>
        <p:nvSpPr>
          <p:cNvPr id="29" name="Text 2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30</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PDP · NEXT STEPS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Getting started: offers on the table for this class.</a:t>
            </a:r>
            <a:endParaRPr lang="en-US" sz="3000" dirty="0"/>
          </a:p>
        </p:txBody>
      </p:sp>
      <p:sp>
        <p:nvSpPr>
          <p:cNvPr id="4" name="Shape 2"/>
          <p:cNvSpPr/>
          <p:nvPr/>
        </p:nvSpPr>
        <p:spPr>
          <a:xfrm>
            <a:off x="533400" y="1847850"/>
            <a:ext cx="3568598" cy="28575"/>
          </a:xfrm>
          <a:prstGeom prst="rect">
            <a:avLst/>
          </a:prstGeom>
          <a:solidFill>
            <a:srgbClr val="D04A02"/>
          </a:solidFill>
          <a:ln/>
        </p:spPr>
      </p:sp>
      <p:sp>
        <p:nvSpPr>
          <p:cNvPr id="5" name="Shape 3"/>
          <p:cNvSpPr/>
          <p:nvPr/>
        </p:nvSpPr>
        <p:spPr>
          <a:xfrm>
            <a:off x="533400" y="1876425"/>
            <a:ext cx="3568598" cy="2828925"/>
          </a:xfrm>
          <a:prstGeom prst="rect">
            <a:avLst/>
          </a:prstGeom>
          <a:solidFill>
            <a:srgbClr val="FDF0E6"/>
          </a:solidFill>
          <a:ln w="6350">
            <a:solidFill>
              <a:srgbClr val="FDF0E6"/>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TESTER TRACK</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OffSec (OSCP)</a:t>
            </a:r>
            <a:endParaRPr lang="en-US" sz="2000" dirty="0"/>
          </a:p>
        </p:txBody>
      </p:sp>
      <p:sp>
        <p:nvSpPr>
          <p:cNvPr id="8" name="Text 6"/>
          <p:cNvSpPr/>
          <p:nvPr/>
        </p:nvSpPr>
        <p:spPr>
          <a:xfrm>
            <a:off x="723900" y="2628900"/>
            <a:ext cx="3187598" cy="2000250"/>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No Hong Kong office; Asia-Pacific is served from Singapore. 15% off the list price for CS5292 students — ask me for an introduction. I’m also inviting them to speak.</a:t>
            </a:r>
            <a:endParaRPr lang="en-US" sz="16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282892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ASSESSOR TRACK</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ISACA and ISC2</a:t>
            </a:r>
            <a:endParaRPr lang="en-US" sz="2000" dirty="0"/>
          </a:p>
        </p:txBody>
      </p:sp>
      <p:sp>
        <p:nvSpPr>
          <p:cNvPr id="13" name="Text 11"/>
          <p:cNvSpPr/>
          <p:nvPr/>
        </p:nvSpPr>
        <p:spPr>
          <a:xfrm>
            <a:off x="4502048" y="2628900"/>
            <a:ext cx="3187598" cy="2000250"/>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Both in class in Week 12. I’ll connect you, and I’m asking for a student discount on CISA, CISM, CRISC and CISSP.</a:t>
            </a:r>
            <a:endParaRPr lang="en-US" sz="1600" dirty="0"/>
          </a:p>
        </p:txBody>
      </p:sp>
      <p:sp>
        <p:nvSpPr>
          <p:cNvPr id="14" name="Shape 12"/>
          <p:cNvSpPr/>
          <p:nvPr/>
        </p:nvSpPr>
        <p:spPr>
          <a:xfrm>
            <a:off x="8089697" y="1847850"/>
            <a:ext cx="3568598" cy="28575"/>
          </a:xfrm>
          <a:prstGeom prst="rect">
            <a:avLst/>
          </a:prstGeom>
          <a:solidFill>
            <a:srgbClr val="1A1A1A"/>
          </a:solidFill>
          <a:ln/>
        </p:spPr>
      </p:sp>
      <p:sp>
        <p:nvSpPr>
          <p:cNvPr id="15" name="Shape 13"/>
          <p:cNvSpPr/>
          <p:nvPr/>
        </p:nvSpPr>
        <p:spPr>
          <a:xfrm>
            <a:off x="8089697" y="1876425"/>
            <a:ext cx="3568598" cy="2828925"/>
          </a:xfrm>
          <a:prstGeom prst="rect">
            <a:avLst/>
          </a:prstGeom>
          <a:solidFill>
            <a:srgbClr val="F2F2F2"/>
          </a:solidFill>
          <a:ln w="6350">
            <a:solidFill>
              <a:srgbClr val="F2F2F2"/>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GOOD PRACTICE</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Before you pay</a:t>
            </a:r>
            <a:endParaRPr lang="en-US" sz="2000" dirty="0"/>
          </a:p>
        </p:txBody>
      </p:sp>
      <p:sp>
        <p:nvSpPr>
          <p:cNvPr id="18" name="Text 16"/>
          <p:cNvSpPr/>
          <p:nvPr/>
        </p:nvSpPr>
        <p:spPr>
          <a:xfrm>
            <a:off x="8280197" y="2628900"/>
            <a:ext cx="3187598" cy="2000250"/>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Check the current qualification list on the HKMA website, and the exam’s current price. Both change.</a:t>
            </a:r>
            <a:endParaRPr lang="en-US" sz="1600" dirty="0"/>
          </a:p>
        </p:txBody>
      </p:sp>
      <p:sp>
        <p:nvSpPr>
          <p:cNvPr id="19" name="Shape 17"/>
          <p:cNvSpPr/>
          <p:nvPr/>
        </p:nvSpPr>
        <p:spPr>
          <a:xfrm>
            <a:off x="533400" y="4876800"/>
            <a:ext cx="11124895" cy="28575"/>
          </a:xfrm>
          <a:prstGeom prst="rect">
            <a:avLst/>
          </a:prstGeom>
          <a:solidFill>
            <a:srgbClr val="D04A02"/>
          </a:solidFill>
          <a:ln/>
        </p:spPr>
      </p:sp>
      <p:sp>
        <p:nvSpPr>
          <p:cNvPr id="20" name="Shape 18"/>
          <p:cNvSpPr/>
          <p:nvPr/>
        </p:nvSpPr>
        <p:spPr>
          <a:xfrm>
            <a:off x="533400" y="4905375"/>
            <a:ext cx="11124895" cy="733425"/>
          </a:xfrm>
          <a:prstGeom prst="rect">
            <a:avLst/>
          </a:prstGeom>
          <a:solidFill>
            <a:srgbClr val="FDF0E6"/>
          </a:solidFill>
          <a:ln w="6350">
            <a:solidFill>
              <a:srgbClr val="FDF0E6"/>
            </a:solidFill>
            <a:prstDash val="solid"/>
          </a:ln>
        </p:spPr>
      </p:sp>
      <p:sp>
        <p:nvSpPr>
          <p:cNvPr id="21" name="Text 19"/>
          <p:cNvSpPr/>
          <p:nvPr/>
        </p:nvSpPr>
        <p:spPr>
          <a:xfrm>
            <a:off x="723900" y="502920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Talk to me after class — I’m happy to introduce you.</a:t>
            </a:r>
            <a:endParaRPr lang="en-US" sz="2000" dirty="0"/>
          </a:p>
        </p:txBody>
      </p:sp>
      <p:sp>
        <p:nvSpPr>
          <p:cNvPr id="22" name="Text 20"/>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Lecturer’s arrangements with the certification bodies, as at 30 Sep 2026</a:t>
            </a:r>
            <a:endParaRPr lang="en-US" sz="1300" dirty="0"/>
          </a:p>
        </p:txBody>
      </p:sp>
      <p:sp>
        <p:nvSpPr>
          <p:cNvPr id="23" name="Text 21"/>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31</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LOOKING AHEAD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Coming in Week 8: iCAST and TIBAS, up close.</a:t>
            </a:r>
            <a:endParaRPr lang="en-US" sz="3000" dirty="0"/>
          </a:p>
        </p:txBody>
      </p:sp>
      <p:sp>
        <p:nvSpPr>
          <p:cNvPr id="4" name="Shape 2"/>
          <p:cNvSpPr/>
          <p:nvPr/>
        </p:nvSpPr>
        <p:spPr>
          <a:xfrm>
            <a:off x="533400" y="1847850"/>
            <a:ext cx="5457673" cy="28575"/>
          </a:xfrm>
          <a:prstGeom prst="rect">
            <a:avLst/>
          </a:prstGeom>
          <a:solidFill>
            <a:srgbClr val="1A1A1A"/>
          </a:solidFill>
          <a:ln/>
        </p:spPr>
      </p:sp>
      <p:sp>
        <p:nvSpPr>
          <p:cNvPr id="5" name="Shape 3"/>
          <p:cNvSpPr/>
          <p:nvPr/>
        </p:nvSpPr>
        <p:spPr>
          <a:xfrm>
            <a:off x="533400" y="1876425"/>
            <a:ext cx="5457673" cy="2733675"/>
          </a:xfrm>
          <a:prstGeom prst="rect">
            <a:avLst/>
          </a:prstGeom>
          <a:solidFill>
            <a:srgbClr val="F2F2F2"/>
          </a:solidFill>
          <a:ln w="6350">
            <a:solidFill>
              <a:srgbClr val="F2F2F2"/>
            </a:solidFill>
            <a:prstDash val="solid"/>
          </a:ln>
        </p:spPr>
      </p:sp>
      <p:sp>
        <p:nvSpPr>
          <p:cNvPr id="6" name="Text 4"/>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BANKS · HKMA</a:t>
            </a:r>
            <a:endParaRPr lang="en-US" sz="1600" dirty="0"/>
          </a:p>
        </p:txBody>
      </p:sp>
      <p:sp>
        <p:nvSpPr>
          <p:cNvPr id="7" name="Text 5"/>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iCAST</a:t>
            </a:r>
            <a:endParaRPr lang="en-US" sz="2000" dirty="0"/>
          </a:p>
        </p:txBody>
      </p:sp>
      <p:sp>
        <p:nvSpPr>
          <p:cNvPr id="8" name="Text 6"/>
          <p:cNvSpPr/>
          <p:nvPr/>
        </p:nvSpPr>
        <p:spPr>
          <a:xfrm>
            <a:off x="723900" y="2628900"/>
            <a:ext cx="5076673" cy="1905000"/>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Intelligence-led cyber attack simulation, expected of Medium- and High-risk banks.</a:t>
            </a:r>
            <a:endParaRPr lang="en-US" sz="1600" dirty="0"/>
          </a:p>
          <a:p>
            <a:pPr indent="0" marL="0">
              <a:lnSpc>
                <a:spcPct val="130000"/>
              </a:lnSpc>
              <a:buNone/>
            </a:pPr>
            <a:r>
              <a:rPr lang="en-US" sz="1600" dirty="0">
                <a:solidFill>
                  <a:srgbClr val="3D3D3D"/>
                </a:solidFill>
                <a:latin typeface="Arial" pitchFamily="34" charset="0"/>
                <a:ea typeface="Arial" pitchFamily="34" charset="-122"/>
                <a:cs typeface="Arial" pitchFamily="34" charset="-120"/>
              </a:rPr>
              <a:t>Tailored threat intelligence, then a red team attack.</a:t>
            </a:r>
            <a:endParaRPr lang="en-US" sz="1600" dirty="0"/>
          </a:p>
          <a:p>
            <a:pPr indent="0" marL="0">
              <a:lnSpc>
                <a:spcPct val="130000"/>
              </a:lnSpc>
              <a:buNone/>
            </a:pPr>
            <a:r>
              <a:rPr lang="en-US" sz="1600" dirty="0">
                <a:solidFill>
                  <a:srgbClr val="3D3D3D"/>
                </a:solidFill>
                <a:latin typeface="Arial" pitchFamily="34" charset="0"/>
                <a:ea typeface="Arial" pitchFamily="34" charset="-122"/>
                <a:cs typeface="Arial" pitchFamily="34" charset="-120"/>
              </a:rPr>
              <a:t>Since 2.0: a Blue Team report and a red–blue replay workshop.</a:t>
            </a:r>
            <a:endParaRPr lang="en-US" sz="16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27336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INSURERS · IA GL20</a:t>
            </a:r>
            <a:endParaRPr lang="en-US" sz="1600" dirty="0"/>
          </a:p>
        </p:txBody>
      </p:sp>
      <p:sp>
        <p:nvSpPr>
          <p:cNvPr id="12" name="Text 10"/>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TIBAS</a:t>
            </a:r>
            <a:endParaRPr lang="en-US" sz="2000" dirty="0"/>
          </a:p>
        </p:txBody>
      </p:sp>
      <p:sp>
        <p:nvSpPr>
          <p:cNvPr id="13" name="Text 11"/>
          <p:cNvSpPr/>
          <p:nvPr/>
        </p:nvSpPr>
        <p:spPr>
          <a:xfrm>
            <a:off x="6391123" y="2628900"/>
            <a:ext cx="5076673" cy="1905000"/>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Threat-intelligence-based attack simulation.</a:t>
            </a:r>
            <a:endParaRPr lang="en-US" sz="1600" dirty="0"/>
          </a:p>
          <a:p>
            <a:pPr indent="0" marL="0">
              <a:lnSpc>
                <a:spcPct val="130000"/>
              </a:lnSpc>
              <a:buNone/>
            </a:pPr>
            <a:r>
              <a:rPr lang="en-US" sz="1600" dirty="0">
                <a:solidFill>
                  <a:srgbClr val="3D3D3D"/>
                </a:solidFill>
                <a:latin typeface="Arial" pitchFamily="34" charset="0"/>
                <a:ea typeface="Arial" pitchFamily="34" charset="-122"/>
                <a:cs typeface="Arial" pitchFamily="34" charset="-120"/>
              </a:rPr>
              <a:t>End-to-end scenarios tailored to the insurer, at least three.</a:t>
            </a:r>
            <a:endParaRPr lang="en-US" sz="1600" dirty="0"/>
          </a:p>
          <a:p>
            <a:pPr indent="0" marL="0">
              <a:lnSpc>
                <a:spcPct val="130000"/>
              </a:lnSpc>
              <a:buNone/>
            </a:pPr>
            <a:r>
              <a:rPr lang="en-US" sz="1600" dirty="0">
                <a:solidFill>
                  <a:srgbClr val="3D3D3D"/>
                </a:solidFill>
                <a:latin typeface="Arial" pitchFamily="34" charset="0"/>
                <a:ea typeface="Arial" pitchFamily="34" charset="-122"/>
                <a:cs typeface="Arial" pitchFamily="34" charset="-120"/>
              </a:rPr>
              <a:t>At least every three years, or after significant change.</a:t>
            </a:r>
            <a:endParaRPr lang="en-US" sz="1600" dirty="0"/>
          </a:p>
        </p:txBody>
      </p:sp>
      <p:sp>
        <p:nvSpPr>
          <p:cNvPr id="14" name="Shape 12"/>
          <p:cNvSpPr/>
          <p:nvPr/>
        </p:nvSpPr>
        <p:spPr>
          <a:xfrm>
            <a:off x="533400" y="4800600"/>
            <a:ext cx="11124895" cy="28575"/>
          </a:xfrm>
          <a:prstGeom prst="rect">
            <a:avLst/>
          </a:prstGeom>
          <a:solidFill>
            <a:srgbClr val="D04A02"/>
          </a:solidFill>
          <a:ln/>
        </p:spPr>
      </p:sp>
      <p:sp>
        <p:nvSpPr>
          <p:cNvPr id="15" name="Shape 13"/>
          <p:cNvSpPr/>
          <p:nvPr/>
        </p:nvSpPr>
        <p:spPr>
          <a:xfrm>
            <a:off x="533400" y="4829175"/>
            <a:ext cx="11124895" cy="885825"/>
          </a:xfrm>
          <a:prstGeom prst="rect">
            <a:avLst/>
          </a:prstGeom>
          <a:solidFill>
            <a:srgbClr val="FDF0E6"/>
          </a:solidFill>
          <a:ln w="6350">
            <a:solidFill>
              <a:srgbClr val="FDF0E6"/>
            </a:solidFill>
            <a:prstDash val="solid"/>
          </a:ln>
        </p:spPr>
      </p:sp>
      <p:sp>
        <p:nvSpPr>
          <p:cNvPr id="16" name="Text 14"/>
          <p:cNvSpPr/>
          <p:nvPr/>
        </p:nvSpPr>
        <p:spPr>
          <a:xfrm>
            <a:off x="723900" y="495300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WEEK 8 · 21 OCTOBER</a:t>
            </a:r>
            <a:endParaRPr lang="en-US" sz="1600" dirty="0"/>
          </a:p>
        </p:txBody>
      </p:sp>
      <p:sp>
        <p:nvSpPr>
          <p:cNvPr id="17" name="Text 15"/>
          <p:cNvSpPr/>
          <p:nvPr/>
        </p:nvSpPr>
        <p:spPr>
          <a:xfrm>
            <a:off x="723900" y="5229225"/>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 practising hacker joins us — live, from the attacker’s side.</a:t>
            </a:r>
            <a:endParaRPr lang="en-US" sz="2000" dirty="0"/>
          </a:p>
        </p:txBody>
      </p:sp>
      <p:sp>
        <p:nvSpPr>
          <p:cNvPr id="18" name="Text 1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 IA GL20 TIBAS requirement (as reproduced in an assessor’s maturity assessment) · CS5292 course schedule</a:t>
            </a:r>
            <a:endParaRPr lang="en-US" sz="1300" dirty="0"/>
          </a:p>
        </p:txBody>
      </p:sp>
      <p:sp>
        <p:nvSpPr>
          <p:cNvPr id="19" name="Text 1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32</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WHAT CHANGED · ROLLOUT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C-RAF 2.0 went live in 2021, in three groups again.</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857500"/>
                <a:gridCol w="4381500"/>
                <a:gridCol w="2162175"/>
                <a:gridCol w="2162175"/>
              </a:tblGrid>
              <a:tr h="571500">
                <a:tc>
                  <a:txBody>
                    <a:bodyPr/>
                    <a:lstStyle/>
                    <a:p>
                      <a:pPr algn="l" indent="0" marL="0">
                        <a:buNone/>
                      </a:pP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Group 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Group 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Group 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Who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Major retail banks, selected foreign branches, and new AIs never assessed before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By scale and risk profile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By scale and risk profile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Risk + maturity assessment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End-Sep 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End-Jun 2022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End-Mar 2023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iCAST (Medium or High risk)</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End-Jun 2022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End-Mar 2023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End-Dec 2023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09825"/>
            <a:ext cx="11124895" cy="19050"/>
          </a:xfrm>
          <a:prstGeom prst="rect">
            <a:avLst/>
          </a:prstGeom>
          <a:solidFill>
            <a:srgbClr val="1A1A1A"/>
          </a:solidFill>
          <a:ln/>
        </p:spPr>
      </p:sp>
      <p:sp>
        <p:nvSpPr>
          <p:cNvPr id="6" name="Shape 3"/>
          <p:cNvSpPr/>
          <p:nvPr/>
        </p:nvSpPr>
        <p:spPr>
          <a:xfrm>
            <a:off x="533400" y="4755134"/>
            <a:ext cx="11124895" cy="28575"/>
          </a:xfrm>
          <a:prstGeom prst="rect">
            <a:avLst/>
          </a:prstGeom>
          <a:solidFill>
            <a:srgbClr val="D04A02"/>
          </a:solidFill>
          <a:ln/>
        </p:spPr>
      </p:sp>
      <p:sp>
        <p:nvSpPr>
          <p:cNvPr id="7" name="Shape 4"/>
          <p:cNvSpPr/>
          <p:nvPr/>
        </p:nvSpPr>
        <p:spPr>
          <a:xfrm>
            <a:off x="533400" y="4783709"/>
            <a:ext cx="11124895" cy="923925"/>
          </a:xfrm>
          <a:prstGeom prst="rect">
            <a:avLst/>
          </a:prstGeom>
          <a:solidFill>
            <a:srgbClr val="FDF0E6"/>
          </a:solidFill>
          <a:ln w="6350">
            <a:solidFill>
              <a:srgbClr val="FDF0E6"/>
            </a:solidFill>
            <a:prstDash val="solid"/>
          </a:ln>
        </p:spPr>
      </p:sp>
      <p:sp>
        <p:nvSpPr>
          <p:cNvPr id="8" name="Text 5"/>
          <p:cNvSpPr/>
          <p:nvPr/>
        </p:nvSpPr>
        <p:spPr>
          <a:xfrm>
            <a:off x="723900" y="4907534"/>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And the cycle restarts: generally every three years, sooner for High risk or major change.</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 “Cybersecurity Fortification Initiative 2.0”, 3 Nov 2020, and Annex · HKMA C-RAF 2.0 (Nov 2020) §1.2.3</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33</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4 · THE 174, THROUGH AN RFI  ·  12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Reading the 174</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through an RFI.</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How we turned 482 Control Principles into one request list — and what we actually asked banks for.</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34</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4 · THE RFI</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482 rows, one per principle; 174 flagged new.</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4000500"/>
                <a:gridCol w="7562850"/>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Column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goes in it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Domain · component · sub-component · level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Where the principle sits, and whether it is Baseline, Intermediate or Advanced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Control Principle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The HKMA’s wording, verbatim</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New on top of C-RAF 1.0?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Yes / No — so the bank and assessor focus on the deltas first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Documents to be requested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The evidence we want, plus a “detailed elaboration” of what good looks like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Sampling required?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Yes / No — does this need samples from a population?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Status · outcome · justification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Pending → received → closed; Y / N / AC / RA / NA; the written justification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288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PwC C-RAF 1.0 → 2.0 gap analysis and Information Request List (2021–22), anonymised · outcome codes per HKMA C-RAF 2.0 (Nov 2020) §3.3.2</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35</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4 · THE RFI · GOVERNANCE · NEW AT BASELINE AND INTERMEDIATE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Example 1: who is actually in charge?</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140017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CP 1.3.1 · CYBER RISK MANAGEMENT FUNCTION · BASELINE</a:t>
            </a:r>
            <a:endParaRPr lang="en-US" sz="1600" dirty="0"/>
          </a:p>
        </p:txBody>
      </p:sp>
      <p:sp>
        <p:nvSpPr>
          <p:cNvPr id="7" name="Text 5"/>
          <p:cNvSpPr/>
          <p:nvPr/>
        </p:nvSpPr>
        <p:spPr>
          <a:xfrm>
            <a:off x="723900" y="2276475"/>
            <a:ext cx="10743895" cy="79057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“The institution has appointed cyber security management roles such as a CISO or a Head of TRM to oversee, coordinate and govern the enterprise-wide cybersecurity programme.”</a:t>
            </a:r>
            <a:endParaRPr lang="en-US" sz="2000" dirty="0"/>
          </a:p>
        </p:txBody>
      </p:sp>
      <p:sp>
        <p:nvSpPr>
          <p:cNvPr id="8" name="Shape 6"/>
          <p:cNvSpPr/>
          <p:nvPr/>
        </p:nvSpPr>
        <p:spPr>
          <a:xfrm>
            <a:off x="533400" y="3467100"/>
            <a:ext cx="5457673" cy="28575"/>
          </a:xfrm>
          <a:prstGeom prst="rect">
            <a:avLst/>
          </a:prstGeom>
          <a:solidFill>
            <a:srgbClr val="1A1A1A"/>
          </a:solidFill>
          <a:ln/>
        </p:spPr>
      </p:sp>
      <p:sp>
        <p:nvSpPr>
          <p:cNvPr id="9" name="Shape 7"/>
          <p:cNvSpPr/>
          <p:nvPr/>
        </p:nvSpPr>
        <p:spPr>
          <a:xfrm>
            <a:off x="533400" y="3495675"/>
            <a:ext cx="5457673" cy="2600325"/>
          </a:xfrm>
          <a:prstGeom prst="rect">
            <a:avLst/>
          </a:prstGeom>
          <a:solidFill>
            <a:srgbClr val="F2F2F2"/>
          </a:solidFill>
          <a:ln w="6350">
            <a:solidFill>
              <a:srgbClr val="F2F2F2"/>
            </a:solidFill>
            <a:prstDash val="solid"/>
          </a:ln>
        </p:spPr>
      </p:sp>
      <p:sp>
        <p:nvSpPr>
          <p:cNvPr id="10" name="Text 8"/>
          <p:cNvSpPr/>
          <p:nvPr/>
        </p:nvSpPr>
        <p:spPr>
          <a:xfrm>
            <a:off x="723900" y="36195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ASKED FOR</a:t>
            </a:r>
            <a:endParaRPr lang="en-US" sz="1600" dirty="0"/>
          </a:p>
        </p:txBody>
      </p:sp>
      <p:sp>
        <p:nvSpPr>
          <p:cNvPr id="11" name="Text 9"/>
          <p:cNvSpPr/>
          <p:nvPr/>
        </p:nvSpPr>
        <p:spPr>
          <a:xfrm>
            <a:off x="723900" y="3895725"/>
            <a:ext cx="5076673" cy="21240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Organisation charts showing the reporting lines of the CISO and the Head of TRM.</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Job descriptions for both roles.</a:t>
            </a:r>
            <a:endParaRPr lang="en-US" sz="1800" dirty="0"/>
          </a:p>
        </p:txBody>
      </p:sp>
      <p:sp>
        <p:nvSpPr>
          <p:cNvPr id="12" name="Shape 10"/>
          <p:cNvSpPr/>
          <p:nvPr/>
        </p:nvSpPr>
        <p:spPr>
          <a:xfrm>
            <a:off x="6200623" y="3467100"/>
            <a:ext cx="5457673" cy="28575"/>
          </a:xfrm>
          <a:prstGeom prst="rect">
            <a:avLst/>
          </a:prstGeom>
          <a:solidFill>
            <a:srgbClr val="1A1A1A"/>
          </a:solidFill>
          <a:ln/>
        </p:spPr>
      </p:sp>
      <p:sp>
        <p:nvSpPr>
          <p:cNvPr id="13" name="Shape 11"/>
          <p:cNvSpPr/>
          <p:nvPr/>
        </p:nvSpPr>
        <p:spPr>
          <a:xfrm>
            <a:off x="6200623" y="3495675"/>
            <a:ext cx="5457673" cy="2600325"/>
          </a:xfrm>
          <a:prstGeom prst="rect">
            <a:avLst/>
          </a:prstGeom>
          <a:solidFill>
            <a:srgbClr val="F2F2F2"/>
          </a:solidFill>
          <a:ln w="6350">
            <a:solidFill>
              <a:srgbClr val="F2F2F2"/>
            </a:solidFill>
            <a:prstDash val="solid"/>
          </a:ln>
        </p:spPr>
      </p:sp>
      <p:sp>
        <p:nvSpPr>
          <p:cNvPr id="14" name="Text 12"/>
          <p:cNvSpPr/>
          <p:nvPr/>
        </p:nvSpPr>
        <p:spPr>
          <a:xfrm>
            <a:off x="6391123" y="36195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WANTED TO SEE</a:t>
            </a:r>
            <a:endParaRPr lang="en-US" sz="1600" dirty="0"/>
          </a:p>
        </p:txBody>
      </p:sp>
      <p:sp>
        <p:nvSpPr>
          <p:cNvPr id="15" name="Text 13"/>
          <p:cNvSpPr/>
          <p:nvPr/>
        </p:nvSpPr>
        <p:spPr>
          <a:xfrm>
            <a:off x="6391123" y="3895725"/>
            <a:ext cx="5076673" cy="21240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Clear reporting lines to senior management or a governance committee.</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At Intermediate: first line (e.g. CISO) and second line (e.g. Head of TRM) defined and segregated.</a:t>
            </a:r>
            <a:endParaRPr lang="en-US" sz="1800" dirty="0"/>
          </a:p>
        </p:txBody>
      </p:sp>
      <p:sp>
        <p:nvSpPr>
          <p:cNvPr id="16" name="Text 14"/>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Appendix B, 1.3.1 · PwC C-RAF 1.0 → 2.0 gap analysis and Information Request List (2021–22), anonymised</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36</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4 · THE RFI · PROTECTION · NEW AT ALL THREE LEVELS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Example 2: how do people get in from outside?</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120967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CP 3.1.5 · REMOTE ACCESS MANAGEMENT · BASELINE</a:t>
            </a:r>
            <a:endParaRPr lang="en-US" sz="1600" dirty="0"/>
          </a:p>
        </p:txBody>
      </p:sp>
      <p:sp>
        <p:nvSpPr>
          <p:cNvPr id="7" name="Text 5"/>
          <p:cNvSpPr/>
          <p:nvPr/>
        </p:nvSpPr>
        <p:spPr>
          <a:xfrm>
            <a:off x="723900" y="227647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“Remote access by employees, contractors, and third parties uses encrypted connections and multifactor authentication.”</a:t>
            </a:r>
            <a:endParaRPr lang="en-US" sz="2000" dirty="0"/>
          </a:p>
        </p:txBody>
      </p:sp>
      <p:sp>
        <p:nvSpPr>
          <p:cNvPr id="8" name="Shape 6"/>
          <p:cNvSpPr/>
          <p:nvPr/>
        </p:nvSpPr>
        <p:spPr>
          <a:xfrm>
            <a:off x="533400" y="3276600"/>
            <a:ext cx="5457673" cy="28575"/>
          </a:xfrm>
          <a:prstGeom prst="rect">
            <a:avLst/>
          </a:prstGeom>
          <a:solidFill>
            <a:srgbClr val="1A1A1A"/>
          </a:solidFill>
          <a:ln/>
        </p:spPr>
      </p:sp>
      <p:sp>
        <p:nvSpPr>
          <p:cNvPr id="9" name="Shape 7"/>
          <p:cNvSpPr/>
          <p:nvPr/>
        </p:nvSpPr>
        <p:spPr>
          <a:xfrm>
            <a:off x="533400" y="3305175"/>
            <a:ext cx="5457673" cy="2790825"/>
          </a:xfrm>
          <a:prstGeom prst="rect">
            <a:avLst/>
          </a:prstGeom>
          <a:solidFill>
            <a:srgbClr val="F2F2F2"/>
          </a:solidFill>
          <a:ln w="6350">
            <a:solidFill>
              <a:srgbClr val="F2F2F2"/>
            </a:solidFill>
            <a:prstDash val="solid"/>
          </a:ln>
        </p:spPr>
      </p:sp>
      <p:sp>
        <p:nvSpPr>
          <p:cNvPr id="10" name="Text 8"/>
          <p:cNvSpPr/>
          <p:nvPr/>
        </p:nvSpPr>
        <p:spPr>
          <a:xfrm>
            <a:off x="723900" y="34290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ASKED FOR</a:t>
            </a:r>
            <a:endParaRPr lang="en-US" sz="1600" dirty="0"/>
          </a:p>
        </p:txBody>
      </p:sp>
      <p:sp>
        <p:nvSpPr>
          <p:cNvPr id="11" name="Text 9"/>
          <p:cNvSpPr/>
          <p:nvPr/>
        </p:nvSpPr>
        <p:spPr>
          <a:xfrm>
            <a:off x="723900" y="3705225"/>
            <a:ext cx="5076673" cy="2314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The remote access management policy or guideline.</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 network architecture diagram showing the remote access paths for staff, contractors and third parties.</a:t>
            </a:r>
            <a:endParaRPr lang="en-US" sz="1800" dirty="0"/>
          </a:p>
        </p:txBody>
      </p:sp>
      <p:sp>
        <p:nvSpPr>
          <p:cNvPr id="12" name="Shape 10"/>
          <p:cNvSpPr/>
          <p:nvPr/>
        </p:nvSpPr>
        <p:spPr>
          <a:xfrm>
            <a:off x="6200623" y="3276600"/>
            <a:ext cx="5457673" cy="28575"/>
          </a:xfrm>
          <a:prstGeom prst="rect">
            <a:avLst/>
          </a:prstGeom>
          <a:solidFill>
            <a:srgbClr val="1A1A1A"/>
          </a:solidFill>
          <a:ln/>
        </p:spPr>
      </p:sp>
      <p:sp>
        <p:nvSpPr>
          <p:cNvPr id="13" name="Shape 11"/>
          <p:cNvSpPr/>
          <p:nvPr/>
        </p:nvSpPr>
        <p:spPr>
          <a:xfrm>
            <a:off x="6200623" y="3305175"/>
            <a:ext cx="5457673" cy="2790825"/>
          </a:xfrm>
          <a:prstGeom prst="rect">
            <a:avLst/>
          </a:prstGeom>
          <a:solidFill>
            <a:srgbClr val="F2F2F2"/>
          </a:solidFill>
          <a:ln w="6350">
            <a:solidFill>
              <a:srgbClr val="F2F2F2"/>
            </a:solidFill>
            <a:prstDash val="solid"/>
          </a:ln>
        </p:spPr>
      </p:sp>
      <p:sp>
        <p:nvSpPr>
          <p:cNvPr id="14" name="Text 12"/>
          <p:cNvSpPr/>
          <p:nvPr/>
        </p:nvSpPr>
        <p:spPr>
          <a:xfrm>
            <a:off x="6391123" y="34290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WANTED TO SEE</a:t>
            </a:r>
            <a:endParaRPr lang="en-US" sz="1600" dirty="0"/>
          </a:p>
        </p:txBody>
      </p:sp>
      <p:sp>
        <p:nvSpPr>
          <p:cNvPr id="15" name="Text 13"/>
          <p:cNvSpPr/>
          <p:nvPr/>
        </p:nvSpPr>
        <p:spPr>
          <a:xfrm>
            <a:off x="6391123" y="3705225"/>
            <a:ext cx="5076673" cy="2314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VPN enforces encryption and MFA (a demo will do).</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Intermediate: all remote access via managed control points, e.g. a jump host.</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Advanced: remote access can be cut off quickly.</a:t>
            </a:r>
            <a:endParaRPr lang="en-US" sz="1800" dirty="0"/>
          </a:p>
        </p:txBody>
      </p:sp>
      <p:sp>
        <p:nvSpPr>
          <p:cNvPr id="16" name="Text 14"/>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Appendix B, 3.1.5 · PwC C-RAF 1.0 → 2.0 gap analysis and Information Request List (2021–22), anonymised</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37</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4 · THE RFI · DETECTION · NEW AT INTERMEDIATE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Example 3: would you see it happening?</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159067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CP 4.3.2 · DETECTION AND ALERT · INTERMEDIATE</a:t>
            </a:r>
            <a:endParaRPr lang="en-US" sz="1600" dirty="0"/>
          </a:p>
        </p:txBody>
      </p:sp>
      <p:sp>
        <p:nvSpPr>
          <p:cNvPr id="7" name="Text 5"/>
          <p:cNvSpPr/>
          <p:nvPr/>
        </p:nvSpPr>
        <p:spPr>
          <a:xfrm>
            <a:off x="723900" y="2276475"/>
            <a:ext cx="10743895" cy="104775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“Endpoint behavioural detection capabilities (e.g. EDR solutions) should be available on endpoints (i.e. user workstations, laptops and servers) with reasonable coverage.” — and resources achieve continuous (24×7) detection and response.</a:t>
            </a:r>
            <a:endParaRPr lang="en-US" sz="2000" dirty="0"/>
          </a:p>
        </p:txBody>
      </p:sp>
      <p:sp>
        <p:nvSpPr>
          <p:cNvPr id="8" name="Shape 6"/>
          <p:cNvSpPr/>
          <p:nvPr/>
        </p:nvSpPr>
        <p:spPr>
          <a:xfrm>
            <a:off x="533400" y="3657600"/>
            <a:ext cx="5457673" cy="28575"/>
          </a:xfrm>
          <a:prstGeom prst="rect">
            <a:avLst/>
          </a:prstGeom>
          <a:solidFill>
            <a:srgbClr val="1A1A1A"/>
          </a:solidFill>
          <a:ln/>
        </p:spPr>
      </p:sp>
      <p:sp>
        <p:nvSpPr>
          <p:cNvPr id="9" name="Shape 7"/>
          <p:cNvSpPr/>
          <p:nvPr/>
        </p:nvSpPr>
        <p:spPr>
          <a:xfrm>
            <a:off x="533400" y="3686175"/>
            <a:ext cx="5457673" cy="2409825"/>
          </a:xfrm>
          <a:prstGeom prst="rect">
            <a:avLst/>
          </a:prstGeom>
          <a:solidFill>
            <a:srgbClr val="F2F2F2"/>
          </a:solidFill>
          <a:ln w="6350">
            <a:solidFill>
              <a:srgbClr val="F2F2F2"/>
            </a:solidFill>
            <a:prstDash val="solid"/>
          </a:ln>
        </p:spPr>
      </p:sp>
      <p:sp>
        <p:nvSpPr>
          <p:cNvPr id="10" name="Text 8"/>
          <p:cNvSpPr/>
          <p:nvPr/>
        </p:nvSpPr>
        <p:spPr>
          <a:xfrm>
            <a:off x="723900" y="38100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ASKED FOR</a:t>
            </a:r>
            <a:endParaRPr lang="en-US" sz="1600" dirty="0"/>
          </a:p>
        </p:txBody>
      </p:sp>
      <p:sp>
        <p:nvSpPr>
          <p:cNvPr id="11" name="Text 9"/>
          <p:cNvSpPr/>
          <p:nvPr/>
        </p:nvSpPr>
        <p:spPr>
          <a:xfrm>
            <a:off x="723900" y="4086225"/>
            <a:ext cx="5076673" cy="1933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The security monitoring guideline or policy.</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How the SOC is structured: in-house, group, outsourced or hybrid; 24×7 or not; levels 1–2–3; any incident response retainers.</a:t>
            </a:r>
            <a:endParaRPr lang="en-US" sz="1800" dirty="0"/>
          </a:p>
        </p:txBody>
      </p:sp>
      <p:sp>
        <p:nvSpPr>
          <p:cNvPr id="12" name="Shape 10"/>
          <p:cNvSpPr/>
          <p:nvPr/>
        </p:nvSpPr>
        <p:spPr>
          <a:xfrm>
            <a:off x="6200623" y="3657600"/>
            <a:ext cx="5457673" cy="28575"/>
          </a:xfrm>
          <a:prstGeom prst="rect">
            <a:avLst/>
          </a:prstGeom>
          <a:solidFill>
            <a:srgbClr val="1A1A1A"/>
          </a:solidFill>
          <a:ln/>
        </p:spPr>
      </p:sp>
      <p:sp>
        <p:nvSpPr>
          <p:cNvPr id="13" name="Shape 11"/>
          <p:cNvSpPr/>
          <p:nvPr/>
        </p:nvSpPr>
        <p:spPr>
          <a:xfrm>
            <a:off x="6200623" y="3686175"/>
            <a:ext cx="5457673" cy="2409825"/>
          </a:xfrm>
          <a:prstGeom prst="rect">
            <a:avLst/>
          </a:prstGeom>
          <a:solidFill>
            <a:srgbClr val="F2F2F2"/>
          </a:solidFill>
          <a:ln w="6350">
            <a:solidFill>
              <a:srgbClr val="F2F2F2"/>
            </a:solidFill>
            <a:prstDash val="solid"/>
          </a:ln>
        </p:spPr>
      </p:sp>
      <p:sp>
        <p:nvSpPr>
          <p:cNvPr id="14" name="Text 12"/>
          <p:cNvSpPr/>
          <p:nvPr/>
        </p:nvSpPr>
        <p:spPr>
          <a:xfrm>
            <a:off x="6391123" y="38100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WANTED TO SEE</a:t>
            </a:r>
            <a:endParaRPr lang="en-US" sz="1600" dirty="0"/>
          </a:p>
        </p:txBody>
      </p:sp>
      <p:sp>
        <p:nvSpPr>
          <p:cNvPr id="15" name="Text 13"/>
          <p:cNvSpPr/>
          <p:nvPr/>
        </p:nvSpPr>
        <p:spPr>
          <a:xfrm>
            <a:off x="6391123" y="4086225"/>
            <a:ext cx="5076673" cy="1933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Is EDR deployed on every endpoint? If not, why not — e.g. legacy operating systems — and what compensates: segmentation, IP whitelisting?</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Who investigates an alert at 3 a.m.?</a:t>
            </a:r>
            <a:endParaRPr lang="en-US" sz="1800" dirty="0"/>
          </a:p>
        </p:txBody>
      </p:sp>
      <p:sp>
        <p:nvSpPr>
          <p:cNvPr id="16" name="Text 14"/>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Appendix B, 4.3.2 · PwC C-RAF 1.0 → 2.0 gap analysis and Information Request List (2021–22), anonymised</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38</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4 · THE RFI · RESPONSE AND RECOVERY · NEW AT BASELINE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Example 4: could you prove what happened?</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159067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CP 5.3.2 · TYPES OF EVIDENCE TO BE COLLECTED · BASELINE</a:t>
            </a:r>
            <a:endParaRPr lang="en-US" sz="1600" dirty="0"/>
          </a:p>
        </p:txBody>
      </p:sp>
      <p:sp>
        <p:nvSpPr>
          <p:cNvPr id="7" name="Text 5"/>
          <p:cNvSpPr/>
          <p:nvPr/>
        </p:nvSpPr>
        <p:spPr>
          <a:xfrm>
            <a:off x="723900" y="2276475"/>
            <a:ext cx="10743895" cy="104775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“The digital and forensic evidence collected contains information that, at minimum, establishes what type of event occurred, when, where, the source, the outcome, and the identity of any user or subject associated with it.”</a:t>
            </a:r>
            <a:endParaRPr lang="en-US" sz="2000" dirty="0"/>
          </a:p>
        </p:txBody>
      </p:sp>
      <p:sp>
        <p:nvSpPr>
          <p:cNvPr id="8" name="Shape 6"/>
          <p:cNvSpPr/>
          <p:nvPr/>
        </p:nvSpPr>
        <p:spPr>
          <a:xfrm>
            <a:off x="533400" y="3657600"/>
            <a:ext cx="5457673" cy="28575"/>
          </a:xfrm>
          <a:prstGeom prst="rect">
            <a:avLst/>
          </a:prstGeom>
          <a:solidFill>
            <a:srgbClr val="1A1A1A"/>
          </a:solidFill>
          <a:ln/>
        </p:spPr>
      </p:sp>
      <p:sp>
        <p:nvSpPr>
          <p:cNvPr id="9" name="Shape 7"/>
          <p:cNvSpPr/>
          <p:nvPr/>
        </p:nvSpPr>
        <p:spPr>
          <a:xfrm>
            <a:off x="533400" y="3686175"/>
            <a:ext cx="5457673" cy="2409825"/>
          </a:xfrm>
          <a:prstGeom prst="rect">
            <a:avLst/>
          </a:prstGeom>
          <a:solidFill>
            <a:srgbClr val="F2F2F2"/>
          </a:solidFill>
          <a:ln w="6350">
            <a:solidFill>
              <a:srgbClr val="F2F2F2"/>
            </a:solidFill>
            <a:prstDash val="solid"/>
          </a:ln>
        </p:spPr>
      </p:sp>
      <p:sp>
        <p:nvSpPr>
          <p:cNvPr id="10" name="Text 8"/>
          <p:cNvSpPr/>
          <p:nvPr/>
        </p:nvSpPr>
        <p:spPr>
          <a:xfrm>
            <a:off x="723900" y="38100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ASKED FOR</a:t>
            </a:r>
            <a:endParaRPr lang="en-US" sz="1600" dirty="0"/>
          </a:p>
        </p:txBody>
      </p:sp>
      <p:sp>
        <p:nvSpPr>
          <p:cNvPr id="11" name="Text 9"/>
          <p:cNvSpPr/>
          <p:nvPr/>
        </p:nvSpPr>
        <p:spPr>
          <a:xfrm>
            <a:off x="723900" y="4086225"/>
            <a:ext cx="5076673" cy="1933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The cyber forensics framework or guideline.</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The contract or engagement letter with any third-party forensics provider.</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Training material the provider shared.</a:t>
            </a:r>
            <a:endParaRPr lang="en-US" sz="1800" dirty="0"/>
          </a:p>
        </p:txBody>
      </p:sp>
      <p:sp>
        <p:nvSpPr>
          <p:cNvPr id="12" name="Shape 10"/>
          <p:cNvSpPr/>
          <p:nvPr/>
        </p:nvSpPr>
        <p:spPr>
          <a:xfrm>
            <a:off x="6200623" y="3657600"/>
            <a:ext cx="5457673" cy="28575"/>
          </a:xfrm>
          <a:prstGeom prst="rect">
            <a:avLst/>
          </a:prstGeom>
          <a:solidFill>
            <a:srgbClr val="1A1A1A"/>
          </a:solidFill>
          <a:ln/>
        </p:spPr>
      </p:sp>
      <p:sp>
        <p:nvSpPr>
          <p:cNvPr id="13" name="Shape 11"/>
          <p:cNvSpPr/>
          <p:nvPr/>
        </p:nvSpPr>
        <p:spPr>
          <a:xfrm>
            <a:off x="6200623" y="3686175"/>
            <a:ext cx="5457673" cy="2409825"/>
          </a:xfrm>
          <a:prstGeom prst="rect">
            <a:avLst/>
          </a:prstGeom>
          <a:solidFill>
            <a:srgbClr val="F2F2F2"/>
          </a:solidFill>
          <a:ln w="6350">
            <a:solidFill>
              <a:srgbClr val="F2F2F2"/>
            </a:solidFill>
            <a:prstDash val="solid"/>
          </a:ln>
        </p:spPr>
      </p:sp>
      <p:sp>
        <p:nvSpPr>
          <p:cNvPr id="14" name="Text 12"/>
          <p:cNvSpPr/>
          <p:nvPr/>
        </p:nvSpPr>
        <p:spPr>
          <a:xfrm>
            <a:off x="6391123" y="38100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WE WANTED TO SEE</a:t>
            </a:r>
            <a:endParaRPr lang="en-US" sz="1600" dirty="0"/>
          </a:p>
        </p:txBody>
      </p:sp>
      <p:sp>
        <p:nvSpPr>
          <p:cNvPr id="15" name="Text 13"/>
          <p:cNvSpPr/>
          <p:nvPr/>
        </p:nvSpPr>
        <p:spPr>
          <a:xfrm>
            <a:off x="6391123" y="4086225"/>
            <a:ext cx="5076673" cy="19335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How evidence integrity is preserved, e.g. hashing.</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What the bank would collect — snapshots, event logs, IOCs, malware — and how it chose that list.</a:t>
            </a:r>
            <a:endParaRPr lang="en-US" sz="1800" dirty="0"/>
          </a:p>
        </p:txBody>
      </p:sp>
      <p:sp>
        <p:nvSpPr>
          <p:cNvPr id="16" name="Text 14"/>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Appendix B, 5.3.1–5.3.2 · PwC C-RAF 1.0 → 2.0 gap analysis and Information Request List (2021–22), anonymised</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39</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85725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 · WRITE THE RFI</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497279"/>
            <a:ext cx="9906000" cy="3101442"/>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“Security audit logs for key systems and endpoints should be readily available (e.g. within SIEM) for an adequate period.”</a:t>
            </a:r>
            <a:endParaRPr lang="en-US" sz="3400" dirty="0"/>
          </a:p>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What would you ask for?</a:t>
            </a:r>
            <a:endParaRPr lang="en-US" sz="3400" dirty="0"/>
          </a:p>
        </p:txBody>
      </p:sp>
      <p:sp>
        <p:nvSpPr>
          <p:cNvPr id="5" name="Text 3"/>
          <p:cNvSpPr/>
          <p:nvPr/>
        </p:nvSpPr>
        <p:spPr>
          <a:xfrm>
            <a:off x="533400" y="4865421"/>
            <a:ext cx="85725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TWO MINUTES WITH YOUR NEIGHBOUR · THEN CALL IT OUT</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40</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PULSE CHECK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we asked — and the phrase we had to pin down.</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5334000"/>
                <a:gridCol w="6229350"/>
              </a:tblGrid>
              <a:tr h="6858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We asked for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Because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security monitoring guideline or policy</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What tools exist — SIEM, EDR — and what feeds them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Screenshots of the retention settings in the SIEM, EDR and so 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setting is the evidence; the policy is only the intention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858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How the bank decided what “adequate” means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E.g. a year in the SIEM, 30–90 days in EDR — is that long enough to investigate?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524125"/>
            <a:ext cx="11124895" cy="19050"/>
          </a:xfrm>
          <a:prstGeom prst="rect">
            <a:avLst/>
          </a:prstGeom>
          <a:solidFill>
            <a:srgbClr val="1A1A1A"/>
          </a:solidFill>
          <a:ln/>
        </p:spPr>
      </p:sp>
      <p:sp>
        <p:nvSpPr>
          <p:cNvPr id="6" name="Shape 3"/>
          <p:cNvSpPr/>
          <p:nvPr/>
        </p:nvSpPr>
        <p:spPr>
          <a:xfrm>
            <a:off x="533400" y="4762500"/>
            <a:ext cx="11124895" cy="28575"/>
          </a:xfrm>
          <a:prstGeom prst="rect">
            <a:avLst/>
          </a:prstGeom>
          <a:solidFill>
            <a:srgbClr val="D04A02"/>
          </a:solidFill>
          <a:ln/>
        </p:spPr>
      </p:sp>
      <p:sp>
        <p:nvSpPr>
          <p:cNvPr id="7" name="Shape 4"/>
          <p:cNvSpPr/>
          <p:nvPr/>
        </p:nvSpPr>
        <p:spPr>
          <a:xfrm>
            <a:off x="533400" y="4791075"/>
            <a:ext cx="11124895" cy="771525"/>
          </a:xfrm>
          <a:prstGeom prst="rect">
            <a:avLst/>
          </a:prstGeom>
          <a:solidFill>
            <a:srgbClr val="FDF0E6"/>
          </a:solidFill>
          <a:ln w="6350">
            <a:solidFill>
              <a:srgbClr val="FDF0E6"/>
            </a:solidFill>
            <a:prstDash val="solid"/>
          </a:ln>
        </p:spPr>
      </p:sp>
      <p:sp>
        <p:nvSpPr>
          <p:cNvPr id="8" name="Text 5"/>
          <p:cNvSpPr/>
          <p:nvPr/>
        </p:nvSpPr>
        <p:spPr>
          <a:xfrm>
            <a:off x="723900" y="49149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“Adequate period” is not a number. Your job is to find out who chose one, and why.</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41</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4 · THE RFI · SCORING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From rows to a rating.</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5457673" cy="914400"/>
        </p:xfrm>
        <a:graphic>
          <a:graphicData uri="http://schemas.openxmlformats.org/drawingml/2006/table">
            <a:tbl>
              <a:tblPr/>
              <a:tblGrid>
                <a:gridCol w="3001720"/>
                <a:gridCol w="2455953"/>
              </a:tblGrid>
              <a:tr h="4953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Control runs…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Items to test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Annually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Quarterly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Monthly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2–5</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Weekly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5 · 10 · 15</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Daily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20 · 30 · 40</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33625"/>
            <a:ext cx="5457673" cy="19050"/>
          </a:xfrm>
          <a:prstGeom prst="rect">
            <a:avLst/>
          </a:prstGeom>
          <a:solidFill>
            <a:srgbClr val="1A1A1A"/>
          </a:solidFill>
          <a:ln/>
        </p:spPr>
      </p:sp>
      <p:sp>
        <p:nvSpPr>
          <p:cNvPr id="6" name="Shape 3"/>
          <p:cNvSpPr/>
          <p:nvPr/>
        </p:nvSpPr>
        <p:spPr>
          <a:xfrm>
            <a:off x="6200623" y="1847850"/>
            <a:ext cx="5457673" cy="28575"/>
          </a:xfrm>
          <a:prstGeom prst="rect">
            <a:avLst/>
          </a:prstGeom>
          <a:solidFill>
            <a:srgbClr val="D04A02"/>
          </a:solidFill>
          <a:ln/>
        </p:spPr>
      </p:sp>
      <p:sp>
        <p:nvSpPr>
          <p:cNvPr id="7" name="Shape 4"/>
          <p:cNvSpPr/>
          <p:nvPr/>
        </p:nvSpPr>
        <p:spPr>
          <a:xfrm>
            <a:off x="6200623" y="1876425"/>
            <a:ext cx="5457673" cy="2943225"/>
          </a:xfrm>
          <a:prstGeom prst="rect">
            <a:avLst/>
          </a:prstGeom>
          <a:solidFill>
            <a:srgbClr val="FDF0E6"/>
          </a:solidFill>
          <a:ln w="6350">
            <a:solidFill>
              <a:srgbClr val="FDF0E6"/>
            </a:solidFill>
            <a:prstDash val="solid"/>
          </a:ln>
        </p:spPr>
      </p:sp>
      <p:sp>
        <p:nvSpPr>
          <p:cNvPr id="8" name="Text 5"/>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ATTAINMENT, PER COMPONENT</a:t>
            </a:r>
            <a:endParaRPr lang="en-US" sz="1600" dirty="0"/>
          </a:p>
        </p:txBody>
      </p:sp>
      <p:sp>
        <p:nvSpPr>
          <p:cNvPr id="9" name="Text 6"/>
          <p:cNvSpPr/>
          <p:nvPr/>
        </p:nvSpPr>
        <p:spPr>
          <a:xfrm>
            <a:off x="6391123" y="2276475"/>
            <a:ext cx="5076673"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(Y + AC + RA + NA) ÷ all principles at that level</a:t>
            </a:r>
            <a:endParaRPr lang="en-US" sz="2000" dirty="0"/>
          </a:p>
        </p:txBody>
      </p:sp>
      <p:sp>
        <p:nvSpPr>
          <p:cNvPr id="10" name="Text 7"/>
          <p:cNvSpPr/>
          <p:nvPr/>
        </p:nvSpPr>
        <p:spPr>
          <a:xfrm>
            <a:off x="6391123" y="2886075"/>
            <a:ext cx="5076673" cy="1857375"/>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E.g. 8 principles: 4 Y, 1 AC, 1 RA, 1 N, 1 NA → 7 ÷ 8 = 87.5%.</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Every N needs a remediation plan and timeline in the justification.</a:t>
            </a:r>
            <a:endParaRPr lang="en-US" sz="1800" dirty="0"/>
          </a:p>
        </p:txBody>
      </p:sp>
      <p:sp>
        <p:nvSpPr>
          <p:cNvPr id="11" name="Text 8"/>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Illustrative sample-size guidance (low · medium · high risk) · HKMA C-RAF 2.0 (Nov 2020) §3.3.2–3.3.3, Figures 11–12</a:t>
            </a:r>
            <a:endParaRPr lang="en-US" sz="1300" dirty="0"/>
          </a:p>
        </p:txBody>
      </p:sp>
      <p:sp>
        <p:nvSpPr>
          <p:cNvPr id="12" name="Text 9"/>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42</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5 · SINCE 2.0  ·  6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Since 2.0 —</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and a 3.0?</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Five years of running the framework, a wave of new rules around it, and the question every assessor is now asking.</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43</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5 · SINCE 2.0</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Five years on: a much busier landscape.</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095500"/>
                <a:gridCol w="9467850"/>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2021–2023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Groups 1–3 complete C-RAF 2.0 assessments and iCAST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May 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Secure Tertiary Data Backup (STDB): an immutable, air-gapped third copy of critical data</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Nov 2024</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SPM TM-C-1, “Supervisory Approach on Cyber Risk Management”, replaces the 2015 guidance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Dec 2024</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CISP enhancements · the Insurance Authority’s revised GL20 adopts a C-RAF-style framework, with its own attack simulation (TIBAS)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Jun 2026</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AI-threat circular; new Cyber Resilience Testing Framework; Cap. 653 Code of Practice for designated banks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669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circulars 18 May 2021, 29 Nov 2024, 27 Dec 2024, 2 Jun 2026 · HKMA Cap. 653 Code of Practice (2 Jun 2026) · IA GL20 (Dec 2024)</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44</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5 · A 3.0? · MY VIEW</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Where a 3.0 could go: from attestation to measurement.</a:t>
            </a:r>
            <a:endParaRPr lang="en-US" sz="3000" dirty="0"/>
          </a:p>
        </p:txBody>
      </p:sp>
      <p:sp>
        <p:nvSpPr>
          <p:cNvPr id="4" name="Shape 2"/>
          <p:cNvSpPr/>
          <p:nvPr/>
        </p:nvSpPr>
        <p:spPr>
          <a:xfrm>
            <a:off x="533400" y="1847850"/>
            <a:ext cx="5457673" cy="28575"/>
          </a:xfrm>
          <a:prstGeom prst="rect">
            <a:avLst/>
          </a:prstGeom>
          <a:solidFill>
            <a:srgbClr val="1A1A1A"/>
          </a:solidFill>
          <a:ln/>
        </p:spPr>
      </p:sp>
      <p:sp>
        <p:nvSpPr>
          <p:cNvPr id="5" name="Shape 3"/>
          <p:cNvSpPr/>
          <p:nvPr/>
        </p:nvSpPr>
        <p:spPr>
          <a:xfrm>
            <a:off x="533400" y="1876425"/>
            <a:ext cx="5457673" cy="4162425"/>
          </a:xfrm>
          <a:prstGeom prst="rect">
            <a:avLst/>
          </a:prstGeom>
          <a:solidFill>
            <a:srgbClr val="F2F2F2"/>
          </a:solidFill>
          <a:ln w="6350">
            <a:solidFill>
              <a:srgbClr val="F2F2F2"/>
            </a:solidFill>
            <a:prstDash val="solid"/>
          </a:ln>
        </p:spPr>
      </p:sp>
      <p:sp>
        <p:nvSpPr>
          <p:cNvPr id="6" name="Text 4"/>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FIVE YEARS OF 2.0 SHOWS</a:t>
            </a:r>
            <a:endParaRPr lang="en-US" sz="1600" dirty="0"/>
          </a:p>
        </p:txBody>
      </p:sp>
      <p:sp>
        <p:nvSpPr>
          <p:cNvPr id="7" name="Text 5"/>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Volume, not always insight.</a:t>
            </a:r>
            <a:endParaRPr lang="en-US" sz="2000" dirty="0"/>
          </a:p>
        </p:txBody>
      </p:sp>
      <p:sp>
        <p:nvSpPr>
          <p:cNvPr id="8" name="Text 6"/>
          <p:cNvSpPr/>
          <p:nvPr/>
        </p:nvSpPr>
        <p:spPr>
          <a:xfrm>
            <a:off x="723900" y="2628900"/>
            <a:ext cx="5076673" cy="3333750"/>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Many Baseline principles come back the same at almost every bank.</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The same document is cited as evidence under many principles.</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Some principles overlap so much that write-ups repeat.</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The symposium promise — fewer, clearer controls — is still open.</a:t>
            </a:r>
            <a:endParaRPr lang="en-US" sz="1700" dirty="0"/>
          </a:p>
        </p:txBody>
      </p:sp>
      <p:sp>
        <p:nvSpPr>
          <p:cNvPr id="9" name="Shape 7"/>
          <p:cNvSpPr/>
          <p:nvPr/>
        </p:nvSpPr>
        <p:spPr>
          <a:xfrm>
            <a:off x="6200623" y="1847850"/>
            <a:ext cx="5457673" cy="28575"/>
          </a:xfrm>
          <a:prstGeom prst="rect">
            <a:avLst/>
          </a:prstGeom>
          <a:solidFill>
            <a:srgbClr val="D04A02"/>
          </a:solidFill>
          <a:ln/>
        </p:spPr>
      </p:sp>
      <p:sp>
        <p:nvSpPr>
          <p:cNvPr id="10" name="Shape 8"/>
          <p:cNvSpPr/>
          <p:nvPr/>
        </p:nvSpPr>
        <p:spPr>
          <a:xfrm>
            <a:off x="6200623" y="1876425"/>
            <a:ext cx="5457673" cy="4162425"/>
          </a:xfrm>
          <a:prstGeom prst="rect">
            <a:avLst/>
          </a:prstGeom>
          <a:solidFill>
            <a:srgbClr val="FDF0E6"/>
          </a:solidFill>
          <a:ln w="6350">
            <a:solidFill>
              <a:srgbClr val="FDF0E6"/>
            </a:solidFill>
            <a:prstDash val="solid"/>
          </a:ln>
        </p:spPr>
      </p:sp>
      <p:sp>
        <p:nvSpPr>
          <p:cNvPr id="11" name="Text 9"/>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DIRECTIONS WORTH DEBATING</a:t>
            </a:r>
            <a:endParaRPr lang="en-US" sz="1600" dirty="0"/>
          </a:p>
        </p:txBody>
      </p:sp>
      <p:sp>
        <p:nvSpPr>
          <p:cNvPr id="12" name="Text 10"/>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Fewer questions, more proof.</a:t>
            </a:r>
            <a:endParaRPr lang="en-US" sz="2000" dirty="0"/>
          </a:p>
        </p:txBody>
      </p:sp>
      <p:sp>
        <p:nvSpPr>
          <p:cNvPr id="13" name="Text 11"/>
          <p:cNvSpPr/>
          <p:nvPr/>
        </p:nvSpPr>
        <p:spPr>
          <a:xfrm>
            <a:off x="6391123" y="2628900"/>
            <a:ext cx="5076673" cy="3333750"/>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Consolidate overlapping principles into outcome tests.</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Score detection and response from exercises — purple teaming — not narrative.</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A machine-readable control library, so assessment can be tool-assisted.</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AI extracts evidence; humans keep the judgement.</a:t>
            </a:r>
            <a:endParaRPr lang="en-US" sz="1700" dirty="0"/>
          </a:p>
          <a:p>
            <a:pPr indent="0" marL="0">
              <a:lnSpc>
                <a:spcPct val="130000"/>
              </a:lnSpc>
              <a:buNone/>
            </a:pPr>
            <a:r>
              <a:rPr lang="en-US" sz="1700" dirty="0">
                <a:solidFill>
                  <a:srgbClr val="3D3D3D"/>
                </a:solidFill>
                <a:latin typeface="Arial" pitchFamily="34" charset="0"/>
                <a:ea typeface="Arial" pitchFamily="34" charset="-122"/>
                <a:cs typeface="Arial" pitchFamily="34" charset="-120"/>
              </a:rPr>
              <a:t>Modules that absorb new risks without a rewrite.</a:t>
            </a:r>
            <a:endParaRPr lang="en-US" sz="1700" dirty="0"/>
          </a:p>
        </p:txBody>
      </p:sp>
      <p:sp>
        <p:nvSpPr>
          <p:cNvPr id="14" name="Text 1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Lecturer’s view from assessment practice · not an HKMA announcement · no C-RAF 3.0 has been published</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45</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2 · WRAP-UP</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to take away.</a:t>
            </a:r>
            <a:endParaRPr lang="en-US" sz="3000" dirty="0"/>
          </a:p>
        </p:txBody>
      </p:sp>
      <p:sp>
        <p:nvSpPr>
          <p:cNvPr id="4" name="Text 2"/>
          <p:cNvSpPr/>
          <p:nvPr/>
        </p:nvSpPr>
        <p:spPr>
          <a:xfrm>
            <a:off x="533400" y="1847850"/>
            <a:ext cx="11124895" cy="4476750"/>
          </a:xfrm>
          <a:prstGeom prst="rect">
            <a:avLst/>
          </a:prstGeom>
          <a:noFill/>
          <a:ln/>
        </p:spPr>
        <p:txBody>
          <a:bodyPr wrap="square" rtlCol="0" anchor="t"/>
          <a:lstStyle/>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C-RAF exists because of an incident — regulation follows the headline.</a:t>
            </a:r>
            <a:endParaRPr lang="en-US" sz="2000" dirty="0"/>
          </a:p>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Inherent risk sets the bar; check how the rating was calculated before you test anything.</a:t>
            </a:r>
            <a:endParaRPr lang="en-US" sz="2000" dirty="0"/>
          </a:p>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C-RAF 2.0: 482 principles, 174 new or revised — the weight moved to response and recovery.</a:t>
            </a:r>
            <a:endParaRPr lang="en-US" sz="2000" dirty="0"/>
          </a:p>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Good controls are written by people who cleaned up after incidents.</a:t>
            </a:r>
            <a:endParaRPr lang="en-US" sz="2000" dirty="0"/>
          </a:p>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An RFI quotes the control, asks for evidence, and says what good looks like.</a:t>
            </a:r>
            <a:endParaRPr lang="en-US" sz="2000" dirty="0"/>
          </a:p>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“Adequate”, “reasonable”, “24×7”: pin the words down — ask who decided, and why.</a:t>
            </a:r>
            <a:endParaRPr lang="en-US" sz="2000" dirty="0"/>
          </a:p>
          <a:p>
            <a:pPr marL="342900" indent="-342900">
              <a:lnSpc>
                <a:spcPct val="115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 rating ends in a remediation plan, and the plan ends in validation.</a:t>
            </a:r>
            <a:endParaRPr lang="en-US" sz="2000" dirty="0"/>
          </a:p>
        </p:txBody>
      </p:sp>
      <p:sp>
        <p:nvSpPr>
          <p:cNvPr id="5"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 HKMA circular “Cybersecurity Fortification Initiative 2.0”, 3 Nov 2020, and Annex</a:t>
            </a:r>
            <a:endParaRPr lang="en-US" sz="13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46</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BREAK  ·  10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Break.</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Module 3 after the break: your turn.</a:t>
            </a:r>
            <a:endParaRPr lang="en-US" sz="2000" dirty="0"/>
          </a:p>
          <a:p>
            <a:pPr indent="0" marL="0">
              <a:lnSpc>
                <a:spcPct val="135000"/>
              </a:lnSpc>
              <a:buNone/>
            </a:pP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Sit in groups of 3–4.</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Open the Week 5 Module 3 worksheet on Canvas.</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47</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MODULE 3  ·  35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Your Turn:</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the RFI.</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1 · Draft the RFI — 10 min</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2 · Call out the documents — 5 min</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3 · Read what the bank sent — 10 min</a:t>
            </a:r>
            <a:endParaRPr lang="en-US" sz="2000" dirty="0"/>
          </a:p>
          <a:p>
            <a:pPr indent="0" marL="0">
              <a:lnSpc>
                <a:spcPct val="135000"/>
              </a:lnSpc>
              <a:buNone/>
            </a:pP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Homework: evidence and justification, before Week 6.</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48</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THE CASE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client: ABC Bank, and five Baseline controls.</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103822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THE ENGAGEMENT</a:t>
            </a:r>
            <a:endParaRPr lang="en-US" sz="1600" dirty="0"/>
          </a:p>
        </p:txBody>
      </p:sp>
      <p:sp>
        <p:nvSpPr>
          <p:cNvPr id="7" name="Text 5"/>
          <p:cNvSpPr/>
          <p:nvPr/>
        </p:nvSpPr>
        <p:spPr>
          <a:xfrm>
            <a:off x="723900" y="227647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ABC Bank’s C-RAF 2.0 assessment. You are the assessor; we start with Domain 1.</a:t>
            </a:r>
            <a:endParaRPr lang="en-US" sz="2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33400" y="3086100"/>
          <a:ext cx="11124895" cy="914400"/>
        </p:xfrm>
        <a:graphic>
          <a:graphicData uri="http://schemas.openxmlformats.org/drawingml/2006/table">
            <a:tbl>
              <a:tblPr/>
              <a:tblGrid>
                <a:gridCol w="476250"/>
                <a:gridCol w="857250"/>
                <a:gridCol w="10229850"/>
              </a:tblGrid>
              <a:tr h="4381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Ref</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Control Principle (Baseline) — full wording on the worksheet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1.1.1</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Management or a Board Committee is accountable to the Board for the cybersecurity and business continuity programmes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1.1.1</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Cyber risks go on management meeting agendas when prompted by visible cyber events or regulatory alerts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1.1.3</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 written report on cybersecurity (incl. incidents) and business continuity goes to the Board or a committee at least annually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1.2.2</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Policies address incident response and resilience, commensurate with cyber risk and complexity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381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1.4.1</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An audit gives the Board an independent opinion on cyber risk management, governance and controls — regularly (new in 2.0)</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9" name="Shape 6"/>
          <p:cNvSpPr/>
          <p:nvPr/>
        </p:nvSpPr>
        <p:spPr>
          <a:xfrm>
            <a:off x="533400" y="3514725"/>
            <a:ext cx="11124895" cy="19050"/>
          </a:xfrm>
          <a:prstGeom prst="rect">
            <a:avLst/>
          </a:prstGeom>
          <a:solidFill>
            <a:srgbClr val="1A1A1A"/>
          </a:solidFill>
          <a:ln/>
        </p:spPr>
      </p:sp>
      <p:sp>
        <p:nvSpPr>
          <p:cNvPr id="10" name="Text 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HKMA C-RAF 2.0 (Nov 2020), Appendix B — abridged here; the worksheet has the exact wording</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49</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952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STEP 1  ·  10 MINUTES  ·  IN YOUR GROUPS</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333500"/>
            <a:ext cx="10953750" cy="1143000"/>
          </a:xfrm>
          <a:prstGeom prst="rect">
            <a:avLst/>
          </a:prstGeom>
          <a:noFill/>
          <a:ln/>
        </p:spPr>
        <p:txBody>
          <a:bodyPr wrap="square" rtlCol="0" anchor="t"/>
          <a:lstStyle/>
          <a:p>
            <a:pPr indent="0" marL="0">
              <a:lnSpc>
                <a:spcPct val="112000"/>
              </a:lnSpc>
              <a:buNone/>
            </a:pPr>
            <a:r>
              <a:rPr lang="en-US" sz="3400" dirty="0">
                <a:solidFill>
                  <a:srgbClr val="1A1A1A"/>
                </a:solidFill>
                <a:latin typeface="Georgia" pitchFamily="34" charset="0"/>
                <a:ea typeface="Georgia" pitchFamily="34" charset="-122"/>
                <a:cs typeface="Georgia" pitchFamily="34" charset="-120"/>
              </a:rPr>
              <a:t>What would you ask ABC Bank for?</a:t>
            </a:r>
            <a:endParaRPr lang="en-US" sz="3400" dirty="0"/>
          </a:p>
        </p:txBody>
      </p:sp>
      <p:sp>
        <p:nvSpPr>
          <p:cNvPr id="5" name="Text 3"/>
          <p:cNvSpPr/>
          <p:nvPr/>
        </p:nvSpPr>
        <p:spPr>
          <a:xfrm>
            <a:off x="533400" y="2762250"/>
            <a:ext cx="10953750" cy="2476500"/>
          </a:xfrm>
          <a:prstGeom prst="rect">
            <a:avLst/>
          </a:prstGeom>
          <a:noFill/>
          <a:ln/>
        </p:spPr>
        <p:txBody>
          <a:bodyPr wrap="square" rtlCol="0" anchor="t"/>
          <a:lstStyle/>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For each of the five controls: which documents, samples or walkthroughs?</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Be specific — name the document, the period, and the approval you want to see.</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Say why: which words of the Control Principle does it prove?</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Use Part A of the worksheet (PDF or Excel).</a:t>
            </a:r>
            <a:endParaRPr lang="en-US" sz="2200" dirty="0"/>
          </a:p>
        </p:txBody>
      </p:sp>
      <p:sp>
        <p:nvSpPr>
          <p:cNvPr id="6" name="Text 4"/>
          <p:cNvSpPr/>
          <p:nvPr/>
        </p:nvSpPr>
        <p:spPr>
          <a:xfrm>
            <a:off x="533400" y="5715000"/>
            <a:ext cx="10477500" cy="24765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NO DOCUMENTS YET — THAT IS THE POINT</a:t>
            </a:r>
            <a:endParaRPr lang="en-US" sz="1600" dirty="0"/>
          </a:p>
        </p:txBody>
      </p:sp>
      <p:sp>
        <p:nvSpPr>
          <p:cNvPr id="7" name="Text 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50</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952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STEP 2  ·  5 MINUTES  ·  CALL IT OUT</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333500"/>
            <a:ext cx="10953750" cy="1143000"/>
          </a:xfrm>
          <a:prstGeom prst="rect">
            <a:avLst/>
          </a:prstGeom>
          <a:noFill/>
          <a:ln/>
        </p:spPr>
        <p:txBody>
          <a:bodyPr wrap="square" rtlCol="0" anchor="t"/>
          <a:lstStyle/>
          <a:p>
            <a:pPr indent="0" marL="0">
              <a:lnSpc>
                <a:spcPct val="112000"/>
              </a:lnSpc>
              <a:buNone/>
            </a:pPr>
            <a:r>
              <a:rPr lang="en-US" sz="3400" dirty="0">
                <a:solidFill>
                  <a:srgbClr val="1A1A1A"/>
                </a:solidFill>
                <a:latin typeface="Georgia" pitchFamily="34" charset="0"/>
                <a:ea typeface="Georgia" pitchFamily="34" charset="-122"/>
                <a:cs typeface="Georgia" pitchFamily="34" charset="-120"/>
              </a:rPr>
              <a:t>Name the documents.</a:t>
            </a:r>
            <a:endParaRPr lang="en-US" sz="3400" dirty="0"/>
          </a:p>
        </p:txBody>
      </p:sp>
      <p:sp>
        <p:nvSpPr>
          <p:cNvPr id="5" name="Text 3"/>
          <p:cNvSpPr/>
          <p:nvPr/>
        </p:nvSpPr>
        <p:spPr>
          <a:xfrm>
            <a:off x="533400" y="2762250"/>
            <a:ext cx="10953750" cy="2476500"/>
          </a:xfrm>
          <a:prstGeom prst="rect">
            <a:avLst/>
          </a:prstGeom>
          <a:noFill/>
          <a:ln/>
        </p:spPr>
        <p:txBody>
          <a:bodyPr wrap="square" rtlCol="0" anchor="t"/>
          <a:lstStyle/>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One group per control calls out its list. Others add what is missing.</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I will write the names up as you go.</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Then we compare with what the real assessor relied on.</a:t>
            </a:r>
            <a:endParaRPr lang="en-US" sz="2200" dirty="0"/>
          </a:p>
        </p:txBody>
      </p:sp>
      <p:sp>
        <p:nvSpPr>
          <p:cNvPr id="6" name="Text 4"/>
          <p:cNvSpPr/>
          <p:nvPr/>
        </p:nvSpPr>
        <p:spPr>
          <a:xfrm>
            <a:off x="533400" y="5715000"/>
            <a:ext cx="10477500" cy="24765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SHOUT OUT DOCUMENT NAMES, NOT DESCRIPTIONS</a:t>
            </a:r>
            <a:endParaRPr lang="en-US" sz="1600" dirty="0"/>
          </a:p>
        </p:txBody>
      </p:sp>
      <p:sp>
        <p:nvSpPr>
          <p:cNvPr id="7" name="Text 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51</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STEP 2 · REVEAL</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the real assessor relied on.</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857500"/>
                <a:gridCol w="5905500"/>
                <a:gridCol w="280035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Control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Documents the assessor cited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In your pack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1  Accountability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RMCC Terms of Reference · Group BCM Policy · Business Continuity Plan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D02 · D03 · D04</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2  Cyber on the agenda</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RMCC Terms of Reference · RMCC reports Q1 and Q2 2025 · RMCC minutes · Group Cyber Security Policy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D02 · D05 · D06 · D07</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3  Annual written report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RMCC ToR · Group BCM Policy · RMCC reports · KRI report to the Q1 2026 RMCC</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D02 · D03 · D05 · D06 · D10 draft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4  IR and resilience policies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Group IT Security Incident Response Plan · Group BCM Policy · BCP · Group Cyber Security Policy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D08 · D03 · D04</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5  Independent audit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Audit Committee ToR · Internal Audit Policy · Board approval of IA plans · IA cyber report · follow-up tracker</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D11 · D12 · D13 · D14 · D15</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5334000"/>
            <a:ext cx="11124895" cy="28575"/>
          </a:xfrm>
          <a:prstGeom prst="rect">
            <a:avLst/>
          </a:prstGeom>
          <a:solidFill>
            <a:srgbClr val="D04A02"/>
          </a:solidFill>
          <a:ln/>
        </p:spPr>
      </p:sp>
      <p:sp>
        <p:nvSpPr>
          <p:cNvPr id="7" name="Shape 4"/>
          <p:cNvSpPr/>
          <p:nvPr/>
        </p:nvSpPr>
        <p:spPr>
          <a:xfrm>
            <a:off x="533400" y="5362575"/>
            <a:ext cx="11124895" cy="504825"/>
          </a:xfrm>
          <a:prstGeom prst="rect">
            <a:avLst/>
          </a:prstGeom>
          <a:solidFill>
            <a:srgbClr val="FDF0E6"/>
          </a:solidFill>
          <a:ln w="6350">
            <a:solidFill>
              <a:srgbClr val="FDF0E6"/>
            </a:solidFill>
            <a:prstDash val="solid"/>
          </a:ln>
        </p:spPr>
      </p:sp>
      <p:sp>
        <p:nvSpPr>
          <p:cNvPr id="8" name="Text 5"/>
          <p:cNvSpPr/>
          <p:nvPr/>
        </p:nvSpPr>
        <p:spPr>
          <a:xfrm>
            <a:off x="723900" y="548640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Not in your pack: Cyber Security Policy · Q1 2026 KRI paper · AC minutes.</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Sanitised from the assessor’s final maturity assessment report</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52</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952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STEP 3  ·  10 MINUTES  ·  READ AND ASK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333500"/>
            <a:ext cx="10953750" cy="1143000"/>
          </a:xfrm>
          <a:prstGeom prst="rect">
            <a:avLst/>
          </a:prstGeom>
          <a:noFill/>
          <a:ln/>
        </p:spPr>
        <p:txBody>
          <a:bodyPr wrap="square" rtlCol="0" anchor="t"/>
          <a:lstStyle/>
          <a:p>
            <a:pPr indent="0" marL="0">
              <a:lnSpc>
                <a:spcPct val="112000"/>
              </a:lnSpc>
              <a:buNone/>
            </a:pPr>
            <a:r>
              <a:rPr lang="en-US" sz="3400" dirty="0">
                <a:solidFill>
                  <a:srgbClr val="1A1A1A"/>
                </a:solidFill>
                <a:latin typeface="Georgia" pitchFamily="34" charset="0"/>
                <a:ea typeface="Georgia" pitchFamily="34" charset="-122"/>
                <a:cs typeface="Georgia" pitchFamily="34" charset="-120"/>
              </a:rPr>
              <a:t>Read what the bank sent. Then ask me.</a:t>
            </a:r>
            <a:endParaRPr lang="en-US" sz="3400" dirty="0"/>
          </a:p>
        </p:txBody>
      </p:sp>
      <p:sp>
        <p:nvSpPr>
          <p:cNvPr id="5" name="Text 3"/>
          <p:cNvSpPr/>
          <p:nvPr/>
        </p:nvSpPr>
        <p:spPr>
          <a:xfrm>
            <a:off x="533400" y="2762250"/>
            <a:ext cx="10953750" cy="2476500"/>
          </a:xfrm>
          <a:prstGeom prst="rect">
            <a:avLst/>
          </a:prstGeom>
          <a:noFill/>
          <a:ln/>
        </p:spPr>
        <p:txBody>
          <a:bodyPr wrap="square" rtlCol="0" anchor="t"/>
          <a:lstStyle/>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Open the ABC Bank documents on Canvas (D01–D15). Split them in your group.</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Start with D08 Incident Response Plan, D09 Cyber Risk Policy, D13 Board minutes, D14 IA report.</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Check the document details: version, owner, approval date, approver.</a:t>
            </a:r>
            <a:endParaRPr lang="en-US" sz="2200" dirty="0"/>
          </a:p>
          <a:p>
            <a:pPr marL="342900" indent="-342900">
              <a:lnSpc>
                <a:spcPct val="130000"/>
              </a:lnSpc>
              <a:spcAft>
                <a:spcPts val="800"/>
              </a:spcAft>
              <a:buSzPct val="100000"/>
              <a:buChar char="—"/>
            </a:pPr>
            <a:r>
              <a:rPr lang="en-US" sz="2200" dirty="0">
                <a:solidFill>
                  <a:srgbClr val="3D3D3D"/>
                </a:solidFill>
                <a:latin typeface="Arial" pitchFamily="34" charset="0"/>
                <a:ea typeface="Arial" pitchFamily="34" charset="-122"/>
                <a:cs typeface="Arial" pitchFamily="34" charset="-120"/>
              </a:rPr>
              <a:t>Note anything that looks off. Ask me — I was the assessor.</a:t>
            </a:r>
            <a:endParaRPr lang="en-US" sz="2200" dirty="0"/>
          </a:p>
        </p:txBody>
      </p:sp>
      <p:sp>
        <p:nvSpPr>
          <p:cNvPr id="6" name="Text 4"/>
          <p:cNvSpPr/>
          <p:nvPr/>
        </p:nvSpPr>
        <p:spPr>
          <a:xfrm>
            <a:off x="533400" y="5715000"/>
            <a:ext cx="10477500" cy="24765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CANVAS › WEEK 5 › MODULE 3 › ABC BANK DOCUMENTS</a:t>
            </a:r>
            <a:endParaRPr lang="en-US" sz="1600" dirty="0"/>
          </a:p>
        </p:txBody>
      </p:sp>
      <p:sp>
        <p:nvSpPr>
          <p:cNvPr id="7" name="Text 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53</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HOMEWORK · DUE BEFORE WEEK 6</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Homework: reference the evidence, justify the control.</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282892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Evidence referenced</a:t>
            </a:r>
            <a:endParaRPr lang="en-US" sz="2000" dirty="0"/>
          </a:p>
        </p:txBody>
      </p:sp>
      <p:sp>
        <p:nvSpPr>
          <p:cNvPr id="8" name="Text 6"/>
          <p:cNvSpPr/>
          <p:nvPr/>
        </p:nvSpPr>
        <p:spPr>
          <a:xfrm>
            <a:off x="723900"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For each control, cite the documents and sections that support it (D01–D15).</a:t>
            </a:r>
            <a:endParaRPr lang="en-US" sz="2000" dirty="0"/>
          </a:p>
        </p:txBody>
      </p:sp>
      <p:sp>
        <p:nvSpPr>
          <p:cNvPr id="9" name="Shape 7"/>
          <p:cNvSpPr/>
          <p:nvPr/>
        </p:nvSpPr>
        <p:spPr>
          <a:xfrm>
            <a:off x="4311548" y="1847850"/>
            <a:ext cx="3568598" cy="28575"/>
          </a:xfrm>
          <a:prstGeom prst="rect">
            <a:avLst/>
          </a:prstGeom>
          <a:solidFill>
            <a:srgbClr val="D04A02"/>
          </a:solidFill>
          <a:ln/>
        </p:spPr>
      </p:sp>
      <p:sp>
        <p:nvSpPr>
          <p:cNvPr id="10" name="Shape 8"/>
          <p:cNvSpPr/>
          <p:nvPr/>
        </p:nvSpPr>
        <p:spPr>
          <a:xfrm>
            <a:off x="4311548" y="1876425"/>
            <a:ext cx="3568598" cy="2828925"/>
          </a:xfrm>
          <a:prstGeom prst="rect">
            <a:avLst/>
          </a:prstGeom>
          <a:solidFill>
            <a:srgbClr val="FDF0E6"/>
          </a:solidFill>
          <a:ln w="6350">
            <a:solidFill>
              <a:srgbClr val="FDF0E6"/>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4502048" y="2276475"/>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Result and justification</a:t>
            </a:r>
            <a:endParaRPr lang="en-US" sz="2000" dirty="0"/>
          </a:p>
        </p:txBody>
      </p:sp>
      <p:sp>
        <p:nvSpPr>
          <p:cNvPr id="13" name="Text 11"/>
          <p:cNvSpPr/>
          <p:nvPr/>
        </p:nvSpPr>
        <p:spPr>
          <a:xfrm>
            <a:off x="4502048" y="2886075"/>
            <a:ext cx="3187598" cy="174307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Y / N / AC / RA / NA — and a short justification: what the evidence shows, and what it does not.</a:t>
            </a:r>
            <a:endParaRPr lang="en-US" sz="2000" dirty="0"/>
          </a:p>
        </p:txBody>
      </p:sp>
      <p:sp>
        <p:nvSpPr>
          <p:cNvPr id="14" name="Shape 12"/>
          <p:cNvSpPr/>
          <p:nvPr/>
        </p:nvSpPr>
        <p:spPr>
          <a:xfrm>
            <a:off x="8089697" y="1847850"/>
            <a:ext cx="3568598" cy="28575"/>
          </a:xfrm>
          <a:prstGeom prst="rect">
            <a:avLst/>
          </a:prstGeom>
          <a:solidFill>
            <a:srgbClr val="1A1A1A"/>
          </a:solidFill>
          <a:ln/>
        </p:spPr>
      </p:sp>
      <p:sp>
        <p:nvSpPr>
          <p:cNvPr id="15" name="Shape 13"/>
          <p:cNvSpPr/>
          <p:nvPr/>
        </p:nvSpPr>
        <p:spPr>
          <a:xfrm>
            <a:off x="8089697" y="1876425"/>
            <a:ext cx="3568598" cy="2828925"/>
          </a:xfrm>
          <a:prstGeom prst="rect">
            <a:avLst/>
          </a:prstGeom>
          <a:solidFill>
            <a:srgbClr val="F2F2F2"/>
          </a:solidFill>
          <a:ln w="6350">
            <a:solidFill>
              <a:srgbClr val="F2F2F2"/>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Outstanding RFI</a:t>
            </a:r>
            <a:endParaRPr lang="en-US" sz="2000" dirty="0"/>
          </a:p>
        </p:txBody>
      </p:sp>
      <p:sp>
        <p:nvSpPr>
          <p:cNvPr id="18" name="Text 16"/>
          <p:cNvSpPr/>
          <p:nvPr/>
        </p:nvSpPr>
        <p:spPr>
          <a:xfrm>
            <a:off x="8280197"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What you would still ask for — including the documents not in the pack.</a:t>
            </a:r>
            <a:endParaRPr lang="en-US" sz="2000" dirty="0"/>
          </a:p>
        </p:txBody>
      </p:sp>
      <p:sp>
        <p:nvSpPr>
          <p:cNvPr id="19" name="Shape 17"/>
          <p:cNvSpPr/>
          <p:nvPr/>
        </p:nvSpPr>
        <p:spPr>
          <a:xfrm>
            <a:off x="533400" y="4914900"/>
            <a:ext cx="11124895" cy="28575"/>
          </a:xfrm>
          <a:prstGeom prst="rect">
            <a:avLst/>
          </a:prstGeom>
          <a:solidFill>
            <a:srgbClr val="D04A02"/>
          </a:solidFill>
          <a:ln/>
        </p:spPr>
      </p:sp>
      <p:sp>
        <p:nvSpPr>
          <p:cNvPr id="20" name="Shape 18"/>
          <p:cNvSpPr/>
          <p:nvPr/>
        </p:nvSpPr>
        <p:spPr>
          <a:xfrm>
            <a:off x="533400" y="4943475"/>
            <a:ext cx="11124895" cy="885825"/>
          </a:xfrm>
          <a:prstGeom prst="rect">
            <a:avLst/>
          </a:prstGeom>
          <a:solidFill>
            <a:srgbClr val="FDF0E6"/>
          </a:solidFill>
          <a:ln w="6350">
            <a:solidFill>
              <a:srgbClr val="FDF0E6"/>
            </a:solidFill>
            <a:prstDash val="solid"/>
          </a:ln>
        </p:spPr>
      </p:sp>
      <p:sp>
        <p:nvSpPr>
          <p:cNvPr id="21" name="Text 19"/>
          <p:cNvSpPr/>
          <p:nvPr/>
        </p:nvSpPr>
        <p:spPr>
          <a:xfrm>
            <a:off x="723900" y="50673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One Excel template per group on Canvas before the Week 6 class. The model answer goes up after the deadline.</a:t>
            </a:r>
            <a:endParaRPr lang="en-US" sz="2000" dirty="0"/>
          </a:p>
        </p:txBody>
      </p:sp>
      <p:sp>
        <p:nvSpPr>
          <p:cNvPr id="22" name="Text 20"/>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Part B of the worksheet · CS5292_W5_M3_Group_Template.xlsx · graded 0 / 50 / 100 as part of the weekly group task portfolio</a:t>
            </a:r>
            <a:endParaRPr lang="en-US" sz="1300" dirty="0"/>
          </a:p>
        </p:txBody>
      </p:sp>
      <p:sp>
        <p:nvSpPr>
          <p:cNvPr id="23" name="Text 21"/>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54</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WEEK 5 · CLOSE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Next week.</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282892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COMING UP</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Week 6 · 7 October</a:t>
            </a:r>
            <a:endParaRPr lang="en-US" sz="2000" dirty="0"/>
          </a:p>
        </p:txBody>
      </p:sp>
      <p:sp>
        <p:nvSpPr>
          <p:cNvPr id="8" name="Text 6"/>
          <p:cNvSpPr/>
          <p:nvPr/>
        </p:nvSpPr>
        <p:spPr>
          <a:xfrm>
            <a:off x="723900"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NIST CSF 2.0, with Herman Sin (HKJC): the framework you reach for when there is no law and no regulator.</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282892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PREP</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Before class</a:t>
            </a:r>
            <a:endParaRPr lang="en-US" sz="2000" dirty="0"/>
          </a:p>
        </p:txBody>
      </p:sp>
      <p:sp>
        <p:nvSpPr>
          <p:cNvPr id="13" name="Text 11"/>
          <p:cNvSpPr/>
          <p:nvPr/>
        </p:nvSpPr>
        <p:spPr>
          <a:xfrm>
            <a:off x="4502048"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Submit your group homework. Read the NIST CSF 2.0 overview.</a:t>
            </a:r>
            <a:endParaRPr lang="en-US" sz="2000" dirty="0"/>
          </a:p>
        </p:txBody>
      </p:sp>
      <p:sp>
        <p:nvSpPr>
          <p:cNvPr id="14" name="Shape 12"/>
          <p:cNvSpPr/>
          <p:nvPr/>
        </p:nvSpPr>
        <p:spPr>
          <a:xfrm>
            <a:off x="8089697" y="1847850"/>
            <a:ext cx="3568598" cy="28575"/>
          </a:xfrm>
          <a:prstGeom prst="rect">
            <a:avLst/>
          </a:prstGeom>
          <a:solidFill>
            <a:srgbClr val="D04A02"/>
          </a:solidFill>
          <a:ln/>
        </p:spPr>
      </p:sp>
      <p:sp>
        <p:nvSpPr>
          <p:cNvPr id="15" name="Shape 13"/>
          <p:cNvSpPr/>
          <p:nvPr/>
        </p:nvSpPr>
        <p:spPr>
          <a:xfrm>
            <a:off x="8089697" y="1876425"/>
            <a:ext cx="3568598" cy="2828925"/>
          </a:xfrm>
          <a:prstGeom prst="rect">
            <a:avLst/>
          </a:prstGeom>
          <a:solidFill>
            <a:srgbClr val="FDF0E6"/>
          </a:solidFill>
          <a:ln w="6350">
            <a:solidFill>
              <a:srgbClr val="FDF0E6"/>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HEADS-UP</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Week 7</a:t>
            </a:r>
            <a:endParaRPr lang="en-US" sz="2000" dirty="0"/>
          </a:p>
        </p:txBody>
      </p:sp>
      <p:sp>
        <p:nvSpPr>
          <p:cNvPr id="18" name="Text 16"/>
          <p:cNvSpPr/>
          <p:nvPr/>
        </p:nvSpPr>
        <p:spPr>
          <a:xfrm>
            <a:off x="8280197"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Midterm: evidence-based justification and RFI drafting — exactly tonight’s skills.</a:t>
            </a:r>
            <a:endParaRPr lang="en-US" sz="2000" dirty="0"/>
          </a:p>
        </p:txBody>
      </p:sp>
      <p:sp>
        <p:nvSpPr>
          <p:cNvPr id="19" name="Text 1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CS5292 course schedule</a:t>
            </a:r>
            <a:endParaRPr lang="en-US" sz="1300" dirty="0"/>
          </a:p>
        </p:txBody>
      </p:sp>
      <p:sp>
        <p:nvSpPr>
          <p:cNvPr id="20" name="Text 1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5 · HKMA C-RAF  ·  55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CS5292 Week 5 — C-RAF: from 2016 to 3.0 (Module 2)</dc:title>
  <dc:subject>PptxGenJS Presentation</dc:subject>
  <dc:creator>Jason Lee</dc:creator>
  <cp:lastModifiedBy>Jason Lee</cp:lastModifiedBy>
  <cp:revision>1</cp:revision>
  <dcterms:created xsi:type="dcterms:W3CDTF">2026-09-30T03:16:32Z</dcterms:created>
  <dcterms:modified xsi:type="dcterms:W3CDTF">2026-09-30T03:16:32Z</dcterms:modified>
</cp:coreProperties>
</file>