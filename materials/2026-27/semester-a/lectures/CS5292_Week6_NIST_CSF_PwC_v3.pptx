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media/image653.svg" ContentType="image/svg+xml"/>
  <Override PartName="/ppt/media/image677.svg" ContentType="image/svg+xml"/>
  <Override PartName="/ppt/media/image749.svg" ContentType="image/svg+xml"/>
  <Override PartName="/ppt/media/image78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8"/>
  </p:notesMasterIdLst>
  <p:sldIdLst>
    <p:sldId id="261" r:id="rId5"/>
    <p:sldId id="2147471610" r:id="rId12"/>
    <p:sldId id="2147471611" r:id="rId13"/>
    <p:sldId id="2147471643" r:id="rId45"/>
    <p:sldId id="2147471644" r:id="rId46"/>
    <p:sldId id="2147471612" r:id="rId14"/>
    <p:sldId id="2147471613" r:id="rId15"/>
    <p:sldId id="2147471614" r:id="rId16"/>
    <p:sldId id="2147471615" r:id="rId17"/>
    <p:sldId id="2147471616" r:id="rId18"/>
    <p:sldId id="2147471617" r:id="rId19"/>
    <p:sldId id="2147471618" r:id="rId20"/>
    <p:sldId id="2147471619" r:id="rId21"/>
    <p:sldId id="2147471645" r:id="rId47"/>
    <p:sldId id="2147471620" r:id="rId22"/>
    <p:sldId id="2147471621" r:id="rId23"/>
    <p:sldId id="2147471622" r:id="rId24"/>
    <p:sldId id="2147471623" r:id="rId25"/>
    <p:sldId id="2147471624" r:id="rId26"/>
    <p:sldId id="2147471625" r:id="rId27"/>
    <p:sldId id="2147471626" r:id="rId28"/>
    <p:sldId id="2147471627" r:id="rId29"/>
    <p:sldId id="2147471628" r:id="rId30"/>
    <p:sldId id="2147471629" r:id="rId31"/>
    <p:sldId id="2147471630" r:id="rId32"/>
    <p:sldId id="2147471646" r:id="rId48"/>
    <p:sldId id="2147471647" r:id="rId49"/>
    <p:sldId id="2147471648" r:id="rId50"/>
    <p:sldId id="2147471631" r:id="rId33"/>
    <p:sldId id="2147471632" r:id="rId34"/>
    <p:sldId id="2147471633" r:id="rId35"/>
    <p:sldId id="2147471649" r:id="rId51"/>
    <p:sldId id="2147471650" r:id="rId52"/>
    <p:sldId id="2147471634" r:id="rId36"/>
    <p:sldId id="2147471635" r:id="rId37"/>
    <p:sldId id="2147471636" r:id="rId38"/>
    <p:sldId id="2147471637" r:id="rId39"/>
    <p:sldId id="2147471638" r:id="rId40"/>
    <p:sldId id="2147471639" r:id="rId41"/>
    <p:sldId id="2147471640" r:id="rId42"/>
    <p:sldId id="2147471651" r:id="rId53"/>
    <p:sldId id="2147471641" r:id="rId43"/>
    <p:sldId id="2147471642" r:id="rId44"/>
    <p:sldId id="2147471652" r:id="rId54"/>
    <p:sldId id="2147471653" r:id="rId55"/>
    <p:sldId id="2147471654" r:id="rId56"/>
    <p:sldId id="2147471655" r:id="rId57"/>
    <p:sldId id="2147471659" r:id="rId61"/>
    <p:sldId id="2147471660" r:id="rId62"/>
    <p:sldId id="2147471656" r:id="rId58"/>
    <p:sldId id="2147471657" r:id="rId59"/>
    <p:sldId id="2147471658" r:id="rId60"/>
    <p:sldId id="2147471661" r:id="rId63"/>
    <p:sldId id="2147471662" r:id="rId64"/>
    <p:sldId id="2147471663" r:id="rId65"/>
    <p:sldId id="2147471664" r:id="rId66"/>
    <p:sldId id="2147471609"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95090" autoAdjust="0"/>
  </p:normalViewPr>
  <p:slideViewPr>
    <p:cSldViewPr snapToGrid="0">
      <p:cViewPr varScale="1">
        <p:scale>
          <a:sx n="168" d="100"/>
          <a:sy n="168" d="100"/>
        </p:scale>
        <p:origin x="1000" y="192"/>
      </p:cViewPr>
      <p:guideLst/>
    </p:cSldViewPr>
  </p:slideViewPr>
  <p:outlineViewPr>
    <p:cViewPr>
      <p:scale>
        <a:sx n="33" d="100"/>
        <a:sy n="33" d="100"/>
      </p:scale>
      <p:origin x="-64" y="0"/>
    </p:cViewPr>
  </p:outlineViewPr>
  <p:notesTextViewPr>
    <p:cViewPr>
      <p:scale>
        <a:sx n="1" d="1"/>
        <a:sy n="1" d="1"/>
      </p:scale>
      <p:origin x="0" y="0"/>
    </p:cViewPr>
  </p:notesTextViewPr>
  <p:sorterViewPr>
    <p:cViewPr>
      <p:scale>
        <a:sx n="21" d="100"/>
        <a:sy n="21" d="100"/>
      </p:scale>
      <p:origin x="0" y="-219"/>
    </p:cViewPr>
  </p:sorterViewPr>
  <p:notesViewPr>
    <p:cSldViewPr snapToGrid="0">
      <p:cViewPr varScale="1">
        <p:scale>
          <a:sx n="65" d="100"/>
          <a:sy n="65" d="100"/>
        </p:scale>
        <p:origin x="2565" y="3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88" Type="http://schemas.openxmlformats.org/officeDocument/2006/relationships/slide" Target="slides/slide84.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dirty="0"/>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evening, everyone. Welcome to Week 6.</a:t>
            </a:r>
          </a:p>
          <a:p/>
          <a:p>
            <a:r>
              <a:t>Over the last four weeks we went from the newest law, to the oldest law, to the closest thing government has to a law, to what regulators use instead of a law. Tonight we ask: what do you use when there's no law at all?</a:t>
            </a:r>
          </a:p>
          <a:p/>
          <a:p>
            <a:r>
              <a:t>For a lot of organisations in Hong Kong, and around the world, the answer is the NIST Cybersecurity Framework.</a:t>
            </a:r>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dirty="0"/>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no. There's no such thing as NIST CSF certification. NIST doesn't run a certification scheme and doesn't accredit anyone to issue one.</a:t>
            </a:r>
          </a:p>
          <a:p/>
          <a:p>
            <a:r>
              <a:t>Compare ISO 27001, from Week 1. ISO 27001 is a management-system standard, full of "shall". Accredited certification bodies audit you and issue a certificate with a scope.</a:t>
            </a:r>
          </a:p>
          <a:p/>
          <a:p>
            <a:r>
              <a:t>So what can a vendor honestly say? "We've assessed ourselves against the CSF", or "an independent firm assessed us". That's fine. But then your questions are: who assessed, against which Target Profile, and when?</a:t>
            </a:r>
          </a:p>
          <a:p/>
          <a:p>
            <a:r>
              <a:t>The audit lesson, in orange: "NIST certified" is a claim to test, not evidence. You'd be surprised how often it appears in tender responses.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shape of tonight.</a:t>
            </a:r>
          </a:p>
          <a:p/>
          <a:p>
            <a:r>
              <a:t>Module one is our guest, Herman Sin from the Hong Kong Jockey Club, for about half an hour plus Q&amp;A. Then a ten-minute break.</a:t>
            </a:r>
          </a:p>
          <a:p/>
          <a:p>
            <a:r>
              <a:t>Module two is me, for fifty minutes: the NIST Cybersecurity Framework, version 2.0. Where it came from, how it's built, what changed, and, most importantly for this course, how you audit against it.</a:t>
            </a:r>
          </a:p>
          <a:p/>
          <a:p>
            <a:r>
              <a:t>Module three is you. Same drill as the last few weeks: sample documents, selected outcomes, and you draft the RFI.</a:t>
            </a:r>
          </a:p>
          <a:p/>
          <a:p>
            <a:r>
              <a:t>And a reminder: next week is the midterm. Tonight closes the first half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my pleasure to introduce our guest tonight, Herman Sin.</a:t>
            </a:r>
          </a:p>
          <a:p/>
          <a:p>
            <a:r>
              <a:t>Herman is Senior Technical Manager at the Hong Kong Jockey Club. Think about what makes that interesting for this course. Every guest so far worked in a world with a rulebook: Cap. 653, the PDPO, S17 and G3, the HKMA and the Insurance Authority. Herman's organisation doesn't have a cyber-specific ordinance or a sector regulator setting its bar. So it has to choose its own. And it chose NIST.</a:t>
            </a:r>
          </a:p>
          <a:p/>
          <a:p>
            <a:r>
              <a:t>As you listen, think about three questions. Why NIST, and not ISO 27001 or something local? When nobody tells you the target, who decides it? And what evidence actually convinces a board?</a:t>
            </a:r>
          </a:p>
          <a:p/>
          <a:p>
            <a:r>
              <a:t>Herman, over to you.</a:t>
            </a:r>
          </a:p>
          <a:p/>
          <a:p>
            <a:r>
              <a:t>[HAND OVER TO HERMAN — 30 minutes, then 10 minutes of Q&amp;A. Then the break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a:t>
            </a:r>
          </a:p>
          <a:p/>
          <a:p>
            <a:r>
              <a:t>Herman showed you NIST from the inside of one organisation. Now let's take the framework itself apart.</a:t>
            </a:r>
          </a:p>
          <a:p/>
          <a:p>
            <a:r>
              <a:t>Five parts. Why NIST at all, when there's no law. Where it came from. How it's built: the Core, Profiles and Tiers. What changed in 2.0. And the part you'll need next week and in your careers: how an auditor actually uses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 about 3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tonight in context. This is a deliberate funnel, and tonight it snaps open.</a:t>
            </a:r>
          </a:p>
          <a:p/>
          <a:p>
            <a:r>
              <a:t>Week 2, Cap. 653: the newest law, the narrowest scope, the most binding. Week 3, the PDPO: the oldest law, but the broadest, because it covers anyone holding personal data. Week 4, S17 and G3: not a law in form, but mandatory for every Government department. Week 5, C-RAF and GL20: no cyber ordinance, but a sector regulator who sets the bar for banks and insurers.</a:t>
            </a:r>
          </a:p>
          <a:p/>
          <a:p>
            <a:r>
              <a:t>And tonight, NIST. It binds nobody in Hong Kong. Which is exactly why everybody can use it. It's the default an organisation reaches for when no law, no quasi-law and no regulator applies. Or, as we'll see, it's what the regulators themselves benchmarked against.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NIST? Four reasons.</a:t>
            </a:r>
          </a:p>
          <a:p/>
          <a:p>
            <a:r>
              <a:t>First, it says what, not how. A NIST outcome reads like: backups are created, protected, maintained and tested. It doesn't tell you which backup product, or how often. That's what makes it portable.</a:t>
            </a:r>
          </a:p>
          <a:p/>
          <a:p>
            <a:r>
              <a:t>Second, it's sector-neutral. NIST says it's written for organisations of all sizes and sectors: industry, government, academia, non-profits, regardless of maturity.</a:t>
            </a:r>
          </a:p>
          <a:p/>
          <a:p>
            <a:r>
              <a:t>Third, it speaks to the board. Six functions. A director can remember six words. That's not trivial. Remember Week 1: governance fails when the board and the technical team don't share a language.</a:t>
            </a:r>
          </a:p>
          <a:p/>
          <a:p>
            <a:r>
              <a:t>Fourth, it's a hub. Every outcome maps to other standards: ISO 27001, NIST's own SP 800-53, the CIS Controls. So if you build on NIST, you can show your work in the language of whatever framework someone else asks for.</a:t>
            </a:r>
          </a:p>
          <a:p/>
          <a:p>
            <a:r>
              <a:t>The orange card is the one to remember. Outcome-based is NIST's greatest strength for adoption, and, as we'll see, its biggest headache for auditors.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 about 5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this come from?</a:t>
            </a:r>
          </a:p>
          <a:p/>
          <a:p>
            <a:r>
              <a:t>Week 1's lesson again: frameworks follow incidents and politics. In February 2013, President Obama signs Executive Order 13636 on critical infrastructure cybersecurity. Congress hadn't passed a cyber law, so the executive branch asks NIST, the National Institute of Standards and Technology, to build a voluntary framework with industry.</a:t>
            </a:r>
          </a:p>
          <a:p/>
          <a:p>
            <a:r>
              <a:t>February 2014, version 1.0. Look at the title: Framework for Improving Critical Infrastructure Cybersecurity. It was for power grids, water, finance. Sound familiar? That's the Cap. 653 population, ten years earlier, on the other side of the Pacific.</a:t>
            </a:r>
          </a:p>
          <a:p/>
          <a:p>
            <a:r>
              <a:t>2017, another Executive Order makes it mandatory for US federal agencies. So: voluntary for the private sector, mandatory for government. That's exactly the S17-and-G3 pattern from Week 4.</a:t>
            </a:r>
          </a:p>
          <a:p/>
          <a:p>
            <a:r>
              <a:t>2018, version 1.1, adds supply chain risk and self-assessment.</a:t>
            </a:r>
          </a:p>
          <a:p/>
          <a:p>
            <a:r>
              <a:t>Then 2022 and 2023: a long public consultation, like the HKMA's in Week 5. And on 26 February 2024, version 2.0. It drops "critical infrastructure" from the title. It's now just: The NIST Cybersecurity Framework. Written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Pulse check.</a:t>
            </a:r>
          </a:p>
          <a:p/>
          <a:p>
            <a:r>
              <a:t>You're reviewing a vendor. Their proposal says: we are NIST CSF 2.0 certified. Do you accept that as evidence?</a:t>
            </a:r>
          </a:p>
          <a:p/>
          <a:p>
            <a:r>
              <a:t>Hands up for yes... no... depends...</a:t>
            </a:r>
          </a:p>
          <a:p/>
          <a:p>
            <a:r>
              <a:t>[COUNT. THEN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fld id="{8338F507-FFAD-4585-99E0-9DC17883AD4F}" type="slidenum">
              <a:rPr lang="en-US" smtClean="0"/>
              <a:t>84</a:t>
            </a:fld>
            <a:endParaRPr lang="en-US" dirty="0"/>
          </a:p>
        </p:txBody>
      </p:sp>
    </p:spTree>
    <p:extLst>
      <p:ext uri="{BB962C8B-B14F-4D97-AF65-F5344CB8AC3E}">
        <p14:creationId xmlns:p14="http://schemas.microsoft.com/office/powerpoint/2010/main" val="278203541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 about 13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has three parts.</a:t>
            </a:r>
          </a:p>
          <a:p/>
          <a:p>
            <a:r>
              <a:t>The Core is the catalogue: what good looks like, as outcomes. Six Functions, twenty-two Categories, a hundred and six Subcategories.</a:t>
            </a:r>
          </a:p>
          <a:p/>
          <a:p>
            <a:r>
              <a:t>Profiles are how you use the catalogue. A Current Profile says where you are. A Target Profile says where you want to be. The difference is your gap, and your gap is your plan. I've made that the orange card, because for auditors, Profiles are where the action is.</a:t>
            </a:r>
          </a:p>
          <a:p/>
          <a:p>
            <a:r>
              <a:t>Tiers describe how rigorous your risk governance and management are, on four levels: Partial, Risk Informed, Repeatable, Adaptive.</a:t>
            </a:r>
          </a:p>
          <a:p/>
          <a:p>
            <a:r>
              <a:t>And around all of that, NIST publishes online resources: Informative References, Implementation Examples, Quick-Start Guides. We'll come back to those.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Core in one picture. NIST draws it as a wheel.</a:t>
            </a:r>
          </a:p>
          <a:p/>
          <a:p>
            <a:r>
              <a:t>Five functions around the outside, and you may know these from version 1.1. Identify: understand your risk, your assets, your suppliers. Protect: put safeguards in place. Detect: find attacks and compromises. Respond: act on an incident. Recover: restore operations.</a:t>
            </a:r>
          </a:p>
          <a:p/>
          <a:p>
            <a:r>
              <a:t>And in the middle, new in 2.0: Govern. NIST's own words: Govern "is in the center of the wheel because it informs how an organization will implement the other five Functions."</a:t>
            </a:r>
          </a:p>
          <a:p/>
          <a:p>
            <a:r>
              <a:t>Why does that matter to us? Because Govern is where boards, policies, roles and oversight live. Remember Week 5's control principles on board accountability and independent audit? Remember Week 4's SRA and audit cycle? In 1.1 those were scattered. In 2.0, they have a home, at the centre.</a:t>
            </a:r>
          </a:p>
          <a:p/>
          <a:p>
            <a:r>
              <a:t>One more thing NIST says explicitly: the functions aren't a sequence. You don't do Identify, finish it, then move on to Protect. They run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is a hierarchy. Six Functions, twenty-two Categories, a hundred and six Subcategories.</a:t>
            </a:r>
          </a:p>
          <a:p/>
          <a:p>
            <a:r>
              <a:t>Each level has an audience. Functions are for the board. Categories are for the programme owner, the CISO. And Subcategories are what you, the assessor, actually test.</a:t>
            </a:r>
          </a:p>
          <a:p/>
          <a:p>
            <a:r>
              <a:t>Here's one, from top to bottom. Function: Identify. Category: Asset Management, ID.AM. Subcategory ID.AM-01: inventories of hardware managed by the organization are maintained.</a:t>
            </a:r>
          </a:p>
          <a:p/>
          <a:p>
            <a:r>
              <a:t>And below that, NIST publishes Implementation Examples: notional, action-oriented steps. For ID.AM-01: maintain inventories for all types of hardware, including IT, IoT, OT and mobile devices.</a:t>
            </a:r>
          </a:p>
          <a:p/>
          <a:p>
            <a:r>
              <a:t>Notice: the Subcategory is the outcome. The Implementation Example is one way to get there. It's not mandatory. That distinction will matter when we write findings.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spend a moment on Govern, because it's the biggest change and it's where auditors increasingly start.</a:t>
            </a:r>
          </a:p>
          <a:p/>
          <a:p>
            <a:r>
              <a:t>Six categories. Organizational Context: do we understand our mission, our stakeholders, and our legal and regulatory duties? For a Cap. 653 operator, being designated is part of that context.</a:t>
            </a:r>
          </a:p>
          <a:p/>
          <a:p>
            <a:r>
              <a:t>Risk Management Strategy: have we set our risk appetite and priorities? You saw G3's five-step risk framework in Week 4.</a:t>
            </a:r>
          </a:p>
          <a:p/>
          <a:p>
            <a:r>
              <a:t>Roles, Responsibilities and Authorities: is leadership accountable? That's C-RAF's very first control principle from last week, accountability to the board.</a:t>
            </a:r>
          </a:p>
          <a:p/>
          <a:p>
            <a:r>
              <a:t>Policy: is it established, communicated, enforced? Every RFI you've written has asked for a policy.</a:t>
            </a:r>
          </a:p>
          <a:p/>
          <a:p>
            <a:r>
              <a:t>Oversight: are the results reviewed and the strategy adjusted? Last week's C-RAF control on independent audit lives here.</a:t>
            </a:r>
          </a:p>
          <a:p/>
          <a:p>
            <a:r>
              <a:t>And Supply Chain Risk Management. In 1.1 this was a category inside Identify. In 2.0 it's promoted to Govern, with ten subcategories, the largest category in the framework. After SolarWinds, MOVEit and others, NIST decided supply chain is a governance problem, not just a technical one.</a:t>
            </a:r>
          </a:p>
          <a:p/>
          <a:p>
            <a:r>
              <a:t>The right-hand column is the point: none of this is new to you. You've been auditing Govern for four weeks.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Identify and Protect. I won't read every row; this is your reference slide.</a:t>
            </a:r>
          </a:p>
          <a:p/>
          <a:p>
            <a:r>
              <a:t>Identify is about knowing what you have and what threatens it: Asset Management, Risk Assessment, and a new one, Improvement. ID.IM collects lessons learned from tests, exercises and real incidents and feeds them back. Version 1.1 had improvement scattered around; 2.0 gives it a home.</a:t>
            </a:r>
          </a:p>
          <a:p/>
          <a:p>
            <a:r>
              <a:t>Protect has five categories. Notice the right-hand column, because this is how you should read a framework as an auditor. For every category, ask: what document or record would prove this? Access control: joiner-mover-leaver records, MFA settings, access reviews. Data security: encryption settings, backup and restore tests. Platform security: hardening baselines, patch records.</a:t>
            </a:r>
          </a:p>
          <a:p/>
          <a:p>
            <a:r>
              <a:t>If you can't name the evidence, you don't yet understand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last three functions: what happens when prevention fails.</a:t>
            </a:r>
          </a:p>
          <a:p/>
          <a:p>
            <a:r>
              <a:t>Detect has just two categories in 2.0: Continuous Monitoring, and Adverse Event Analysis. Version 1.1 had a third, Detection Processes, which was folded in.</a:t>
            </a:r>
          </a:p>
          <a:p/>
          <a:p>
            <a:r>
              <a:t>Respond has four. I want you to notice RS.CO, reporting and communication. In Hong Kong, that's where the clocks live. Cap. 653: serious incidents to the Commissioner within 12 hours, others within 48. G3 from Week 4: report to GIRO within 60 minutes. NIST doesn't set a clock. It says: report as required. The local law sets the clock. That's a pattern we'll come back to in a minute.</a:t>
            </a:r>
          </a:p>
          <a:p/>
          <a:p>
            <a:r>
              <a:t>Recover has two: executing the recovery plan, and communicating about it. And one subcategory I love for auditors, RC.RP-03: verify the integrity of backups before you restore from them. Ransomware groups now go for the backups first.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skill that will serve you in the midterm and for the rest of your career. Read a subcategory slowly, and treat every verb as a separate test.</a:t>
            </a:r>
          </a:p>
          <a:p/>
          <a:p>
            <a:r>
              <a:t>GV.SC-07. The risks posed by a supplier, their products and services, and other third parties are understood, recorded, prioritized, assessed, responded to, and monitored over the course of the relationship.</a:t>
            </a:r>
          </a:p>
          <a:p/>
          <a:p>
            <a:r>
              <a:t>Six verbs. Six tests.</a:t>
            </a:r>
          </a:p>
          <a:p/>
          <a:p>
            <a:r>
              <a:t>Understood: is there a methodology? Recorded: is there a register? Prioritized: are suppliers tiered by criticality? Assessed: due diligence, questionnaires, SOC 2 reports from Week 1. Responded to: contract clauses, remediation. Monitored: and this is the one most organisations fail. "Over the course of the relationship." Many companies assess a supplier once, at onboarding, and never again.</a:t>
            </a:r>
          </a:p>
          <a:p/>
          <a:p>
            <a:r>
              <a:t>So if a client shows you a beautiful onboarding questionnaire, you've tested one or two verbs out of six. That's not a pass. That's a partial.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 about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actually changed from 1.1 to 2.0?</a:t>
            </a:r>
          </a:p>
          <a:p/>
          <a:p>
            <a:r>
              <a:t>The title and audience: from critical infrastructure to everyone.</a:t>
            </a:r>
          </a:p>
          <a:p/>
          <a:p>
            <a:r>
              <a:t>Structure: five functions became six. And yet categories went from twenty-three to twenty-two, and subcategories from a hundred and eight to a hundred and six. So it's not bigger. It's reorganised. Things were merged, moved, and some were withdrawn. A tip: if you ever inherit a 1.1 assessment and need to update it to 2.0, don't assume the IDs carry over. NIST publishes a mapping between the two versions. Use it.</a:t>
            </a:r>
          </a:p>
          <a:p/>
          <a:p>
            <a:r>
              <a:t>Governance: from scattered to a dedicated function.</a:t>
            </a:r>
          </a:p>
          <a:p/>
          <a:p>
            <a:r>
              <a:t>Supply chain: from one category in Identify to ten subcategories in Govern.</a:t>
            </a:r>
          </a:p>
          <a:p/>
          <a:p>
            <a:r>
              <a:t>Improvement: now its own category.</a:t>
            </a:r>
          </a:p>
          <a:p/>
          <a:p>
            <a:r>
              <a:t>And guidance: 1.1 was mostly one document. 2.0 is an ecosystem: Implementation Examples for every subcategory, Quick-Start Guides, online references, and Profile templates.</a:t>
            </a:r>
          </a:p>
          <a:p/>
          <a:p>
            <a:r>
              <a:t>If you remember one row, it's the orange one. Govern.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Profiles are where the Core becomes useful.</a:t>
            </a:r>
          </a:p>
          <a:p/>
          <a:p>
            <a:r>
              <a:t>NIST gives five steps. Scope it: which part of the organisation, and why. Gather information: policies, risk priorities, business impact analyses, legal and regulatory requirements. Create the Profiles: Current, and Target, outcome by outcome. Analyse the gaps and build a prioritised action plan. Then implement, and update.</a:t>
            </a:r>
          </a:p>
          <a:p/>
          <a:p>
            <a:r>
              <a:t>Step four is the orange one, because that's an audit report in disguise. Current versus Target, the gap, the priority, the owner, the date. That's exactly the shape of a finding.</a:t>
            </a:r>
          </a:p>
          <a:p/>
          <a:p>
            <a:r>
              <a:t>At the bottom, the three kinds. Current: what you do today. Target: what you choose to achieve. And Community Profile: a shared baseline published for a whole sector, a technology, or a threat. NIST has published community profiles on ransomware, for example, and is drafting one for AI.</a:t>
            </a:r>
          </a:p>
          <a:p/>
          <a:p>
            <a:r>
              <a:t>And here's the important question for an auditor: who chose the Target? Herman touched on this. If management sets its own target too low, a perfect score against it means nothing. So when you audit against a NIST Profile, always ask how the Target was set, and who approved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component: Tiers. Four of them. Partial, Risk Informed, Repeatable, Adaptive.</a:t>
            </a:r>
          </a:p>
          <a:p/>
          <a:p>
            <a:r>
              <a:t>The wording is NIST's own, and it's worth reading like an auditor again. Tier 2: practices are "approved by management but may not be established as organization-wide policy". Tier 3: "formally approved and expressed as policy". So the jump from 2 to 3 is literally whether there's an approved organisation-wide policy. That's an evidence question.</a:t>
            </a:r>
          </a:p>
          <a:p/>
          <a:p>
            <a:r>
              <a:t>But the orange card matters most. Tiers describe the rigour of how you govern and manage cyber risk overall. They're not a score you give each subcategory. People do build maturity scores on top of the CSF, and that's fine, but that's their method, not NIST's. Compare C-RAF from last week, where Baseline, Intermediate and Advanced are explicitly maturity levels, set by your inherent risk.</a:t>
            </a:r>
          </a:p>
          <a:p/>
          <a:p>
            <a:r>
              <a:t>Which leads to a question.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Pulse check.</a:t>
            </a:r>
          </a:p>
          <a:p/>
          <a:p>
            <a:r>
              <a:t>Your client is at Tier 2, Risk Informed. Should your audit report recommend they reach Tier 4, Adaptive?</a:t>
            </a:r>
          </a:p>
          <a:p/>
          <a:p>
            <a:r>
              <a:t>Hands up: yes, always... no... depends...</a:t>
            </a:r>
          </a:p>
          <a:p/>
          <a:p>
            <a:r>
              <a:t>[COUNT. THEN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depends, and NIST says so. Organisations choose the Tier that fits their objectives and their risk. NIST encourages moving up when risks or mandates are greater, or when cost-benefit supports it.</a:t>
            </a:r>
          </a:p>
          <a:p/>
          <a:p>
            <a:r>
              <a:t>So: recommend the Tier management chose and approved, not the maximum. If you think the target itself is too low, that's a different finding, about governance, and you need a risk or a mandate to back it.</a:t>
            </a:r>
          </a:p>
          <a:p/>
          <a:p>
            <a:r>
              <a:t>And in Hong Kong, the mandate often comes from outside NIST. A designated Cap. 653 operator, or a bank under the HKMA, may have a floor set for them.</a:t>
            </a:r>
          </a:p>
          <a:p/>
          <a:p>
            <a:r>
              <a:t>The orange box is the audit principle that ties this course together. A finding needs criteria. "You're not Tier 4" isn't a finding unless Tier 4 was the target.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that changed: CSF 2.0 isn't really one document any more. It's an ecosystem, and NIST keeps adding to it.</a:t>
            </a:r>
          </a:p>
          <a:p/>
          <a:p>
            <a:r>
              <a:t>A few highlights since 2024. A quick-start guide on supply chain risk, which is effectively a ready-made reading of GV.SC. In April 2025, SP 800-61 revision 3: NIST's incident response guide, rebuilt around the six CSF functions. In November 2025, an official mapping from CSF 2.0 to SP 800-53, so you can go from an outcome down to a detailed control.</a:t>
            </a:r>
          </a:p>
          <a:p/>
          <a:p>
            <a:r>
              <a:t>In December 2025, a preliminary draft of a Cyber AI Profile, applying CSF outcomes to AI. That's a preview of Week 10.</a:t>
            </a:r>
          </a:p>
          <a:p/>
          <a:p>
            <a:r>
              <a:t>In March 2026, a guide linking cyber risk, enterprise risk and workforce management. And in April 2026, a guide on informative references, plus new mappings including the OWASP Top 10 for LLM applications.</a:t>
            </a:r>
          </a:p>
          <a:p/>
          <a:p>
            <a:r>
              <a:t>The practical lesson: when you cite NIST in a report, cite the version and the date. This framework moves.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5 · about 14 minutes]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payoff of the last four weeks. You've been auditing NIST all along; it just had Hong Kong names.</a:t>
            </a:r>
          </a:p>
          <a:p/>
          <a:p>
            <a:r>
              <a:t>Govern: C-RAF's board accountability and independent audit principles, from last week. G3's security risk assessment and audit cycle from Week 4.</a:t>
            </a:r>
          </a:p>
          <a:p/>
          <a:p>
            <a:r>
              <a:t>Identify: Cap. 653's annual risk assessment. G3's risk framework.</a:t>
            </a:r>
          </a:p>
          <a:p/>
          <a:p>
            <a:r>
              <a:t>Protect: the PDPO's Data Protection Principle 4 on security, from Week 3. G3's MFA requirement for remote access.</a:t>
            </a:r>
          </a:p>
          <a:p/>
          <a:p>
            <a:r>
              <a:t>Detect: C-RAF's Detection domain, and iCAST's blue-team expectations, which Samuel will cover in Week 8.</a:t>
            </a:r>
          </a:p>
          <a:p/>
          <a:p>
            <a:r>
              <a:t>Respond, in bold: this is where Hong Kong adds what NIST deliberately leaves out. The clock. Cap. 653: twelve hours for a serious incident, forty-eight for others. G3: sixty minutes to GIRO.</a:t>
            </a:r>
          </a:p>
          <a:p/>
          <a:p>
            <a:r>
              <a:t>Recover: Cap. 653's emergency response plan and drills, and for banks, the HKMA's STDB guideline on immutable, air-gapped tertiary backups.</a:t>
            </a:r>
          </a:p>
          <a:p/>
          <a:p>
            <a:r>
              <a:t>So here's a way to think about it. NIST gives you the shape. Local law and regulators fill in the numbers. When you audit in Hong Kong, you'll often use NIST as the structure and the local rule as the threshold.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three frameworks side by side, the way we did with the PDPO and GDPR.</a:t>
            </a:r>
          </a:p>
          <a:p/>
          <a:p>
            <a:r>
              <a:t>NIST is voluntary outcomes. ISO 27001 is a certifiable management system. C-RAF is a supervisory expectation from a regulator.</a:t>
            </a:r>
          </a:p>
          <a:p/>
          <a:p>
            <a:r>
              <a:t>Who checks? For NIST, anyone: yourself, or a third party. For ISO, an accredited certification body. For C-RAF, assessors whose qualifications appear on the HKMA's PDP list, from last week.</a:t>
            </a:r>
          </a:p>
          <a:p/>
          <a:p>
            <a:r>
              <a:t>How is the bar set? NIST: you choose your Target Profile. ISO: your own risk assessment and Statement of Applicability. C-RAF: your inherent risk sets your required maturity level.</a:t>
            </a:r>
          </a:p>
          <a:p/>
          <a:p>
            <a:r>
              <a:t>And so your first audit question differs. NIST: who set the Target? ISO: what's in scope? C-RAF: was the inherent risk rated correctly? Remember last week's counting rule that moved a bank from Low to Medium.</a:t>
            </a:r>
          </a:p>
          <a:p/>
          <a:p>
            <a:r>
              <a:t>And recall from last week: when the HKMA rebuilt C-RAF in 2019 and 2020, NIST CSF was one of the frameworks it was benchmarked against. They're cousins.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traps when you audit against an outcome framework like NIST.</a:t>
            </a:r>
          </a:p>
          <a:p/>
          <a:p>
            <a:r>
              <a:t>Trap one: treating it as a checklist. NIST says what, not how. So before you test anything, agree the criteria. What's the Target Profile? Is there a law, a regulator or an internal policy that sets a specific threshold? Without criteria, you have opinions, not findings.</a:t>
            </a:r>
          </a:p>
          <a:p/>
          <a:p>
            <a:r>
              <a:t>Trap two, in orange because it's the most common: accepting a policy as the outcome. A policy proves design. NIST subcategories are outcomes: backups ARE tested, risks ARE monitored. That needs operating evidence: records, logs, test results over a period. Week 1: design versus operating effectiveness.</a:t>
            </a:r>
          </a:p>
          <a:p/>
          <a:p>
            <a:r>
              <a:t>Trap three: testing one verb out of six. You saw GV.SC-07. Test each action, or say clearly in your report which ones you didn't test.</a:t>
            </a:r>
          </a:p>
          <a:p/>
          <a:p>
            <a:r>
              <a:t>Now let's see what that looks like in an actual RFI.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one. PR.DS-11: backups of data are created, protected, maintained, and tested. Four verbs.</a:t>
            </a:r>
          </a:p>
          <a:p/>
          <a:p>
            <a:r>
              <a:t>What would I ask for? The backup policy and schedule, with which systems are in scope. That's "created". Backup job reports for a three-month sample: "maintained". Evidence of protection: encryption, who can access the backups, and whether there's an offline or immutable copy: "protected". And the last two restore tests: "tested".</a:t>
            </a:r>
          </a:p>
          <a:p/>
          <a:p>
            <a:r>
              <a:t>What does good evidence show? Backups cover the critical systems, not just whatever was easy. The backup copies can't be altered by the same admin accounts that run production, because that's exactly what ransomware operators abuse. A restore actually worked, recently, and someone signed it off. And failed jobs were followed up.</a:t>
            </a:r>
          </a:p>
          <a:p/>
          <a:p>
            <a:r>
              <a:t>NIST's implementation examples for this subcategory include testing backups and restores at least annually, and keeping some backups offline and offsite. And for Hong Kong banks, the HKMA's STDB guideline goes further: an immutable, air-gapped tertiary copy.</a:t>
            </a:r>
          </a:p>
          <a:p/>
          <a:p>
            <a:r>
              <a:t>Notice the pattern. One RFI item per verb.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two, from Govern. GV.OV-01: cybersecurity risk management strategy outcomes are reviewed to inform and adjust strategy and direction.</a:t>
            </a:r>
          </a:p>
          <a:p/>
          <a:p>
            <a:r>
              <a:t>Two halves: reviewed, and adjusted. Most organisations can prove the first half. Very few can prove the second.</a:t>
            </a:r>
          </a:p>
          <a:p/>
          <a:p>
            <a:r>
              <a:t>What would I ask for? The approved strategy and who approved it. Board or committee minutes for the last four quarters where cyber was discussed. The reports or key risk indicators they were shown. And any decision that changed strategy, budget or priorities as a result.</a:t>
            </a:r>
          </a:p>
          <a:p/>
          <a:p>
            <a:r>
              <a:t>Good evidence shows cyber reached the board regularly, not once a year as a formality. The reports measured results against the strategy, not just activity like "we blocked a million emails". The board asked questions and decided something. And the strategy actually changed, traceably.</a:t>
            </a:r>
          </a:p>
          <a:p/>
          <a:p>
            <a:r>
              <a:t>If this feels familiar, it should. Last week's group task asked almost exactly this, against C-RAF. Same skill, different framework. That's the skill for next week's midterm, too.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into next week's midterm.</a:t>
            </a:r>
          </a:p>
          <a:p/>
          <a:p>
            <a:r>
              <a:t>One: NIST says what, not how. Your criteria come from the Target Profile and from local law.</a:t>
            </a:r>
          </a:p>
          <a:p/>
          <a:p>
            <a:r>
              <a:t>Two: Govern is the centre. Six categories, and supply chain lives there now. Start your audit there.</a:t>
            </a:r>
          </a:p>
          <a:p/>
          <a:p>
            <a:r>
              <a:t>Three, in orange: the gap is the finding. Current versus Target, prioritised, owned and dated.</a:t>
            </a:r>
          </a:p>
          <a:p/>
          <a:p>
            <a:r>
              <a:t>Four: Tiers aren't scores. Recommend the Tier management approved, and tie anything more to a risk or a mandate.</a:t>
            </a:r>
          </a:p>
          <a:p/>
          <a:p>
            <a:r>
              <a:t>And underneath all four: every verb in a subcategory is a test, and every test needs operating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Module 2. Ten-minute break.</a:t>
            </a:r>
          </a:p>
          <a:p/>
          <a:p>
            <a:r>
              <a:t>When you come back, Module 3: you'll get sample documents and a few selected CSF outcomes, and in your groups you'll draft the RFI. Use the two worked examples as your pattern.</a:t>
            </a:r>
          </a:p>
          <a:p/>
          <a:p>
            <a:r>
              <a:t>And remember: next week is the midterm, covering Weeks 1 to 6.</a:t>
            </a:r>
          </a:p>
          <a:p/>
          <a:p>
            <a:r>
              <a:t>[TEN-MINUTE BREAK.]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 PART A · 20 minutes. Straight after Herman's Q&amp;A.]</a:t>
            </a:r>
          </a:p>
          <a:p/>
          <a:p>
            <a:r>
              <a:t>Thank you, Herman. Let's take what Herman showed us and put it into the language of the framework, because almost every slide he showed maps to a part of CSF 2.0.</a:t>
            </a:r>
          </a:p>
          <a:p/>
          <a:p>
            <a:r>
              <a:t>He started with scale: over 500 systems, 12 divisions, 80-plus departments, about 10,000 staff, and no regulator. That is Organizational Context, GV.OC, and it's exactly why you need a common language.</a:t>
            </a:r>
          </a:p>
          <a:p/>
          <a:p>
            <a:r>
              <a:t>His betting-system scenario, where security, IT operations and the business owner each say "not me", is the heart of GV.RR: roles, responsibilities and authorities. Hold that thought; it's the next slide and the first control in Module 3.</a:t>
            </a:r>
          </a:p>
          <a:p/>
          <a:p>
            <a:r>
              <a:t>His maturity table, current score against target score, is an Organizational Profile in all but name. His KRIs for each function are oversight. And his "red below 90 percent, escalate, compensate, accept" is risk tolerance and risk response in action.</a:t>
            </a:r>
          </a:p>
          <a:p/>
          <a:p>
            <a:r>
              <a:t>So tonight isn't a separate lecture from Herman's. It's the framework behind what he does every day.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Herman's scenario: the betting system is hacked and goes down. Three people, three answers.</a:t>
            </a:r>
          </a:p>
          <a:p/>
          <a:p>
            <a:r>
              <a:t>The cybersecurity manager: we identified the risk and gave recommendations; we don't own the system. IT operations: we run the platform; we don't decide which application vulnerabilities to fix. The business owner: we rely on IT and security to tell us what must be fixed.</a:t>
            </a:r>
          </a:p>
          <a:p/>
          <a:p>
            <a:r>
              <a:t>Everyone is right about their own job, and nobody owns the risk. That's a governance failure, not a technical one.</a:t>
            </a:r>
          </a:p>
          <a:p/>
          <a:p>
            <a:r>
              <a:t>Herman's answer, and the CSF's answer, is in the right-hand column. The business or application owner owns the application and its business risk: they prioritise fixes, approve downtime, and accept or reject residual risk. Security advises and challenges. IT operates.</a:t>
            </a:r>
          </a:p>
          <a:p/>
          <a:p>
            <a:r>
              <a:t>For an auditor, one question follows: where is that written down? A RACI, a policy, a committee charter, a signed risk acceptance. If it only exists in people's heads, GV.RR-02, "roles … established, communicated, understood and enforced", isn't met. Keep that question; you'll ask it of XYZ-TS in Module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[TEN-MINUTE BREAK. Resume with Part B: section 3, How it is built.]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Herman's maturity table again. Read it with the framework in mind and it is exactly a Current Profile and a Target Profile, at function level.</a:t>
            </a:r>
          </a:p>
          <a:p/>
          <a:p>
            <a:r>
              <a:t>Identify, Protect and Recover sit at 2 with a target of 3: a gap of one. Detect and Respond are at 3, aiming for 3.5.</a:t>
            </a:r>
          </a:p>
          <a:p/>
          <a:p>
            <a:r>
              <a:t>Herman asked: how do you improve maturity? The answer from his notes: people, process, technology. Training and phishing simulation; better processes; and yes, sometimes more money and more tools.</a:t>
            </a:r>
          </a:p>
          <a:p/>
          <a:p>
            <a:r>
              <a:t>Now the auditor's questions. Who set the targets, and who approved them? What evidence supports a score of 2 rather than 3; is there a scoring method, or is it judgement? And is there a dated plan, with an owner, for each gap?</a:t>
            </a:r>
          </a:p>
          <a:p/>
          <a:p>
            <a:r>
              <a:t>And one more question,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pulse check. Look at the table again: Identify, Protect, Detect, Respond, Recover. Which function is missing?</a:t>
            </a:r>
          </a:p>
          <a:p/>
          <a:p>
            <a:r>
              <a:t>[WAIT. Someone will say Govern.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 The table is a CSF 1.1-shaped table: five functions. And that's very common; plenty of organisations still score themselves that way.</a:t>
            </a:r>
          </a:p>
          <a:p/>
          <a:p>
            <a:r>
              <a:t>But Herman's own slides told us why Govern matters: the betting-system scenario was a Govern failure. Scores of 2 or 3 for Protect mean little if nobody owns the target, nobody owns the risk, and nobody signs the acceptance.</a:t>
            </a:r>
          </a:p>
          <a:p/>
          <a:p>
            <a:r>
              <a:t>That's why, in Module 3, all five controls we test are Govern.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Herman showed us three key risk indicators for each function. I've put them in one table, and added the column you'll care about as auditors: what evidence sits behind each one.</a:t>
            </a:r>
          </a:p>
          <a:p/>
          <a:p>
            <a:r>
              <a:t>Identify: critical assets without an owner; servers onboarded to vulnerability scanning; internet-facing assets missing from the inventory. Protect: privileged accounts without MFA; critical patches past SLA; phishing click rate. Detect: mean time to detect; systems not covered by the SIEM; alerts not triaged in time. Respond: mean time to respond; incidents without root-cause analysis; incidents where the communication plan wasn't followed. Recover: systems without a tested recovery plan; restore time against RTO; backups failing restore tests.</a:t>
            </a:r>
          </a:p>
          <a:p/>
          <a:p>
            <a:r>
              <a:t>Notice these measure outcomes, not activity. That's GV.OV-03: performance is evaluated and reviewed for adjustments.</a:t>
            </a:r>
          </a:p>
          <a:p/>
          <a:p>
            <a:r>
              <a:t>The orange line is the test I'd apply to any KRI: does it have a threshold, an owner, and does someone act when it goes red? Herman's next slide shows what acting looks like.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favourite slide from Herman's deck, because it shows governance actually working.</a:t>
            </a:r>
          </a:p>
          <a:p/>
          <a:p>
            <a:r>
              <a:t>The KRI: percentage of servers onboarded to vulnerability scanning. Seventy percent onboarded, twenty pending, ten not compatible with the scanner. The threshold is red below ninety percent. So it's red.</a:t>
            </a:r>
          </a:p>
          <a:p/>
          <a:p>
            <a:r>
              <a:t>What happens? It escalates to the Tech Risk Committee. Compensating controls are documented for the servers that can't be scanned. And the residual risk goes through formal risk acceptance. Meanwhile, monitoring continues: new servers get onboarded, delays are explained, and the business is brought in to speed things up.</a:t>
            </a:r>
          </a:p>
          <a:p/>
          <a:p>
            <a:r>
              <a:t>In CSF terms: the ninety percent is a risk tolerance, GV.RM-02. The review and escalation is GV.OV-03. Choosing to compensate and accept is a risk response, ID.RA-06.</a:t>
            </a:r>
          </a:p>
          <a:p/>
          <a:p>
            <a:r>
              <a:t>And as an auditor, here's what you'd ask for: the committee minute where it was escalated, and the signed risk acceptance. With an expiry date; an acceptance without an expiry is a permanent exception.</a:t>
            </a:r>
          </a:p>
          <a:p/>
          <a:p>
            <a:r>
              <a:t>Hold on to GV.RM-02. In Module 3, it's the worked example, and you'll see what it looks like when an organisation doesn't have this.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Herman's final verdict, which I'll borrow as the bridge to our takeaways.</a:t>
            </a:r>
          </a:p>
          <a:p/>
          <a:p>
            <a:r>
              <a:t>Cybersecurity is simply this. Govern: establish accountability and risk ownership to guide everything else. Identify your business-critical assets and data. Then protect, detect, respond and recover, with people, process and technology, to reduce risk to the level top management is willing to accept.</a:t>
            </a:r>
          </a:p>
          <a:p/>
          <a:p>
            <a:r>
              <a:t>"The level top management is willing to accept": that's risk appetite. Remember that phrase in Module 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 20 minutes of walkthrough, then groups until 21:30, class review to 21:45. Publish the worksheet and Excel template on Canvas now; publish the pack at the Your turn slide.]</a:t>
            </a:r>
          </a:p>
          <a:p/>
          <a:p>
            <a:r>
              <a:t>Welcome back. Module 3 has two halves. First, twenty minutes with me: the five Govern controls we will test at XYZ-TS, what to ask for, where to look, what to watch, and one of them worked end to end. Then it is your turn on the other four.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client: XYZ-TS, the technology services arm of a multinational manufacturer. It runs IT for the group's business units. It holds ISO 27001 in scope for its IT infrastructure, but it has no sector regulator and no cyber ordinance. Exactly Herman's situation tonight: nobody sets the bar, so management chose NIST CSF 2.0.</a:t>
            </a:r>
          </a:p>
          <a:p/>
          <a:p>
            <a:r>
              <a:t>You're the assessor, and we start where every NIST assessment should start: Govern. Five subcategories, one from each of five Govern categories.</a:t>
            </a:r>
          </a:p>
          <a:p/>
          <a:p>
            <a:r>
              <a:t>One: GV.RR-01. Leadership is responsible and accountable, and fosters a risk-aware culture. Two halves: accountability, and culture.</a:t>
            </a:r>
          </a:p>
          <a:p/>
          <a:p>
            <a:r>
              <a:t>Two: GV.RM-02. Risk appetite and tolerance statements are established, communicated and maintained. Note the word "statements".</a:t>
            </a:r>
          </a:p>
          <a:p/>
          <a:p>
            <a:r>
              <a:t>Three: GV.PO-02. Policy is reviewed, updated, communicated and enforced to reflect changes in threats and technology.</a:t>
            </a:r>
          </a:p>
          <a:p/>
          <a:p>
            <a:r>
              <a:t>Four: GV.OV-01. Strategy outcomes are reviewed to inform and adjust strategy. Reviewing is not enough; something has to change.</a:t>
            </a:r>
          </a:p>
          <a:p/>
          <a:p>
            <a:r>
              <a:t>Five: GV.SC-07, the supplier one we read verb by verb in Module 2.</a:t>
            </a:r>
          </a:p>
          <a:p/>
          <a:p>
            <a:r>
              <a:t>These are real documents. What you'll see in Step 3 is what a real organisation produced, sanitised: company, people, places and suppliers replaced.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WALKTHROUGH · about 3 minutes]</a:t>
            </a:r>
          </a:p>
          <a:p/>
          <a:p>
            <a:r>
              <a:t>Control one, GV.RR-01: leadership is responsible and accountable, and fosters a risk-aware culture. Two halves. For accountability, ask for every committee charter and the Board or Audit Committee minute that names who is accountable; then minutes and attendance to show leadership actually acts. For culture, ask for awareness completion and what leadership did about it.</a:t>
            </a:r>
          </a:p>
          <a:p/>
          <a:p>
            <a:r>
              <a:t>In the pack, look at D03, the ISMC terms of reference; the GTRC terms of reference, which only exist as a slide in D09; the quarterly steering committee packs; and the team structure and training figures in D10.</a:t>
            </a:r>
          </a:p>
          <a:p/>
          <a:p>
            <a:r>
              <a:t>Watch for this: three bodies govern cyber here — the ISMC, the CSSC and the GTRC. Herman's question from the betting scenario applies: who actually owns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WALKTHROUGH · about 3 minutes]</a:t>
            </a:r>
          </a:p>
          <a:p/>
          <a:p>
            <a:r>
              <a:t>Control two, GV.RM-02, risk appetite and tolerance statements. This is the one I'll work through in full in a moment, so just the shape now: the key word is "statements". Ask for the approved statement itself, the method that applies it, and proof it's communicated and maintained.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WALKTHROUGH · about 3 minutes]</a:t>
            </a:r>
          </a:p>
          <a:p/>
          <a:p>
            <a:r>
              <a:t>Control three, GV.PO-02: policy is reviewed, updated, communicated and enforced to reflect changes. Four verbs. Reviewed and updated you can see in document histories. Communicated and enforced need different evidence: attestations, an exceptions log, violation records.</a:t>
            </a:r>
          </a:p>
          <a:p/>
          <a:p>
            <a:r>
              <a:t>In the pack: the document history on page two of D04, and of D02 — which hasn't moved since 2021. And one good example: the AI Usage Policy, written in 2025 because of GenAI risk. That's policy following threats and technology.</a:t>
            </a:r>
          </a:p>
          <a:p/>
          <a:p>
            <a:r>
              <a:t>Watch the version numbers on D04, and the next review dates.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WALKTHROUGH · about 3 minutes]</a:t>
            </a:r>
          </a:p>
          <a:p/>
          <a:p>
            <a:r>
              <a:t>Control four, GV.OV-01: strategy outcomes are reviewed to inform and adjust strategy. Reviewing isn't enough; something has to change. Ask for the strategy, the minutes, the Board reporting, and one example where a review changed direction.</a:t>
            </a:r>
          </a:p>
          <a:p/>
          <a:p>
            <a:r>
              <a:t>In the pack: four quarterly steering committee packs. And D09 pages 20 to 22, which link every headline risk to an initiative, a target risk level and a budget. On paper, that's strategy being adjusted.</a:t>
            </a:r>
          </a:p>
          <a:p/>
          <a:p>
            <a:r>
              <a:t>Watch for: these are pre-reads. There are no minutes anywhere in the pack, so who decided?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WALKTHROUGH · about 3 minutes]</a:t>
            </a:r>
          </a:p>
          <a:p/>
          <a:p>
            <a:r>
              <a:t>Control five, GV.SC-07, the one we read verb by verb in Module 2. Six verbs, six requests: register, method, assessments, tiering, remediation, monitoring.</a:t>
            </a:r>
          </a:p>
          <a:p/>
          <a:p>
            <a:r>
              <a:t>In the pack: the supplier policy in D04, the supplier security assessment on D09 page 15, and the supply-chain risk in the risk grid.</a:t>
            </a:r>
          </a:p>
          <a:p/>
          <a:p>
            <a:r>
              <a:t>Watch for: look at who was assessed. Then look at D16, the tool list — the MSSP, the cloud, the security vendors. Were they in the 29?</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 about 4 minutes]</a:t>
            </a:r>
          </a:p>
          <a:p/>
          <a:p>
            <a:r>
              <a:t>Let's do one properly, end to end. GV.RM-02: risk appetite and risk tolerance statements are established, communicated and maintained.</a:t>
            </a:r>
          </a:p>
          <a:p/>
          <a:p>
            <a:r>
              <a:t>Established: there is no statement in the pack. And the client's own Q1 steering committee pack, D07 page 24, says risk management still needs to be "formally established to align risk appetite". When the client's own document tells you it isn't done, believe it.</a:t>
            </a:r>
          </a:p>
          <a:p/>
          <a:p>
            <a:r>
              <a:t>Who's meant to set it? Two bodies: the GTRC, on behalf of the Board, and the ISMC. That's a governance question in itself.</a:t>
            </a:r>
          </a:p>
          <a:p/>
          <a:p>
            <a:r>
              <a:t>Tolerances: here's the good news. The risk grid has impact bands in US dollars, and most headline risks have KRI thresholds. That is Herman's "red below ninety percent" in another organisation. But two risks have no KRI at all, and one is "to be defined".</a:t>
            </a:r>
          </a:p>
          <a:p/>
          <a:p>
            <a:r>
              <a:t>Communicated: nothing outside the steering committee packs.</a:t>
            </a:r>
          </a:p>
          <a:p/>
          <a:p>
            <a:r>
              <a:t>Maintained: the KRIs in the Q1 2025 pack are still labelled Q3 2024. Were they reviewed, or relabelled?</a:t>
            </a:r>
          </a:p>
          <a:p/>
          <a:p>
            <a:r>
              <a:t>And acceptance: D06 gives four different answers to who accepts a risk. Compare Herman: escalate to the committee, compensating controls, formal acceptance. One path.</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verdict. Not met — or, if you're being generous, unable to conclude until they produce a statement. I'd write Not met, because the client's own document says it isn't established.</a:t>
            </a:r>
          </a:p>
          <a:p/>
          <a:p>
            <a:r>
              <a:t>Notice the shape of the justification: what the evidence shows, with document and page; then what it doesn't show. Two to four sentences. That's what I want in your homework, and in the midterm.</a:t>
            </a:r>
          </a:p>
          <a:p/>
          <a:p>
            <a:r>
              <a:t>And the outstanding RFI: the statement and the minute approving it; who sets it and who accepts risk; the enterprise methodology that two documents cite but nobody sent; and KRIs for the risks that have none.</a:t>
            </a:r>
          </a:p>
          <a:p/>
          <a:p>
            <a:r>
              <a:t>That's one done. The other four are yours.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THE XYZ-TS PACK ON CANVAS NOW.]</a:t>
            </a:r>
          </a:p>
          <a:p/>
          <a:p>
            <a:r>
              <a:t>Your turn. In your groups, take one of the other four controls, so every control is covered by at least one group. Five minutes to draft the RFI first, then open the pack and find the evidence. At 21:30, each group gives me its verdict in one sentence, and we review together until 21:45.</a:t>
            </a:r>
          </a:p>
          <a:p/>
          <a:p>
            <a:r>
              <a:t>[LIKELY QUESTIONS AND ANSWERS:</a:t>
            </a:r>
          </a:p>
          <a:p>
            <a:r>
              <a:t>— Who is accountable — ISMC, CSSC or GTRC? Exactly the question. Only the ISMC has a charter in the pack; the GTRC's is a slide (D09) still being amended (D10).</a:t>
            </a:r>
          </a:p>
          <a:p>
            <a:r>
              <a:t>— D03: title says "Management Committee", purpose says "Steering Committee"; footer v1.0, table v2.0; next review Mar 2025 = release date.</a:t>
            </a:r>
          </a:p>
          <a:p>
            <a:r>
              <a:t>— D04 says 1.1 on the cover, 1.2 in the footers, 2.0 in the table. Which is in force? Ask.</a:t>
            </a:r>
          </a:p>
          <a:p>
            <a:r>
              <a:t>— D02 is still v1.0 from 2021 and cites ISO 27001:2013.</a:t>
            </a:r>
          </a:p>
          <a:p>
            <a:r>
              <a:t>— D09 pp20–22: risks linked to initiatives and budgets. Strategy adjusted? On paper. Who approved? No minutes.</a:t>
            </a:r>
          </a:p>
          <a:p>
            <a:r>
              <a:t>— D09 p15: the 29 suppliers look like garment suppliers. Where are the IT providers in D16?</a:t>
            </a:r>
          </a:p>
          <a:p>
            <a:r>
              <a:t>— D10 p25: about 19% awareness completion. Culture?</a:t>
            </a:r>
          </a:p>
          <a:p>
            <a:r>
              <a:t>Model results: GV.RR-01 Partially met · GV.PO-02 Partially met · GV.OV-01 Partially met · GV.SC-07 Partially met.]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the client actually sent, mapped to the five outcomes. Compare with your lists.</a:t>
            </a:r>
          </a:p>
          <a:p/>
          <a:p>
            <a:r>
              <a:t>Three things to notice.</a:t>
            </a:r>
          </a:p>
          <a:p/>
          <a:p>
            <a:r>
              <a:t>First, the strongest evidence is the quarterly steering committee pack, D07 to D10. Four quarters of KPIs, incidents, a risk grid, KRIs. It carries four of the five outcomes. When one source carries that much, read it carefully: it's a pre-read. Who attended? What was decided?</a:t>
            </a:r>
          </a:p>
          <a:p/>
          <a:p>
            <a:r>
              <a:t>Second, the red column. No minutes for any committee. No risk appetite statement. No policy register. No supplier register. That's realistic, and those stay on your RFI.</a:t>
            </a:r>
          </a:p>
          <a:p/>
          <a:p>
            <a:r>
              <a:t>Third, sixteen documents and only about half of them matter for Govern. The HR procedure, the physical security procedure, the IT usage policy, the asset procedure, the tool list: they're real controls, but they're Protect and Identify, not Govern. In the midterm, citing irrelevant evidence costs you marks.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Time's up. The rest is homework, same groups, due before next week's class.</a:t>
            </a:r>
          </a:p>
          <a:p/>
          <a:p>
            <a:r>
              <a:t>For each outcome, three things. One: the evidence, with D-numbers and pages, and only what's relevant. Two: your result on the simple scale, Met, Partially met, Not met, or Unable to conclude, with a justification that goes verb by verb. Three: your outstanding RFI.</a:t>
            </a:r>
          </a:p>
          <a:p/>
          <a:p>
            <a:r>
              <a:t>It's Part B of the worksheet, in the Excel template. One file per group on Canvas before the Week 7 class.</a:t>
            </a:r>
          </a:p>
          <a:p/>
          <a:p>
            <a:r>
              <a:t>And this is exactly the midterm skill: evidence-based justification and RFI drafting. Treat it as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Thank you again to Herman.</a:t>
            </a:r>
          </a:p>
          <a:p/>
          <a:p>
            <a:r>
              <a:t>Next week is the midterm, covering Weeks 1 to 6: multiple choice, evidence-based justification, and RFI drafting. Exactly what you practised tonight and last week. Submit your group homework before class; the model answer comes out after the deadline, in time to revise.</a:t>
            </a:r>
          </a:p>
          <a:p/>
          <a:p>
            <a:r>
              <a:t>Good night, everyone.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6"/>
            <a:ext cx="4718050" cy="257300"/>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dirty="0"/>
              <a:t>Click icon to add cover image</a:t>
            </a:r>
          </a:p>
          <a:p>
            <a:endParaRPr lang="en-US" dirty="0"/>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dirty="0"/>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80096252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59518775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116216197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42551839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60979493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9547830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dirty="0"/>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51863867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67628250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28965795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09026704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7422578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endParaRPr lang="en-US" dirty="0"/>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07721119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53718570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188181" y="781004"/>
            <a:ext cx="5670320" cy="3219495"/>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022340" y="781329"/>
            <a:ext cx="4324869" cy="2685354"/>
          </a:xfrm>
        </p:spPr>
        <p:txBody>
          <a:bodyPr tIns="457200"/>
          <a:lstStyle>
            <a:lvl1pPr algn="ctr">
              <a:defRPr sz="1800"/>
            </a:lvl1pPr>
          </a:lstStyle>
          <a:p>
            <a:r>
              <a:rPr lang="en-US"/>
              <a:t>Click icon to add table</a:t>
            </a:r>
            <a:endParaRPr lang="en-US" dirty="0"/>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491579" y="781329"/>
            <a:ext cx="4324869" cy="2685354"/>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92976516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171949" y="890680"/>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598978" y="890680"/>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7281868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70063"/>
            <a:ext cx="11453638"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369364" y="885381"/>
            <a:ext cx="11454336" cy="521144"/>
          </a:xfrm>
        </p:spPr>
        <p:txBody>
          <a:bodyPr/>
          <a:lstStyle>
            <a:lvl1pPr>
              <a:defRPr sz="1800"/>
            </a:lvl1pPr>
          </a:lstStyle>
          <a:p>
            <a:pPr lvl="0"/>
            <a:r>
              <a:rPr lang="en-US"/>
              <a:t>Click to edit Master text styles</a:t>
            </a:r>
          </a:p>
        </p:txBody>
      </p:sp>
      <p:sp>
        <p:nvSpPr>
          <p:cNvPr id="7" name="Content Placeholder 6">
            <a:extLst>
              <a:ext uri="{FF2B5EF4-FFF2-40B4-BE49-F238E27FC236}">
                <a16:creationId xmlns:a16="http://schemas.microsoft.com/office/drawing/2014/main" id="{090265C7-5AAC-0489-DEB2-CECC63DAC288}"/>
              </a:ext>
            </a:extLst>
          </p:cNvPr>
          <p:cNvSpPr>
            <a:spLocks noGrp="1"/>
          </p:cNvSpPr>
          <p:nvPr>
            <p:ph sz="quarter" idx="1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2282434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A5CBFC34-8CB2-CC41-3972-5FC87B9BDCE6}"/>
              </a:ext>
            </a:extLst>
          </p:cNvPr>
          <p:cNvSpPr>
            <a:spLocks noGrp="1"/>
          </p:cNvSpPr>
          <p:nvPr>
            <p:ph sz="quarter" idx="10"/>
          </p:nvPr>
        </p:nvSpPr>
        <p:spPr>
          <a:xfrm>
            <a:off x="369888"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6">
            <a:extLst>
              <a:ext uri="{FF2B5EF4-FFF2-40B4-BE49-F238E27FC236}">
                <a16:creationId xmlns:a16="http://schemas.microsoft.com/office/drawing/2014/main" id="{9F37A09F-4048-050A-FDB3-83EC9C37253B}"/>
              </a:ext>
            </a:extLst>
          </p:cNvPr>
          <p:cNvSpPr>
            <a:spLocks noGrp="1"/>
          </p:cNvSpPr>
          <p:nvPr>
            <p:ph sz="quarter" idx="11"/>
          </p:nvPr>
        </p:nvSpPr>
        <p:spPr>
          <a:xfrm>
            <a:off x="6149975"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E24C1953-6774-4962-D21C-79F931E8AF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0570245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70062"/>
            <a:ext cx="11453638" cy="40463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369364" y="886968"/>
            <a:ext cx="11454336" cy="519557"/>
          </a:xfrm>
        </p:spPr>
        <p:txBody>
          <a:bodyPr/>
          <a:lstStyle>
            <a:lvl1pPr>
              <a:defRPr sz="1800"/>
            </a:lvl1pPr>
          </a:lstStyle>
          <a:p>
            <a:pPr lvl="0"/>
            <a:r>
              <a:rPr lang="en-US"/>
              <a:t>Click to edit Master text styles</a:t>
            </a:r>
          </a:p>
        </p:txBody>
      </p:sp>
      <p:sp>
        <p:nvSpPr>
          <p:cNvPr id="6" name="Content Placeholder 5">
            <a:extLst>
              <a:ext uri="{FF2B5EF4-FFF2-40B4-BE49-F238E27FC236}">
                <a16:creationId xmlns:a16="http://schemas.microsoft.com/office/drawing/2014/main" id="{09364D4B-08FC-0F72-14EE-FFE49CBE3E87}"/>
              </a:ext>
            </a:extLst>
          </p:cNvPr>
          <p:cNvSpPr>
            <a:spLocks noGrp="1"/>
          </p:cNvSpPr>
          <p:nvPr>
            <p:ph sz="quarter" idx="12"/>
          </p:nvPr>
        </p:nvSpPr>
        <p:spPr>
          <a:xfrm>
            <a:off x="368301" y="1924050"/>
            <a:ext cx="5284844"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37630663-0430-1D7C-EBF0-D28C79961CF8}"/>
              </a:ext>
            </a:extLst>
          </p:cNvPr>
          <p:cNvSpPr>
            <a:spLocks noGrp="1"/>
          </p:cNvSpPr>
          <p:nvPr>
            <p:ph sz="quarter" idx="13"/>
          </p:nvPr>
        </p:nvSpPr>
        <p:spPr>
          <a:xfrm>
            <a:off x="6149975" y="1924050"/>
            <a:ext cx="528484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783102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492184"/>
            <a:ext cx="3840957" cy="2454594"/>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6065" y="370158"/>
            <a:ext cx="3649948" cy="4510882"/>
          </a:xfrm>
          <a:solidFill>
            <a:schemeClr val="bg2"/>
          </a:solidFill>
        </p:spPr>
        <p:txBody>
          <a:bodyPr tIns="1554480"/>
          <a:lstStyle>
            <a:lvl1pPr algn="ctr">
              <a:defRPr/>
            </a:lvl1pPr>
          </a:lstStyle>
          <a:p>
            <a:r>
              <a:rPr lang="en-US"/>
              <a:t>Click icon to add picture</a:t>
            </a:r>
            <a:endParaRPr lang="en-US" dirty="0"/>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91000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2744877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370557" y="1409922"/>
            <a:ext cx="2657075" cy="1938825"/>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59847" y="1399935"/>
            <a:ext cx="2514283" cy="1938812"/>
          </a:xfrm>
        </p:spPr>
        <p:txBody>
          <a:bodyPr/>
          <a:lstStyle>
            <a:lvl1pPr>
              <a:lnSpc>
                <a:spcPct val="100000"/>
              </a:lnSpc>
              <a:spcAft>
                <a:spcPts val="1200"/>
              </a:spcAft>
              <a:defRPr sz="1500" b="1">
                <a:latin typeface="+mn-lt"/>
              </a:defRPr>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370557" y="3492323"/>
            <a:ext cx="2657075" cy="1938825"/>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5984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49536" y="1409922"/>
            <a:ext cx="2657075" cy="1938825"/>
          </a:xfrm>
          <a:solidFill>
            <a:schemeClr val="bg2"/>
          </a:solidFill>
        </p:spPr>
        <p:txBody>
          <a:bodyPr tIns="731520"/>
          <a:lstStyle>
            <a:lvl1pPr algn="ctr">
              <a:defRPr/>
            </a:lvl1pPr>
          </a:lstStyle>
          <a:p>
            <a:r>
              <a:rPr lang="en-US"/>
              <a:t>Click icon to add picture</a:t>
            </a:r>
            <a:endParaRPr lang="en-US" dirty="0"/>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43017" y="1399935"/>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49536" y="3492323"/>
            <a:ext cx="2657075" cy="1938825"/>
          </a:xfrm>
          <a:solidFill>
            <a:schemeClr val="bg2"/>
          </a:solidFill>
        </p:spPr>
        <p:txBody>
          <a:bodyPr tIns="731520"/>
          <a:lstStyle>
            <a:lvl1pPr algn="ctr">
              <a:defRPr/>
            </a:lvl1pPr>
          </a:lstStyle>
          <a:p>
            <a:r>
              <a:rPr lang="en-US"/>
              <a:t>Click icon to add picture</a:t>
            </a:r>
            <a:endParaRPr lang="en-US" dirty="0"/>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4301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E62847D5-ADA8-3259-2549-281D1A6D552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046777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A03E9A5D-D94B-2C14-C57F-8CEEA73EB975}"/>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4">
            <a:extLst>
              <a:ext uri="{FF2B5EF4-FFF2-40B4-BE49-F238E27FC236}">
                <a16:creationId xmlns:a16="http://schemas.microsoft.com/office/drawing/2014/main" id="{489906B8-D3A9-4BCE-6015-ACFE378C7211}"/>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4">
            <a:extLst>
              <a:ext uri="{FF2B5EF4-FFF2-40B4-BE49-F238E27FC236}">
                <a16:creationId xmlns:a16="http://schemas.microsoft.com/office/drawing/2014/main" id="{FE0E6B83-F5A0-569B-4BAB-B7F61D7D0853}"/>
              </a:ext>
            </a:extLst>
          </p:cNvPr>
          <p:cNvSpPr>
            <a:spLocks noGrp="1"/>
          </p:cNvSpPr>
          <p:nvPr>
            <p:ph sz="quarter" idx="12"/>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0">
            <a:extLst>
              <a:ext uri="{FF2B5EF4-FFF2-40B4-BE49-F238E27FC236}">
                <a16:creationId xmlns:a16="http://schemas.microsoft.com/office/drawing/2014/main" id="{46DFEB0B-173F-2B4F-16A8-263FCC6CEC2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1183923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367776" y="886968"/>
            <a:ext cx="11455924" cy="519557"/>
          </a:xfrm>
        </p:spPr>
        <p:txBody>
          <a:bodyPr/>
          <a:lstStyle>
            <a:lvl1pPr>
              <a:defRPr sz="1800"/>
            </a:lvl1pPr>
          </a:lstStyle>
          <a:p>
            <a:pPr lvl="0"/>
            <a:r>
              <a:rPr lang="en-US"/>
              <a:t>Click to edit Master text styles</a:t>
            </a:r>
          </a:p>
        </p:txBody>
      </p:sp>
      <p:sp>
        <p:nvSpPr>
          <p:cNvPr id="4" name="Content Placeholder 4">
            <a:extLst>
              <a:ext uri="{FF2B5EF4-FFF2-40B4-BE49-F238E27FC236}">
                <a16:creationId xmlns:a16="http://schemas.microsoft.com/office/drawing/2014/main" id="{B015D90A-43B1-2686-2FB5-24977CABC779}"/>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4">
            <a:extLst>
              <a:ext uri="{FF2B5EF4-FFF2-40B4-BE49-F238E27FC236}">
                <a16:creationId xmlns:a16="http://schemas.microsoft.com/office/drawing/2014/main" id="{305BD07F-9015-08E7-A1B9-CEE3998C38ED}"/>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4">
            <a:extLst>
              <a:ext uri="{FF2B5EF4-FFF2-40B4-BE49-F238E27FC236}">
                <a16:creationId xmlns:a16="http://schemas.microsoft.com/office/drawing/2014/main" id="{96E79EC7-3C5A-2B86-5F55-4E1518901C12}"/>
              </a:ext>
            </a:extLst>
          </p:cNvPr>
          <p:cNvSpPr>
            <a:spLocks noGrp="1"/>
          </p:cNvSpPr>
          <p:nvPr>
            <p:ph sz="quarter" idx="13"/>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24970417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E9C1A15D-9D72-ADF5-F762-A0FCDB4299C1}"/>
              </a:ext>
            </a:extLst>
          </p:cNvPr>
          <p:cNvSpPr>
            <a:spLocks noGrp="1"/>
          </p:cNvSpPr>
          <p:nvPr>
            <p:ph sz="quarter" idx="10"/>
          </p:nvPr>
        </p:nvSpPr>
        <p:spPr>
          <a:xfrm>
            <a:off x="368300"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ontent Placeholder 4">
            <a:extLst>
              <a:ext uri="{FF2B5EF4-FFF2-40B4-BE49-F238E27FC236}">
                <a16:creationId xmlns:a16="http://schemas.microsoft.com/office/drawing/2014/main" id="{F894016E-E9A2-621D-7E7E-4C60EA7D1446}"/>
              </a:ext>
            </a:extLst>
          </p:cNvPr>
          <p:cNvSpPr>
            <a:spLocks noGrp="1"/>
          </p:cNvSpPr>
          <p:nvPr>
            <p:ph sz="quarter" idx="11"/>
          </p:nvPr>
        </p:nvSpPr>
        <p:spPr>
          <a:xfrm>
            <a:off x="4235674"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4">
            <a:extLst>
              <a:ext uri="{FF2B5EF4-FFF2-40B4-BE49-F238E27FC236}">
                <a16:creationId xmlns:a16="http://schemas.microsoft.com/office/drawing/2014/main" id="{6B0989A2-BAE8-DBCB-9B68-2A6A9EEEC5CC}"/>
              </a:ext>
            </a:extLst>
          </p:cNvPr>
          <p:cNvSpPr>
            <a:spLocks noGrp="1"/>
          </p:cNvSpPr>
          <p:nvPr>
            <p:ph sz="quarter" idx="12"/>
          </p:nvPr>
        </p:nvSpPr>
        <p:spPr>
          <a:xfrm>
            <a:off x="8074025" y="1924049"/>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6B661239-E68D-0808-F96A-FE85956F113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3709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370062" y="1407233"/>
            <a:ext cx="5229293" cy="4564941"/>
          </a:xfrm>
        </p:spPr>
        <p:txBody>
          <a:bodyPr/>
          <a:lstStyle/>
          <a:p>
            <a:r>
              <a:rPr lang="en-US"/>
              <a:t>Click icon to add chart</a:t>
            </a:r>
            <a:endParaRPr lang="en-US" dirty="0"/>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943EE09F-88BE-B892-E588-CE1A64CF45AD}"/>
              </a:ext>
            </a:extLst>
          </p:cNvPr>
          <p:cNvSpPr>
            <a:spLocks noGrp="1"/>
          </p:cNvSpPr>
          <p:nvPr>
            <p:ph sz="quarter" idx="13"/>
          </p:nvPr>
        </p:nvSpPr>
        <p:spPr>
          <a:xfrm>
            <a:off x="6149975"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89862BAD-5A88-900F-A59B-68B96AB41490}"/>
              </a:ext>
            </a:extLst>
          </p:cNvPr>
          <p:cNvSpPr>
            <a:spLocks noGrp="1"/>
          </p:cNvSpPr>
          <p:nvPr>
            <p:ph sz="quarter" idx="14"/>
          </p:nvPr>
        </p:nvSpPr>
        <p:spPr>
          <a:xfrm>
            <a:off x="9042400"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0DA847B6-5ED7-CD22-AC77-BE2F874194B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88366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64683" y="1933273"/>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97546331-F0CB-B769-2ED0-10C215328D57}"/>
              </a:ext>
            </a:extLst>
          </p:cNvPr>
          <p:cNvSpPr>
            <a:spLocks noGrp="1"/>
          </p:cNvSpPr>
          <p:nvPr>
            <p:ph sz="quarter" idx="16"/>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8">
            <a:extLst>
              <a:ext uri="{FF2B5EF4-FFF2-40B4-BE49-F238E27FC236}">
                <a16:creationId xmlns:a16="http://schemas.microsoft.com/office/drawing/2014/main" id="{7809C51E-8610-C513-8EEC-D5CB091B65E2}"/>
              </a:ext>
            </a:extLst>
          </p:cNvPr>
          <p:cNvSpPr>
            <a:spLocks noGrp="1"/>
          </p:cNvSpPr>
          <p:nvPr>
            <p:ph sz="quarter" idx="17"/>
          </p:nvPr>
        </p:nvSpPr>
        <p:spPr>
          <a:xfrm>
            <a:off x="4225925"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8">
            <a:extLst>
              <a:ext uri="{FF2B5EF4-FFF2-40B4-BE49-F238E27FC236}">
                <a16:creationId xmlns:a16="http://schemas.microsoft.com/office/drawing/2014/main" id="{DFE232A4-E7EE-98E3-AD8F-428E48A336B7}"/>
              </a:ext>
            </a:extLst>
          </p:cNvPr>
          <p:cNvSpPr>
            <a:spLocks noGrp="1"/>
          </p:cNvSpPr>
          <p:nvPr>
            <p:ph sz="quarter" idx="18"/>
          </p:nvPr>
        </p:nvSpPr>
        <p:spPr>
          <a:xfrm>
            <a:off x="8087167"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A39229A9-9F4B-8863-1C67-62C2859D9BE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157744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70062" y="1927894"/>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2B415381-8D1E-8A6F-693B-DB90EB881D1C}"/>
              </a:ext>
            </a:extLst>
          </p:cNvPr>
          <p:cNvSpPr>
            <a:spLocks noGrp="1"/>
          </p:cNvSpPr>
          <p:nvPr>
            <p:ph sz="quarter" idx="19"/>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9">
            <a:extLst>
              <a:ext uri="{FF2B5EF4-FFF2-40B4-BE49-F238E27FC236}">
                <a16:creationId xmlns:a16="http://schemas.microsoft.com/office/drawing/2014/main" id="{8E8D28FD-FF5F-398A-38AD-0E9B9DE0EC1B}"/>
              </a:ext>
            </a:extLst>
          </p:cNvPr>
          <p:cNvSpPr>
            <a:spLocks noGrp="1"/>
          </p:cNvSpPr>
          <p:nvPr>
            <p:ph sz="quarter" idx="20"/>
          </p:nvPr>
        </p:nvSpPr>
        <p:spPr>
          <a:xfrm>
            <a:off x="4225925"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E2C8463D-8B6E-9FF2-1B5C-72452E9273E2}"/>
              </a:ext>
            </a:extLst>
          </p:cNvPr>
          <p:cNvSpPr>
            <a:spLocks noGrp="1"/>
          </p:cNvSpPr>
          <p:nvPr>
            <p:ph sz="quarter" idx="21"/>
          </p:nvPr>
        </p:nvSpPr>
        <p:spPr>
          <a:xfrm>
            <a:off x="4225925"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39DE996C-A166-458A-310E-FEBC9C52A706}"/>
              </a:ext>
            </a:extLst>
          </p:cNvPr>
          <p:cNvSpPr>
            <a:spLocks noGrp="1"/>
          </p:cNvSpPr>
          <p:nvPr>
            <p:ph sz="quarter" idx="22"/>
          </p:nvPr>
        </p:nvSpPr>
        <p:spPr>
          <a:xfrm>
            <a:off x="8087920"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134591D3-6AC4-CADD-BA45-13112332007E}"/>
              </a:ext>
            </a:extLst>
          </p:cNvPr>
          <p:cNvSpPr>
            <a:spLocks noGrp="1"/>
          </p:cNvSpPr>
          <p:nvPr>
            <p:ph sz="quarter" idx="23"/>
          </p:nvPr>
        </p:nvSpPr>
        <p:spPr>
          <a:xfrm>
            <a:off x="8087920"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AFECDC4-66BC-FABF-87DC-C85D80808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585229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7"/>
            <a:ext cx="3621405" cy="2257189"/>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C3E8CA74-2A20-C79E-AB93-415F841BF9A5}"/>
              </a:ext>
            </a:extLst>
          </p:cNvPr>
          <p:cNvSpPr>
            <a:spLocks noGrp="1"/>
          </p:cNvSpPr>
          <p:nvPr>
            <p:ph sz="quarter" idx="14"/>
          </p:nvPr>
        </p:nvSpPr>
        <p:spPr>
          <a:xfrm>
            <a:off x="368300" y="1924049"/>
            <a:ext cx="3548063"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10">
            <a:extLst>
              <a:ext uri="{FF2B5EF4-FFF2-40B4-BE49-F238E27FC236}">
                <a16:creationId xmlns:a16="http://schemas.microsoft.com/office/drawing/2014/main" id="{F4A2F6DA-84DB-C19E-4C0E-907410D65A2C}"/>
              </a:ext>
            </a:extLst>
          </p:cNvPr>
          <p:cNvSpPr>
            <a:spLocks noGrp="1"/>
          </p:cNvSpPr>
          <p:nvPr>
            <p:ph sz="quarter" idx="15"/>
          </p:nvPr>
        </p:nvSpPr>
        <p:spPr>
          <a:xfrm>
            <a:off x="4225925" y="1924049"/>
            <a:ext cx="3621405" cy="166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Content Placeholder 10">
            <a:extLst>
              <a:ext uri="{FF2B5EF4-FFF2-40B4-BE49-F238E27FC236}">
                <a16:creationId xmlns:a16="http://schemas.microsoft.com/office/drawing/2014/main" id="{91E96ECE-0D5F-0C73-B9DA-305E820717B8}"/>
              </a:ext>
            </a:extLst>
          </p:cNvPr>
          <p:cNvSpPr>
            <a:spLocks noGrp="1"/>
          </p:cNvSpPr>
          <p:nvPr>
            <p:ph sz="quarter" idx="16"/>
          </p:nvPr>
        </p:nvSpPr>
        <p:spPr>
          <a:xfrm>
            <a:off x="8084820" y="1924049"/>
            <a:ext cx="3621405" cy="1663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itle 12">
            <a:extLst>
              <a:ext uri="{FF2B5EF4-FFF2-40B4-BE49-F238E27FC236}">
                <a16:creationId xmlns:a16="http://schemas.microsoft.com/office/drawing/2014/main" id="{3FB0C79D-C35F-8072-C668-9D9D7A93739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9859791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373155"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31060"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79441"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90658801-9D03-6822-31B7-920A8C4C5D87}"/>
              </a:ext>
            </a:extLst>
          </p:cNvPr>
          <p:cNvSpPr>
            <a:spLocks noGrp="1"/>
          </p:cNvSpPr>
          <p:nvPr>
            <p:ph sz="quarter" idx="15"/>
          </p:nvPr>
        </p:nvSpPr>
        <p:spPr>
          <a:xfrm>
            <a:off x="368300"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4">
            <a:extLst>
              <a:ext uri="{FF2B5EF4-FFF2-40B4-BE49-F238E27FC236}">
                <a16:creationId xmlns:a16="http://schemas.microsoft.com/office/drawing/2014/main" id="{E8465518-586C-3585-5D66-F8C5F784114F}"/>
              </a:ext>
            </a:extLst>
          </p:cNvPr>
          <p:cNvSpPr>
            <a:spLocks noGrp="1"/>
          </p:cNvSpPr>
          <p:nvPr>
            <p:ph sz="quarter" idx="16"/>
          </p:nvPr>
        </p:nvSpPr>
        <p:spPr>
          <a:xfrm>
            <a:off x="4231059"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4">
            <a:extLst>
              <a:ext uri="{FF2B5EF4-FFF2-40B4-BE49-F238E27FC236}">
                <a16:creationId xmlns:a16="http://schemas.microsoft.com/office/drawing/2014/main" id="{32A0F579-2C59-6C73-6CB2-7D28A65E2EE6}"/>
              </a:ext>
            </a:extLst>
          </p:cNvPr>
          <p:cNvSpPr>
            <a:spLocks noGrp="1"/>
          </p:cNvSpPr>
          <p:nvPr>
            <p:ph sz="quarter" idx="17"/>
          </p:nvPr>
        </p:nvSpPr>
        <p:spPr>
          <a:xfrm>
            <a:off x="8082597"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itle 12">
            <a:extLst>
              <a:ext uri="{FF2B5EF4-FFF2-40B4-BE49-F238E27FC236}">
                <a16:creationId xmlns:a16="http://schemas.microsoft.com/office/drawing/2014/main" id="{6C860A8A-DDDD-D41D-7D92-718D7B4F0F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6485024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70062" y="4002723"/>
            <a:ext cx="3389473" cy="1969452"/>
          </a:xfrm>
          <a:prstGeom prst="rect">
            <a:avLst/>
          </a:prstGeom>
        </p:spPr>
        <p:txBody>
          <a:bodyPr vert="horz" lIns="0" tIns="0" rIns="0" bIns="0" rtlCol="0" anchor="t" anchorCtr="0">
            <a:noAutofit/>
          </a:bodyPr>
          <a:lstStyle>
            <a:lvl1pPr>
              <a:defRPr sz="2400"/>
            </a:lvl1p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72399"/>
            <a:ext cx="3621405" cy="3474561"/>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72399"/>
            <a:ext cx="3621405" cy="3474561"/>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14B2DDC5-30CC-4253-DAE0-02B6367366D1}"/>
              </a:ext>
            </a:extLst>
          </p:cNvPr>
          <p:cNvSpPr>
            <a:spLocks noGrp="1"/>
          </p:cNvSpPr>
          <p:nvPr>
            <p:ph sz="quarter" idx="14"/>
          </p:nvPr>
        </p:nvSpPr>
        <p:spPr>
          <a:xfrm>
            <a:off x="424180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BC4F89F3-153E-1F6B-8CFE-E1D4D6874917}"/>
              </a:ext>
            </a:extLst>
          </p:cNvPr>
          <p:cNvSpPr>
            <a:spLocks noGrp="1"/>
          </p:cNvSpPr>
          <p:nvPr>
            <p:ph sz="quarter" idx="15"/>
          </p:nvPr>
        </p:nvSpPr>
        <p:spPr>
          <a:xfrm>
            <a:off x="808482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3245056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AB18F79E-2EEB-FEB6-9FD2-CF00E69E399F}"/>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50CDAE4-0C34-CA3B-8150-C653F963250D}"/>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2934F70-692D-5369-94C8-0030A3CD43FB}"/>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75F0D866-D99D-B922-92B9-43D8C80FC33D}"/>
              </a:ext>
            </a:extLst>
          </p:cNvPr>
          <p:cNvSpPr>
            <a:spLocks noGrp="1"/>
          </p:cNvSpPr>
          <p:nvPr>
            <p:ph sz="quarter" idx="13"/>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28C2AC20-FA64-9BFB-4B6C-CC4DC765CF1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782865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70060"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369364" y="886968"/>
            <a:ext cx="11453639" cy="519557"/>
          </a:xfrm>
        </p:spPr>
        <p:txBody>
          <a:bodyPr/>
          <a:lstStyle>
            <a:lvl1pPr>
              <a:defRPr sz="1800"/>
            </a:lvl1pPr>
          </a:lstStyle>
          <a:p>
            <a:pPr lvl="0"/>
            <a:r>
              <a:rPr lang="en-US"/>
              <a:t>Click to edit Master text styles</a:t>
            </a:r>
          </a:p>
        </p:txBody>
      </p:sp>
      <p:sp>
        <p:nvSpPr>
          <p:cNvPr id="4" name="Content Placeholder 6">
            <a:extLst>
              <a:ext uri="{FF2B5EF4-FFF2-40B4-BE49-F238E27FC236}">
                <a16:creationId xmlns:a16="http://schemas.microsoft.com/office/drawing/2014/main" id="{35EB01E0-E6A4-D360-2FD4-9B71B2DE0DCB}"/>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6">
            <a:extLst>
              <a:ext uri="{FF2B5EF4-FFF2-40B4-BE49-F238E27FC236}">
                <a16:creationId xmlns:a16="http://schemas.microsoft.com/office/drawing/2014/main" id="{4626FCF7-D9DB-AA92-E09A-63795E0A9BF7}"/>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EAED7B3-1E01-DB3C-A9C0-C02BF6D0CA41}"/>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1DF4DD5F-AF74-EA4E-244D-3B8BF6C634D7}"/>
              </a:ext>
            </a:extLst>
          </p:cNvPr>
          <p:cNvSpPr>
            <a:spLocks noGrp="1"/>
          </p:cNvSpPr>
          <p:nvPr>
            <p:ph sz="quarter" idx="14"/>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470905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357B41B5-877C-16C0-86C3-0049A6AEFDB5}"/>
              </a:ext>
            </a:extLst>
          </p:cNvPr>
          <p:cNvSpPr>
            <a:spLocks noGrp="1"/>
          </p:cNvSpPr>
          <p:nvPr>
            <p:ph sz="quarter" idx="10"/>
          </p:nvPr>
        </p:nvSpPr>
        <p:spPr>
          <a:xfrm>
            <a:off x="36830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AF5BE851-36FB-AE1C-238B-97C05E05B1AD}"/>
              </a:ext>
            </a:extLst>
          </p:cNvPr>
          <p:cNvSpPr>
            <a:spLocks noGrp="1"/>
          </p:cNvSpPr>
          <p:nvPr>
            <p:ph sz="quarter" idx="11"/>
          </p:nvPr>
        </p:nvSpPr>
        <p:spPr>
          <a:xfrm>
            <a:off x="4239222"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C3EBFD86-34DE-5EF4-510C-8C6F417E6456}"/>
              </a:ext>
            </a:extLst>
          </p:cNvPr>
          <p:cNvSpPr>
            <a:spLocks noGrp="1"/>
          </p:cNvSpPr>
          <p:nvPr>
            <p:ph sz="quarter" idx="12"/>
          </p:nvPr>
        </p:nvSpPr>
        <p:spPr>
          <a:xfrm>
            <a:off x="807787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87ADAD20-05B4-05C7-E934-6F9C1436EB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9831460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DF7CA4CE-E47A-514D-5828-6AA4EAEAA5D3}"/>
              </a:ext>
            </a:extLst>
          </p:cNvPr>
          <p:cNvSpPr>
            <a:spLocks noGrp="1"/>
          </p:cNvSpPr>
          <p:nvPr>
            <p:ph sz="quarter" idx="10"/>
          </p:nvPr>
        </p:nvSpPr>
        <p:spPr>
          <a:xfrm>
            <a:off x="3683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E81782A-2131-81EC-B274-273228A022F2}"/>
              </a:ext>
            </a:extLst>
          </p:cNvPr>
          <p:cNvSpPr>
            <a:spLocks noGrp="1"/>
          </p:cNvSpPr>
          <p:nvPr>
            <p:ph sz="quarter" idx="11"/>
          </p:nvPr>
        </p:nvSpPr>
        <p:spPr>
          <a:xfrm>
            <a:off x="325755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1C7B2FA3-BB01-C042-C3E2-CE1E30B4DC87}"/>
              </a:ext>
            </a:extLst>
          </p:cNvPr>
          <p:cNvSpPr>
            <a:spLocks noGrp="1"/>
          </p:cNvSpPr>
          <p:nvPr>
            <p:ph sz="quarter" idx="12"/>
          </p:nvPr>
        </p:nvSpPr>
        <p:spPr>
          <a:xfrm>
            <a:off x="6149975"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5817751D-AEF1-E60E-A99F-8E78DF21FF5F}"/>
              </a:ext>
            </a:extLst>
          </p:cNvPr>
          <p:cNvSpPr>
            <a:spLocks noGrp="1"/>
          </p:cNvSpPr>
          <p:nvPr>
            <p:ph sz="quarter" idx="13"/>
          </p:nvPr>
        </p:nvSpPr>
        <p:spPr>
          <a:xfrm>
            <a:off x="90424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AC495E7E-4FB5-532A-2A69-899751FD4B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435781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EDE25965-5FF0-06E1-006B-1D9AEC33DC63}"/>
              </a:ext>
            </a:extLst>
          </p:cNvPr>
          <p:cNvSpPr>
            <a:spLocks noGrp="1"/>
          </p:cNvSpPr>
          <p:nvPr>
            <p:ph sz="quarter" idx="17"/>
          </p:nvPr>
        </p:nvSpPr>
        <p:spPr>
          <a:xfrm>
            <a:off x="368300" y="1406525"/>
            <a:ext cx="4711700" cy="1447800"/>
          </a:xfrm>
        </p:spPr>
        <p:txBody>
          <a:bodyPr/>
          <a:lstStyle>
            <a:lvl1pPr>
              <a:defRPr sz="1600"/>
            </a:lvl1pPr>
          </a:lstStyle>
          <a:p>
            <a:pPr lvl="0"/>
            <a:r>
              <a:rPr lang="en-US"/>
              <a:t>Click to edit Master text styles</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F248317B-0C78-D1D7-C7AA-97B940FCDFDA}"/>
              </a:ext>
            </a:extLst>
          </p:cNvPr>
          <p:cNvSpPr>
            <a:spLocks noGrp="1"/>
          </p:cNvSpPr>
          <p:nvPr>
            <p:ph sz="quarter" idx="18"/>
          </p:nvPr>
        </p:nvSpPr>
        <p:spPr>
          <a:xfrm>
            <a:off x="36830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10">
            <a:extLst>
              <a:ext uri="{FF2B5EF4-FFF2-40B4-BE49-F238E27FC236}">
                <a16:creationId xmlns:a16="http://schemas.microsoft.com/office/drawing/2014/main" id="{9E1EEBC7-B3D2-0C33-A1E4-86D938D57B98}"/>
              </a:ext>
            </a:extLst>
          </p:cNvPr>
          <p:cNvSpPr>
            <a:spLocks noGrp="1"/>
          </p:cNvSpPr>
          <p:nvPr>
            <p:ph sz="quarter" idx="19"/>
          </p:nvPr>
        </p:nvSpPr>
        <p:spPr>
          <a:xfrm>
            <a:off x="325755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0">
            <a:extLst>
              <a:ext uri="{FF2B5EF4-FFF2-40B4-BE49-F238E27FC236}">
                <a16:creationId xmlns:a16="http://schemas.microsoft.com/office/drawing/2014/main" id="{DE61D85C-E065-C899-A314-61A974789950}"/>
              </a:ext>
            </a:extLst>
          </p:cNvPr>
          <p:cNvSpPr>
            <a:spLocks noGrp="1"/>
          </p:cNvSpPr>
          <p:nvPr>
            <p:ph sz="quarter" idx="20"/>
          </p:nvPr>
        </p:nvSpPr>
        <p:spPr>
          <a:xfrm>
            <a:off x="614997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10">
            <a:extLst>
              <a:ext uri="{FF2B5EF4-FFF2-40B4-BE49-F238E27FC236}">
                <a16:creationId xmlns:a16="http://schemas.microsoft.com/office/drawing/2014/main" id="{2AC1B240-8DE4-93F4-7F67-7A0D12BFCB2D}"/>
              </a:ext>
            </a:extLst>
          </p:cNvPr>
          <p:cNvSpPr>
            <a:spLocks noGrp="1"/>
          </p:cNvSpPr>
          <p:nvPr>
            <p:ph sz="quarter" idx="21"/>
          </p:nvPr>
        </p:nvSpPr>
        <p:spPr>
          <a:xfrm>
            <a:off x="903922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6">
            <a:extLst>
              <a:ext uri="{FF2B5EF4-FFF2-40B4-BE49-F238E27FC236}">
                <a16:creationId xmlns:a16="http://schemas.microsoft.com/office/drawing/2014/main" id="{26AF7A0A-28F9-E71C-DA0E-449F854A8D7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3567725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370062"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62926"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55753"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7972"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Content Placeholder 9">
            <a:extLst>
              <a:ext uri="{FF2B5EF4-FFF2-40B4-BE49-F238E27FC236}">
                <a16:creationId xmlns:a16="http://schemas.microsoft.com/office/drawing/2014/main" id="{E1769020-22C9-8DED-D532-40F11F2D33CA}"/>
              </a:ext>
            </a:extLst>
          </p:cNvPr>
          <p:cNvSpPr>
            <a:spLocks noGrp="1"/>
          </p:cNvSpPr>
          <p:nvPr>
            <p:ph sz="quarter" idx="17"/>
          </p:nvPr>
        </p:nvSpPr>
        <p:spPr>
          <a:xfrm>
            <a:off x="368300" y="4000500"/>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BE4E3AAB-764D-686D-74DE-DD6CA1560316}"/>
              </a:ext>
            </a:extLst>
          </p:cNvPr>
          <p:cNvSpPr>
            <a:spLocks noGrp="1"/>
          </p:cNvSpPr>
          <p:nvPr>
            <p:ph sz="quarter" idx="18"/>
          </p:nvPr>
        </p:nvSpPr>
        <p:spPr>
          <a:xfrm>
            <a:off x="3262926"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9">
            <a:extLst>
              <a:ext uri="{FF2B5EF4-FFF2-40B4-BE49-F238E27FC236}">
                <a16:creationId xmlns:a16="http://schemas.microsoft.com/office/drawing/2014/main" id="{2BEB6BEE-26A1-CA65-94AF-66C85CEB8FB8}"/>
              </a:ext>
            </a:extLst>
          </p:cNvPr>
          <p:cNvSpPr>
            <a:spLocks noGrp="1"/>
          </p:cNvSpPr>
          <p:nvPr>
            <p:ph sz="quarter" idx="19"/>
          </p:nvPr>
        </p:nvSpPr>
        <p:spPr>
          <a:xfrm>
            <a:off x="6149975"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9">
            <a:extLst>
              <a:ext uri="{FF2B5EF4-FFF2-40B4-BE49-F238E27FC236}">
                <a16:creationId xmlns:a16="http://schemas.microsoft.com/office/drawing/2014/main" id="{E50EC622-9E3E-7826-5B6E-3F05131728C6}"/>
              </a:ext>
            </a:extLst>
          </p:cNvPr>
          <p:cNvSpPr>
            <a:spLocks noGrp="1"/>
          </p:cNvSpPr>
          <p:nvPr>
            <p:ph sz="quarter" idx="20"/>
          </p:nvPr>
        </p:nvSpPr>
        <p:spPr>
          <a:xfrm>
            <a:off x="9047972"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87CC549C-7C7A-4C05-D6A7-8187C41504D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7986954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4054" y="1407234"/>
            <a:ext cx="5669646" cy="2482141"/>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Content Placeholder 5">
            <a:extLst>
              <a:ext uri="{FF2B5EF4-FFF2-40B4-BE49-F238E27FC236}">
                <a16:creationId xmlns:a16="http://schemas.microsoft.com/office/drawing/2014/main" id="{4903BE73-FFB9-9122-4626-1B97EB913FE8}"/>
              </a:ext>
            </a:extLst>
          </p:cNvPr>
          <p:cNvSpPr>
            <a:spLocks noGrp="1"/>
          </p:cNvSpPr>
          <p:nvPr>
            <p:ph sz="quarter" idx="16"/>
          </p:nvPr>
        </p:nvSpPr>
        <p:spPr>
          <a:xfrm>
            <a:off x="369888" y="1406525"/>
            <a:ext cx="2782887" cy="4565650"/>
          </a:xfrm>
        </p:spPr>
        <p:txBody>
          <a:bodyPr/>
          <a:lstStyle>
            <a:lvl1pPr>
              <a:defRPr sz="2400"/>
            </a:lvl1pPr>
          </a:lstStyle>
          <a:p>
            <a:pPr lvl="0"/>
            <a:r>
              <a:rPr lang="en-US"/>
              <a:t>Click to edit Master text styles</a:t>
            </a:r>
          </a:p>
        </p:txBody>
      </p:sp>
      <p:sp>
        <p:nvSpPr>
          <p:cNvPr id="11" name="Content Placeholder 10">
            <a:extLst>
              <a:ext uri="{FF2B5EF4-FFF2-40B4-BE49-F238E27FC236}">
                <a16:creationId xmlns:a16="http://schemas.microsoft.com/office/drawing/2014/main" id="{42EA7D05-D7C0-FDE4-0EBC-5FC8729460EF}"/>
              </a:ext>
            </a:extLst>
          </p:cNvPr>
          <p:cNvSpPr>
            <a:spLocks noGrp="1"/>
          </p:cNvSpPr>
          <p:nvPr>
            <p:ph sz="quarter" idx="17"/>
          </p:nvPr>
        </p:nvSpPr>
        <p:spPr>
          <a:xfrm>
            <a:off x="3257550" y="1406525"/>
            <a:ext cx="2784475" cy="456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73B30585-2E0B-0145-792D-87F4CBF909B1}"/>
              </a:ext>
            </a:extLst>
          </p:cNvPr>
          <p:cNvSpPr>
            <a:spLocks noGrp="1"/>
          </p:cNvSpPr>
          <p:nvPr>
            <p:ph sz="quarter" idx="18"/>
          </p:nvPr>
        </p:nvSpPr>
        <p:spPr>
          <a:xfrm>
            <a:off x="6149975"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3">
            <a:extLst>
              <a:ext uri="{FF2B5EF4-FFF2-40B4-BE49-F238E27FC236}">
                <a16:creationId xmlns:a16="http://schemas.microsoft.com/office/drawing/2014/main" id="{CF1ADCBF-761E-4BC8-95AF-5ED8A304B911}"/>
              </a:ext>
            </a:extLst>
          </p:cNvPr>
          <p:cNvSpPr>
            <a:spLocks noGrp="1"/>
          </p:cNvSpPr>
          <p:nvPr>
            <p:ph sz="quarter" idx="19"/>
          </p:nvPr>
        </p:nvSpPr>
        <p:spPr>
          <a:xfrm>
            <a:off x="9042400"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itle 17">
            <a:extLst>
              <a:ext uri="{FF2B5EF4-FFF2-40B4-BE49-F238E27FC236}">
                <a16:creationId xmlns:a16="http://schemas.microsoft.com/office/drawing/2014/main" id="{FD1333CB-59A1-E4BE-4739-1CA1A660FB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9662641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Content Placeholder 9">
            <a:extLst>
              <a:ext uri="{FF2B5EF4-FFF2-40B4-BE49-F238E27FC236}">
                <a16:creationId xmlns:a16="http://schemas.microsoft.com/office/drawing/2014/main" id="{B1E147C2-A10D-59C4-CC48-6D69F1DA6177}"/>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A86AE55E-C7BC-EC71-C728-F72A80B86C83}"/>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55CDC6F-9090-45B3-C7DF-1D1A5E390D2C}"/>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CB40FF7B-D30A-160F-9C8B-1003AE57EE92}"/>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97083C73-43EE-6C29-DF37-8BDBD145922F}"/>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FAAF6896-CE8D-11B6-CDB6-B5581B467D87}"/>
              </a:ext>
            </a:extLst>
          </p:cNvPr>
          <p:cNvSpPr>
            <a:spLocks noGrp="1"/>
          </p:cNvSpPr>
          <p:nvPr>
            <p:ph sz="quarter" idx="15"/>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EE952CC9-7B70-01FB-582B-30F68D4C37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4238941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369364" y="886968"/>
            <a:ext cx="11453639" cy="519557"/>
          </a:xfrm>
        </p:spPr>
        <p:txBody>
          <a:bodyPr/>
          <a:lstStyle>
            <a:lvl1pPr>
              <a:defRPr sz="1800"/>
            </a:lvl1pPr>
          </a:lstStyle>
          <a:p>
            <a:pPr lvl="0"/>
            <a:r>
              <a:rPr lang="en-US"/>
              <a:t>Click to edit Master text styles</a:t>
            </a:r>
          </a:p>
        </p:txBody>
      </p:sp>
      <p:sp>
        <p:nvSpPr>
          <p:cNvPr id="2" name="Title Placeholder 1">
            <a:extLst>
              <a:ext uri="{FF2B5EF4-FFF2-40B4-BE49-F238E27FC236}">
                <a16:creationId xmlns:a16="http://schemas.microsoft.com/office/drawing/2014/main" id="{F7150835-224A-C855-A540-11B95474A75B}"/>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9">
            <a:extLst>
              <a:ext uri="{FF2B5EF4-FFF2-40B4-BE49-F238E27FC236}">
                <a16:creationId xmlns:a16="http://schemas.microsoft.com/office/drawing/2014/main" id="{83A6C828-337E-DF3F-E796-CD513517E4D6}"/>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5039018F-04C9-76F6-FBBC-358D2F0A1005}"/>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0641CF8-17DD-D58B-57D0-930294460401}"/>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F8C87661-3C9C-724E-425D-6BFB684FAA53}"/>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C1CA5D93-F653-F2C0-8751-8A90F765D494}"/>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59DA2641-90BA-C589-4AC5-93DB0472E745}"/>
              </a:ext>
            </a:extLst>
          </p:cNvPr>
          <p:cNvSpPr>
            <a:spLocks noGrp="1"/>
          </p:cNvSpPr>
          <p:nvPr>
            <p:ph sz="quarter" idx="16"/>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597318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370062"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294159"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27490"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46253"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75774"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9999916"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9">
            <a:extLst>
              <a:ext uri="{FF2B5EF4-FFF2-40B4-BE49-F238E27FC236}">
                <a16:creationId xmlns:a16="http://schemas.microsoft.com/office/drawing/2014/main" id="{9822908B-8C98-3E38-BAF1-87309A19DE45}"/>
              </a:ext>
            </a:extLst>
          </p:cNvPr>
          <p:cNvSpPr>
            <a:spLocks noGrp="1"/>
          </p:cNvSpPr>
          <p:nvPr>
            <p:ph sz="quarter" idx="10"/>
          </p:nvPr>
        </p:nvSpPr>
        <p:spPr>
          <a:xfrm>
            <a:off x="3683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9">
            <a:extLst>
              <a:ext uri="{FF2B5EF4-FFF2-40B4-BE49-F238E27FC236}">
                <a16:creationId xmlns:a16="http://schemas.microsoft.com/office/drawing/2014/main" id="{C0C24A9A-AB7A-C92C-EABC-107D1A3E3099}"/>
              </a:ext>
            </a:extLst>
          </p:cNvPr>
          <p:cNvSpPr>
            <a:spLocks noGrp="1"/>
          </p:cNvSpPr>
          <p:nvPr>
            <p:ph sz="quarter" idx="11"/>
          </p:nvPr>
        </p:nvSpPr>
        <p:spPr>
          <a:xfrm>
            <a:off x="22955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9">
            <a:extLst>
              <a:ext uri="{FF2B5EF4-FFF2-40B4-BE49-F238E27FC236}">
                <a16:creationId xmlns:a16="http://schemas.microsoft.com/office/drawing/2014/main" id="{1BE33546-5281-3759-9C24-7C92D3AB81E7}"/>
              </a:ext>
            </a:extLst>
          </p:cNvPr>
          <p:cNvSpPr>
            <a:spLocks noGrp="1"/>
          </p:cNvSpPr>
          <p:nvPr>
            <p:ph sz="quarter" idx="12"/>
          </p:nvPr>
        </p:nvSpPr>
        <p:spPr>
          <a:xfrm>
            <a:off x="421957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9">
            <a:extLst>
              <a:ext uri="{FF2B5EF4-FFF2-40B4-BE49-F238E27FC236}">
                <a16:creationId xmlns:a16="http://schemas.microsoft.com/office/drawing/2014/main" id="{CD8F01FB-26C3-D412-CD60-13931D0A16A9}"/>
              </a:ext>
            </a:extLst>
          </p:cNvPr>
          <p:cNvSpPr>
            <a:spLocks noGrp="1"/>
          </p:cNvSpPr>
          <p:nvPr>
            <p:ph sz="quarter" idx="13"/>
          </p:nvPr>
        </p:nvSpPr>
        <p:spPr>
          <a:xfrm>
            <a:off x="61468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52D6BCE3-5DC0-F54B-0BF2-1E8CB838F946}"/>
              </a:ext>
            </a:extLst>
          </p:cNvPr>
          <p:cNvSpPr>
            <a:spLocks noGrp="1"/>
          </p:cNvSpPr>
          <p:nvPr>
            <p:ph sz="quarter" idx="14"/>
          </p:nvPr>
        </p:nvSpPr>
        <p:spPr>
          <a:xfrm>
            <a:off x="80772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9">
            <a:extLst>
              <a:ext uri="{FF2B5EF4-FFF2-40B4-BE49-F238E27FC236}">
                <a16:creationId xmlns:a16="http://schemas.microsoft.com/office/drawing/2014/main" id="{954D3D35-7293-9CD0-B576-44307004CC31}"/>
              </a:ext>
            </a:extLst>
          </p:cNvPr>
          <p:cNvSpPr>
            <a:spLocks noGrp="1"/>
          </p:cNvSpPr>
          <p:nvPr>
            <p:ph sz="quarter" idx="21"/>
          </p:nvPr>
        </p:nvSpPr>
        <p:spPr>
          <a:xfrm>
            <a:off x="100044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itle 16">
            <a:extLst>
              <a:ext uri="{FF2B5EF4-FFF2-40B4-BE49-F238E27FC236}">
                <a16:creationId xmlns:a16="http://schemas.microsoft.com/office/drawing/2014/main" id="{9919F7E4-902E-17BD-9A23-BEC353B540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15670516"/>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dirty="0"/>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2377" y="1306772"/>
            <a:ext cx="5668962" cy="3731953"/>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CA070464-B6E7-0612-AE11-56A546D97BD4}"/>
              </a:ext>
            </a:extLst>
          </p:cNvPr>
          <p:cNvSpPr>
            <a:spLocks noGrp="1"/>
          </p:cNvSpPr>
          <p:nvPr>
            <p:ph sz="quarter" idx="10"/>
          </p:nvPr>
        </p:nvSpPr>
        <p:spPr>
          <a:xfrm>
            <a:off x="368300" y="4518025"/>
            <a:ext cx="37465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0153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dirty="0"/>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46096"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70062" y="3485571"/>
            <a:ext cx="5498502" cy="2486604"/>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72355"/>
            <a:ext cx="5671662"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4716BEF-8A35-16AB-2612-D5ADC74B28FD}"/>
              </a:ext>
            </a:extLst>
          </p:cNvPr>
          <p:cNvSpPr>
            <a:spLocks noGrp="1"/>
          </p:cNvSpPr>
          <p:nvPr>
            <p:ph sz="quarter" idx="10"/>
          </p:nvPr>
        </p:nvSpPr>
        <p:spPr>
          <a:xfrm>
            <a:off x="6150276" y="5038725"/>
            <a:ext cx="5673424" cy="93345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0315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dirty="0"/>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dirty="0"/>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dirty="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dirty="0">
              <a:ln>
                <a:noFill/>
              </a:ln>
              <a:solidFill>
                <a:srgbClr val="FC5108"/>
              </a:solidFill>
              <a:effectLst/>
              <a:uLnTx/>
              <a:uFillTx/>
              <a:latin typeface="+mn-lt"/>
              <a:cs typeface="Arial" panose="020B0604020202020204" pitchFamily="34" charset="0"/>
            </a:endParaRPr>
          </a:p>
          <a:p>
            <a:endParaRPr lang="en-US" sz="6000" b="1" dirty="0">
              <a:solidFill>
                <a:srgbClr val="FC5108"/>
              </a:solidFill>
              <a:latin typeface="Georgia" panose="02040502050405020303" pitchFamily="18" charset="0"/>
              <a:cs typeface="Arial" panose="020B0604020202020204" pitchFamily="34" charset="0"/>
            </a:endParaRPr>
          </a:p>
        </p:txBody>
      </p:sp>
      <p:sp>
        <p:nvSpPr>
          <p:cNvPr id="3" name="Content Placeholder 4">
            <a:extLst>
              <a:ext uri="{FF2B5EF4-FFF2-40B4-BE49-F238E27FC236}">
                <a16:creationId xmlns:a16="http://schemas.microsoft.com/office/drawing/2014/main" id="{0617E1E3-DEC2-78E7-9998-E4FF637CE30B}"/>
              </a:ext>
            </a:extLst>
          </p:cNvPr>
          <p:cNvSpPr>
            <a:spLocks noGrp="1"/>
          </p:cNvSpPr>
          <p:nvPr>
            <p:ph sz="quarter" idx="10"/>
          </p:nvPr>
        </p:nvSpPr>
        <p:spPr>
          <a:xfrm>
            <a:off x="6151729" y="4005692"/>
            <a:ext cx="5455771" cy="921908"/>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75920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420F89DA-180E-8B5A-DBF0-E46D4BE19FF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44920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746CDA39-33E4-3C95-FE9D-6263CE3649C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775457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B31972B4-0D39-C3FB-E17F-DC8EC7D11818}"/>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465598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dirty="0">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748F1255-B234-8F3E-2E95-66C55731FF06}"/>
              </a:ext>
            </a:extLst>
          </p:cNvPr>
          <p:cNvSpPr>
            <a:spLocks noGrp="1"/>
          </p:cNvSpPr>
          <p:nvPr>
            <p:ph sz="quarter" idx="10"/>
          </p:nvPr>
        </p:nvSpPr>
        <p:spPr>
          <a:xfrm>
            <a:off x="368300" y="4518025"/>
            <a:ext cx="4711700" cy="1562100"/>
          </a:xfrm>
        </p:spPr>
        <p:txBody>
          <a:bodyPr/>
          <a:lstStyle>
            <a:lvl1pPr>
              <a:defRPr sz="1800">
                <a:solidFill>
                  <a:schemeClr val="bg1"/>
                </a:solidFill>
              </a:defRPr>
            </a:lvl1pPr>
            <a:lvl2pPr>
              <a:defRPr sz="1400">
                <a:solidFill>
                  <a:schemeClr val="bg1"/>
                </a:solidFill>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725353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369010" y="3491244"/>
            <a:ext cx="4499480" cy="2458352"/>
          </a:xfrm>
        </p:spPr>
        <p:txBody>
          <a:bodyPr/>
          <a:lstStyle>
            <a:lvl1pPr>
              <a:lnSpc>
                <a:spcPct val="100000"/>
              </a:lnSpc>
              <a:defRPr sz="3200" b="0"/>
            </a:lvl1pPr>
          </a:lstStyle>
          <a:p>
            <a:r>
              <a:rPr lang="en-US" dirty="0"/>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6" y="368299"/>
            <a:ext cx="6638214" cy="5603875"/>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6093725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370062"/>
            <a:ext cx="3737453" cy="1295399"/>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4" y="370062"/>
            <a:ext cx="6637163" cy="5562780"/>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01119A16-4429-1C3B-93F5-9356F9F7EC68}"/>
              </a:ext>
            </a:extLst>
          </p:cNvPr>
          <p:cNvSpPr>
            <a:spLocks noGrp="1"/>
          </p:cNvSpPr>
          <p:nvPr>
            <p:ph sz="quarter" idx="12"/>
          </p:nvPr>
        </p:nvSpPr>
        <p:spPr>
          <a:xfrm>
            <a:off x="369888" y="2959100"/>
            <a:ext cx="3744912" cy="3013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11066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2446693"/>
            <a:ext cx="2767808" cy="765810"/>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57550" y="368299"/>
            <a:ext cx="8566150" cy="5603875"/>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3" name="Content Placeholder 2">
            <a:extLst>
              <a:ext uri="{FF2B5EF4-FFF2-40B4-BE49-F238E27FC236}">
                <a16:creationId xmlns:a16="http://schemas.microsoft.com/office/drawing/2014/main" id="{460FE9E2-DC3E-0EAB-DFB7-B3E4A12323BE}"/>
              </a:ext>
            </a:extLst>
          </p:cNvPr>
          <p:cNvSpPr>
            <a:spLocks noGrp="1"/>
          </p:cNvSpPr>
          <p:nvPr>
            <p:ph sz="quarter" idx="14" hasCustomPrompt="1"/>
          </p:nvPr>
        </p:nvSpPr>
        <p:spPr>
          <a:xfrm>
            <a:off x="368300" y="3482975"/>
            <a:ext cx="2784475" cy="2489200"/>
          </a:xfrm>
        </p:spPr>
        <p:txBody>
          <a:bodyPr/>
          <a:lstStyle/>
          <a:p>
            <a:pPr lvl="1"/>
            <a:r>
              <a:rPr lang="en-GB" dirty="0"/>
              <a:t>Second level</a:t>
            </a:r>
          </a:p>
        </p:txBody>
      </p:sp>
    </p:spTree>
    <p:extLst>
      <p:ext uri="{BB962C8B-B14F-4D97-AF65-F5344CB8AC3E}">
        <p14:creationId xmlns:p14="http://schemas.microsoft.com/office/powerpoint/2010/main" val="26920685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BB20E5E-A5D8-1921-9B3B-F7258AF1BECE}"/>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BE8A4846-D27E-80FC-9B7E-3CE63CD42E9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65247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370062" y="3492183"/>
            <a:ext cx="3744738" cy="2479992"/>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08803"/>
            <a:ext cx="1804072" cy="1445521"/>
          </a:xfrm>
          <a:solidFill>
            <a:schemeClr val="bg2"/>
          </a:solidFill>
        </p:spPr>
        <p:txBody>
          <a:bodyPr tIns="457200"/>
          <a:lstStyle>
            <a:lvl1pPr algn="ctr">
              <a:defRPr/>
            </a:lvl1pPr>
          </a:lstStyle>
          <a:p>
            <a:r>
              <a:rPr lang="en-US"/>
              <a:t>Click icon to add picture</a:t>
            </a:r>
            <a:endParaRPr lang="en-US" dirty="0"/>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65506"/>
            <a:ext cx="1804072" cy="1432559"/>
          </a:xfrm>
          <a:solidFill>
            <a:schemeClr val="bg2"/>
          </a:solidFill>
        </p:spPr>
        <p:txBody>
          <a:bodyPr tIns="457200"/>
          <a:lstStyle>
            <a:lvl1pPr algn="ctr">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77299292-477B-B167-FA09-34ABA37250D4}"/>
              </a:ext>
            </a:extLst>
          </p:cNvPr>
          <p:cNvSpPr>
            <a:spLocks noGrp="1"/>
          </p:cNvSpPr>
          <p:nvPr>
            <p:ph sz="quarter" idx="18"/>
          </p:nvPr>
        </p:nvSpPr>
        <p:spPr>
          <a:xfrm>
            <a:off x="7112000" y="1406525"/>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3096CD5-F472-2FF7-8821-A2FC9AB7EECF}"/>
              </a:ext>
            </a:extLst>
          </p:cNvPr>
          <p:cNvSpPr>
            <a:spLocks noGrp="1"/>
          </p:cNvSpPr>
          <p:nvPr>
            <p:ph sz="quarter" idx="19"/>
          </p:nvPr>
        </p:nvSpPr>
        <p:spPr>
          <a:xfrm>
            <a:off x="7112000" y="2966384"/>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6D1E7B3D-67E9-63CB-5191-3A7FBCE6F83F}"/>
              </a:ext>
            </a:extLst>
          </p:cNvPr>
          <p:cNvSpPr>
            <a:spLocks noGrp="1"/>
          </p:cNvSpPr>
          <p:nvPr>
            <p:ph sz="quarter" idx="20"/>
          </p:nvPr>
        </p:nvSpPr>
        <p:spPr>
          <a:xfrm>
            <a:off x="7112000" y="4520863"/>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itle 8">
            <a:extLst>
              <a:ext uri="{FF2B5EF4-FFF2-40B4-BE49-F238E27FC236}">
                <a16:creationId xmlns:a16="http://schemas.microsoft.com/office/drawing/2014/main" id="{1EABDFC4-9BD0-55BC-2846-2FA45EAB535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466534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56F6B0ED-8AF6-B2AA-E6DF-421FC9028A75}"/>
              </a:ext>
            </a:extLst>
          </p:cNvPr>
          <p:cNvSpPr>
            <a:spLocks noGrp="1"/>
          </p:cNvSpPr>
          <p:nvPr>
            <p:ph sz="quarter" idx="10"/>
          </p:nvPr>
        </p:nvSpPr>
        <p:spPr>
          <a:xfrm>
            <a:off x="6149975" y="3482975"/>
            <a:ext cx="5673725"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567741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2001" y="368300"/>
            <a:ext cx="4711700" cy="3003550"/>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dirty="0"/>
              <a:t>0,000</a:t>
            </a:r>
          </a:p>
          <a:p>
            <a:pPr lvl="1"/>
            <a:r>
              <a:rPr lang="en-US" dirty="0"/>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F83831A1-36E4-05EF-6AB7-93A548B9DE9C}"/>
              </a:ext>
            </a:extLst>
          </p:cNvPr>
          <p:cNvSpPr>
            <a:spLocks noGrp="1"/>
          </p:cNvSpPr>
          <p:nvPr>
            <p:ph sz="quarter" idx="12"/>
          </p:nvPr>
        </p:nvSpPr>
        <p:spPr>
          <a:xfrm>
            <a:off x="9039225" y="3492500"/>
            <a:ext cx="27844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53954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373155"/>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52188" y="373155"/>
            <a:ext cx="2765424" cy="2777490"/>
          </a:xfr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dirty="0"/>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52188"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76517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31506"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71461"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2DEADD9F-C4DB-21BA-6151-16846D00A132}"/>
              </a:ext>
            </a:extLst>
          </p:cNvPr>
          <p:cNvSpPr>
            <a:spLocks noGrp="1"/>
          </p:cNvSpPr>
          <p:nvPr>
            <p:ph sz="quarter" idx="15"/>
          </p:nvPr>
        </p:nvSpPr>
        <p:spPr>
          <a:xfrm>
            <a:off x="36830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DEBB524E-5A84-8775-0998-D7CE79E36DCD}"/>
              </a:ext>
            </a:extLst>
          </p:cNvPr>
          <p:cNvSpPr>
            <a:spLocks noGrp="1"/>
          </p:cNvSpPr>
          <p:nvPr>
            <p:ph sz="quarter" idx="16"/>
          </p:nvPr>
        </p:nvSpPr>
        <p:spPr>
          <a:xfrm>
            <a:off x="4239426"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2">
            <a:extLst>
              <a:ext uri="{FF2B5EF4-FFF2-40B4-BE49-F238E27FC236}">
                <a16:creationId xmlns:a16="http://schemas.microsoft.com/office/drawing/2014/main" id="{0FB583A4-A0D5-B473-CEAF-7EDB869751B3}"/>
              </a:ext>
            </a:extLst>
          </p:cNvPr>
          <p:cNvSpPr>
            <a:spLocks noGrp="1"/>
          </p:cNvSpPr>
          <p:nvPr>
            <p:ph sz="quarter" idx="17"/>
          </p:nvPr>
        </p:nvSpPr>
        <p:spPr>
          <a:xfrm>
            <a:off x="807146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itle 14">
            <a:extLst>
              <a:ext uri="{FF2B5EF4-FFF2-40B4-BE49-F238E27FC236}">
                <a16:creationId xmlns:a16="http://schemas.microsoft.com/office/drawing/2014/main" id="{FF63D470-D7BD-0CB6-AB02-AD298B18C3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10454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6710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53663"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Title 2">
            <a:extLst>
              <a:ext uri="{FF2B5EF4-FFF2-40B4-BE49-F238E27FC236}">
                <a16:creationId xmlns:a16="http://schemas.microsoft.com/office/drawing/2014/main" id="{B7CEDE5A-24B5-302A-F9C9-38D8A4ED15EA}"/>
              </a:ext>
            </a:extLst>
          </p:cNvPr>
          <p:cNvSpPr>
            <a:spLocks noGrp="1"/>
          </p:cNvSpPr>
          <p:nvPr>
            <p:ph type="title"/>
          </p:nvPr>
        </p:nvSpPr>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4F1DDBE-5AF8-4AE5-035D-1455CB11941A}"/>
              </a:ext>
            </a:extLst>
          </p:cNvPr>
          <p:cNvSpPr>
            <a:spLocks noGrp="1"/>
          </p:cNvSpPr>
          <p:nvPr>
            <p:ph sz="quarter" idx="17"/>
          </p:nvPr>
        </p:nvSpPr>
        <p:spPr>
          <a:xfrm>
            <a:off x="369888"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0506503A-B70F-E2C2-7E96-19228D38F73B}"/>
              </a:ext>
            </a:extLst>
          </p:cNvPr>
          <p:cNvSpPr>
            <a:spLocks noGrp="1"/>
          </p:cNvSpPr>
          <p:nvPr>
            <p:ph sz="quarter" idx="18"/>
          </p:nvPr>
        </p:nvSpPr>
        <p:spPr>
          <a:xfrm>
            <a:off x="3271236"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099901CA-C5DD-EA1C-B029-123F8C580614}"/>
              </a:ext>
            </a:extLst>
          </p:cNvPr>
          <p:cNvSpPr>
            <a:spLocks noGrp="1"/>
          </p:cNvSpPr>
          <p:nvPr>
            <p:ph sz="quarter" idx="19"/>
          </p:nvPr>
        </p:nvSpPr>
        <p:spPr>
          <a:xfrm>
            <a:off x="614997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066BC0D1-1139-9685-3799-963F80B0C907}"/>
              </a:ext>
            </a:extLst>
          </p:cNvPr>
          <p:cNvSpPr>
            <a:spLocks noGrp="1"/>
          </p:cNvSpPr>
          <p:nvPr>
            <p:ph sz="quarter" idx="20"/>
          </p:nvPr>
        </p:nvSpPr>
        <p:spPr>
          <a:xfrm>
            <a:off x="904740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74998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88305" y="1930138"/>
            <a:ext cx="5670195" cy="4042037"/>
          </a:xfrm>
        </p:spPr>
        <p:txBody>
          <a:bodyPr/>
          <a:lstStyle>
            <a:lvl1pPr algn="ctr">
              <a:defRPr/>
            </a:lvl1pPr>
          </a:lstStyle>
          <a:p>
            <a:r>
              <a:rPr lang="en-US"/>
              <a:t>Click icon to add chart</a:t>
            </a:r>
            <a:endParaRPr lang="en-US" dirty="0"/>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itle 3">
            <a:extLst>
              <a:ext uri="{FF2B5EF4-FFF2-40B4-BE49-F238E27FC236}">
                <a16:creationId xmlns:a16="http://schemas.microsoft.com/office/drawing/2014/main" id="{B3172550-E933-8167-0222-DD1326B01A64}"/>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40478187-E2B9-385E-A350-C3EAF7AF28EC}"/>
              </a:ext>
            </a:extLst>
          </p:cNvPr>
          <p:cNvSpPr>
            <a:spLocks noGrp="1"/>
          </p:cNvSpPr>
          <p:nvPr>
            <p:ph sz="quarter" idx="11"/>
          </p:nvPr>
        </p:nvSpPr>
        <p:spPr>
          <a:xfrm>
            <a:off x="368300" y="3482975"/>
            <a:ext cx="3746500"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556618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062"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67127"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0423"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8340"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51A35449-0894-A02C-8F55-DCFAB1AE42A2}"/>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EAA4954E-F516-8DC7-20A3-B649BF255769}"/>
              </a:ext>
            </a:extLst>
          </p:cNvPr>
          <p:cNvSpPr>
            <a:spLocks noGrp="1"/>
          </p:cNvSpPr>
          <p:nvPr>
            <p:ph sz="quarter" idx="24"/>
          </p:nvPr>
        </p:nvSpPr>
        <p:spPr>
          <a:xfrm>
            <a:off x="36830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9" name="Content Placeholder 7">
            <a:extLst>
              <a:ext uri="{FF2B5EF4-FFF2-40B4-BE49-F238E27FC236}">
                <a16:creationId xmlns:a16="http://schemas.microsoft.com/office/drawing/2014/main" id="{B8FE92CD-7709-9DB8-6AAE-AA80F067440B}"/>
              </a:ext>
            </a:extLst>
          </p:cNvPr>
          <p:cNvSpPr>
            <a:spLocks noGrp="1"/>
          </p:cNvSpPr>
          <p:nvPr>
            <p:ph sz="quarter" idx="25"/>
          </p:nvPr>
        </p:nvSpPr>
        <p:spPr>
          <a:xfrm>
            <a:off x="3267127"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0" name="Content Placeholder 7">
            <a:extLst>
              <a:ext uri="{FF2B5EF4-FFF2-40B4-BE49-F238E27FC236}">
                <a16:creationId xmlns:a16="http://schemas.microsoft.com/office/drawing/2014/main" id="{A2951703-E32B-EAF8-80B8-BAFE647F14A4}"/>
              </a:ext>
            </a:extLst>
          </p:cNvPr>
          <p:cNvSpPr>
            <a:spLocks noGrp="1"/>
          </p:cNvSpPr>
          <p:nvPr>
            <p:ph sz="quarter" idx="26"/>
          </p:nvPr>
        </p:nvSpPr>
        <p:spPr>
          <a:xfrm>
            <a:off x="6151846"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3" name="Content Placeholder 7">
            <a:extLst>
              <a:ext uri="{FF2B5EF4-FFF2-40B4-BE49-F238E27FC236}">
                <a16:creationId xmlns:a16="http://schemas.microsoft.com/office/drawing/2014/main" id="{66FE3CF3-7037-DD51-3661-1034378DCD33}"/>
              </a:ext>
            </a:extLst>
          </p:cNvPr>
          <p:cNvSpPr>
            <a:spLocks noGrp="1"/>
          </p:cNvSpPr>
          <p:nvPr>
            <p:ph sz="quarter" idx="27"/>
          </p:nvPr>
        </p:nvSpPr>
        <p:spPr>
          <a:xfrm>
            <a:off x="904834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494150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586" y="1924016"/>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68300" y="4012229"/>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5682" y="1927615"/>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5682" y="4006850"/>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DA84C67F-7F12-B485-C133-367619428FBC}"/>
              </a:ext>
            </a:extLst>
          </p:cNvPr>
          <p:cNvSpPr>
            <a:spLocks noGrp="1"/>
          </p:cNvSpPr>
          <p:nvPr>
            <p:ph type="title"/>
          </p:nvPr>
        </p:nvSpPr>
        <p:spPr/>
        <p:txBody>
          <a:bodyPr/>
          <a:lstStyle/>
          <a:p>
            <a:r>
              <a:rPr lang="en-US"/>
              <a:t>Click to edit Master title style</a:t>
            </a:r>
            <a:endParaRPr lang="en-GB"/>
          </a:p>
        </p:txBody>
      </p:sp>
      <p:sp>
        <p:nvSpPr>
          <p:cNvPr id="13" name="Content Placeholder 12">
            <a:extLst>
              <a:ext uri="{FF2B5EF4-FFF2-40B4-BE49-F238E27FC236}">
                <a16:creationId xmlns:a16="http://schemas.microsoft.com/office/drawing/2014/main" id="{C4995FEB-FD4F-B089-F6E6-2920F4574AB5}"/>
              </a:ext>
            </a:extLst>
          </p:cNvPr>
          <p:cNvSpPr>
            <a:spLocks noGrp="1"/>
          </p:cNvSpPr>
          <p:nvPr>
            <p:ph sz="quarter" idx="28"/>
          </p:nvPr>
        </p:nvSpPr>
        <p:spPr>
          <a:xfrm>
            <a:off x="3257550"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Content Placeholder 12">
            <a:extLst>
              <a:ext uri="{FF2B5EF4-FFF2-40B4-BE49-F238E27FC236}">
                <a16:creationId xmlns:a16="http://schemas.microsoft.com/office/drawing/2014/main" id="{27422C95-30AE-DA35-26C7-4D859468EE89}"/>
              </a:ext>
            </a:extLst>
          </p:cNvPr>
          <p:cNvSpPr>
            <a:spLocks noGrp="1"/>
          </p:cNvSpPr>
          <p:nvPr>
            <p:ph sz="quarter" idx="29"/>
          </p:nvPr>
        </p:nvSpPr>
        <p:spPr>
          <a:xfrm>
            <a:off x="3257550"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Content Placeholder 12">
            <a:extLst>
              <a:ext uri="{FF2B5EF4-FFF2-40B4-BE49-F238E27FC236}">
                <a16:creationId xmlns:a16="http://schemas.microsoft.com/office/drawing/2014/main" id="{EB8C9608-59D0-BF46-B719-9598B6A020EF}"/>
              </a:ext>
            </a:extLst>
          </p:cNvPr>
          <p:cNvSpPr>
            <a:spLocks noGrp="1"/>
          </p:cNvSpPr>
          <p:nvPr>
            <p:ph sz="quarter" idx="30"/>
          </p:nvPr>
        </p:nvSpPr>
        <p:spPr>
          <a:xfrm>
            <a:off x="9045164"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Content Placeholder 12">
            <a:extLst>
              <a:ext uri="{FF2B5EF4-FFF2-40B4-BE49-F238E27FC236}">
                <a16:creationId xmlns:a16="http://schemas.microsoft.com/office/drawing/2014/main" id="{83B437C6-3E7C-2B00-379C-58EBBE522843}"/>
              </a:ext>
            </a:extLst>
          </p:cNvPr>
          <p:cNvSpPr>
            <a:spLocks noGrp="1"/>
          </p:cNvSpPr>
          <p:nvPr>
            <p:ph sz="quarter" idx="31"/>
          </p:nvPr>
        </p:nvSpPr>
        <p:spPr>
          <a:xfrm>
            <a:off x="9045164"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423299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67789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9809642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428750"/>
            <a:ext cx="8520907" cy="1933344"/>
          </a:xfrm>
        </p:spPr>
        <p:txBody>
          <a:bodyPr anchor="b"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37006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157" y="1957425"/>
            <a:ext cx="5229304" cy="2441537"/>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30530"/>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70157"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370062" y="373155"/>
            <a:ext cx="11453638" cy="3516220"/>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4437010"/>
            <a:ext cx="5630031" cy="1541462"/>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5493"/>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
        <p:nvSpPr>
          <p:cNvPr id="4" name="Title 3">
            <a:extLst>
              <a:ext uri="{FF2B5EF4-FFF2-40B4-BE49-F238E27FC236}">
                <a16:creationId xmlns:a16="http://schemas.microsoft.com/office/drawing/2014/main" id="{04760CE5-544A-F30C-8082-D31FCC54B7F2}"/>
              </a:ext>
            </a:extLst>
          </p:cNvPr>
          <p:cNvSpPr>
            <a:spLocks noGrp="1"/>
          </p:cNvSpPr>
          <p:nvPr>
            <p:ph type="title"/>
          </p:nvPr>
        </p:nvSpPr>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B125B3EF-B02C-F8B5-CF3D-C9F9193AA5BE}"/>
              </a:ext>
            </a:extLst>
          </p:cNvPr>
          <p:cNvSpPr>
            <a:spLocks noGrp="1"/>
          </p:cNvSpPr>
          <p:nvPr>
            <p:ph sz="quarter" idx="10"/>
          </p:nvPr>
        </p:nvSpPr>
        <p:spPr>
          <a:xfrm>
            <a:off x="368300" y="1924050"/>
            <a:ext cx="8523288"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046155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Footer Placeholder 3">
            <a:extLst>
              <a:ext uri="{FF2B5EF4-FFF2-40B4-BE49-F238E27FC236}">
                <a16:creationId xmlns:a16="http://schemas.microsoft.com/office/drawing/2014/main" id="{5EEEAD2A-5ED7-F858-B9B2-69E7AAFC8AA3}"/>
              </a:ext>
            </a:extLst>
          </p:cNvPr>
          <p:cNvSpPr>
            <a:spLocks noGrp="1"/>
          </p:cNvSpPr>
          <p:nvPr>
            <p:ph type="ftr" sz="quarter" idx="3"/>
          </p:nvPr>
        </p:nvSpPr>
        <p:spPr>
          <a:xfrm>
            <a:off x="1050202" y="6489700"/>
            <a:ext cx="7103198" cy="231775"/>
          </a:xfrm>
          <a:prstGeom prst="rect">
            <a:avLst/>
          </a:prstGeom>
        </p:spPr>
        <p:txBody>
          <a:bodyPr vert="horz" lIns="91440" tIns="45720" rIns="91440" bIns="45720" rtlCol="0" anchor="ctr"/>
          <a:lstStyle>
            <a:lvl1pPr algn="ctr">
              <a:defRPr sz="1200">
                <a:solidFill>
                  <a:schemeClr val="tx1"/>
                </a:solidFill>
              </a:defRPr>
            </a:lvl1pPr>
          </a:lstStyle>
          <a:p>
            <a:pPr algn="l"/>
            <a:r>
              <a:rPr lang="en-US"/>
              <a:t>Presentation title</a:t>
            </a:r>
            <a:endParaRPr lang="en-US" sz="1200" dirty="0"/>
          </a:p>
        </p:txBody>
      </p:sp>
      <p:sp>
        <p:nvSpPr>
          <p:cNvPr id="5" name="TextBox 4">
            <a:extLst>
              <a:ext uri="{FF2B5EF4-FFF2-40B4-BE49-F238E27FC236}">
                <a16:creationId xmlns:a16="http://schemas.microsoft.com/office/drawing/2014/main" id="{74057E98-9115-FBC2-41C7-0C76408D5126}"/>
              </a:ext>
            </a:extLst>
          </p:cNvPr>
          <p:cNvSpPr txBox="1"/>
          <p:nvPr userDrawn="1"/>
        </p:nvSpPr>
        <p:spPr>
          <a:xfrm>
            <a:off x="1539089" y="6491091"/>
            <a:ext cx="1530036" cy="366909"/>
          </a:xfrm>
          <a:prstGeom prst="rect">
            <a:avLst/>
          </a:prstGeom>
          <a:noFill/>
        </p:spPr>
        <p:txBody>
          <a:bodyPr wrap="square" lIns="0" tIns="0" rIns="0" bIns="0" rtlCol="0">
            <a:noAutofit/>
          </a:bodyPr>
          <a:lstStyle/>
          <a:p>
            <a:pPr algn="l"/>
            <a:endParaRPr lang="en-US" sz="1600" dirty="0" err="1">
              <a:latin typeface="+mj-lt"/>
            </a:endParaRPr>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5" r:id="rId5"/>
    <p:sldLayoutId id="2147483746" r:id="rId6"/>
    <p:sldLayoutId id="2147483651" r:id="rId7"/>
    <p:sldLayoutId id="2147483659" r:id="rId8"/>
    <p:sldLayoutId id="2147483660" r:id="rId9"/>
    <p:sldLayoutId id="2147483733" r:id="rId10"/>
    <p:sldLayoutId id="2147483738" r:id="rId11"/>
    <p:sldLayoutId id="2147483739" r:id="rId12"/>
    <p:sldLayoutId id="2147483741" r:id="rId13"/>
    <p:sldLayoutId id="2147483740" r:id="rId14"/>
    <p:sldLayoutId id="2147483696" r:id="rId15"/>
    <p:sldLayoutId id="2147483697" r:id="rId16"/>
    <p:sldLayoutId id="2147483723" r:id="rId17"/>
    <p:sldLayoutId id="2147483724" r:id="rId18"/>
    <p:sldLayoutId id="2147483702" r:id="rId19"/>
    <p:sldLayoutId id="2147483752" r:id="rId20"/>
    <p:sldLayoutId id="2147483684" r:id="rId21"/>
    <p:sldLayoutId id="2147483753" r:id="rId22"/>
    <p:sldLayoutId id="2147483703" r:id="rId23"/>
    <p:sldLayoutId id="2147483704" r:id="rId24"/>
    <p:sldLayoutId id="2147483705" r:id="rId25"/>
    <p:sldLayoutId id="2147483685" r:id="rId26"/>
    <p:sldLayoutId id="2147483754" r:id="rId27"/>
    <p:sldLayoutId id="2147483706" r:id="rId28"/>
    <p:sldLayoutId id="2147483719" r:id="rId29"/>
    <p:sldLayoutId id="2147483717" r:id="rId30"/>
    <p:sldLayoutId id="2147483718" r:id="rId31"/>
    <p:sldLayoutId id="2147483707" r:id="rId32"/>
    <p:sldLayoutId id="2147483708" r:id="rId33"/>
    <p:sldLayoutId id="2147483709" r:id="rId34"/>
    <p:sldLayoutId id="2147483686" r:id="rId35"/>
    <p:sldLayoutId id="2147483755" r:id="rId36"/>
    <p:sldLayoutId id="2147483722" r:id="rId37"/>
    <p:sldLayoutId id="2147483721" r:id="rId38"/>
    <p:sldLayoutId id="2147483714" r:id="rId39"/>
    <p:sldLayoutId id="2147483710" r:id="rId40"/>
    <p:sldLayoutId id="2147483711" r:id="rId41"/>
    <p:sldLayoutId id="2147483687" r:id="rId42"/>
    <p:sldLayoutId id="2147483756" r:id="rId43"/>
    <p:sldLayoutId id="2147483713" r:id="rId44"/>
    <p:sldLayoutId id="2147483662" r:id="rId45"/>
    <p:sldLayoutId id="2147483699" r:id="rId46"/>
    <p:sldLayoutId id="2147483689" r:id="rId47"/>
    <p:sldLayoutId id="2147483664" r:id="rId48"/>
    <p:sldLayoutId id="2147483690" r:id="rId49"/>
    <p:sldLayoutId id="2147483691" r:id="rId50"/>
    <p:sldLayoutId id="2147483692" r:id="rId51"/>
    <p:sldLayoutId id="2147483671" r:id="rId52"/>
    <p:sldLayoutId id="2147483700" r:id="rId53"/>
    <p:sldLayoutId id="2147483701" r:id="rId54"/>
    <p:sldLayoutId id="2147483693" r:id="rId55"/>
    <p:sldLayoutId id="2147483694" r:id="rId56"/>
    <p:sldLayoutId id="2147483673" r:id="rId57"/>
    <p:sldLayoutId id="2147483676" r:id="rId58"/>
    <p:sldLayoutId id="2147483715" r:id="rId59"/>
    <p:sldLayoutId id="2147483716" r:id="rId60"/>
    <p:sldLayoutId id="2147483678" r:id="rId61"/>
    <p:sldLayoutId id="2147483679" r:id="rId62"/>
    <p:sldLayoutId id="2147483680" r:id="rId63"/>
    <p:sldLayoutId id="2147483666" r:id="rId64"/>
    <p:sldLayoutId id="2147483720" r:id="rId65"/>
    <p:sldLayoutId id="2147483654" r:id="rId66"/>
    <p:sldLayoutId id="2147483655" r:id="rId67"/>
    <p:sldLayoutId id="2147483681" r:id="rId68"/>
    <p:sldLayoutId id="2147483725" r:id="rId69"/>
    <p:sldLayoutId id="2147483726" r:id="rId70"/>
    <p:sldLayoutId id="2147483727" r:id="rId71"/>
    <p:sldLayoutId id="2147483742" r:id="rId72"/>
  </p:sldLayoutIdLst>
  <p:hf hdr="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3" pos="232" userDrawn="1">
          <p15:clr>
            <a:srgbClr val="F26B43"/>
          </p15:clr>
        </p15:guide>
        <p15:guide id="4" pos="7448" userDrawn="1">
          <p15:clr>
            <a:srgbClr val="F26B43"/>
          </p15:clr>
        </p15:guide>
        <p15:guide id="11" orient="horz" pos="4088" userDrawn="1">
          <p15:clr>
            <a:srgbClr val="F26B43"/>
          </p15:clr>
        </p15:guide>
        <p15:guide id="12" pos="778" userDrawn="1">
          <p15:clr>
            <a:srgbClr val="F26B43"/>
          </p15:clr>
        </p15:guide>
        <p15:guide id="13" pos="840" userDrawn="1">
          <p15:clr>
            <a:srgbClr val="F26B43"/>
          </p15:clr>
        </p15:guide>
        <p15:guide id="14" pos="1378" userDrawn="1">
          <p15:clr>
            <a:srgbClr val="F26B43"/>
          </p15:clr>
        </p15:guide>
        <p15:guide id="15" pos="1446" userDrawn="1">
          <p15:clr>
            <a:srgbClr val="F26B43"/>
          </p15:clr>
        </p15:guide>
        <p15:guide id="16" pos="1986" userDrawn="1">
          <p15:clr>
            <a:srgbClr val="F26B43"/>
          </p15:clr>
        </p15:guide>
        <p15:guide id="17" pos="2052" userDrawn="1">
          <p15:clr>
            <a:srgbClr val="F26B43"/>
          </p15:clr>
        </p15:guide>
        <p15:guide id="18" pos="2592" userDrawn="1">
          <p15:clr>
            <a:srgbClr val="F26B43"/>
          </p15:clr>
        </p15:guide>
        <p15:guide id="19" pos="2662" userDrawn="1">
          <p15:clr>
            <a:srgbClr val="F26B43"/>
          </p15:clr>
        </p15:guide>
        <p15:guide id="20" pos="3200" userDrawn="1">
          <p15:clr>
            <a:srgbClr val="F26B43"/>
          </p15:clr>
        </p15:guide>
        <p15:guide id="21" pos="3266" userDrawn="1">
          <p15:clr>
            <a:srgbClr val="F26B43"/>
          </p15:clr>
        </p15:guide>
        <p15:guide id="22" pos="3806" userDrawn="1">
          <p15:clr>
            <a:srgbClr val="F26B43"/>
          </p15:clr>
        </p15:guide>
        <p15:guide id="23" pos="3874" userDrawn="1">
          <p15:clr>
            <a:srgbClr val="F26B43"/>
          </p15:clr>
        </p15:guide>
        <p15:guide id="24" pos="4414" userDrawn="1">
          <p15:clr>
            <a:srgbClr val="F26B43"/>
          </p15:clr>
        </p15:guide>
        <p15:guide id="25" pos="5018" userDrawn="1">
          <p15:clr>
            <a:srgbClr val="F26B43"/>
          </p15:clr>
        </p15:guide>
        <p15:guide id="26" pos="4480" userDrawn="1">
          <p15:clr>
            <a:srgbClr val="F26B43"/>
          </p15:clr>
        </p15:guide>
        <p15:guide id="27" pos="5086" userDrawn="1">
          <p15:clr>
            <a:srgbClr val="F26B43"/>
          </p15:clr>
        </p15:guide>
        <p15:guide id="28" pos="5626" userDrawn="1">
          <p15:clr>
            <a:srgbClr val="F26B43"/>
          </p15:clr>
        </p15:guide>
        <p15:guide id="29" pos="5694" userDrawn="1">
          <p15:clr>
            <a:srgbClr val="F26B43"/>
          </p15:clr>
        </p15:guide>
        <p15:guide id="30" pos="6232" userDrawn="1">
          <p15:clr>
            <a:srgbClr val="F26B43"/>
          </p15:clr>
        </p15:guide>
        <p15:guide id="31" pos="6300" userDrawn="1">
          <p15:clr>
            <a:srgbClr val="F26B43"/>
          </p15:clr>
        </p15:guide>
        <p15:guide id="32" pos="6840" userDrawn="1">
          <p15:clr>
            <a:srgbClr val="F26B43"/>
          </p15:clr>
        </p15:guide>
        <p15:guide id="33" pos="6908" userDrawn="1">
          <p15:clr>
            <a:srgbClr val="F26B43"/>
          </p15:clr>
        </p15:guide>
        <p15:guide id="34" orient="horz" pos="488" userDrawn="1">
          <p15:clr>
            <a:srgbClr val="F26B43"/>
          </p15:clr>
        </p15:guide>
        <p15:guide id="35" orient="horz" pos="560" userDrawn="1">
          <p15:clr>
            <a:srgbClr val="F26B43"/>
          </p15:clr>
        </p15:guide>
        <p15:guide id="36" orient="horz" pos="816" userDrawn="1">
          <p15:clr>
            <a:srgbClr val="F26B43"/>
          </p15:clr>
        </p15:guide>
        <p15:guide id="37" orient="horz" pos="886" userDrawn="1">
          <p15:clr>
            <a:srgbClr val="F26B43"/>
          </p15:clr>
        </p15:guide>
        <p15:guide id="38" orient="horz" pos="1144" userDrawn="1">
          <p15:clr>
            <a:srgbClr val="F26B43"/>
          </p15:clr>
        </p15:guide>
        <p15:guide id="39" orient="horz" pos="1212" userDrawn="1">
          <p15:clr>
            <a:srgbClr val="F26B43"/>
          </p15:clr>
        </p15:guide>
        <p15:guide id="40" orient="horz" pos="1472" userDrawn="1">
          <p15:clr>
            <a:srgbClr val="F26B43"/>
          </p15:clr>
        </p15:guide>
        <p15:guide id="41" orient="horz" pos="1798" userDrawn="1">
          <p15:clr>
            <a:srgbClr val="F26B43"/>
          </p15:clr>
        </p15:guide>
        <p15:guide id="42" orient="horz" pos="1864" userDrawn="1">
          <p15:clr>
            <a:srgbClr val="F26B43"/>
          </p15:clr>
        </p15:guide>
        <p15:guide id="43" orient="horz" pos="2124" userDrawn="1">
          <p15:clr>
            <a:srgbClr val="F26B43"/>
          </p15:clr>
        </p15:guide>
        <p15:guide id="44" orient="horz" pos="2194" userDrawn="1">
          <p15:clr>
            <a:srgbClr val="F26B43"/>
          </p15:clr>
        </p15:guide>
        <p15:guide id="45" orient="horz" pos="2450" userDrawn="1">
          <p15:clr>
            <a:srgbClr val="F26B43"/>
          </p15:clr>
        </p15:guide>
        <p15:guide id="46" orient="horz" pos="2520" userDrawn="1">
          <p15:clr>
            <a:srgbClr val="F26B43"/>
          </p15:clr>
        </p15:guide>
        <p15:guide id="47" orient="horz" pos="2778" userDrawn="1">
          <p15:clr>
            <a:srgbClr val="F26B43"/>
          </p15:clr>
        </p15:guide>
        <p15:guide id="48" orient="horz" pos="2846" userDrawn="1">
          <p15:clr>
            <a:srgbClr val="F26B43"/>
          </p15:clr>
        </p15:guide>
        <p15:guide id="49" orient="horz" pos="3104" userDrawn="1">
          <p15:clr>
            <a:srgbClr val="F26B43"/>
          </p15:clr>
        </p15:guide>
        <p15:guide id="50" orient="horz" pos="3174" userDrawn="1">
          <p15:clr>
            <a:srgbClr val="F26B43"/>
          </p15:clr>
        </p15:guide>
        <p15:guide id="51" orient="horz" pos="3432" userDrawn="1">
          <p15:clr>
            <a:srgbClr val="F26B43"/>
          </p15:clr>
        </p15:guide>
        <p15:guide id="52" orient="horz" pos="3498" userDrawn="1">
          <p15:clr>
            <a:srgbClr val="F26B43"/>
          </p15:clr>
        </p15:guide>
        <p15:guide id="53" orient="horz" pos="3762" userDrawn="1">
          <p15:clr>
            <a:srgbClr val="F26B43"/>
          </p15:clr>
        </p15:guide>
        <p15:guide id="54" orient="horz" pos="3830" userDrawn="1">
          <p15:clr>
            <a:srgbClr val="F26B43"/>
          </p15:clr>
        </p15:guide>
        <p15:guide id="55" orient="horz" pos="15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8.xml"/><Relationship Id="rId3" Type="http://schemas.openxmlformats.org/officeDocument/2006/relationships/image" Target="../media/image748.png"/><Relationship Id="rId4" Type="http://schemas.openxmlformats.org/officeDocument/2006/relationships/image" Target="../media/image749.svg"/><Relationship Id="rId5" Type="http://schemas.openxmlformats.org/officeDocument/2006/relationships/image" Target="../media/image782.png"/><Relationship Id="rId6" Type="http://schemas.openxmlformats.org/officeDocument/2006/relationships/image" Target="../media/image783.svg"/><Relationship Id="rId7" Type="http://schemas.openxmlformats.org/officeDocument/2006/relationships/image" Target="../media/image652.png"/><Relationship Id="rId8" Type="http://schemas.openxmlformats.org/officeDocument/2006/relationships/image" Target="../media/image653.svg"/><Relationship Id="rId9" Type="http://schemas.openxmlformats.org/officeDocument/2006/relationships/image" Target="../media/image676.png"/><Relationship Id="rId10" Type="http://schemas.openxmlformats.org/officeDocument/2006/relationships/image" Target="../media/image677.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2.xml"/><Relationship Id="rId3" Type="http://schemas.openxmlformats.org/officeDocument/2006/relationships/hyperlink" Target="https://pwcgbr.sharepoint.com/:w:/r/teams/GBL-IL-INT-IFS-GCAC/_layouts/15/Doc.aspx?sourcedoc=%7BE6C3E28E-8282-438B-B6E8-6B985066F55E%7D&amp;file=PwC%20Network%20Description%20and%20Copyright%20-%20April%202025.docx&amp;action=default&amp;mobileredirect=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BF121-4939-9A21-A839-230CC776A674}"/>
              </a:ext>
            </a:extLst>
          </p:cNvPr>
          <p:cNvSpPr>
            <a:spLocks noGrp="1"/>
          </p:cNvSpPr>
          <p:nvPr>
            <p:ph type="ctrTitle"/>
          </p:nvPr>
        </p:nvSpPr>
        <p:spPr/>
        <p:txBody>
          <a:bodyPr/>
          <a:lstStyle/>
          <a:p>
            <a:r>
              <a:t>NIST CSF 2.0: when there is no law at all</a:t>
            </a:r>
          </a:p>
        </p:txBody>
      </p:sp>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en-GB" noProof="0" dirty="0"/>
              <a:t>Presentation by </a:t>
            </a:r>
            <a:r>
              <a:rPr lang="en-GB" b="1" noProof="0" dirty="0"/>
              <a:t>Jason Lee</a:t>
            </a:r>
          </a:p>
          <a:p>
            <a:r>
              <a:rPr lang="en-GB" noProof="0" dirty="0"/>
              <a:t>CS5292 Week 6 · 7 October 2026 · Guest: Herman Sin, HKJC</a:t>
            </a:r>
          </a:p>
        </p:txBody>
      </p:sp>
    </p:spTree>
    <p:extLst>
      <p:ext uri="{BB962C8B-B14F-4D97-AF65-F5344CB8AC3E}">
        <p14:creationId xmlns:p14="http://schemas.microsoft.com/office/powerpoint/2010/main" val="1865854814"/>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Tonight</a:t>
            </a:r>
          </a:p>
        </p:txBody>
      </p:sp>
      <p:graphicFrame>
        <p:nvGraphicFramePr>
          <p:cNvPr id="3" name="Table Placeholder 2"/>
          <p:cNvGraphicFramePr>
            <a:graphicFrameLocks noGrp="1"/>
          </p:cNvGraphicFramePr>
          <p:nvPr>
            <p:ph type="tbl" idx="10" sz="quarter"/>
          </p:nvPr>
        </p:nvGraphicFramePr>
        <p:xfrm>
          <a:off x="5188180" y="772547"/>
          <a:ext cx="6638544" cy="1112520"/>
        </p:xfrm>
        <a:graphic>
          <a:graphicData uri="http://schemas.openxmlformats.org/drawingml/2006/table">
            <a:tbl>
              <a:tblPr>
                <a:tableStyleId>{5C22544A-7EE6-4342-B048-85BDC9FD1C3A}</a:tableStyleId>
              </a:tblPr>
              <a:tblGrid>
                <a:gridCol w="457200"/>
                <a:gridCol w="6181344"/>
              </a:tblGrid>
              <a:tr h="370840">
                <a:tc>
                  <a:txBody>
                    <a:bodyPr/>
                    <a:lstStyle/>
                    <a:p>
                      <a:r>
                        <a:rPr sz="1800">
                          <a:solidFill>
                            <a:srgbClr val="FD5108"/>
                          </a:solidFill>
                        </a:rPr>
                        <a:t>1</a:t>
                      </a:r>
                    </a:p>
                  </a:txBody>
                  <a:tcPr>
                    <a:noFill/>
                  </a:tcPr>
                </a:tc>
                <a:tc>
                  <a:txBody>
                    <a:bodyPr/>
                    <a:lstStyle/>
                    <a:p>
                      <a:r>
                        <a:rPr sz="1800">
                          <a:solidFill>
                            <a:srgbClr val="000000"/>
                          </a:solidFill>
                        </a:rPr>
                        <a:t>Module 1 · Herman Sin, HKJC: NIST CSF 2.0 in practice (30 min + Q&amp;A)</a:t>
                      </a:r>
                    </a:p>
                  </a:txBody>
                  <a:tcPr>
                    <a:noFill/>
                  </a:tcPr>
                </a:tc>
              </a:tr>
              <a:tr h="370840">
                <a:tc>
                  <a:txBody>
                    <a:bodyPr/>
                    <a:lstStyle/>
                    <a:p>
                      <a:r>
                        <a:rPr sz="1800">
                          <a:solidFill>
                            <a:srgbClr val="FD5108"/>
                          </a:solidFill>
                        </a:rPr>
                        <a:t>2</a:t>
                      </a:r>
                    </a:p>
                  </a:txBody>
                  <a:tcPr>
                    <a:noFill/>
                  </a:tcPr>
                </a:tc>
                <a:tc>
                  <a:txBody>
                    <a:bodyPr/>
                    <a:lstStyle/>
                    <a:p>
                      <a:r>
                        <a:rPr sz="1800">
                          <a:solidFill>
                            <a:srgbClr val="000000"/>
                          </a:solidFill>
                        </a:rPr>
                        <a:t>Module 2 · NIST CSF 2.0, end to end (20 min · break · 50 min)</a:t>
                      </a:r>
                    </a:p>
                  </a:txBody>
                  <a:tcPr>
                    <a:noFill/>
                  </a:tcPr>
                </a:tc>
              </a:tr>
              <a:tr h="370840">
                <a:tc>
                  <a:txBody>
                    <a:bodyPr/>
                    <a:lstStyle/>
                    <a:p>
                      <a:r>
                        <a:rPr sz="1800">
                          <a:solidFill>
                            <a:srgbClr val="FD5108"/>
                          </a:solidFill>
                        </a:rPr>
                        <a:t>3</a:t>
                      </a:r>
                    </a:p>
                  </a:txBody>
                  <a:tcPr>
                    <a:noFill/>
                  </a:tcPr>
                </a:tc>
                <a:tc>
                  <a:txBody>
                    <a:bodyPr/>
                    <a:lstStyle/>
                    <a:p>
                      <a:r>
                        <a:rPr sz="1800">
                          <a:solidFill>
                            <a:srgbClr val="000000"/>
                          </a:solidFill>
                        </a:rPr>
                        <a:t>Module 3 · Auditing Govern: walkthrough, then your turn (20 + 25 + 15 min)</a:t>
                      </a:r>
                    </a:p>
                  </a:txBody>
                  <a:tcPr>
                    <a:noFill/>
                  </a:tcPr>
                </a:tc>
              </a:tr>
            </a:tbl>
          </a:graphicData>
        </a:graphic>
      </p:graphicFrame>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5184648" y="4206240"/>
            <a:ext cx="6583680" cy="822960"/>
          </a:xfrm>
          <a:prstGeom prst="rect">
            <a:avLst/>
          </a:prstGeom>
          <a:noFill/>
        </p:spPr>
        <p:txBody>
          <a:bodyPr wrap="square" anchor="t" lIns="0" rIns="0">
            <a:spAutoFit/>
          </a:bodyPr>
          <a:lstStyle/>
          <a:p>
            <a:r>
              <a:rPr b="0" sz="1400">
                <a:solidFill>
                  <a:srgbClr val="000000"/>
                </a:solidFill>
              </a:rPr>
              <a:t>Herman → Module 2 Part A, then a 10-minute break; another break before Module 3.</a:t>
            </a:r>
          </a:p>
          <a:p>
            <a:r>
              <a:rPr b="1" sz="1400">
                <a:solidFill>
                  <a:srgbClr val="000000"/>
                </a:solidFill>
              </a:rPr>
              <a:t>Next week: midterm, covering Weeks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Please welcome Herman Sin</a:t>
            </a:r>
          </a:p>
        </p:txBody>
      </p:sp>
      <p:sp>
        <p:nvSpPr>
          <p:cNvPr id="3" name="Content Placeholder 2"/>
          <p:cNvSpPr>
            <a:spLocks noGrp="1"/>
          </p:cNvSpPr>
          <p:nvPr>
            <p:ph idx="1"/>
          </p:nvPr>
        </p:nvSpPr>
        <p:spPr/>
        <p:txBody>
          <a:bodyPr/>
          <a:lstStyle/>
          <a:p>
            <a:pPr>
              <a:spcAft>
                <a:spcPts val="600"/>
              </a:spcAft>
            </a:pPr>
            <a:r>
              <a:rPr b="1" sz="1600"/>
              <a:t>Herman Sin — Senior Manager, Information Security and Risk Assurance, The Hong Kong Jockey Club</a:t>
            </a:r>
          </a:p>
          <a:p>
            <a:pPr>
              <a:spcAft>
                <a:spcPts val="1400"/>
              </a:spcAft>
            </a:pPr>
            <a:r>
              <a:rPr b="0" sz="1600"/>
              <a:t>Works in an organisation that, unlike the sectors of Weeks 2–5, has no cyber-specific ordinance or sector regulator setting its bar. Anchors its control baseline to NIST.</a:t>
            </a:r>
          </a:p>
          <a:p>
            <a:pPr>
              <a:spcAft>
                <a:spcPts val="400"/>
              </a:spcAft>
            </a:pPr>
            <a:r>
              <a:rPr b="1" sz="1600">
                <a:solidFill>
                  <a:srgbClr val="FD5108"/>
                </a:solidFill>
              </a:rPr>
              <a:t>Listen for</a:t>
            </a:r>
          </a:p>
          <a:p>
            <a:r>
              <a:rPr b="0" sz="1600"/>
              <a:t>Why NIST, rather than ISO 27001 or a local framework?</a:t>
            </a:r>
          </a:p>
          <a:p>
            <a:r>
              <a:rPr b="0" sz="1600"/>
              <a:t>How is the Target Profile chosen, and by whom?</a:t>
            </a:r>
          </a:p>
          <a:p>
            <a:r>
              <a:rPr b="0" sz="1600"/>
              <a:t>What evidence convinces the board?</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Module 2: NIST CSF 2.0</a:t>
            </a:r>
          </a:p>
        </p:txBody>
      </p:sp>
      <p:sp>
        <p:nvSpPr>
          <p:cNvPr id="3" name="Text Placeholder 2"/>
          <p:cNvSpPr>
            <a:spLocks noGrp="1"/>
          </p:cNvSpPr>
          <p:nvPr>
            <p:ph type="body" idx="12" sz="quarter"/>
          </p:nvPr>
        </p:nvSpPr>
        <p:spPr/>
        <p:txBody>
          <a:bodyPr/>
          <a:lstStyle/>
          <a:p>
            <a:r>
              <a:rPr b="0"/>
              <a:t>1	Why NIST, when there is no law</a:t>
            </a:r>
          </a:p>
          <a:p>
            <a:r>
              <a:rPr b="0"/>
              <a:t>2	Where it came from</a:t>
            </a:r>
          </a:p>
          <a:p>
            <a:r>
              <a:rPr b="0"/>
              <a:t>3	How it is built</a:t>
            </a:r>
          </a:p>
          <a:p>
            <a:r>
              <a:rPr b="0"/>
              <a:t>4	What changed in 2.0</a:t>
            </a:r>
          </a:p>
          <a:p>
            <a:r>
              <a:rPr b="0"/>
              <a:t>5	The auditor’s lens</a:t>
            </a:r>
          </a:p>
          <a:p>
            <a:r>
              <a:rPr b="0"/>
              <a:t/>
            </a:r>
          </a:p>
          <a:p>
            <a:r>
              <a:rPr b="0"/>
              <a:t>Part A: 1–2 · break · Part B: 3–5</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Why NIST, when there is no law</a:t>
            </a:r>
          </a:p>
        </p:txBody>
      </p:sp>
      <p:sp>
        <p:nvSpPr>
          <p:cNvPr id="3" name="Text Placeholder 2"/>
          <p:cNvSpPr>
            <a:spLocks noGrp="1"/>
          </p:cNvSpPr>
          <p:nvPr>
            <p:ph type="body" idx="1"/>
          </p:nvPr>
        </p:nvSpPr>
        <p:spPr/>
        <p:txBody>
          <a:bodyPr/>
          <a:lstStyle/>
          <a:p>
            <a:r>
              <a:rPr b="0"/>
              <a:t>1</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Five weeks, five answers to “who sets the bar?”</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00200"/>
          <a:ext cx="11430000" cy="3401568"/>
        </p:xfrm>
        <a:graphic>
          <a:graphicData uri="http://schemas.openxmlformats.org/drawingml/2006/table">
            <a:tbl>
              <a:tblPr firstRow="1">
                <a:tableStyleId>{605943CB-6F42-4776-B506-94E284F2829C}</a:tableStyleId>
              </a:tblPr>
              <a:tblGrid>
                <a:gridCol w="731520"/>
                <a:gridCol w="2194560"/>
                <a:gridCol w="4023360"/>
                <a:gridCol w="4480560"/>
              </a:tblGrid>
              <a:tr h="566928">
                <a:tc>
                  <a:txBody>
                    <a:bodyPr/>
                    <a:lstStyle/>
                    <a:p>
                      <a:r>
                        <a:rPr sz="1600" b="1"/>
                        <a:t>Week</a:t>
                      </a:r>
                    </a:p>
                  </a:txBody>
                  <a:tcPr anchor="ctr" marT="36576" marB="36576"/>
                </a:tc>
                <a:tc>
                  <a:txBody>
                    <a:bodyPr/>
                    <a:lstStyle/>
                    <a:p>
                      <a:r>
                        <a:rPr sz="1600" b="1"/>
                        <a:t>Framework</a:t>
                      </a:r>
                    </a:p>
                  </a:txBody>
                  <a:tcPr anchor="ctr" marT="36576" marB="36576"/>
                </a:tc>
                <a:tc>
                  <a:txBody>
                    <a:bodyPr/>
                    <a:lstStyle/>
                    <a:p>
                      <a:r>
                        <a:rPr sz="1600" b="1"/>
                        <a:t>What it is</a:t>
                      </a:r>
                    </a:p>
                  </a:txBody>
                  <a:tcPr anchor="ctr" marT="36576" marB="36576"/>
                </a:tc>
                <a:tc>
                  <a:txBody>
                    <a:bodyPr/>
                    <a:lstStyle/>
                    <a:p>
                      <a:r>
                        <a:rPr sz="1600" b="1"/>
                        <a:t>Who it binds</a:t>
                      </a:r>
                    </a:p>
                  </a:txBody>
                  <a:tcPr anchor="ctr" marT="36576" marB="36576"/>
                </a:tc>
              </a:tr>
              <a:tr h="566928">
                <a:tc>
                  <a:txBody>
                    <a:bodyPr/>
                    <a:lstStyle/>
                    <a:p>
                      <a:r>
                        <a:rPr sz="1600"/>
                        <a:t>2</a:t>
                      </a:r>
                    </a:p>
                  </a:txBody>
                  <a:tcPr anchor="ctr" marT="36576" marB="36576"/>
                </a:tc>
                <a:tc>
                  <a:txBody>
                    <a:bodyPr/>
                    <a:lstStyle/>
                    <a:p>
                      <a:r>
                        <a:rPr sz="1600"/>
                        <a:t>Cap. 653</a:t>
                      </a:r>
                    </a:p>
                  </a:txBody>
                  <a:tcPr anchor="ctr" marT="36576" marB="36576"/>
                </a:tc>
                <a:tc>
                  <a:txBody>
                    <a:bodyPr/>
                    <a:lstStyle/>
                    <a:p>
                      <a:r>
                        <a:rPr sz="1600"/>
                        <a:t>The newest law</a:t>
                      </a:r>
                    </a:p>
                  </a:txBody>
                  <a:tcPr anchor="ctr" marT="36576" marB="36576"/>
                </a:tc>
                <a:tc>
                  <a:txBody>
                    <a:bodyPr/>
                    <a:lstStyle/>
                    <a:p>
                      <a:r>
                        <a:rPr sz="1600"/>
                        <a:t>Designated critical infrastructure operators</a:t>
                      </a:r>
                    </a:p>
                  </a:txBody>
                  <a:tcPr anchor="ctr" marT="36576" marB="36576"/>
                </a:tc>
              </a:tr>
              <a:tr h="566928">
                <a:tc>
                  <a:txBody>
                    <a:bodyPr/>
                    <a:lstStyle/>
                    <a:p>
                      <a:r>
                        <a:rPr sz="1600"/>
                        <a:t>3</a:t>
                      </a:r>
                    </a:p>
                  </a:txBody>
                  <a:tcPr anchor="ctr" marT="36576" marB="36576"/>
                </a:tc>
                <a:tc>
                  <a:txBody>
                    <a:bodyPr/>
                    <a:lstStyle/>
                    <a:p>
                      <a:r>
                        <a:rPr sz="1600"/>
                        <a:t>PDPO (Cap. 486)</a:t>
                      </a:r>
                    </a:p>
                  </a:txBody>
                  <a:tcPr anchor="ctr" marT="36576" marB="36576"/>
                </a:tc>
                <a:tc>
                  <a:txBody>
                    <a:bodyPr/>
                    <a:lstStyle/>
                    <a:p>
                      <a:r>
                        <a:rPr sz="1600"/>
                        <a:t>The oldest law, the broadest reach</a:t>
                      </a:r>
                    </a:p>
                  </a:txBody>
                  <a:tcPr anchor="ctr" marT="36576" marB="36576"/>
                </a:tc>
                <a:tc>
                  <a:txBody>
                    <a:bodyPr/>
                    <a:lstStyle/>
                    <a:p>
                      <a:r>
                        <a:rPr sz="1600"/>
                        <a:t>Anyone handling personal data</a:t>
                      </a:r>
                    </a:p>
                  </a:txBody>
                  <a:tcPr anchor="ctr" marT="36576" marB="36576"/>
                </a:tc>
              </a:tr>
              <a:tr h="566928">
                <a:tc>
                  <a:txBody>
                    <a:bodyPr/>
                    <a:lstStyle/>
                    <a:p>
                      <a:r>
                        <a:rPr sz="1600"/>
                        <a:t>4</a:t>
                      </a:r>
                    </a:p>
                  </a:txBody>
                  <a:tcPr anchor="ctr" marT="36576" marB="36576"/>
                </a:tc>
                <a:tc>
                  <a:txBody>
                    <a:bodyPr/>
                    <a:lstStyle/>
                    <a:p>
                      <a:r>
                        <a:rPr sz="1600"/>
                        <a:t>S17 / G3</a:t>
                      </a:r>
                    </a:p>
                  </a:txBody>
                  <a:tcPr anchor="ctr" marT="36576" marB="36576"/>
                </a:tc>
                <a:tc>
                  <a:txBody>
                    <a:bodyPr/>
                    <a:lstStyle/>
                    <a:p>
                      <a:r>
                        <a:rPr sz="1600"/>
                        <a:t>Not law, but mandatory</a:t>
                      </a:r>
                    </a:p>
                  </a:txBody>
                  <a:tcPr anchor="ctr" marT="36576" marB="36576"/>
                </a:tc>
                <a:tc>
                  <a:txBody>
                    <a:bodyPr/>
                    <a:lstStyle/>
                    <a:p>
                      <a:r>
                        <a:rPr sz="1600"/>
                        <a:t>Government bureaux and departments</a:t>
                      </a:r>
                    </a:p>
                  </a:txBody>
                  <a:tcPr anchor="ctr" marT="36576" marB="36576"/>
                </a:tc>
              </a:tr>
              <a:tr h="566928">
                <a:tc>
                  <a:txBody>
                    <a:bodyPr/>
                    <a:lstStyle/>
                    <a:p>
                      <a:r>
                        <a:rPr sz="1600"/>
                        <a:t>5</a:t>
                      </a:r>
                    </a:p>
                  </a:txBody>
                  <a:tcPr anchor="ctr" marT="36576" marB="36576"/>
                </a:tc>
                <a:tc>
                  <a:txBody>
                    <a:bodyPr/>
                    <a:lstStyle/>
                    <a:p>
                      <a:r>
                        <a:rPr sz="1600"/>
                        <a:t>C-RAF 2.0 / GL20</a:t>
                      </a:r>
                    </a:p>
                  </a:txBody>
                  <a:tcPr anchor="ctr" marT="36576" marB="36576"/>
                </a:tc>
                <a:tc>
                  <a:txBody>
                    <a:bodyPr/>
                    <a:lstStyle/>
                    <a:p>
                      <a:r>
                        <a:rPr sz="1600"/>
                        <a:t>What a regulator uses instead of a law</a:t>
                      </a:r>
                    </a:p>
                  </a:txBody>
                  <a:tcPr anchor="ctr" marT="36576" marB="36576"/>
                </a:tc>
                <a:tc>
                  <a:txBody>
                    <a:bodyPr/>
                    <a:lstStyle/>
                    <a:p>
                      <a:r>
                        <a:rPr sz="1600"/>
                        <a:t>Banks and insurers</a:t>
                      </a:r>
                    </a:p>
                  </a:txBody>
                  <a:tcPr anchor="ctr" marT="36576" marB="36576"/>
                </a:tc>
              </a:tr>
              <a:tr h="566928">
                <a:tc>
                  <a:txBody>
                    <a:bodyPr/>
                    <a:lstStyle/>
                    <a:p>
                      <a:r>
                        <a:rPr sz="1600" b="1"/>
                        <a:t>6</a:t>
                      </a:r>
                    </a:p>
                  </a:txBody>
                  <a:tcPr anchor="ctr" marT="36576" marB="36576"/>
                </a:tc>
                <a:tc>
                  <a:txBody>
                    <a:bodyPr/>
                    <a:lstStyle/>
                    <a:p>
                      <a:r>
                        <a:rPr sz="1600" b="1">
                          <a:solidFill>
                            <a:srgbClr val="FD5108"/>
                          </a:solidFill>
                        </a:rPr>
                        <a:t>NIST CSF 2.0</a:t>
                      </a:r>
                    </a:p>
                  </a:txBody>
                  <a:tcPr anchor="ctr" marT="36576" marB="36576"/>
                </a:tc>
                <a:tc>
                  <a:txBody>
                    <a:bodyPr/>
                    <a:lstStyle/>
                    <a:p>
                      <a:r>
                        <a:rPr sz="1600" b="1"/>
                        <a:t>Voluntary, outcome-based</a:t>
                      </a:r>
                    </a:p>
                  </a:txBody>
                  <a:tcPr anchor="ctr" marT="36576" marB="36576"/>
                </a:tc>
                <a:tc>
                  <a:txBody>
                    <a:bodyPr/>
                    <a:lstStyle/>
                    <a:p>
                      <a:r>
                        <a:rPr sz="1600" b="1"/>
                        <a:t>Nobody — so anybody can use it</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CS5292 Weeks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pPr>
              <a:spcAft>
                <a:spcPts val="600"/>
              </a:spcAft>
            </a:pPr>
            <a:r>
              <a:rPr b="1" sz="1600"/>
              <a:t>Outcome-based</a:t>
            </a:r>
          </a:p>
          <a:p>
            <a:r>
              <a:rPr b="0" sz="1600"/>
              <a:t>It says what, not how: “backups are created, protected, maintained and tested” — not a product or a setting.</a:t>
            </a:r>
          </a:p>
        </p:txBody>
      </p:sp>
      <p:sp>
        <p:nvSpPr>
          <p:cNvPr id="3" name="Content Placeholder 2"/>
          <p:cNvSpPr>
            <a:spLocks noGrp="1"/>
          </p:cNvSpPr>
          <p:nvPr>
            <p:ph idx="11" sz="quarter"/>
          </p:nvPr>
        </p:nvSpPr>
        <p:spPr/>
        <p:txBody>
          <a:bodyPr/>
          <a:lstStyle/>
          <a:p>
            <a:pPr>
              <a:spcAft>
                <a:spcPts val="600"/>
              </a:spcAft>
            </a:pPr>
            <a:r>
              <a:rPr b="1" sz="1600"/>
              <a:t>Sector-neutral</a:t>
            </a:r>
          </a:p>
          <a:p>
            <a:r>
              <a:rPr b="0" sz="1600"/>
              <a:t>Written for “organizations of all sizes and sectors”, whatever their maturity.</a:t>
            </a:r>
          </a:p>
        </p:txBody>
      </p:sp>
      <p:sp>
        <p:nvSpPr>
          <p:cNvPr id="4" name="Content Placeholder 3"/>
          <p:cNvSpPr>
            <a:spLocks noGrp="1"/>
          </p:cNvSpPr>
          <p:nvPr>
            <p:ph idx="12" sz="quarter"/>
          </p:nvPr>
        </p:nvSpPr>
        <p:spPr/>
        <p:txBody>
          <a:bodyPr/>
          <a:lstStyle/>
          <a:p>
            <a:pPr>
              <a:spcAft>
                <a:spcPts val="600"/>
              </a:spcAft>
            </a:pPr>
            <a:r>
              <a:rPr b="1" sz="1600"/>
              <a:t>Board-ready</a:t>
            </a:r>
          </a:p>
          <a:p>
            <a:r>
              <a:rPr b="0" sz="1600"/>
              <a:t>Six functions a director can remember: a common language for technical and business teams.</a:t>
            </a:r>
          </a:p>
        </p:txBody>
      </p:sp>
      <p:sp>
        <p:nvSpPr>
          <p:cNvPr id="5" name="Content Placeholder 4"/>
          <p:cNvSpPr>
            <a:spLocks noGrp="1"/>
          </p:cNvSpPr>
          <p:nvPr>
            <p:ph idx="13" sz="quarter"/>
          </p:nvPr>
        </p:nvSpPr>
        <p:spPr/>
        <p:txBody>
          <a:bodyPr/>
          <a:lstStyle/>
          <a:p>
            <a:pPr>
              <a:spcAft>
                <a:spcPts val="600"/>
              </a:spcAft>
            </a:pPr>
            <a:r>
              <a:rPr b="1" sz="1600"/>
              <a:t>A hub</a:t>
            </a:r>
          </a:p>
          <a:p>
            <a:r>
              <a:rPr b="0" sz="1600"/>
              <a:t>Informative References map each outcome to ISO 27001, SP 800-53, CIS Controls and more.</a:t>
            </a:r>
          </a:p>
        </p:txBody>
      </p:sp>
      <p:sp>
        <p:nvSpPr>
          <p:cNvPr id="6" name="Title 5"/>
          <p:cNvSpPr>
            <a:spLocks noGrp="1"/>
          </p:cNvSpPr>
          <p:nvPr>
            <p:ph type="title"/>
          </p:nvPr>
        </p:nvSpPr>
        <p:spPr/>
        <p:txBody>
          <a:bodyPr/>
          <a:lstStyle/>
          <a:p>
            <a:r>
              <a:rPr b="0"/>
              <a:t>Why organisations reach for it</a:t>
            </a:r>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pic>
        <p:nvPicPr>
          <p:cNvPr id="39" name="Graphic 38">
            <a:extLst>
              <a:ext uri="{FF2B5EF4-FFF2-40B4-BE49-F238E27FC236}" cx="1005840" cy="1005840">
                <a16:creationId xmlns:a16="http://schemas.microsoft.com/office/drawing/2014/main" id="{F9CFA266-2FEB-5C40-5E0E-A7E0F39C3C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5760" y="2011680"/>
            <a:ext cx="914400" cy="914400"/>
          </a:xfrm>
          <a:prstGeom prst="rect">
            <a:avLst/>
          </a:prstGeom>
        </p:spPr>
      </p:pic>
      <p:pic>
        <p:nvPicPr>
          <p:cNvPr id="65" name="Graphic 64">
            <a:extLst>
              <a:ext uri="{FF2B5EF4-FFF2-40B4-BE49-F238E27FC236}" cx="1005840" cy="1005840">
                <a16:creationId xmlns:a16="http://schemas.microsoft.com/office/drawing/2014/main" id="{17B026CC-8B6C-FCAE-FA6F-C34C07BF8B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5264" y="2011680"/>
            <a:ext cx="914400" cy="914400"/>
          </a:xfrm>
          <a:prstGeom prst="rect">
            <a:avLst/>
          </a:prstGeom>
        </p:spPr>
      </p:pic>
      <p:pic>
        <p:nvPicPr>
          <p:cNvPr id="15" name="Graphic 14">
            <a:extLst>
              <a:ext uri="{FF2B5EF4-FFF2-40B4-BE49-F238E27FC236}" cx="1005840" cy="1005840">
                <a16:creationId xmlns:a16="http://schemas.microsoft.com/office/drawing/2014/main" id="{0C292D9F-3C7A-E7FA-D765-76368D31E2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53912" y="2011680"/>
            <a:ext cx="914400" cy="914400"/>
          </a:xfrm>
          <a:prstGeom prst="rect">
            <a:avLst/>
          </a:prstGeom>
        </p:spPr>
      </p:pic>
      <p:pic>
        <p:nvPicPr>
          <p:cNvPr id="48" name="Graphic 47">
            <a:extLst>
              <a:ext uri="{FF2B5EF4-FFF2-40B4-BE49-F238E27FC236}" cx="1005840" cy="1005840">
                <a16:creationId xmlns:a16="http://schemas.microsoft.com/office/drawing/2014/main" id="{156C1C56-C2F5-E99B-5E0E-266D1D43F35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043416" y="2011680"/>
            <a:ext cx="914400" cy="914400"/>
          </a:xfrm>
          <a:prstGeom prst="rect">
            <a:avLst/>
          </a:prstGeom>
        </p:spPr>
      </p:pic>
      <p:sp>
        <p:nvSpPr>
          <p:cNvPr id="66" name="TextBox 6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§1 and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Where it came from</a:t>
            </a:r>
          </a:p>
        </p:txBody>
      </p:sp>
      <p:sp>
        <p:nvSpPr>
          <p:cNvPr id="3" name="Text Placeholder 2"/>
          <p:cNvSpPr>
            <a:spLocks noGrp="1"/>
          </p:cNvSpPr>
          <p:nvPr>
            <p:ph type="body" idx="1"/>
          </p:nvPr>
        </p:nvSpPr>
        <p:spPr/>
        <p:txBody>
          <a:bodyPr/>
          <a:lstStyle/>
          <a:p>
            <a:r>
              <a:rPr b="0"/>
              <a:t>2</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Content Placeholder 3">
            <a:extLst>
              <a:ext uri="{FF2B5EF4-FFF2-40B4-BE49-F238E27FC236}">
                <a16:creationId xmlns:a16="http://schemas.microsoft.com/office/drawing/2014/main" id="{2D824EF9-4F3F-EE61-0392-D5682F8FEC3D}"/>
              </a:ext>
            </a:extLst>
          </p:cNvPr>
          <p:cNvSpPr>
            <a:spLocks noGrp="1"/>
          </p:cNvSpPr>
          <p:nvPr>
            <p:ph sz="quarter" idx="10"/>
          </p:nvPr>
        </p:nvSpPr>
        <p:spPr>
          <a:xfrm>
            <a:off x="369889" y="1306244"/>
            <a:ext cx="4710112" cy="1447800"/>
          </a:xfrm>
        </p:spPr>
        <p:txBody>
          <a:bodyPr/>
          <a:lstStyle/>
          <a:p>
            <a:pPr>
              <a:spcBef>
                <a:spcPts val="0"/>
              </a:spcBef>
              <a:spcAft>
                <a:spcPts val="600"/>
              </a:spcAft>
            </a:pPr>
            <a:r>
              <a:rPr lang="en-US" sz="1500" noProof="1"/>
              <a:t>Voluntary for industry, mandatory for US federal agencies — the S17/G3 pattern from Week 4.</a:t>
            </a:r>
          </a:p>
        </p:txBody>
      </p:sp>
      <p:sp>
        <p:nvSpPr>
          <p:cNvPr id="5" name="Content Placeholder 4">
            <a:extLst>
              <a:ext uri="{FF2B5EF4-FFF2-40B4-BE49-F238E27FC236}">
                <a16:creationId xmlns:a16="http://schemas.microsoft.com/office/drawing/2014/main" id="{D404CA47-4E4C-AB5B-C48D-3A1ACB031E2D}"/>
              </a:ext>
            </a:extLst>
          </p:cNvPr>
          <p:cNvSpPr>
            <a:spLocks noGrp="1"/>
          </p:cNvSpPr>
          <p:nvPr>
            <p:ph sz="quarter" idx="11"/>
          </p:nvPr>
        </p:nvSpPr>
        <p:spPr>
          <a:xfrm>
            <a:off x="5184775" y="1306244"/>
            <a:ext cx="6617252" cy="1447800"/>
          </a:xfrm>
        </p:spPr>
        <p:txBody>
          <a:bodyPr/>
          <a:lstStyle/>
          <a:p>
            <a:pPr>
              <a:lnSpc>
                <a:spcPct val="125000"/>
              </a:lnSpc>
              <a:spcBef>
                <a:spcPts val="0"/>
              </a:spcBef>
              <a:spcAft>
                <a:spcPts val="600"/>
              </a:spcAft>
            </a:pPr>
            <a:r>
              <a:rPr lang="en-US" sz="1400" b="0" noProof="1">
                <a:solidFill>
                  <a:srgbClr val="000000"/>
                </a:solidFill>
              </a:rPr>
              <a:t>Version 2.0 drops “critical infrastructure” from its title, adds Govern, and is written for every organisation.</a:t>
            </a:r>
          </a:p>
          <a:p>
            <a:pPr>
              <a:lnSpc>
                <a:spcPct val="125000"/>
              </a:lnSpc>
              <a:spcBef>
                <a:spcPts val="0"/>
              </a:spcBef>
              <a:spcAft>
                <a:spcPts val="600"/>
              </a:spcAft>
            </a:pPr>
            <a:endParaRPr lang="en-US" sz="1000"/>
          </a:p>
        </p:txBody>
      </p:sp>
      <p:sp>
        <p:nvSpPr>
          <p:cNvPr id="6" name="Title 5">
            <a:extLst>
              <a:ext uri="{FF2B5EF4-FFF2-40B4-BE49-F238E27FC236}">
                <a16:creationId xmlns:a16="http://schemas.microsoft.com/office/drawing/2014/main" id="{0AE5753F-7C76-0AD4-BA65-2D142B2E8FBB}"/>
              </a:ext>
            </a:extLst>
          </p:cNvPr>
          <p:cNvSpPr>
            <a:spLocks noGrp="1"/>
          </p:cNvSpPr>
          <p:nvPr>
            <p:ph type="title"/>
          </p:nvPr>
        </p:nvSpPr>
        <p:spPr>
          <a:xfrm>
            <a:off x="370586" y="599466"/>
            <a:ext cx="11453114" cy="511882"/>
          </a:xfrm>
        </p:spPr>
        <p:txBody>
          <a:bodyPr/>
          <a:lstStyle/>
          <a:p>
            <a:r>
              <a:rPr lang="en-US"/>
              <a:t>Born for critical infrastructure, grown for everyone</a:t>
            </a:r>
          </a:p>
        </p:txBody>
      </p:sp>
      <p:grpSp>
        <p:nvGrpSpPr>
          <p:cNvPr id="7" name="Group 6">
            <a:extLst>
              <a:ext uri="{FF2B5EF4-FFF2-40B4-BE49-F238E27FC236}">
                <a16:creationId xmlns:a16="http://schemas.microsoft.com/office/drawing/2014/main" id="{C2E7AF3E-281D-5069-B917-D2F4C3506C37}"/>
              </a:ext>
            </a:extLst>
          </p:cNvPr>
          <p:cNvGrpSpPr/>
          <p:nvPr/>
        </p:nvGrpSpPr>
        <p:grpSpPr>
          <a:xfrm>
            <a:off x="368300" y="197653"/>
            <a:ext cx="3473401" cy="170647"/>
            <a:chOff x="368300" y="197653"/>
            <a:chExt cx="3473401" cy="170647"/>
          </a:xfrm>
          <a:noFill/>
        </p:grpSpPr>
      </p:grpSp>
      <p:grpSp>
        <p:nvGrpSpPr>
          <p:cNvPr id="68" name="Group 67">
            <a:extLst>
              <a:ext uri="{FF2B5EF4-FFF2-40B4-BE49-F238E27FC236}">
                <a16:creationId xmlns:a16="http://schemas.microsoft.com/office/drawing/2014/main" id="{49AAD58C-556E-ACED-A19D-EB3DB4241A53}"/>
              </a:ext>
            </a:extLst>
          </p:cNvPr>
          <p:cNvGrpSpPr/>
          <p:nvPr/>
        </p:nvGrpSpPr>
        <p:grpSpPr>
          <a:xfrm>
            <a:off x="-4800" y="3249332"/>
            <a:ext cx="12196800" cy="2722843"/>
            <a:chOff x="-4800" y="2946154"/>
            <a:chExt cx="12196800" cy="2722843"/>
          </a:xfrm>
        </p:grpSpPr>
        <p:cxnSp>
          <p:nvCxnSpPr>
            <p:cNvPr id="41" name="Straight Connector 40">
              <a:extLst>
                <a:ext uri="{FF2B5EF4-FFF2-40B4-BE49-F238E27FC236}">
                  <a16:creationId xmlns:a16="http://schemas.microsoft.com/office/drawing/2014/main" id="{B1D16F8E-9126-E222-445E-E6CA6D5FC5BB}"/>
                </a:ext>
              </a:extLst>
            </p:cNvPr>
            <p:cNvCxnSpPr>
              <a:cxnSpLocks/>
            </p:cNvCxnSpPr>
            <p:nvPr/>
          </p:nvCxnSpPr>
          <p:spPr>
            <a:xfrm>
              <a:off x="-4800" y="4461817"/>
              <a:ext cx="12196800" cy="0"/>
            </a:xfrm>
            <a:prstGeom prst="line">
              <a:avLst/>
            </a:prstGeom>
            <a:ln w="19050">
              <a:solidFill>
                <a:srgbClr val="DFE3E6"/>
              </a:solidFill>
            </a:ln>
          </p:spPr>
          <p:style>
            <a:lnRef idx="2">
              <a:schemeClr val="accent1"/>
            </a:lnRef>
            <a:fillRef idx="0">
              <a:schemeClr val="accent1"/>
            </a:fillRef>
            <a:effectRef idx="1">
              <a:schemeClr val="accent1"/>
            </a:effectRef>
            <a:fontRef idx="minor">
              <a:schemeClr val="tx1"/>
            </a:fontRef>
          </p:style>
        </p:cxnSp>
        <p:grpSp>
          <p:nvGrpSpPr>
            <p:cNvPr id="42" name="Group 41">
              <a:extLst>
                <a:ext uri="{FF2B5EF4-FFF2-40B4-BE49-F238E27FC236}">
                  <a16:creationId xmlns:a16="http://schemas.microsoft.com/office/drawing/2014/main" id="{7FA0F7A4-BF67-1138-9B16-253FFFDD5123}"/>
                </a:ext>
              </a:extLst>
            </p:cNvPr>
            <p:cNvGrpSpPr/>
            <p:nvPr/>
          </p:nvGrpSpPr>
          <p:grpSpPr>
            <a:xfrm>
              <a:off x="2528368" y="2948222"/>
              <a:ext cx="2931513" cy="1644619"/>
              <a:chOff x="3038624" y="3073158"/>
              <a:chExt cx="2931513" cy="1644619"/>
            </a:xfrm>
          </p:grpSpPr>
          <p:sp>
            <p:nvSpPr>
              <p:cNvPr id="43" name="TextBox 42">
                <a:extLst>
                  <a:ext uri="{FF2B5EF4-FFF2-40B4-BE49-F238E27FC236}">
                    <a16:creationId xmlns:a16="http://schemas.microsoft.com/office/drawing/2014/main" id="{8BDB50CB-9A9D-5A3D-6930-AA469DDC72B8}"/>
                  </a:ext>
                </a:extLst>
              </p:cNvPr>
              <p:cNvSpPr txBox="1">
                <a:spLocks noChangeAspect="1"/>
              </p:cNvSpPr>
              <p:nvPr/>
            </p:nvSpPr>
            <p:spPr>
              <a:xfrm>
                <a:off x="3402316" y="3712167"/>
                <a:ext cx="2567821" cy="365806"/>
              </a:xfrm>
              <a:prstGeom prst="rect">
                <a:avLst/>
              </a:prstGeom>
              <a:noFill/>
            </p:spPr>
            <p:txBody>
              <a:bodyPr wrap="square" lIns="0" tIns="0" rIns="0" bIns="0" rtlCol="0">
                <a:spAutoFit/>
              </a:bodyPr>
              <a:lstStyle/>
              <a:p>
                <a:pPr lvl="0">
                  <a:lnSpc>
                    <a:spcPct val="125000"/>
                  </a:lnSpc>
                  <a:spcAft>
                    <a:spcPts val="600"/>
                  </a:spcAft>
                  <a:defRPr/>
                </a:pPr>
                <a:r>
                  <a:rPr lang="en-US" sz="1000" b="1" noProof="1">
                    <a:solidFill>
                      <a:srgbClr val="000000"/>
                    </a:solidFill>
                    <a:latin typeface="Arial" panose="020B0604020202020204" pitchFamily="34" charset="0"/>
                    <a:cs typeface="Arial" panose="020B0604020202020204" pitchFamily="34" charset="0"/>
                  </a:rPr>
                  <a:t>CSF 1.0, “Framework for Improving Critical Infrastructure Cybersecurity”</a:t>
                </a:r>
              </a:p>
            </p:txBody>
          </p:sp>
          <p:sp>
            <p:nvSpPr>
              <p:cNvPr id="44" name="Text Placeholder 25">
                <a:extLst>
                  <a:ext uri="{FF2B5EF4-FFF2-40B4-BE49-F238E27FC236}">
                    <a16:creationId xmlns:a16="http://schemas.microsoft.com/office/drawing/2014/main" id="{E50CECF7-8DCC-AC65-C4F1-8176EC3A9B08}"/>
                  </a:ext>
                </a:extLst>
              </p:cNvPr>
              <p:cNvSpPr txBox="1">
                <a:spLocks/>
              </p:cNvSpPr>
              <p:nvPr/>
            </p:nvSpPr>
            <p:spPr>
              <a:xfrm>
                <a:off x="3285005" y="3073158"/>
                <a:ext cx="953749" cy="707886"/>
              </a:xfrm>
              <a:prstGeom prst="rect">
                <a:avLst/>
              </a:prstGeom>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US" sz="4000" b="0" i="0" u="none" strike="noStrike" kern="1200" cap="none" spc="0" normalizeH="0" baseline="0" noProof="1">
                    <a:ln>
                      <a:noFill/>
                    </a:ln>
                    <a:solidFill>
                      <a:srgbClr val="FD5108"/>
                    </a:solidFill>
                    <a:effectLst/>
                    <a:uLnTx/>
                    <a:uFillTx/>
                    <a:latin typeface="Arial"/>
                    <a:ea typeface="+mn-ea"/>
                    <a:cs typeface="+mn-cs"/>
                  </a:rPr>
                  <a:t>’14</a:t>
                </a:r>
              </a:p>
            </p:txBody>
          </p:sp>
          <p:sp>
            <p:nvSpPr>
              <p:cNvPr id="45" name="Rectangle 44">
                <a:extLst>
                  <a:ext uri="{FF2B5EF4-FFF2-40B4-BE49-F238E27FC236}">
                    <a16:creationId xmlns:a16="http://schemas.microsoft.com/office/drawing/2014/main" id="{829E99A7-D569-C1D7-1C66-A994FCE8793E}"/>
                  </a:ext>
                </a:extLst>
              </p:cNvPr>
              <p:cNvSpPr/>
              <p:nvPr/>
            </p:nvSpPr>
            <p:spPr>
              <a:xfrm>
                <a:off x="3038624" y="4465777"/>
                <a:ext cx="252000" cy="252000"/>
              </a:xfrm>
              <a:prstGeom prst="rect">
                <a:avLst/>
              </a:prstGeom>
              <a:solidFill>
                <a:srgbClr val="FFCDA8"/>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46" name="Straight Connector 45">
                <a:extLst>
                  <a:ext uri="{FF2B5EF4-FFF2-40B4-BE49-F238E27FC236}">
                    <a16:creationId xmlns:a16="http://schemas.microsoft.com/office/drawing/2014/main" id="{DA3453BC-005B-0702-DEE6-7B6363A00702}"/>
                  </a:ext>
                </a:extLst>
              </p:cNvPr>
              <p:cNvCxnSpPr>
                <a:cxnSpLocks/>
              </p:cNvCxnSpPr>
              <p:nvPr/>
            </p:nvCxnSpPr>
            <p:spPr>
              <a:xfrm>
                <a:off x="3164624" y="3298442"/>
                <a:ext cx="0" cy="1395620"/>
              </a:xfrm>
              <a:prstGeom prst="line">
                <a:avLst/>
              </a:prstGeom>
              <a:ln w="12700">
                <a:solidFill>
                  <a:srgbClr val="FFCDA8"/>
                </a:solidFill>
                <a:headEnd type="none"/>
              </a:ln>
            </p:spPr>
            <p:style>
              <a:lnRef idx="2">
                <a:schemeClr val="accent1"/>
              </a:lnRef>
              <a:fillRef idx="0">
                <a:schemeClr val="accent1"/>
              </a:fillRef>
              <a:effectRef idx="1">
                <a:schemeClr val="accent1"/>
              </a:effectRef>
              <a:fontRef idx="minor">
                <a:schemeClr val="tx1"/>
              </a:fontRef>
            </p:style>
          </p:cxnSp>
        </p:grpSp>
        <p:grpSp>
          <p:nvGrpSpPr>
            <p:cNvPr id="47" name="Group 46">
              <a:extLst>
                <a:ext uri="{FF2B5EF4-FFF2-40B4-BE49-F238E27FC236}">
                  <a16:creationId xmlns:a16="http://schemas.microsoft.com/office/drawing/2014/main" id="{79ECE007-E14B-4AF4-D26B-BCC1F795F932}"/>
                </a:ext>
              </a:extLst>
            </p:cNvPr>
            <p:cNvGrpSpPr/>
            <p:nvPr/>
          </p:nvGrpSpPr>
          <p:grpSpPr>
            <a:xfrm>
              <a:off x="6798525" y="2946154"/>
              <a:ext cx="2739095" cy="1646687"/>
              <a:chOff x="6879104" y="3071090"/>
              <a:chExt cx="2739095" cy="1646687"/>
            </a:xfrm>
          </p:grpSpPr>
          <p:sp>
            <p:nvSpPr>
              <p:cNvPr id="48" name="Text Placeholder 25">
                <a:extLst>
                  <a:ext uri="{FF2B5EF4-FFF2-40B4-BE49-F238E27FC236}">
                    <a16:creationId xmlns:a16="http://schemas.microsoft.com/office/drawing/2014/main" id="{62BA1929-7EF4-35CC-F417-2925FA587728}"/>
                  </a:ext>
                </a:extLst>
              </p:cNvPr>
              <p:cNvSpPr txBox="1">
                <a:spLocks/>
              </p:cNvSpPr>
              <p:nvPr/>
            </p:nvSpPr>
            <p:spPr>
              <a:xfrm>
                <a:off x="7118350" y="3071090"/>
                <a:ext cx="953749" cy="707886"/>
              </a:xfrm>
              <a:prstGeom prst="rect">
                <a:avLst/>
              </a:prstGeom>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US" sz="4000" b="0" i="0" u="none" strike="noStrike" kern="1200" cap="none" spc="0" normalizeH="0" baseline="0" noProof="1">
                    <a:ln>
                      <a:noFill/>
                    </a:ln>
                    <a:solidFill>
                      <a:srgbClr val="FD5108"/>
                    </a:solidFill>
                    <a:effectLst/>
                    <a:uLnTx/>
                    <a:uFillTx/>
                    <a:latin typeface="Arial"/>
                    <a:ea typeface="+mn-ea"/>
                    <a:cs typeface="+mn-cs"/>
                  </a:rPr>
                  <a:t>’18</a:t>
                </a:r>
              </a:p>
            </p:txBody>
          </p:sp>
          <p:sp>
            <p:nvSpPr>
              <p:cNvPr id="49" name="Rectangle 48">
                <a:extLst>
                  <a:ext uri="{FF2B5EF4-FFF2-40B4-BE49-F238E27FC236}">
                    <a16:creationId xmlns:a16="http://schemas.microsoft.com/office/drawing/2014/main" id="{8D617FBF-AD69-F2D7-B49C-8FE3C8FF915F}"/>
                  </a:ext>
                </a:extLst>
              </p:cNvPr>
              <p:cNvSpPr/>
              <p:nvPr/>
            </p:nvSpPr>
            <p:spPr>
              <a:xfrm>
                <a:off x="6879104" y="4465777"/>
                <a:ext cx="252000" cy="252000"/>
              </a:xfrm>
              <a:prstGeom prst="rect">
                <a:avLst/>
              </a:prstGeom>
              <a:solidFill>
                <a:srgbClr val="FE7C39"/>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50" name="Straight Connector 49">
                <a:extLst>
                  <a:ext uri="{FF2B5EF4-FFF2-40B4-BE49-F238E27FC236}">
                    <a16:creationId xmlns:a16="http://schemas.microsoft.com/office/drawing/2014/main" id="{C5D3A018-944E-0FD8-0D63-0257BCE909BE}"/>
                  </a:ext>
                </a:extLst>
              </p:cNvPr>
              <p:cNvCxnSpPr>
                <a:cxnSpLocks/>
              </p:cNvCxnSpPr>
              <p:nvPr/>
            </p:nvCxnSpPr>
            <p:spPr>
              <a:xfrm>
                <a:off x="7005104" y="3298442"/>
                <a:ext cx="0" cy="1395620"/>
              </a:xfrm>
              <a:prstGeom prst="line">
                <a:avLst/>
              </a:prstGeom>
              <a:ln w="12700">
                <a:solidFill>
                  <a:srgbClr val="FE7C39"/>
                </a:solidFill>
                <a:headEnd type="non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7F080515-02D2-2525-25B6-D70658D3292B}"/>
                  </a:ext>
                </a:extLst>
              </p:cNvPr>
              <p:cNvSpPr txBox="1">
                <a:spLocks noChangeAspect="1"/>
              </p:cNvSpPr>
              <p:nvPr/>
            </p:nvSpPr>
            <p:spPr>
              <a:xfrm>
                <a:off x="7246384" y="3716487"/>
                <a:ext cx="2371815" cy="365806"/>
              </a:xfrm>
              <a:prstGeom prst="rect">
                <a:avLst/>
              </a:prstGeom>
              <a:noFill/>
            </p:spPr>
            <p:txBody>
              <a:bodyPr wrap="square" lIns="0" tIns="0" rIns="0" bIns="0" rtlCol="0">
                <a:spAutoFit/>
              </a:bodyPr>
              <a:lstStyle/>
              <a:p>
                <a:pPr lvl="0">
                  <a:lnSpc>
                    <a:spcPct val="125000"/>
                  </a:lnSpc>
                  <a:spcAft>
                    <a:spcPts val="600"/>
                  </a:spcAft>
                  <a:defRPr/>
                </a:pPr>
                <a:r>
                  <a:rPr lang="en-US" sz="1000" b="1" noProof="1">
                    <a:solidFill>
                      <a:srgbClr val="000000"/>
                    </a:solidFill>
                    <a:latin typeface="Arial" panose="020B0604020202020204" pitchFamily="34" charset="0"/>
                    <a:cs typeface="Arial" panose="020B0604020202020204" pitchFamily="34" charset="0"/>
                  </a:rPr>
                  <a:t>CSF 1.1 adds supply chain risk and self-assessment</a:t>
                </a:r>
              </a:p>
            </p:txBody>
          </p:sp>
        </p:grpSp>
        <p:grpSp>
          <p:nvGrpSpPr>
            <p:cNvPr id="52" name="Group 51">
              <a:extLst>
                <a:ext uri="{FF2B5EF4-FFF2-40B4-BE49-F238E27FC236}">
                  <a16:creationId xmlns:a16="http://schemas.microsoft.com/office/drawing/2014/main" id="{C95263E5-D389-7160-3A7D-2EA98B65844F}"/>
                </a:ext>
              </a:extLst>
            </p:cNvPr>
            <p:cNvGrpSpPr/>
            <p:nvPr/>
          </p:nvGrpSpPr>
          <p:grpSpPr>
            <a:xfrm>
              <a:off x="405974" y="4340841"/>
              <a:ext cx="2709700" cy="1328156"/>
              <a:chOff x="405974" y="4465777"/>
              <a:chExt cx="2709700" cy="1328156"/>
            </a:xfrm>
          </p:grpSpPr>
          <p:sp>
            <p:nvSpPr>
              <p:cNvPr id="53" name="Rectangle 52">
                <a:extLst>
                  <a:ext uri="{FF2B5EF4-FFF2-40B4-BE49-F238E27FC236}">
                    <a16:creationId xmlns:a16="http://schemas.microsoft.com/office/drawing/2014/main" id="{A87F571F-A3D9-F8BF-B9EA-E21C299415D4}"/>
                  </a:ext>
                </a:extLst>
              </p:cNvPr>
              <p:cNvSpPr/>
              <p:nvPr/>
            </p:nvSpPr>
            <p:spPr>
              <a:xfrm>
                <a:off x="405974" y="4465777"/>
                <a:ext cx="252000" cy="252000"/>
              </a:xfrm>
              <a:prstGeom prst="rect">
                <a:avLst/>
              </a:prstGeom>
              <a:solidFill>
                <a:srgbClr val="FFE8D4"/>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sp>
            <p:nvSpPr>
              <p:cNvPr id="54" name="Text Placeholder 25">
                <a:extLst>
                  <a:ext uri="{FF2B5EF4-FFF2-40B4-BE49-F238E27FC236}">
                    <a16:creationId xmlns:a16="http://schemas.microsoft.com/office/drawing/2014/main" id="{65F5FF4D-0B90-19CB-8B4C-61FB218F0CAC}"/>
                  </a:ext>
                </a:extLst>
              </p:cNvPr>
              <p:cNvSpPr txBox="1">
                <a:spLocks/>
              </p:cNvSpPr>
              <p:nvPr/>
            </p:nvSpPr>
            <p:spPr>
              <a:xfrm>
                <a:off x="656464" y="4808644"/>
                <a:ext cx="953749" cy="707886"/>
              </a:xfrm>
              <a:prstGeom prst="rect">
                <a:avLst/>
              </a:prstGeom>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US" sz="4000" b="0" i="0" u="none" strike="noStrike" kern="1200" cap="none" spc="0" normalizeH="0" baseline="0" noProof="1">
                    <a:ln>
                      <a:noFill/>
                    </a:ln>
                    <a:solidFill>
                      <a:srgbClr val="FD5108"/>
                    </a:solidFill>
                    <a:effectLst/>
                    <a:uLnTx/>
                    <a:uFillTx/>
                    <a:latin typeface="Arial"/>
                    <a:ea typeface="+mn-ea"/>
                    <a:cs typeface="+mn-cs"/>
                  </a:rPr>
                  <a:t>’13</a:t>
                </a:r>
              </a:p>
            </p:txBody>
          </p:sp>
          <p:cxnSp>
            <p:nvCxnSpPr>
              <p:cNvPr id="55" name="Straight Connector 54">
                <a:extLst>
                  <a:ext uri="{FF2B5EF4-FFF2-40B4-BE49-F238E27FC236}">
                    <a16:creationId xmlns:a16="http://schemas.microsoft.com/office/drawing/2014/main" id="{7F37A17B-E474-9E5B-24FC-CED2F0DEB933}"/>
                  </a:ext>
                </a:extLst>
              </p:cNvPr>
              <p:cNvCxnSpPr>
                <a:cxnSpLocks/>
              </p:cNvCxnSpPr>
              <p:nvPr/>
            </p:nvCxnSpPr>
            <p:spPr>
              <a:xfrm>
                <a:off x="528740" y="4500095"/>
                <a:ext cx="0" cy="1283613"/>
              </a:xfrm>
              <a:prstGeom prst="line">
                <a:avLst/>
              </a:prstGeom>
              <a:ln w="12700">
                <a:solidFill>
                  <a:srgbClr val="FFE8D4"/>
                </a:solidFill>
                <a:tailEnd type="non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9D894058-25E5-7787-E279-A2AC7C727EA0}"/>
                  </a:ext>
                </a:extLst>
              </p:cNvPr>
              <p:cNvSpPr txBox="1"/>
              <p:nvPr/>
            </p:nvSpPr>
            <p:spPr>
              <a:xfrm>
                <a:off x="787589" y="5428127"/>
                <a:ext cx="2328085" cy="365806"/>
              </a:xfrm>
              <a:prstGeom prst="rect">
                <a:avLst/>
              </a:prstGeom>
              <a:noFill/>
            </p:spPr>
            <p:txBody>
              <a:bodyPr wrap="square" lIns="0" tIns="0" rIns="0" bIns="0" rtlCol="0">
                <a:spAutoFit/>
              </a:bodyPr>
              <a:lstStyle/>
              <a:p>
                <a:pPr lvl="0">
                  <a:lnSpc>
                    <a:spcPct val="125000"/>
                  </a:lnSpc>
                  <a:spcAft>
                    <a:spcPts val="600"/>
                  </a:spcAft>
                  <a:defRPr/>
                </a:pPr>
                <a:r>
                  <a:rPr lang="en-US" sz="1000" b="1" noProof="1">
                    <a:solidFill>
                      <a:srgbClr val="000000"/>
                    </a:solidFill>
                    <a:latin typeface="Arial" panose="020B0604020202020204" pitchFamily="34" charset="0"/>
                    <a:cs typeface="Arial" panose="020B0604020202020204" pitchFamily="34" charset="0"/>
                  </a:rPr>
                  <a:t>Executive Order 13636 asks NIST for a voluntary critical-infrastructure framework</a:t>
                </a:r>
              </a:p>
            </p:txBody>
          </p:sp>
        </p:grpSp>
        <p:grpSp>
          <p:nvGrpSpPr>
            <p:cNvPr id="57" name="Group 56">
              <a:extLst>
                <a:ext uri="{FF2B5EF4-FFF2-40B4-BE49-F238E27FC236}">
                  <a16:creationId xmlns:a16="http://schemas.microsoft.com/office/drawing/2014/main" id="{7F57FD65-C951-08D6-5B25-80E0F1802B34}"/>
                </a:ext>
              </a:extLst>
            </p:cNvPr>
            <p:cNvGrpSpPr/>
            <p:nvPr/>
          </p:nvGrpSpPr>
          <p:grpSpPr>
            <a:xfrm>
              <a:off x="4672897" y="4340841"/>
              <a:ext cx="2712932" cy="1317931"/>
              <a:chOff x="4958329" y="4465777"/>
              <a:chExt cx="2712932" cy="1317931"/>
            </a:xfrm>
          </p:grpSpPr>
          <p:sp>
            <p:nvSpPr>
              <p:cNvPr id="58" name="Text Placeholder 25">
                <a:extLst>
                  <a:ext uri="{FF2B5EF4-FFF2-40B4-BE49-F238E27FC236}">
                    <a16:creationId xmlns:a16="http://schemas.microsoft.com/office/drawing/2014/main" id="{F4032514-DEE9-588A-99A0-68ED71B17098}"/>
                  </a:ext>
                </a:extLst>
              </p:cNvPr>
              <p:cNvSpPr txBox="1">
                <a:spLocks/>
              </p:cNvSpPr>
              <p:nvPr/>
            </p:nvSpPr>
            <p:spPr>
              <a:xfrm>
                <a:off x="5177711" y="4808644"/>
                <a:ext cx="953749" cy="707886"/>
              </a:xfrm>
              <a:prstGeom prst="rect">
                <a:avLst/>
              </a:prstGeom>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US" sz="4000" b="0" i="0" u="none" strike="noStrike" kern="1200" cap="none" spc="0" normalizeH="0" baseline="0" noProof="1">
                    <a:ln>
                      <a:noFill/>
                    </a:ln>
                    <a:solidFill>
                      <a:srgbClr val="FD5108"/>
                    </a:solidFill>
                    <a:effectLst/>
                    <a:uLnTx/>
                    <a:uFillTx/>
                    <a:latin typeface="Arial"/>
                    <a:ea typeface="+mn-ea"/>
                    <a:cs typeface="+mn-cs"/>
                  </a:rPr>
                  <a:t>’17</a:t>
                </a:r>
              </a:p>
            </p:txBody>
          </p:sp>
          <p:cxnSp>
            <p:nvCxnSpPr>
              <p:cNvPr id="59" name="Straight Connector 58">
                <a:extLst>
                  <a:ext uri="{FF2B5EF4-FFF2-40B4-BE49-F238E27FC236}">
                    <a16:creationId xmlns:a16="http://schemas.microsoft.com/office/drawing/2014/main" id="{82C95690-9E0D-E90B-100F-4CF9E32D1308}"/>
                  </a:ext>
                </a:extLst>
              </p:cNvPr>
              <p:cNvCxnSpPr>
                <a:cxnSpLocks/>
              </p:cNvCxnSpPr>
              <p:nvPr/>
            </p:nvCxnSpPr>
            <p:spPr>
              <a:xfrm>
                <a:off x="5084329" y="4465777"/>
                <a:ext cx="0" cy="1280160"/>
              </a:xfrm>
              <a:prstGeom prst="line">
                <a:avLst/>
              </a:prstGeom>
              <a:ln w="12700">
                <a:solidFill>
                  <a:srgbClr val="FFAA72"/>
                </a:solidFill>
                <a:tailEnd type="none"/>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AC0AC900-1B51-3C8C-D058-6A67B139E86F}"/>
                  </a:ext>
                </a:extLst>
              </p:cNvPr>
              <p:cNvSpPr/>
              <p:nvPr/>
            </p:nvSpPr>
            <p:spPr>
              <a:xfrm>
                <a:off x="4958329" y="4465777"/>
                <a:ext cx="252000" cy="252000"/>
              </a:xfrm>
              <a:prstGeom prst="rect">
                <a:avLst/>
              </a:prstGeom>
              <a:solidFill>
                <a:srgbClr val="FFAA7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sp>
            <p:nvSpPr>
              <p:cNvPr id="61" name="TextBox 60">
                <a:extLst>
                  <a:ext uri="{FF2B5EF4-FFF2-40B4-BE49-F238E27FC236}">
                    <a16:creationId xmlns:a16="http://schemas.microsoft.com/office/drawing/2014/main" id="{FCD3C348-458F-D891-3BD4-DCBC3E4A437A}"/>
                  </a:ext>
                </a:extLst>
              </p:cNvPr>
              <p:cNvSpPr txBox="1">
                <a:spLocks noChangeAspect="1"/>
              </p:cNvSpPr>
              <p:nvPr/>
            </p:nvSpPr>
            <p:spPr>
              <a:xfrm>
                <a:off x="5278302" y="5417902"/>
                <a:ext cx="2392959" cy="365806"/>
              </a:xfrm>
              <a:prstGeom prst="rect">
                <a:avLst/>
              </a:prstGeom>
              <a:noFill/>
            </p:spPr>
            <p:txBody>
              <a:bodyPr wrap="square" lIns="0" tIns="0" rIns="0" bIns="0" rtlCol="0">
                <a:spAutoFit/>
              </a:bodyPr>
              <a:lstStyle/>
              <a:p>
                <a:pPr lvl="0">
                  <a:lnSpc>
                    <a:spcPct val="125000"/>
                  </a:lnSpc>
                  <a:spcAft>
                    <a:spcPts val="600"/>
                  </a:spcAft>
                  <a:defRPr/>
                </a:pPr>
                <a:r>
                  <a:rPr lang="en-US" sz="1000" b="1" noProof="1">
                    <a:solidFill>
                      <a:srgbClr val="000000"/>
                    </a:solidFill>
                    <a:latin typeface="Arial" panose="020B0604020202020204" pitchFamily="34" charset="0"/>
                    <a:cs typeface="Arial" panose="020B0604020202020204" pitchFamily="34" charset="0"/>
                  </a:rPr>
                  <a:t>Executive Order 13800: US federal agencies must use the CSF</a:t>
                </a:r>
              </a:p>
            </p:txBody>
          </p:sp>
        </p:grpSp>
        <p:grpSp>
          <p:nvGrpSpPr>
            <p:cNvPr id="62" name="Group 61">
              <a:extLst>
                <a:ext uri="{FF2B5EF4-FFF2-40B4-BE49-F238E27FC236}">
                  <a16:creationId xmlns:a16="http://schemas.microsoft.com/office/drawing/2014/main" id="{626C17FC-AF7C-09F3-618C-9CFC9B7490CE}"/>
                </a:ext>
              </a:extLst>
            </p:cNvPr>
            <p:cNvGrpSpPr/>
            <p:nvPr/>
          </p:nvGrpSpPr>
          <p:grpSpPr>
            <a:xfrm>
              <a:off x="8943056" y="4340841"/>
              <a:ext cx="2560750" cy="1322991"/>
              <a:chOff x="8943056" y="4465777"/>
              <a:chExt cx="2560750" cy="1322991"/>
            </a:xfrm>
          </p:grpSpPr>
          <p:sp>
            <p:nvSpPr>
              <p:cNvPr id="63" name="Rectangle 62">
                <a:extLst>
                  <a:ext uri="{FF2B5EF4-FFF2-40B4-BE49-F238E27FC236}">
                    <a16:creationId xmlns:a16="http://schemas.microsoft.com/office/drawing/2014/main" id="{78EEBB4D-1157-6F01-7261-40E760E4E13D}"/>
                  </a:ext>
                </a:extLst>
              </p:cNvPr>
              <p:cNvSpPr/>
              <p:nvPr/>
            </p:nvSpPr>
            <p:spPr>
              <a:xfrm>
                <a:off x="8943056" y="4465777"/>
                <a:ext cx="252000" cy="252000"/>
              </a:xfrm>
              <a:prstGeom prst="rect">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sp>
            <p:nvSpPr>
              <p:cNvPr id="64" name="Text Placeholder 25">
                <a:extLst>
                  <a:ext uri="{FF2B5EF4-FFF2-40B4-BE49-F238E27FC236}">
                    <a16:creationId xmlns:a16="http://schemas.microsoft.com/office/drawing/2014/main" id="{6CF7E8F8-BA25-A34C-4AB2-BA86C874B6EC}"/>
                  </a:ext>
                </a:extLst>
              </p:cNvPr>
              <p:cNvSpPr txBox="1">
                <a:spLocks/>
              </p:cNvSpPr>
              <p:nvPr/>
            </p:nvSpPr>
            <p:spPr>
              <a:xfrm>
                <a:off x="9177486" y="4836352"/>
                <a:ext cx="953749" cy="707886"/>
              </a:xfrm>
              <a:prstGeom prst="rect">
                <a:avLst/>
              </a:prstGeom>
            </p:spPr>
            <p:txBody>
              <a:bodyPr wrap="square">
                <a:spAutoFit/>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300"/>
                  </a:spcBef>
                  <a:spcAft>
                    <a:spcPts val="1200"/>
                  </a:spcAft>
                  <a:buClrTx/>
                  <a:buSzTx/>
                  <a:buFont typeface="Arial" panose="020B0604020202020204" pitchFamily="34" charset="0"/>
                  <a:buNone/>
                  <a:tabLst/>
                  <a:defRPr/>
                </a:pPr>
                <a:r>
                  <a:rPr kumimoji="0" lang="en-US" sz="4000" b="0" i="0" u="none" strike="noStrike" kern="1200" cap="none" spc="0" normalizeH="0" baseline="0" noProof="1">
                    <a:ln>
                      <a:noFill/>
                    </a:ln>
                    <a:solidFill>
                      <a:srgbClr val="FD5108"/>
                    </a:solidFill>
                    <a:effectLst/>
                    <a:uLnTx/>
                    <a:uFillTx/>
                    <a:latin typeface="Arial"/>
                    <a:ea typeface="+mn-ea"/>
                    <a:cs typeface="+mn-cs"/>
                  </a:rPr>
                  <a:t>’24</a:t>
                </a:r>
              </a:p>
            </p:txBody>
          </p:sp>
          <p:cxnSp>
            <p:nvCxnSpPr>
              <p:cNvPr id="65" name="Straight Connector 64">
                <a:extLst>
                  <a:ext uri="{FF2B5EF4-FFF2-40B4-BE49-F238E27FC236}">
                    <a16:creationId xmlns:a16="http://schemas.microsoft.com/office/drawing/2014/main" id="{C012E871-ABBF-A5DA-A007-7470FB8E81DC}"/>
                  </a:ext>
                </a:extLst>
              </p:cNvPr>
              <p:cNvCxnSpPr>
                <a:cxnSpLocks/>
              </p:cNvCxnSpPr>
              <p:nvPr/>
            </p:nvCxnSpPr>
            <p:spPr>
              <a:xfrm>
                <a:off x="9069056" y="4465777"/>
                <a:ext cx="0" cy="1280160"/>
              </a:xfrm>
              <a:prstGeom prst="line">
                <a:avLst/>
              </a:prstGeom>
              <a:ln w="12700">
                <a:solidFill>
                  <a:srgbClr val="FD5108"/>
                </a:solidFill>
                <a:tailEnd type="none"/>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F0FABE68-CF3E-9E1E-81B7-D549D9BC5CC9}"/>
                  </a:ext>
                </a:extLst>
              </p:cNvPr>
              <p:cNvSpPr txBox="1">
                <a:spLocks noChangeAspect="1"/>
              </p:cNvSpPr>
              <p:nvPr/>
            </p:nvSpPr>
            <p:spPr>
              <a:xfrm>
                <a:off x="9269879" y="5422962"/>
                <a:ext cx="2233927" cy="365806"/>
              </a:xfrm>
              <a:prstGeom prst="rect">
                <a:avLst/>
              </a:prstGeom>
              <a:noFill/>
            </p:spPr>
            <p:txBody>
              <a:bodyPr wrap="square" lIns="0" tIns="0" rIns="0" bIns="0" rtlCol="0">
                <a:spAutoFit/>
              </a:bodyPr>
              <a:lstStyle/>
              <a:p>
                <a:pPr lvl="0">
                  <a:lnSpc>
                    <a:spcPct val="125000"/>
                  </a:lnSpc>
                  <a:spcAft>
                    <a:spcPts val="600"/>
                  </a:spcAft>
                  <a:defRPr/>
                </a:pPr>
                <a:r>
                  <a:rPr lang="en-US" sz="1000" b="1" noProof="1">
                    <a:solidFill>
                      <a:srgbClr val="000000"/>
                    </a:solidFill>
                    <a:latin typeface="Arial" panose="020B0604020202020204" pitchFamily="34" charset="0"/>
                    <a:cs typeface="Arial" panose="020B0604020202020204" pitchFamily="34" charset="0"/>
                  </a:rPr>
                  <a:t>26 Feb: CSF 2.0 — renamed, adds Govern</a:t>
                </a:r>
              </a:p>
            </p:txBody>
          </p:sp>
        </p:grpSp>
        <p:sp>
          <p:nvSpPr>
            <p:cNvPr id="67" name="Rectangle 66">
              <a:extLst>
                <a:ext uri="{FF2B5EF4-FFF2-40B4-BE49-F238E27FC236}">
                  <a16:creationId xmlns:a16="http://schemas.microsoft.com/office/drawing/2014/main" id="{7E79249A-0AB4-1485-766C-DCD3E845920C}"/>
                </a:ext>
              </a:extLst>
            </p:cNvPr>
            <p:cNvSpPr/>
            <p:nvPr/>
          </p:nvSpPr>
          <p:spPr>
            <a:xfrm>
              <a:off x="10366533" y="4241779"/>
              <a:ext cx="1137280" cy="411480"/>
            </a:xfrm>
            <a:prstGeom prst="rect">
              <a:avLst/>
            </a:prstGeom>
            <a:solidFill>
              <a:srgbClr val="DFE3E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0" rIns="9144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srgbClr val="000000"/>
                  </a:solidFill>
                  <a:effectLst/>
                  <a:uLnTx/>
                  <a:uFillTx/>
                  <a:latin typeface="Arial"/>
                  <a:ea typeface="+mn-ea"/>
                  <a:cs typeface="+mn-cs"/>
                </a:rPr>
                <a:t>2022–23: RFI, concept paper, drafts</a:t>
              </a:r>
            </a:p>
          </p:txBody>
        </p:sp>
      </p:grpSp>
      <p:sp>
        <p:nvSpPr>
          <p:cNvPr id="9000"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9001"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Pulse check: certification</a:t>
            </a:r>
          </a:p>
        </p:txBody>
      </p:sp>
      <p:sp>
        <p:nvSpPr>
          <p:cNvPr id="3" name="Text Placeholder 2"/>
          <p:cNvSpPr>
            <a:spLocks noGrp="1"/>
          </p:cNvSpPr>
          <p:nvPr>
            <p:ph type="body" idx="12" sz="quarter"/>
          </p:nvPr>
        </p:nvSpPr>
        <p:spPr/>
        <p:txBody>
          <a:bodyPr/>
          <a:lstStyle/>
          <a:p>
            <a:r>
              <a:rPr b="0" sz="3600"/>
              <a:t>A vendor says: “We are NIST CSF 2.0 certified.” Do you accept that as evidence?</a:t>
            </a:r>
          </a:p>
        </p:txBody>
      </p:sp>
      <p:sp>
        <p:nvSpPr>
          <p:cNvPr id="4" name="Content Placeholder 3"/>
          <p:cNvSpPr>
            <a:spLocks noGrp="1"/>
          </p:cNvSpPr>
          <p:nvPr>
            <p:ph idx="10" sz="quarter"/>
          </p:nvPr>
        </p:nvSpPr>
        <p:spPr/>
        <p:txBody>
          <a:bodyPr/>
          <a:lstStyle/>
          <a:p>
            <a:r>
              <a:rPr b="1" sz="1600"/>
              <a:t>Hands up: Yes · No · Depends</a:t>
            </a:r>
          </a:p>
          <a:p>
            <a:r>
              <a:rPr b="0" sz="1600"/>
              <a:t>Pulse check</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No. There is no such thing as CSF certification</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00200"/>
          <a:ext cx="11430000" cy="3200400"/>
        </p:xfrm>
        <a:graphic>
          <a:graphicData uri="http://schemas.openxmlformats.org/drawingml/2006/table">
            <a:tbl>
              <a:tblPr firstRow="1">
                <a:tableStyleId>{605943CB-6F42-4776-B506-94E284F2829C}</a:tableStyleId>
              </a:tblPr>
              <a:tblGrid>
                <a:gridCol w="2743200"/>
                <a:gridCol w="4343400"/>
                <a:gridCol w="4343400"/>
              </a:tblGrid>
              <a:tr h="640080">
                <a:tc>
                  <a:txBody>
                    <a:bodyPr/>
                    <a:lstStyle/>
                    <a:p/>
                  </a:txBody>
                  <a:tcPr anchor="ctr" marT="36576" marB="36576"/>
                </a:tc>
                <a:tc>
                  <a:txBody>
                    <a:bodyPr/>
                    <a:lstStyle/>
                    <a:p>
                      <a:r>
                        <a:rPr sz="1600" b="1"/>
                        <a:t>NIST CSF 2.0</a:t>
                      </a:r>
                    </a:p>
                  </a:txBody>
                  <a:tcPr anchor="ctr" marT="36576" marB="36576"/>
                </a:tc>
                <a:tc>
                  <a:txBody>
                    <a:bodyPr/>
                    <a:lstStyle/>
                    <a:p>
                      <a:r>
                        <a:rPr sz="1600" b="1"/>
                        <a:t>ISO/IEC 27001</a:t>
                      </a:r>
                    </a:p>
                  </a:txBody>
                  <a:tcPr anchor="ctr" marT="36576" marB="36576"/>
                </a:tc>
              </a:tr>
              <a:tr h="640080">
                <a:tc>
                  <a:txBody>
                    <a:bodyPr/>
                    <a:lstStyle/>
                    <a:p>
                      <a:r>
                        <a:rPr sz="1600"/>
                        <a:t>What it is</a:t>
                      </a:r>
                    </a:p>
                  </a:txBody>
                  <a:tcPr anchor="ctr" marT="36576" marB="36576"/>
                </a:tc>
                <a:tc>
                  <a:txBody>
                    <a:bodyPr/>
                    <a:lstStyle/>
                    <a:p>
                      <a:r>
                        <a:rPr sz="1600"/>
                        <a:t>A voluntary framework of outcomes</a:t>
                      </a:r>
                    </a:p>
                  </a:txBody>
                  <a:tcPr anchor="ctr" marT="36576" marB="36576"/>
                </a:tc>
                <a:tc>
                  <a:txBody>
                    <a:bodyPr/>
                    <a:lstStyle/>
                    <a:p>
                      <a:r>
                        <a:rPr sz="1600"/>
                        <a:t>A management-system standard with “shall” requirements</a:t>
                      </a:r>
                    </a:p>
                  </a:txBody>
                  <a:tcPr anchor="ctr" marT="36576" marB="36576"/>
                </a:tc>
              </a:tr>
              <a:tr h="640080">
                <a:tc>
                  <a:txBody>
                    <a:bodyPr/>
                    <a:lstStyle/>
                    <a:p>
                      <a:r>
                        <a:rPr sz="1600"/>
                        <a:t>Certification</a:t>
                      </a:r>
                    </a:p>
                  </a:txBody>
                  <a:tcPr anchor="ctr" marT="36576" marB="36576"/>
                </a:tc>
                <a:tc>
                  <a:txBody>
                    <a:bodyPr/>
                    <a:lstStyle/>
                    <a:p>
                      <a:r>
                        <a:rPr sz="1600" b="1">
                          <a:solidFill>
                            <a:srgbClr val="FD5108"/>
                          </a:solidFill>
                        </a:rPr>
                        <a:t>None — NIST runs no scheme and accredits no one</a:t>
                      </a:r>
                    </a:p>
                  </a:txBody>
                  <a:tcPr anchor="ctr" marT="36576" marB="36576"/>
                </a:tc>
                <a:tc>
                  <a:txBody>
                    <a:bodyPr/>
                    <a:lstStyle/>
                    <a:p>
                      <a:r>
                        <a:rPr sz="1600"/>
                        <a:t>Yes, by accredited certification bodies</a:t>
                      </a:r>
                    </a:p>
                  </a:txBody>
                  <a:tcPr anchor="ctr" marT="36576" marB="36576"/>
                </a:tc>
              </a:tr>
              <a:tr h="640080">
                <a:tc>
                  <a:txBody>
                    <a:bodyPr/>
                    <a:lstStyle/>
                    <a:p>
                      <a:r>
                        <a:rPr sz="1600"/>
                        <a:t>What a vendor can honestly say</a:t>
                      </a:r>
                    </a:p>
                  </a:txBody>
                  <a:tcPr anchor="ctr" marT="36576" marB="36576"/>
                </a:tc>
                <a:tc>
                  <a:txBody>
                    <a:bodyPr/>
                    <a:lstStyle/>
                    <a:p>
                      <a:r>
                        <a:rPr sz="1600"/>
                        <a:t>“We have assessed ourselves (or been assessed) against the CSF”</a:t>
                      </a:r>
                    </a:p>
                  </a:txBody>
                  <a:tcPr anchor="ctr" marT="36576" marB="36576"/>
                </a:tc>
                <a:tc>
                  <a:txBody>
                    <a:bodyPr/>
                    <a:lstStyle/>
                    <a:p>
                      <a:r>
                        <a:rPr sz="1600"/>
                        <a:t>“We hold ISO 27001 certificate no. …, scope …”</a:t>
                      </a:r>
                    </a:p>
                  </a:txBody>
                  <a:tcPr anchor="ctr" marT="36576" marB="36576"/>
                </a:tc>
              </a:tr>
              <a:tr h="640080">
                <a:tc>
                  <a:txBody>
                    <a:bodyPr/>
                    <a:lstStyle/>
                    <a:p>
                      <a:r>
                        <a:rPr sz="1600"/>
                        <a:t>Your next question</a:t>
                      </a:r>
                    </a:p>
                  </a:txBody>
                  <a:tcPr anchor="ctr" marT="36576" marB="36576"/>
                </a:tc>
                <a:tc>
                  <a:txBody>
                    <a:bodyPr/>
                    <a:lstStyle/>
                    <a:p>
                      <a:r>
                        <a:rPr sz="1600"/>
                        <a:t>Who assessed? Against which Profile? When?</a:t>
                      </a:r>
                    </a:p>
                  </a:txBody>
                  <a:tcPr anchor="ctr" marT="36576" marB="36576"/>
                </a:tc>
                <a:tc>
                  <a:txBody>
                    <a:bodyPr/>
                    <a:lstStyle/>
                    <a:p>
                      <a:r>
                        <a:rPr sz="1600"/>
                        <a:t>What is in scope? Is the certificate current?</a:t>
                      </a:r>
                    </a:p>
                  </a:txBody>
                  <a:tcPr anchor="ctr" marT="36576" marB="36576"/>
                </a:tc>
              </a:tr>
            </a:tbl>
          </a:graphicData>
        </a:graphic>
      </p:graphicFrame>
      <p:sp>
        <p:nvSpPr>
          <p:cNvPr id="8" name="Rectangle 7"/>
          <p:cNvSpPr/>
          <p:nvPr/>
        </p:nvSpPr>
        <p:spPr>
          <a:xfrm>
            <a:off x="365760" y="5074920"/>
            <a:ext cx="11430000" cy="64008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Treat “NIST certified” as a claim to test — not as evidence.</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 ISO/IEC 27001:2022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How it is built</a:t>
            </a:r>
          </a:p>
        </p:txBody>
      </p:sp>
      <p:sp>
        <p:nvSpPr>
          <p:cNvPr id="3" name="Text Placeholder 2"/>
          <p:cNvSpPr>
            <a:spLocks noGrp="1"/>
          </p:cNvSpPr>
          <p:nvPr>
            <p:ph type="body" idx="1"/>
          </p:nvPr>
        </p:nvSpPr>
        <p:spPr/>
        <p:txBody>
          <a:bodyPr/>
          <a:lstStyle/>
          <a:p>
            <a:r>
              <a:rPr b="0"/>
              <a:t>3</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Core</a:t>
            </a:r>
          </a:p>
        </p:txBody>
      </p:sp>
      <p:sp>
        <p:nvSpPr>
          <p:cNvPr id="3" name="Content Placeholder 2"/>
          <p:cNvSpPr>
            <a:spLocks noGrp="1"/>
          </p:cNvSpPr>
          <p:nvPr>
            <p:ph idx="13"/>
          </p:nvPr>
        </p:nvSpPr>
        <p:spPr/>
        <p:txBody>
          <a:bodyPr/>
          <a:lstStyle/>
          <a:p>
            <a:r>
              <a:rPr b="0"/>
              <a:t>Profiles</a:t>
            </a:r>
          </a:p>
        </p:txBody>
      </p:sp>
      <p:sp>
        <p:nvSpPr>
          <p:cNvPr id="4" name="Content Placeholder 3"/>
          <p:cNvSpPr>
            <a:spLocks noGrp="1"/>
          </p:cNvSpPr>
          <p:nvPr>
            <p:ph idx="14"/>
          </p:nvPr>
        </p:nvSpPr>
        <p:spPr/>
        <p:txBody>
          <a:bodyPr/>
          <a:lstStyle/>
          <a:p>
            <a:r>
              <a:rPr b="0"/>
              <a:t>Tiers</a:t>
            </a:r>
          </a:p>
        </p:txBody>
      </p:sp>
      <p:sp>
        <p:nvSpPr>
          <p:cNvPr id="5" name="Content Placeholder 4"/>
          <p:cNvSpPr>
            <a:spLocks noGrp="1"/>
          </p:cNvSpPr>
          <p:nvPr>
            <p:ph idx="15" sz="quarter"/>
          </p:nvPr>
        </p:nvSpPr>
        <p:spPr/>
        <p:txBody>
          <a:bodyPr/>
          <a:lstStyle/>
          <a:p>
            <a:pPr>
              <a:spcAft>
                <a:spcPts val="600"/>
              </a:spcAft>
            </a:pPr>
            <a:r>
              <a:rPr b="1" sz="1600"/>
              <a:t>The catalogue</a:t>
            </a:r>
          </a:p>
          <a:p>
            <a:r>
              <a:rPr b="0" sz="1600"/>
              <a:t>A taxonomy of outcomes: 6 Functions, 22 Categories, 106 Subcategories. The “what”.</a:t>
            </a:r>
          </a:p>
        </p:txBody>
      </p:sp>
      <p:sp>
        <p:nvSpPr>
          <p:cNvPr id="6" name="Content Placeholder 5"/>
          <p:cNvSpPr>
            <a:spLocks noGrp="1"/>
          </p:cNvSpPr>
          <p:nvPr>
            <p:ph idx="16" sz="quarter"/>
          </p:nvPr>
        </p:nvSpPr>
        <p:spPr/>
        <p:txBody>
          <a:bodyPr/>
          <a:lstStyle/>
          <a:p>
            <a:pPr>
              <a:spcAft>
                <a:spcPts val="600"/>
              </a:spcAft>
            </a:pPr>
            <a:r>
              <a:rPr b="1"/>
              <a:t>The gap</a:t>
            </a:r>
          </a:p>
          <a:p>
            <a:r>
              <a:rPr b="0" sz="1600"/>
              <a:t>Where you are (Current) and where you want to be (Target), in the Core’s outcomes. The gap is your plan.</a:t>
            </a:r>
          </a:p>
        </p:txBody>
      </p:sp>
      <p:sp>
        <p:nvSpPr>
          <p:cNvPr id="7" name="Content Placeholder 6"/>
          <p:cNvSpPr>
            <a:spLocks noGrp="1"/>
          </p:cNvSpPr>
          <p:nvPr>
            <p:ph idx="17" sz="quarter"/>
          </p:nvPr>
        </p:nvSpPr>
        <p:spPr/>
        <p:txBody>
          <a:bodyPr/>
          <a:lstStyle/>
          <a:p>
            <a:pPr>
              <a:spcAft>
                <a:spcPts val="600"/>
              </a:spcAft>
            </a:pPr>
            <a:r>
              <a:rPr b="1" sz="1600"/>
              <a:t>The rigour</a:t>
            </a:r>
          </a:p>
          <a:p>
            <a:r>
              <a:rPr b="0" sz="1600"/>
              <a:t>How rigorously cyber risk is governed and managed: Partial, Risk Informed, Repeatable, Adaptive.</a:t>
            </a:r>
          </a:p>
        </p:txBody>
      </p:sp>
      <p:sp>
        <p:nvSpPr>
          <p:cNvPr id="8" name="Title 7"/>
          <p:cNvSpPr>
            <a:spLocks noGrp="1"/>
          </p:cNvSpPr>
          <p:nvPr>
            <p:ph type="title"/>
          </p:nvPr>
        </p:nvSpPr>
        <p:spPr/>
        <p:txBody>
          <a:bodyPr/>
          <a:lstStyle/>
          <a:p>
            <a:r>
              <a:rPr b="0"/>
              <a:t>Three parts: a Core, Profiles and Tiers</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§2–4 · plus online Informative References, Implementation Examples and Quick-Start Guides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Six functions, with Govern at the centre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Oval 6"/>
          <p:cNvSpPr/>
          <p:nvPr/>
        </p:nvSpPr>
        <p:spPr>
          <a:xfrm>
            <a:off x="1536191" y="2313432"/>
            <a:ext cx="2962656" cy="2962656"/>
          </a:xfrm>
          <a:prstGeom prst="ellipse">
            <a:avLst/>
          </a:prstGeom>
          <a:noFill/>
          <a:ln w="15875">
            <a:solidFill>
              <a:srgbClr val="A1A8B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86584" y="1682496"/>
            <a:ext cx="1261872" cy="1261872"/>
          </a:xfrm>
          <a:prstGeom prst="ellipse">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300">
                <a:solidFill>
                  <a:srgbClr val="000000"/>
                </a:solidFill>
              </a:rPr>
              <a:t>IDENTIFY</a:t>
            </a:r>
          </a:p>
          <a:p>
            <a:pPr algn="ctr"/>
            <a:r>
              <a:rPr b="0" sz="1200">
                <a:solidFill>
                  <a:srgbClr val="6B727D"/>
                </a:solidFill>
              </a:rPr>
              <a:t>ID</a:t>
            </a:r>
          </a:p>
        </p:txBody>
      </p:sp>
      <p:sp>
        <p:nvSpPr>
          <p:cNvPr id="9" name="Oval 8"/>
          <p:cNvSpPr/>
          <p:nvPr/>
        </p:nvSpPr>
        <p:spPr>
          <a:xfrm>
            <a:off x="3795410" y="2706068"/>
            <a:ext cx="1261872" cy="1261872"/>
          </a:xfrm>
          <a:prstGeom prst="ellipse">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300">
                <a:solidFill>
                  <a:srgbClr val="000000"/>
                </a:solidFill>
              </a:rPr>
              <a:t>PROTECT</a:t>
            </a:r>
          </a:p>
          <a:p>
            <a:pPr algn="ctr"/>
            <a:r>
              <a:rPr b="0" sz="1200">
                <a:solidFill>
                  <a:srgbClr val="6B727D"/>
                </a:solidFill>
              </a:rPr>
              <a:t>PR</a:t>
            </a:r>
          </a:p>
        </p:txBody>
      </p:sp>
      <p:sp>
        <p:nvSpPr>
          <p:cNvPr id="10" name="Oval 9"/>
          <p:cNvSpPr/>
          <p:nvPr/>
        </p:nvSpPr>
        <p:spPr>
          <a:xfrm>
            <a:off x="3257286" y="4362243"/>
            <a:ext cx="1261872" cy="1261872"/>
          </a:xfrm>
          <a:prstGeom prst="ellipse">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300">
                <a:solidFill>
                  <a:srgbClr val="000000"/>
                </a:solidFill>
              </a:rPr>
              <a:t>DETECT</a:t>
            </a:r>
          </a:p>
          <a:p>
            <a:pPr algn="ctr"/>
            <a:r>
              <a:rPr b="0" sz="1200">
                <a:solidFill>
                  <a:srgbClr val="6B727D"/>
                </a:solidFill>
              </a:rPr>
              <a:t>DE</a:t>
            </a:r>
          </a:p>
        </p:txBody>
      </p:sp>
      <p:sp>
        <p:nvSpPr>
          <p:cNvPr id="11" name="Oval 10"/>
          <p:cNvSpPr/>
          <p:nvPr/>
        </p:nvSpPr>
        <p:spPr>
          <a:xfrm>
            <a:off x="1515881" y="4362243"/>
            <a:ext cx="1261872" cy="1261872"/>
          </a:xfrm>
          <a:prstGeom prst="ellipse">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300">
                <a:solidFill>
                  <a:srgbClr val="000000"/>
                </a:solidFill>
              </a:rPr>
              <a:t>RESPOND</a:t>
            </a:r>
          </a:p>
          <a:p>
            <a:pPr algn="ctr"/>
            <a:r>
              <a:rPr b="0" sz="1200">
                <a:solidFill>
                  <a:srgbClr val="6B727D"/>
                </a:solidFill>
              </a:rPr>
              <a:t>RS</a:t>
            </a:r>
          </a:p>
        </p:txBody>
      </p:sp>
      <p:sp>
        <p:nvSpPr>
          <p:cNvPr id="12" name="Oval 11"/>
          <p:cNvSpPr/>
          <p:nvPr/>
        </p:nvSpPr>
        <p:spPr>
          <a:xfrm>
            <a:off x="977757" y="2706068"/>
            <a:ext cx="1261872" cy="1261872"/>
          </a:xfrm>
          <a:prstGeom prst="ellipse">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300">
                <a:solidFill>
                  <a:srgbClr val="000000"/>
                </a:solidFill>
              </a:rPr>
              <a:t>RECOVER</a:t>
            </a:r>
          </a:p>
          <a:p>
            <a:pPr algn="ctr"/>
            <a:r>
              <a:rPr b="0" sz="1200">
                <a:solidFill>
                  <a:srgbClr val="6B727D"/>
                </a:solidFill>
              </a:rPr>
              <a:t>RC</a:t>
            </a:r>
          </a:p>
        </p:txBody>
      </p:sp>
      <p:sp>
        <p:nvSpPr>
          <p:cNvPr id="13" name="Oval 12"/>
          <p:cNvSpPr/>
          <p:nvPr/>
        </p:nvSpPr>
        <p:spPr>
          <a:xfrm>
            <a:off x="2240279" y="3017520"/>
            <a:ext cx="1554480" cy="1554480"/>
          </a:xfrm>
          <a:prstGeom prst="ellipse">
            <a:avLst/>
          </a:prstGeom>
          <a:solidFill>
            <a:srgbClr val="FD510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b="1" sz="1600">
                <a:solidFill>
                  <a:srgbClr val="FFFFFF"/>
                </a:solidFill>
              </a:rPr>
              <a:t>GOVERN</a:t>
            </a:r>
          </a:p>
          <a:p>
            <a:pPr algn="ctr"/>
            <a:r>
              <a:rPr b="0" sz="1300">
                <a:solidFill>
                  <a:srgbClr val="FFFFFF"/>
                </a:solidFill>
              </a:rPr>
              <a:t>GV</a:t>
            </a:r>
          </a:p>
        </p:txBody>
      </p:sp>
      <p:graphicFrame>
        <p:nvGraphicFramePr>
          <p:cNvPr id="14" name="Table 13"/>
          <p:cNvGraphicFramePr>
            <a:graphicFrameLocks noGrp="1"/>
          </p:cNvGraphicFramePr>
          <p:nvPr/>
        </p:nvGraphicFramePr>
        <p:xfrm>
          <a:off x="6153912" y="1737360"/>
          <a:ext cx="5669280" cy="3712464"/>
        </p:xfrm>
        <a:graphic>
          <a:graphicData uri="http://schemas.openxmlformats.org/drawingml/2006/table">
            <a:tbl>
              <a:tblPr firstRow="1">
                <a:tableStyleId>{605943CB-6F42-4776-B506-94E284F2829C}</a:tableStyleId>
              </a:tblPr>
              <a:tblGrid>
                <a:gridCol w="1463040"/>
                <a:gridCol w="4206240"/>
              </a:tblGrid>
              <a:tr h="530352">
                <a:tc>
                  <a:txBody>
                    <a:bodyPr/>
                    <a:lstStyle/>
                    <a:p>
                      <a:r>
                        <a:rPr sz="1600" b="1"/>
                        <a:t>Function</a:t>
                      </a:r>
                    </a:p>
                  </a:txBody>
                  <a:tcPr anchor="ctr" marT="36576" marB="36576"/>
                </a:tc>
                <a:tc>
                  <a:txBody>
                    <a:bodyPr/>
                    <a:lstStyle/>
                    <a:p>
                      <a:r>
                        <a:rPr sz="1600" b="1"/>
                        <a:t>In one line</a:t>
                      </a:r>
                    </a:p>
                  </a:txBody>
                  <a:tcPr anchor="ctr" marT="36576" marB="36576"/>
                </a:tc>
              </a:tr>
              <a:tr h="530352">
                <a:tc>
                  <a:txBody>
                    <a:bodyPr/>
                    <a:lstStyle/>
                    <a:p>
                      <a:r>
                        <a:rPr sz="1600" b="1">
                          <a:solidFill>
                            <a:srgbClr val="FD5108"/>
                          </a:solidFill>
                        </a:rPr>
                        <a:t>Govern</a:t>
                      </a:r>
                    </a:p>
                  </a:txBody>
                  <a:tcPr anchor="ctr" marT="36576" marB="36576"/>
                </a:tc>
                <a:tc>
                  <a:txBody>
                    <a:bodyPr/>
                    <a:lstStyle/>
                    <a:p>
                      <a:r>
                        <a:rPr sz="1600"/>
                        <a:t>Strategy, expectations, policy and oversight</a:t>
                      </a:r>
                    </a:p>
                  </a:txBody>
                  <a:tcPr anchor="ctr" marT="36576" marB="36576"/>
                </a:tc>
              </a:tr>
              <a:tr h="530352">
                <a:tc>
                  <a:txBody>
                    <a:bodyPr/>
                    <a:lstStyle/>
                    <a:p>
                      <a:r>
                        <a:rPr sz="1600"/>
                        <a:t>Identify</a:t>
                      </a:r>
                    </a:p>
                  </a:txBody>
                  <a:tcPr anchor="ctr" marT="36576" marB="36576"/>
                </a:tc>
                <a:tc>
                  <a:txBody>
                    <a:bodyPr/>
                    <a:lstStyle/>
                    <a:p>
                      <a:r>
                        <a:rPr sz="1600"/>
                        <a:t>Understand current cyber risk</a:t>
                      </a:r>
                    </a:p>
                  </a:txBody>
                  <a:tcPr anchor="ctr" marT="36576" marB="36576"/>
                </a:tc>
              </a:tr>
              <a:tr h="530352">
                <a:tc>
                  <a:txBody>
                    <a:bodyPr/>
                    <a:lstStyle/>
                    <a:p>
                      <a:r>
                        <a:rPr sz="1600"/>
                        <a:t>Protect</a:t>
                      </a:r>
                    </a:p>
                  </a:txBody>
                  <a:tcPr anchor="ctr" marT="36576" marB="36576"/>
                </a:tc>
                <a:tc>
                  <a:txBody>
                    <a:bodyPr/>
                    <a:lstStyle/>
                    <a:p>
                      <a:r>
                        <a:rPr sz="1600"/>
                        <a:t>Safeguards to manage that risk</a:t>
                      </a:r>
                    </a:p>
                  </a:txBody>
                  <a:tcPr anchor="ctr" marT="36576" marB="36576"/>
                </a:tc>
              </a:tr>
              <a:tr h="530352">
                <a:tc>
                  <a:txBody>
                    <a:bodyPr/>
                    <a:lstStyle/>
                    <a:p>
                      <a:r>
                        <a:rPr sz="1600"/>
                        <a:t>Detect</a:t>
                      </a:r>
                    </a:p>
                  </a:txBody>
                  <a:tcPr anchor="ctr" marT="36576" marB="36576"/>
                </a:tc>
                <a:tc>
                  <a:txBody>
                    <a:bodyPr/>
                    <a:lstStyle/>
                    <a:p>
                      <a:r>
                        <a:rPr sz="1600"/>
                        <a:t>Find and analyse attacks and compromises</a:t>
                      </a:r>
                    </a:p>
                  </a:txBody>
                  <a:tcPr anchor="ctr" marT="36576" marB="36576"/>
                </a:tc>
              </a:tr>
              <a:tr h="530352">
                <a:tc>
                  <a:txBody>
                    <a:bodyPr/>
                    <a:lstStyle/>
                    <a:p>
                      <a:r>
                        <a:rPr sz="1600"/>
                        <a:t>Respond</a:t>
                      </a:r>
                    </a:p>
                  </a:txBody>
                  <a:tcPr anchor="ctr" marT="36576" marB="36576"/>
                </a:tc>
                <a:tc>
                  <a:txBody>
                    <a:bodyPr/>
                    <a:lstStyle/>
                    <a:p>
                      <a:r>
                        <a:rPr sz="1600"/>
                        <a:t>Act on a detected incident</a:t>
                      </a:r>
                    </a:p>
                  </a:txBody>
                  <a:tcPr anchor="ctr" marT="36576" marB="36576"/>
                </a:tc>
              </a:tr>
              <a:tr h="530352">
                <a:tc>
                  <a:txBody>
                    <a:bodyPr/>
                    <a:lstStyle/>
                    <a:p>
                      <a:r>
                        <a:rPr sz="1600"/>
                        <a:t>Recover</a:t>
                      </a:r>
                    </a:p>
                  </a:txBody>
                  <a:tcPr anchor="ctr" marT="36576" marB="36576"/>
                </a:tc>
                <a:tc>
                  <a:txBody>
                    <a:bodyPr/>
                    <a:lstStyle/>
                    <a:p>
                      <a:r>
                        <a:rPr sz="1600"/>
                        <a:t>Restore affected assets and operations</a:t>
                      </a:r>
                    </a:p>
                  </a:txBody>
                  <a:tcPr anchor="ctr" marT="36576" marB="36576"/>
                </a:tc>
              </a:tr>
            </a:tbl>
          </a:graphicData>
        </a:graphic>
      </p:graphicFrame>
      <p:sp>
        <p:nvSpPr>
          <p:cNvPr id="15" name="TextBox 14"/>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§2 and Fig. 2 · the Functions run concurrently, not in sequence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6</a:t>
            </a:r>
          </a:p>
        </p:txBody>
      </p:sp>
      <p:sp>
        <p:nvSpPr>
          <p:cNvPr id="3" name="Content Placeholder 2"/>
          <p:cNvSpPr>
            <a:spLocks noGrp="1"/>
          </p:cNvSpPr>
          <p:nvPr>
            <p:ph idx="13"/>
          </p:nvPr>
        </p:nvSpPr>
        <p:spPr/>
        <p:txBody>
          <a:bodyPr/>
          <a:lstStyle/>
          <a:p>
            <a:r>
              <a:rPr b="0"/>
              <a:t>22</a:t>
            </a:r>
          </a:p>
        </p:txBody>
      </p:sp>
      <p:sp>
        <p:nvSpPr>
          <p:cNvPr id="4" name="Content Placeholder 3"/>
          <p:cNvSpPr>
            <a:spLocks noGrp="1"/>
          </p:cNvSpPr>
          <p:nvPr>
            <p:ph idx="14"/>
          </p:nvPr>
        </p:nvSpPr>
        <p:spPr/>
        <p:txBody>
          <a:bodyPr/>
          <a:lstStyle/>
          <a:p>
            <a:r>
              <a:rPr b="0"/>
              <a:t>106</a:t>
            </a:r>
          </a:p>
        </p:txBody>
      </p:sp>
      <p:sp>
        <p:nvSpPr>
          <p:cNvPr id="5" name="Content Placeholder 4"/>
          <p:cNvSpPr>
            <a:spLocks noGrp="1"/>
          </p:cNvSpPr>
          <p:nvPr>
            <p:ph idx="15" sz="quarter"/>
          </p:nvPr>
        </p:nvSpPr>
        <p:spPr/>
        <p:txBody>
          <a:bodyPr/>
          <a:lstStyle/>
          <a:p>
            <a:pPr>
              <a:spcAft>
                <a:spcPts val="600"/>
              </a:spcAft>
            </a:pPr>
            <a:r>
              <a:rPr b="1" sz="1600"/>
              <a:t>Functions — the board’s view</a:t>
            </a:r>
          </a:p>
          <a:p>
            <a:r>
              <a:rPr b="0" sz="1600"/>
              <a:t>e.g. IDENTIFY (ID)</a:t>
            </a:r>
          </a:p>
        </p:txBody>
      </p:sp>
      <p:sp>
        <p:nvSpPr>
          <p:cNvPr id="6" name="Content Placeholder 5"/>
          <p:cNvSpPr>
            <a:spLocks noGrp="1"/>
          </p:cNvSpPr>
          <p:nvPr>
            <p:ph idx="16" sz="quarter"/>
          </p:nvPr>
        </p:nvSpPr>
        <p:spPr/>
        <p:txBody>
          <a:bodyPr/>
          <a:lstStyle/>
          <a:p>
            <a:pPr>
              <a:spcAft>
                <a:spcPts val="600"/>
              </a:spcAft>
            </a:pPr>
            <a:r>
              <a:rPr b="1" sz="1600"/>
              <a:t>Categories — the CISO’s view</a:t>
            </a:r>
          </a:p>
          <a:p>
            <a:r>
              <a:rPr b="0" sz="1600"/>
              <a:t>e.g. ID.AM, Asset Management</a:t>
            </a:r>
          </a:p>
        </p:txBody>
      </p:sp>
      <p:sp>
        <p:nvSpPr>
          <p:cNvPr id="7" name="Content Placeholder 6"/>
          <p:cNvSpPr>
            <a:spLocks noGrp="1"/>
          </p:cNvSpPr>
          <p:nvPr>
            <p:ph idx="17" sz="quarter"/>
          </p:nvPr>
        </p:nvSpPr>
        <p:spPr/>
        <p:txBody>
          <a:bodyPr/>
          <a:lstStyle/>
          <a:p>
            <a:pPr>
              <a:spcAft>
                <a:spcPts val="600"/>
              </a:spcAft>
            </a:pPr>
            <a:r>
              <a:rPr b="1" sz="1600"/>
              <a:t>Subcategories — what you test</a:t>
            </a:r>
          </a:p>
          <a:p>
            <a:r>
              <a:rPr b="0" sz="1600"/>
              <a:t>e.g. ID.AM-01: “Inventories of hardware managed by the organization are maintained”</a:t>
            </a:r>
          </a:p>
          <a:p>
            <a:pPr>
              <a:spcAft>
                <a:spcPts val="0"/>
              </a:spcAft>
            </a:pPr>
            <a:r>
              <a:rPr b="0" sz="1600"/>
              <a:t>Implementation Example: maintain inventories of all hardware — IT, IoT, OT and mobile.</a:t>
            </a:r>
          </a:p>
        </p:txBody>
      </p:sp>
      <p:sp>
        <p:nvSpPr>
          <p:cNvPr id="8" name="Title 7"/>
          <p:cNvSpPr>
            <a:spLocks noGrp="1"/>
          </p:cNvSpPr>
          <p:nvPr>
            <p:ph type="title"/>
          </p:nvPr>
        </p:nvSpPr>
        <p:spPr/>
        <p:txBody>
          <a:bodyPr/>
          <a:lstStyle/>
          <a:p>
            <a:r>
              <a:rPr b="0"/>
              <a:t>From six words to 106 testable outcomes</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Appendix A · NIST CSF 2.0 Implementation Examples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Govern: six categories the board will be asked about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00200"/>
          <a:ext cx="11430000" cy="3968496"/>
        </p:xfrm>
        <a:graphic>
          <a:graphicData uri="http://schemas.openxmlformats.org/drawingml/2006/table">
            <a:tbl>
              <a:tblPr firstRow="1">
                <a:tableStyleId>{605943CB-6F42-4776-B506-94E284F2829C}</a:tableStyleId>
              </a:tblPr>
              <a:tblGrid>
                <a:gridCol w="3931920"/>
                <a:gridCol w="4572000"/>
                <a:gridCol w="2926080"/>
              </a:tblGrid>
              <a:tr h="566928">
                <a:tc>
                  <a:txBody>
                    <a:bodyPr/>
                    <a:lstStyle/>
                    <a:p>
                      <a:r>
                        <a:rPr sz="1500" b="1"/>
                        <a:t>Category</a:t>
                      </a:r>
                    </a:p>
                  </a:txBody>
                  <a:tcPr anchor="ctr" marT="36576" marB="36576"/>
                </a:tc>
                <a:tc>
                  <a:txBody>
                    <a:bodyPr/>
                    <a:lstStyle/>
                    <a:p>
                      <a:r>
                        <a:rPr sz="1500" b="1"/>
                        <a:t>The question behind it</a:t>
                      </a:r>
                    </a:p>
                  </a:txBody>
                  <a:tcPr anchor="ctr" marT="36576" marB="36576"/>
                </a:tc>
                <a:tc>
                  <a:txBody>
                    <a:bodyPr/>
                    <a:lstStyle/>
                    <a:p>
                      <a:r>
                        <a:rPr sz="1500" b="1"/>
                        <a:t>Where you met it</a:t>
                      </a:r>
                    </a:p>
                  </a:txBody>
                  <a:tcPr anchor="ctr" marT="36576" marB="36576"/>
                </a:tc>
              </a:tr>
              <a:tr h="566928">
                <a:tc>
                  <a:txBody>
                    <a:bodyPr/>
                    <a:lstStyle/>
                    <a:p>
                      <a:r>
                        <a:rPr sz="1500"/>
                        <a:t>GV.OC Organizational Context</a:t>
                      </a:r>
                    </a:p>
                  </a:txBody>
                  <a:tcPr anchor="ctr" marT="36576" marB="36576"/>
                </a:tc>
                <a:tc>
                  <a:txBody>
                    <a:bodyPr/>
                    <a:lstStyle/>
                    <a:p>
                      <a:r>
                        <a:rPr sz="1500"/>
                        <a:t>Do we know our mission, stakeholders and legal duties?</a:t>
                      </a:r>
                    </a:p>
                  </a:txBody>
                  <a:tcPr anchor="ctr" marT="36576" marB="36576"/>
                </a:tc>
                <a:tc>
                  <a:txBody>
                    <a:bodyPr/>
                    <a:lstStyle/>
                    <a:p>
                      <a:r>
                        <a:rPr sz="1500"/>
                        <a:t>Cap. 653 designation (Wk 2)</a:t>
                      </a:r>
                    </a:p>
                  </a:txBody>
                  <a:tcPr anchor="ctr" marT="36576" marB="36576"/>
                </a:tc>
              </a:tr>
              <a:tr h="566928">
                <a:tc>
                  <a:txBody>
                    <a:bodyPr/>
                    <a:lstStyle/>
                    <a:p>
                      <a:r>
                        <a:rPr sz="1500"/>
                        <a:t>GV.RM Risk Management Strategy</a:t>
                      </a:r>
                    </a:p>
                  </a:txBody>
                  <a:tcPr anchor="ctr" marT="36576" marB="36576"/>
                </a:tc>
                <a:tc>
                  <a:txBody>
                    <a:bodyPr/>
                    <a:lstStyle/>
                    <a:p>
                      <a:r>
                        <a:rPr sz="1500"/>
                        <a:t>Have we set our risk appetite and priorities?</a:t>
                      </a:r>
                    </a:p>
                  </a:txBody>
                  <a:tcPr anchor="ctr" marT="36576" marB="36576"/>
                </a:tc>
                <a:tc>
                  <a:txBody>
                    <a:bodyPr/>
                    <a:lstStyle/>
                    <a:p>
                      <a:r>
                        <a:rPr sz="1500"/>
                        <a:t>G3 risk framework (Wk 4)</a:t>
                      </a:r>
                    </a:p>
                  </a:txBody>
                  <a:tcPr anchor="ctr" marT="36576" marB="36576"/>
                </a:tc>
              </a:tr>
              <a:tr h="566928">
                <a:tc>
                  <a:txBody>
                    <a:bodyPr/>
                    <a:lstStyle/>
                    <a:p>
                      <a:r>
                        <a:rPr sz="1500"/>
                        <a:t>GV.RR Roles, Responsibilities, Authorities</a:t>
                      </a:r>
                    </a:p>
                  </a:txBody>
                  <a:tcPr anchor="ctr" marT="36576" marB="36576"/>
                </a:tc>
                <a:tc>
                  <a:txBody>
                    <a:bodyPr/>
                    <a:lstStyle/>
                    <a:p>
                      <a:r>
                        <a:rPr sz="1500"/>
                        <a:t>Is leadership accountable, and are roles clear?</a:t>
                      </a:r>
                    </a:p>
                  </a:txBody>
                  <a:tcPr anchor="ctr" marT="36576" marB="36576"/>
                </a:tc>
                <a:tc>
                  <a:txBody>
                    <a:bodyPr/>
                    <a:lstStyle/>
                    <a:p>
                      <a:r>
                        <a:rPr sz="1500"/>
                        <a:t>C-RAF board accountability (Wk 5)</a:t>
                      </a:r>
                    </a:p>
                  </a:txBody>
                  <a:tcPr anchor="ctr" marT="36576" marB="36576"/>
                </a:tc>
              </a:tr>
              <a:tr h="566928">
                <a:tc>
                  <a:txBody>
                    <a:bodyPr/>
                    <a:lstStyle/>
                    <a:p>
                      <a:r>
                        <a:rPr sz="1500"/>
                        <a:t>GV.PO Policy</a:t>
                      </a:r>
                    </a:p>
                  </a:txBody>
                  <a:tcPr anchor="ctr" marT="36576" marB="36576"/>
                </a:tc>
                <a:tc>
                  <a:txBody>
                    <a:bodyPr/>
                    <a:lstStyle/>
                    <a:p>
                      <a:r>
                        <a:rPr sz="1500"/>
                        <a:t>Is policy set, communicated and enforced?</a:t>
                      </a:r>
                    </a:p>
                  </a:txBody>
                  <a:tcPr anchor="ctr" marT="36576" marB="36576"/>
                </a:tc>
                <a:tc>
                  <a:txBody>
                    <a:bodyPr/>
                    <a:lstStyle/>
                    <a:p>
                      <a:r>
                        <a:rPr sz="1500"/>
                        <a:t>Every RFI so far</a:t>
                      </a:r>
                    </a:p>
                  </a:txBody>
                  <a:tcPr anchor="ctr" marT="36576" marB="36576"/>
                </a:tc>
              </a:tr>
              <a:tr h="566928">
                <a:tc>
                  <a:txBody>
                    <a:bodyPr/>
                    <a:lstStyle/>
                    <a:p>
                      <a:r>
                        <a:rPr sz="1500"/>
                        <a:t>GV.OV Oversight</a:t>
                      </a:r>
                    </a:p>
                  </a:txBody>
                  <a:tcPr anchor="ctr" marT="36576" marB="36576"/>
                </a:tc>
                <a:tc>
                  <a:txBody>
                    <a:bodyPr/>
                    <a:lstStyle/>
                    <a:p>
                      <a:r>
                        <a:rPr sz="1500"/>
                        <a:t>Are results reviewed, and strategy adjusted?</a:t>
                      </a:r>
                    </a:p>
                  </a:txBody>
                  <a:tcPr anchor="ctr" marT="36576" marB="36576"/>
                </a:tc>
                <a:tc>
                  <a:txBody>
                    <a:bodyPr/>
                    <a:lstStyle/>
                    <a:p>
                      <a:r>
                        <a:rPr sz="1500"/>
                        <a:t>C-RAF independent audit (Wk 5)</a:t>
                      </a:r>
                    </a:p>
                  </a:txBody>
                  <a:tcPr anchor="ctr" marT="36576" marB="36576"/>
                </a:tc>
              </a:tr>
              <a:tr h="566928">
                <a:tc>
                  <a:txBody>
                    <a:bodyPr/>
                    <a:lstStyle/>
                    <a:p>
                      <a:r>
                        <a:rPr sz="1500" b="1"/>
                        <a:t>GV.SC Supply Chain Risk Management</a:t>
                      </a:r>
                    </a:p>
                  </a:txBody>
                  <a:tcPr anchor="ctr" marT="36576" marB="36576"/>
                </a:tc>
                <a:tc>
                  <a:txBody>
                    <a:bodyPr/>
                    <a:lstStyle/>
                    <a:p>
                      <a:r>
                        <a:rPr sz="1500" b="1"/>
                        <a:t>Do we manage our suppliers’ cyber risk? (10 subcategories)</a:t>
                      </a:r>
                    </a:p>
                  </a:txBody>
                  <a:tcPr anchor="ctr" marT="36576" marB="36576"/>
                </a:tc>
                <a:tc>
                  <a:txBody>
                    <a:bodyPr/>
                    <a:lstStyle/>
                    <a:p>
                      <a:r>
                        <a:rPr sz="1500" b="1">
                          <a:solidFill>
                            <a:srgbClr val="FD5108"/>
                          </a:solidFill>
                        </a:rPr>
                        <a:t>G3 vendor clauses (Wk 4)</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Table 1 and Appendix A (GV)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Identify and Protect: know it, then guard it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554480"/>
          <a:ext cx="11430000" cy="4279392"/>
        </p:xfrm>
        <a:graphic>
          <a:graphicData uri="http://schemas.openxmlformats.org/drawingml/2006/table">
            <a:tbl>
              <a:tblPr firstRow="1">
                <a:tableStyleId>{605943CB-6F42-4776-B506-94E284F2829C}</a:tableStyleId>
              </a:tblPr>
              <a:tblGrid>
                <a:gridCol w="1554480"/>
                <a:gridCol w="4389120"/>
                <a:gridCol w="5486400"/>
              </a:tblGrid>
              <a:tr h="475488">
                <a:tc>
                  <a:txBody>
                    <a:bodyPr/>
                    <a:lstStyle/>
                    <a:p>
                      <a:r>
                        <a:rPr sz="1500" b="1"/>
                        <a:t>Function</a:t>
                      </a:r>
                    </a:p>
                  </a:txBody>
                  <a:tcPr anchor="ctr" marT="36576" marB="36576"/>
                </a:tc>
                <a:tc>
                  <a:txBody>
                    <a:bodyPr/>
                    <a:lstStyle/>
                    <a:p>
                      <a:r>
                        <a:rPr sz="1500" b="1"/>
                        <a:t>Category</a:t>
                      </a:r>
                    </a:p>
                  </a:txBody>
                  <a:tcPr anchor="ctr" marT="36576" marB="36576"/>
                </a:tc>
                <a:tc>
                  <a:txBody>
                    <a:bodyPr/>
                    <a:lstStyle/>
                    <a:p>
                      <a:r>
                        <a:rPr sz="1500" b="1"/>
                        <a:t>Typical evidence an auditor asks for</a:t>
                      </a:r>
                    </a:p>
                  </a:txBody>
                  <a:tcPr anchor="ctr" marT="36576" marB="36576"/>
                </a:tc>
              </a:tr>
              <a:tr h="475488">
                <a:tc>
                  <a:txBody>
                    <a:bodyPr/>
                    <a:lstStyle/>
                    <a:p>
                      <a:r>
                        <a:rPr sz="1500"/>
                        <a:t>Identify</a:t>
                      </a:r>
                    </a:p>
                  </a:txBody>
                  <a:tcPr anchor="ctr" marT="36576" marB="36576"/>
                </a:tc>
                <a:tc>
                  <a:txBody>
                    <a:bodyPr/>
                    <a:lstStyle/>
                    <a:p>
                      <a:r>
                        <a:rPr sz="1500"/>
                        <a:t>ID.AM Asset Management</a:t>
                      </a:r>
                    </a:p>
                  </a:txBody>
                  <a:tcPr anchor="ctr" marT="36576" marB="36576"/>
                </a:tc>
                <a:tc>
                  <a:txBody>
                    <a:bodyPr/>
                    <a:lstStyle/>
                    <a:p>
                      <a:r>
                        <a:rPr sz="1500"/>
                        <a:t>Hardware, software and data inventories</a:t>
                      </a:r>
                    </a:p>
                  </a:txBody>
                  <a:tcPr anchor="ctr" marT="36576" marB="36576"/>
                </a:tc>
              </a:tr>
              <a:tr h="475488">
                <a:tc>
                  <a:txBody>
                    <a:bodyPr/>
                    <a:lstStyle/>
                    <a:p/>
                  </a:txBody>
                  <a:tcPr anchor="ctr" marT="36576" marB="36576"/>
                </a:tc>
                <a:tc>
                  <a:txBody>
                    <a:bodyPr/>
                    <a:lstStyle/>
                    <a:p>
                      <a:r>
                        <a:rPr sz="1500"/>
                        <a:t>ID.RA Risk Assessment</a:t>
                      </a:r>
                    </a:p>
                  </a:txBody>
                  <a:tcPr anchor="ctr" marT="36576" marB="36576"/>
                </a:tc>
                <a:tc>
                  <a:txBody>
                    <a:bodyPr/>
                    <a:lstStyle/>
                    <a:p>
                      <a:r>
                        <a:rPr sz="1500"/>
                        <a:t>Risk register, vulnerability scans, threat intelligence</a:t>
                      </a:r>
                    </a:p>
                  </a:txBody>
                  <a:tcPr anchor="ctr" marT="36576" marB="36576"/>
                </a:tc>
              </a:tr>
              <a:tr h="475488">
                <a:tc>
                  <a:txBody>
                    <a:bodyPr/>
                    <a:lstStyle/>
                    <a:p/>
                  </a:txBody>
                  <a:tcPr anchor="ctr" marT="36576" marB="36576"/>
                </a:tc>
                <a:tc>
                  <a:txBody>
                    <a:bodyPr/>
                    <a:lstStyle/>
                    <a:p>
                      <a:r>
                        <a:rPr sz="1500" b="1">
                          <a:solidFill>
                            <a:srgbClr val="FD5108"/>
                          </a:solidFill>
                        </a:rPr>
                        <a:t>ID.IM Improvement (new)</a:t>
                      </a:r>
                    </a:p>
                  </a:txBody>
                  <a:tcPr anchor="ctr" marT="36576" marB="36576"/>
                </a:tc>
                <a:tc>
                  <a:txBody>
                    <a:bodyPr/>
                    <a:lstStyle/>
                    <a:p>
                      <a:r>
                        <a:rPr sz="1500"/>
                        <a:t>Lessons learned from tests, exercises and incidents</a:t>
                      </a:r>
                    </a:p>
                  </a:txBody>
                  <a:tcPr anchor="ctr" marT="36576" marB="36576"/>
                </a:tc>
              </a:tr>
              <a:tr h="475488">
                <a:tc>
                  <a:txBody>
                    <a:bodyPr/>
                    <a:lstStyle/>
                    <a:p>
                      <a:r>
                        <a:rPr sz="1500"/>
                        <a:t>Protect</a:t>
                      </a:r>
                    </a:p>
                  </a:txBody>
                  <a:tcPr anchor="ctr" marT="36576" marB="36576"/>
                </a:tc>
                <a:tc>
                  <a:txBody>
                    <a:bodyPr/>
                    <a:lstStyle/>
                    <a:p>
                      <a:r>
                        <a:rPr sz="1500"/>
                        <a:t>PR.AA Identity, Authentication, Access</a:t>
                      </a:r>
                    </a:p>
                  </a:txBody>
                  <a:tcPr anchor="ctr" marT="36576" marB="36576"/>
                </a:tc>
                <a:tc>
                  <a:txBody>
                    <a:bodyPr/>
                    <a:lstStyle/>
                    <a:p>
                      <a:r>
                        <a:rPr sz="1500"/>
                        <a:t>Joiner-leaver records, MFA settings, access reviews</a:t>
                      </a:r>
                    </a:p>
                  </a:txBody>
                  <a:tcPr anchor="ctr" marT="36576" marB="36576"/>
                </a:tc>
              </a:tr>
              <a:tr h="475488">
                <a:tc>
                  <a:txBody>
                    <a:bodyPr/>
                    <a:lstStyle/>
                    <a:p/>
                  </a:txBody>
                  <a:tcPr anchor="ctr" marT="36576" marB="36576"/>
                </a:tc>
                <a:tc>
                  <a:txBody>
                    <a:bodyPr/>
                    <a:lstStyle/>
                    <a:p>
                      <a:r>
                        <a:rPr sz="1500"/>
                        <a:t>PR.AT Awareness and Training</a:t>
                      </a:r>
                    </a:p>
                  </a:txBody>
                  <a:tcPr anchor="ctr" marT="36576" marB="36576"/>
                </a:tc>
                <a:tc>
                  <a:txBody>
                    <a:bodyPr/>
                    <a:lstStyle/>
                    <a:p>
                      <a:r>
                        <a:rPr sz="1500"/>
                        <a:t>Training records, phishing-test results</a:t>
                      </a:r>
                    </a:p>
                  </a:txBody>
                  <a:tcPr anchor="ctr" marT="36576" marB="36576"/>
                </a:tc>
              </a:tr>
              <a:tr h="475488">
                <a:tc>
                  <a:txBody>
                    <a:bodyPr/>
                    <a:lstStyle/>
                    <a:p/>
                  </a:txBody>
                  <a:tcPr anchor="ctr" marT="36576" marB="36576"/>
                </a:tc>
                <a:tc>
                  <a:txBody>
                    <a:bodyPr/>
                    <a:lstStyle/>
                    <a:p>
                      <a:r>
                        <a:rPr sz="1500"/>
                        <a:t>PR.DS Data Security</a:t>
                      </a:r>
                    </a:p>
                  </a:txBody>
                  <a:tcPr anchor="ctr" marT="36576" marB="36576"/>
                </a:tc>
                <a:tc>
                  <a:txBody>
                    <a:bodyPr/>
                    <a:lstStyle/>
                    <a:p>
                      <a:r>
                        <a:rPr sz="1500"/>
                        <a:t>Encryption settings, backup and restore tests</a:t>
                      </a:r>
                    </a:p>
                  </a:txBody>
                  <a:tcPr anchor="ctr" marT="36576" marB="36576"/>
                </a:tc>
              </a:tr>
              <a:tr h="475488">
                <a:tc>
                  <a:txBody>
                    <a:bodyPr/>
                    <a:lstStyle/>
                    <a:p/>
                  </a:txBody>
                  <a:tcPr anchor="ctr" marT="36576" marB="36576"/>
                </a:tc>
                <a:tc>
                  <a:txBody>
                    <a:bodyPr/>
                    <a:lstStyle/>
                    <a:p>
                      <a:r>
                        <a:rPr sz="1500"/>
                        <a:t>PR.PS Platform Security</a:t>
                      </a:r>
                    </a:p>
                  </a:txBody>
                  <a:tcPr anchor="ctr" marT="36576" marB="36576"/>
                </a:tc>
                <a:tc>
                  <a:txBody>
                    <a:bodyPr/>
                    <a:lstStyle/>
                    <a:p>
                      <a:r>
                        <a:rPr sz="1500"/>
                        <a:t>Hardening baselines, patch records, logs</a:t>
                      </a:r>
                    </a:p>
                  </a:txBody>
                  <a:tcPr anchor="ctr" marT="36576" marB="36576"/>
                </a:tc>
              </a:tr>
              <a:tr h="475488">
                <a:tc>
                  <a:txBody>
                    <a:bodyPr/>
                    <a:lstStyle/>
                    <a:p/>
                  </a:txBody>
                  <a:tcPr anchor="ctr" marT="36576" marB="36576"/>
                </a:tc>
                <a:tc>
                  <a:txBody>
                    <a:bodyPr/>
                    <a:lstStyle/>
                    <a:p>
                      <a:r>
                        <a:rPr sz="1500"/>
                        <a:t>PR.IR Infrastructure Resilience</a:t>
                      </a:r>
                    </a:p>
                  </a:txBody>
                  <a:tcPr anchor="ctr" marT="36576" marB="36576"/>
                </a:tc>
                <a:tc>
                  <a:txBody>
                    <a:bodyPr/>
                    <a:lstStyle/>
                    <a:p>
                      <a:r>
                        <a:rPr sz="1500"/>
                        <a:t>Segmentation, capacity, redundancy</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Table 1 and Appendix A (ID, PR)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Detect, Respond, Recover: when prevention fails</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554480"/>
          <a:ext cx="11430000" cy="4279392"/>
        </p:xfrm>
        <a:graphic>
          <a:graphicData uri="http://schemas.openxmlformats.org/drawingml/2006/table">
            <a:tbl>
              <a:tblPr firstRow="1">
                <a:tableStyleId>{605943CB-6F42-4776-B506-94E284F2829C}</a:tableStyleId>
              </a:tblPr>
              <a:tblGrid>
                <a:gridCol w="1554480"/>
                <a:gridCol w="4389120"/>
                <a:gridCol w="5486400"/>
              </a:tblGrid>
              <a:tr h="475488">
                <a:tc>
                  <a:txBody>
                    <a:bodyPr/>
                    <a:lstStyle/>
                    <a:p>
                      <a:r>
                        <a:rPr sz="1500" b="1"/>
                        <a:t>Function</a:t>
                      </a:r>
                    </a:p>
                  </a:txBody>
                  <a:tcPr anchor="ctr" marT="36576" marB="36576"/>
                </a:tc>
                <a:tc>
                  <a:txBody>
                    <a:bodyPr/>
                    <a:lstStyle/>
                    <a:p>
                      <a:r>
                        <a:rPr sz="1500" b="1"/>
                        <a:t>Category</a:t>
                      </a:r>
                    </a:p>
                  </a:txBody>
                  <a:tcPr anchor="ctr" marT="36576" marB="36576"/>
                </a:tc>
                <a:tc>
                  <a:txBody>
                    <a:bodyPr/>
                    <a:lstStyle/>
                    <a:p>
                      <a:r>
                        <a:rPr sz="1500" b="1"/>
                        <a:t>Typical evidence an auditor asks for</a:t>
                      </a:r>
                    </a:p>
                  </a:txBody>
                  <a:tcPr anchor="ctr" marT="36576" marB="36576"/>
                </a:tc>
              </a:tr>
              <a:tr h="475488">
                <a:tc>
                  <a:txBody>
                    <a:bodyPr/>
                    <a:lstStyle/>
                    <a:p>
                      <a:r>
                        <a:rPr sz="1500"/>
                        <a:t>Detect</a:t>
                      </a:r>
                    </a:p>
                  </a:txBody>
                  <a:tcPr anchor="ctr" marT="36576" marB="36576"/>
                </a:tc>
                <a:tc>
                  <a:txBody>
                    <a:bodyPr/>
                    <a:lstStyle/>
                    <a:p>
                      <a:r>
                        <a:rPr sz="1500"/>
                        <a:t>DE.CM Continuous Monitoring</a:t>
                      </a:r>
                    </a:p>
                  </a:txBody>
                  <a:tcPr anchor="ctr" marT="36576" marB="36576"/>
                </a:tc>
                <a:tc>
                  <a:txBody>
                    <a:bodyPr/>
                    <a:lstStyle/>
                    <a:p>
                      <a:r>
                        <a:rPr sz="1500"/>
                        <a:t>SIEM use cases, log coverage, third-party monitoring</a:t>
                      </a:r>
                    </a:p>
                  </a:txBody>
                  <a:tcPr anchor="ctr" marT="36576" marB="36576"/>
                </a:tc>
              </a:tr>
              <a:tr h="475488">
                <a:tc>
                  <a:txBody>
                    <a:bodyPr/>
                    <a:lstStyle/>
                    <a:p/>
                  </a:txBody>
                  <a:tcPr anchor="ctr" marT="36576" marB="36576"/>
                </a:tc>
                <a:tc>
                  <a:txBody>
                    <a:bodyPr/>
                    <a:lstStyle/>
                    <a:p>
                      <a:r>
                        <a:rPr sz="1500"/>
                        <a:t>DE.AE Adverse Event Analysis</a:t>
                      </a:r>
                    </a:p>
                  </a:txBody>
                  <a:tcPr anchor="ctr" marT="36576" marB="36576"/>
                </a:tc>
                <a:tc>
                  <a:txBody>
                    <a:bodyPr/>
                    <a:lstStyle/>
                    <a:p>
                      <a:r>
                        <a:rPr sz="1500"/>
                        <a:t>Alert triage records, incident declaration criteria</a:t>
                      </a:r>
                    </a:p>
                  </a:txBody>
                  <a:tcPr anchor="ctr" marT="36576" marB="36576"/>
                </a:tc>
              </a:tr>
              <a:tr h="475488">
                <a:tc>
                  <a:txBody>
                    <a:bodyPr/>
                    <a:lstStyle/>
                    <a:p>
                      <a:r>
                        <a:rPr sz="1500"/>
                        <a:t>Respond</a:t>
                      </a:r>
                    </a:p>
                  </a:txBody>
                  <a:tcPr anchor="ctr" marT="36576" marB="36576"/>
                </a:tc>
                <a:tc>
                  <a:txBody>
                    <a:bodyPr/>
                    <a:lstStyle/>
                    <a:p>
                      <a:r>
                        <a:rPr sz="1500"/>
                        <a:t>RS.MA Incident Management</a:t>
                      </a:r>
                    </a:p>
                  </a:txBody>
                  <a:tcPr anchor="ctr" marT="36576" marB="36576"/>
                </a:tc>
                <a:tc>
                  <a:txBody>
                    <a:bodyPr/>
                    <a:lstStyle/>
                    <a:p>
                      <a:r>
                        <a:rPr sz="1500"/>
                        <a:t>IR plan, incident tickets, escalation records</a:t>
                      </a:r>
                    </a:p>
                  </a:txBody>
                  <a:tcPr anchor="ctr" marT="36576" marB="36576"/>
                </a:tc>
              </a:tr>
              <a:tr h="475488">
                <a:tc>
                  <a:txBody>
                    <a:bodyPr/>
                    <a:lstStyle/>
                    <a:p/>
                  </a:txBody>
                  <a:tcPr anchor="ctr" marT="36576" marB="36576"/>
                </a:tc>
                <a:tc>
                  <a:txBody>
                    <a:bodyPr/>
                    <a:lstStyle/>
                    <a:p>
                      <a:r>
                        <a:rPr sz="1500"/>
                        <a:t>RS.AN Incident Analysis</a:t>
                      </a:r>
                    </a:p>
                  </a:txBody>
                  <a:tcPr anchor="ctr" marT="36576" marB="36576"/>
                </a:tc>
                <a:tc>
                  <a:txBody>
                    <a:bodyPr/>
                    <a:lstStyle/>
                    <a:p>
                      <a:r>
                        <a:rPr sz="1500"/>
                        <a:t>Root-cause analysis, forensic records</a:t>
                      </a:r>
                    </a:p>
                  </a:txBody>
                  <a:tcPr anchor="ctr" marT="36576" marB="36576"/>
                </a:tc>
              </a:tr>
              <a:tr h="475488">
                <a:tc>
                  <a:txBody>
                    <a:bodyPr/>
                    <a:lstStyle/>
                    <a:p/>
                  </a:txBody>
                  <a:tcPr anchor="ctr" marT="36576" marB="36576"/>
                </a:tc>
                <a:tc>
                  <a:txBody>
                    <a:bodyPr/>
                    <a:lstStyle/>
                    <a:p>
                      <a:r>
                        <a:rPr sz="1500" b="1">
                          <a:solidFill>
                            <a:srgbClr val="FD5108"/>
                          </a:solidFill>
                        </a:rPr>
                        <a:t>RS.CO Reporting and Communication</a:t>
                      </a:r>
                    </a:p>
                  </a:txBody>
                  <a:tcPr anchor="ctr" marT="36576" marB="36576"/>
                </a:tc>
                <a:tc>
                  <a:txBody>
                    <a:bodyPr/>
                    <a:lstStyle/>
                    <a:p>
                      <a:r>
                        <a:rPr sz="1500"/>
                        <a:t>Regulator notifications, with timestamps</a:t>
                      </a:r>
                    </a:p>
                  </a:txBody>
                  <a:tcPr anchor="ctr" marT="36576" marB="36576"/>
                </a:tc>
              </a:tr>
              <a:tr h="475488">
                <a:tc>
                  <a:txBody>
                    <a:bodyPr/>
                    <a:lstStyle/>
                    <a:p/>
                  </a:txBody>
                  <a:tcPr anchor="ctr" marT="36576" marB="36576"/>
                </a:tc>
                <a:tc>
                  <a:txBody>
                    <a:bodyPr/>
                    <a:lstStyle/>
                    <a:p>
                      <a:r>
                        <a:rPr sz="1500"/>
                        <a:t>RS.MI Incident Mitigation</a:t>
                      </a:r>
                    </a:p>
                  </a:txBody>
                  <a:tcPr anchor="ctr" marT="36576" marB="36576"/>
                </a:tc>
                <a:tc>
                  <a:txBody>
                    <a:bodyPr/>
                    <a:lstStyle/>
                    <a:p>
                      <a:r>
                        <a:rPr sz="1500"/>
                        <a:t>Containment and eradication actions</a:t>
                      </a:r>
                    </a:p>
                  </a:txBody>
                  <a:tcPr anchor="ctr" marT="36576" marB="36576"/>
                </a:tc>
              </a:tr>
              <a:tr h="475488">
                <a:tc>
                  <a:txBody>
                    <a:bodyPr/>
                    <a:lstStyle/>
                    <a:p>
                      <a:r>
                        <a:rPr sz="1500"/>
                        <a:t>Recover</a:t>
                      </a:r>
                    </a:p>
                  </a:txBody>
                  <a:tcPr anchor="ctr" marT="36576" marB="36576"/>
                </a:tc>
                <a:tc>
                  <a:txBody>
                    <a:bodyPr/>
                    <a:lstStyle/>
                    <a:p>
                      <a:r>
                        <a:rPr sz="1500"/>
                        <a:t>RC.RP Recovery Plan Execution</a:t>
                      </a:r>
                    </a:p>
                  </a:txBody>
                  <a:tcPr anchor="ctr" marT="36576" marB="36576"/>
                </a:tc>
                <a:tc>
                  <a:txBody>
                    <a:bodyPr/>
                    <a:lstStyle/>
                    <a:p>
                      <a:r>
                        <a:rPr sz="1500"/>
                        <a:t>Restore records, backup integrity checks (RC.RP-03)</a:t>
                      </a:r>
                    </a:p>
                  </a:txBody>
                  <a:tcPr anchor="ctr" marT="36576" marB="36576"/>
                </a:tc>
              </a:tr>
              <a:tr h="475488">
                <a:tc>
                  <a:txBody>
                    <a:bodyPr/>
                    <a:lstStyle/>
                    <a:p/>
                  </a:txBody>
                  <a:tcPr anchor="ctr" marT="36576" marB="36576"/>
                </a:tc>
                <a:tc>
                  <a:txBody>
                    <a:bodyPr/>
                    <a:lstStyle/>
                    <a:p>
                      <a:r>
                        <a:rPr sz="1500"/>
                        <a:t>RC.CO Recovery Communication</a:t>
                      </a:r>
                    </a:p>
                  </a:txBody>
                  <a:tcPr anchor="ctr" marT="36576" marB="36576"/>
                </a:tc>
                <a:tc>
                  <a:txBody>
                    <a:bodyPr/>
                    <a:lstStyle/>
                    <a:p>
                      <a:r>
                        <a:rPr sz="1500"/>
                        <a:t>Internal and public recovery updates</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Table 1 and Appendix A (DE, RS, RC)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p:nvPr>
        </p:nvSpPr>
        <p:spPr/>
        <p:txBody>
          <a:bodyPr/>
          <a:lstStyle/>
          <a:p>
            <a:r>
              <a:rPr b="0"/>
              <a:t>1</a:t>
            </a:r>
          </a:p>
        </p:txBody>
      </p:sp>
      <p:sp>
        <p:nvSpPr>
          <p:cNvPr id="3" name="Text Placeholder 2"/>
          <p:cNvSpPr>
            <a:spLocks noGrp="1"/>
          </p:cNvSpPr>
          <p:nvPr>
            <p:ph type="body" idx="16"/>
          </p:nvPr>
        </p:nvSpPr>
        <p:spPr/>
        <p:txBody>
          <a:bodyPr/>
          <a:lstStyle/>
          <a:p>
            <a:r>
              <a:rPr b="0"/>
              <a:t>2</a:t>
            </a:r>
          </a:p>
        </p:txBody>
      </p:sp>
      <p:sp>
        <p:nvSpPr>
          <p:cNvPr id="4" name="Text Placeholder 3"/>
          <p:cNvSpPr>
            <a:spLocks noGrp="1"/>
          </p:cNvSpPr>
          <p:nvPr>
            <p:ph type="body" idx="17"/>
          </p:nvPr>
        </p:nvSpPr>
        <p:spPr/>
        <p:txBody>
          <a:bodyPr/>
          <a:lstStyle/>
          <a:p>
            <a:r>
              <a:rPr b="0"/>
              <a:t>3</a:t>
            </a:r>
          </a:p>
        </p:txBody>
      </p:sp>
      <p:sp>
        <p:nvSpPr>
          <p:cNvPr id="5" name="Text Placeholder 4"/>
          <p:cNvSpPr>
            <a:spLocks noGrp="1"/>
          </p:cNvSpPr>
          <p:nvPr>
            <p:ph type="body" idx="18"/>
          </p:nvPr>
        </p:nvSpPr>
        <p:spPr/>
        <p:txBody>
          <a:bodyPr/>
          <a:lstStyle/>
          <a:p>
            <a:r>
              <a:rPr b="0"/>
              <a:t>4</a:t>
            </a:r>
          </a:p>
        </p:txBody>
      </p:sp>
      <p:sp>
        <p:nvSpPr>
          <p:cNvPr id="6" name="Text Placeholder 5"/>
          <p:cNvSpPr>
            <a:spLocks noGrp="1"/>
          </p:cNvSpPr>
          <p:nvPr>
            <p:ph type="body" idx="19"/>
          </p:nvPr>
        </p:nvSpPr>
        <p:spPr/>
        <p:txBody>
          <a:bodyPr/>
          <a:lstStyle/>
          <a:p>
            <a:r>
              <a:rPr b="0"/>
              <a:t>5</a:t>
            </a:r>
          </a:p>
        </p:txBody>
      </p:sp>
      <p:sp>
        <p:nvSpPr>
          <p:cNvPr id="7" name="Text Placeholder 6"/>
          <p:cNvSpPr>
            <a:spLocks noGrp="1"/>
          </p:cNvSpPr>
          <p:nvPr>
            <p:ph type="body" idx="20"/>
          </p:nvPr>
        </p:nvSpPr>
        <p:spPr/>
        <p:txBody>
          <a:bodyPr/>
          <a:lstStyle/>
          <a:p>
            <a:r>
              <a:rPr b="0"/>
              <a:t>6</a:t>
            </a:r>
          </a:p>
        </p:txBody>
      </p:sp>
      <p:sp>
        <p:nvSpPr>
          <p:cNvPr id="8" name="Content Placeholder 7"/>
          <p:cNvSpPr>
            <a:spLocks noGrp="1"/>
          </p:cNvSpPr>
          <p:nvPr>
            <p:ph idx="10" sz="quarter"/>
          </p:nvPr>
        </p:nvSpPr>
        <p:spPr/>
        <p:txBody>
          <a:bodyPr/>
          <a:lstStyle/>
          <a:p>
            <a:pPr>
              <a:spcAft>
                <a:spcPts val="600"/>
              </a:spcAft>
            </a:pPr>
            <a:r>
              <a:rPr b="1" sz="1600"/>
              <a:t>Understood</a:t>
            </a:r>
          </a:p>
          <a:p>
            <a:r>
              <a:rPr b="0" sz="1600"/>
              <a:t>Supplier risk methodology</a:t>
            </a:r>
          </a:p>
        </p:txBody>
      </p:sp>
      <p:sp>
        <p:nvSpPr>
          <p:cNvPr id="9" name="Content Placeholder 8"/>
          <p:cNvSpPr>
            <a:spLocks noGrp="1"/>
          </p:cNvSpPr>
          <p:nvPr>
            <p:ph idx="11" sz="quarter"/>
          </p:nvPr>
        </p:nvSpPr>
        <p:spPr/>
        <p:txBody>
          <a:bodyPr/>
          <a:lstStyle/>
          <a:p>
            <a:pPr>
              <a:spcAft>
                <a:spcPts val="600"/>
              </a:spcAft>
            </a:pPr>
            <a:r>
              <a:rPr b="1" sz="1600"/>
              <a:t>Recorded</a:t>
            </a:r>
          </a:p>
          <a:p>
            <a:r>
              <a:rPr b="0" sz="1600"/>
              <a:t>Third-party risk register</a:t>
            </a:r>
          </a:p>
        </p:txBody>
      </p:sp>
      <p:sp>
        <p:nvSpPr>
          <p:cNvPr id="10" name="Content Placeholder 9"/>
          <p:cNvSpPr>
            <a:spLocks noGrp="1"/>
          </p:cNvSpPr>
          <p:nvPr>
            <p:ph idx="12" sz="quarter"/>
          </p:nvPr>
        </p:nvSpPr>
        <p:spPr/>
        <p:txBody>
          <a:bodyPr/>
          <a:lstStyle/>
          <a:p>
            <a:pPr>
              <a:spcAft>
                <a:spcPts val="600"/>
              </a:spcAft>
            </a:pPr>
            <a:r>
              <a:rPr b="1" sz="1600"/>
              <a:t>Prioritized</a:t>
            </a:r>
          </a:p>
          <a:p>
            <a:r>
              <a:rPr b="0" sz="1600"/>
              <a:t>Supplier tiering by criticality</a:t>
            </a:r>
          </a:p>
        </p:txBody>
      </p:sp>
      <p:sp>
        <p:nvSpPr>
          <p:cNvPr id="11" name="Content Placeholder 10"/>
          <p:cNvSpPr>
            <a:spLocks noGrp="1"/>
          </p:cNvSpPr>
          <p:nvPr>
            <p:ph idx="13" sz="quarter"/>
          </p:nvPr>
        </p:nvSpPr>
        <p:spPr/>
        <p:txBody>
          <a:bodyPr/>
          <a:lstStyle/>
          <a:p>
            <a:pPr>
              <a:spcAft>
                <a:spcPts val="600"/>
              </a:spcAft>
            </a:pPr>
            <a:r>
              <a:rPr b="1"/>
              <a:t>Assessed</a:t>
            </a:r>
          </a:p>
          <a:p>
            <a:r>
              <a:rPr b="0" sz="1600"/>
              <a:t>Due-diligence questionnaires, SOC 2 reports</a:t>
            </a:r>
          </a:p>
        </p:txBody>
      </p:sp>
      <p:sp>
        <p:nvSpPr>
          <p:cNvPr id="12" name="Content Placeholder 11"/>
          <p:cNvSpPr>
            <a:spLocks noGrp="1"/>
          </p:cNvSpPr>
          <p:nvPr>
            <p:ph idx="14" sz="quarter"/>
          </p:nvPr>
        </p:nvSpPr>
        <p:spPr/>
        <p:txBody>
          <a:bodyPr/>
          <a:lstStyle/>
          <a:p>
            <a:pPr>
              <a:spcAft>
                <a:spcPts val="600"/>
              </a:spcAft>
            </a:pPr>
            <a:r>
              <a:rPr b="1" sz="1600"/>
              <a:t>Responded to</a:t>
            </a:r>
          </a:p>
          <a:p>
            <a:r>
              <a:rPr b="0" sz="1600"/>
              <a:t>Contract clauses, remediation plans</a:t>
            </a:r>
          </a:p>
        </p:txBody>
      </p:sp>
      <p:sp>
        <p:nvSpPr>
          <p:cNvPr id="13" name="Content Placeholder 12"/>
          <p:cNvSpPr>
            <a:spLocks noGrp="1"/>
          </p:cNvSpPr>
          <p:nvPr>
            <p:ph idx="21" sz="quarter"/>
          </p:nvPr>
        </p:nvSpPr>
        <p:spPr/>
        <p:txBody>
          <a:bodyPr/>
          <a:lstStyle/>
          <a:p>
            <a:pPr>
              <a:spcAft>
                <a:spcPts val="600"/>
              </a:spcAft>
            </a:pPr>
            <a:r>
              <a:rPr b="1" sz="1600"/>
              <a:t>Monitored</a:t>
            </a:r>
          </a:p>
          <a:p>
            <a:r>
              <a:rPr b="0" sz="1600"/>
              <a:t>Periodic reviews over the whole relationship — the one most often failed</a:t>
            </a:r>
          </a:p>
        </p:txBody>
      </p:sp>
      <p:sp>
        <p:nvSpPr>
          <p:cNvPr id="14" name="Title 13"/>
          <p:cNvSpPr>
            <a:spLocks noGrp="1"/>
          </p:cNvSpPr>
          <p:nvPr>
            <p:ph type="title"/>
          </p:nvPr>
        </p:nvSpPr>
        <p:spPr/>
        <p:txBody>
          <a:bodyPr/>
          <a:lstStyle/>
          <a:p>
            <a:r>
              <a:rPr b="0"/>
              <a:t>Read it like an auditor: every verb is a test</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5" name="Rectangle 14"/>
          <p:cNvSpPr/>
          <p:nvPr/>
        </p:nvSpPr>
        <p:spPr>
          <a:xfrm>
            <a:off x="365760" y="1188720"/>
            <a:ext cx="11430000" cy="65836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GV.SC-07  The risks posed by a supplier, their products and services, and other third parties are understood, recorded, prioritized, assessed, responded to, and monitored over the course of the relationship.</a:t>
            </a:r>
          </a:p>
        </p:txBody>
      </p:sp>
      <p:sp>
        <p:nvSpPr>
          <p:cNvPr id="16" name="TextBox 1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Appendix A (GV.SC-07)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What changed in 2.0</a:t>
            </a:r>
          </a:p>
        </p:txBody>
      </p:sp>
      <p:sp>
        <p:nvSpPr>
          <p:cNvPr id="3" name="Text Placeholder 2"/>
          <p:cNvSpPr>
            <a:spLocks noGrp="1"/>
          </p:cNvSpPr>
          <p:nvPr>
            <p:ph type="body" idx="1"/>
          </p:nvPr>
        </p:nvSpPr>
        <p:spPr/>
        <p:txBody>
          <a:bodyPr/>
          <a:lstStyle/>
          <a:p>
            <a:r>
              <a:rPr b="0"/>
              <a:t>4</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What changed from 1.1 to 2.0</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554480"/>
          <a:ext cx="11430000" cy="4242816"/>
        </p:xfrm>
        <a:graphic>
          <a:graphicData uri="http://schemas.openxmlformats.org/drawingml/2006/table">
            <a:tbl>
              <a:tblPr firstRow="1">
                <a:tableStyleId>{605943CB-6F42-4776-B506-94E284F2829C}</a:tableStyleId>
              </a:tblPr>
              <a:tblGrid>
                <a:gridCol w="2377440"/>
                <a:gridCol w="4206240"/>
                <a:gridCol w="4846320"/>
              </a:tblGrid>
              <a:tr h="530352">
                <a:tc>
                  <a:txBody>
                    <a:bodyPr/>
                    <a:lstStyle/>
                    <a:p/>
                  </a:txBody>
                  <a:tcPr anchor="ctr" marT="36576" marB="36576"/>
                </a:tc>
                <a:tc>
                  <a:txBody>
                    <a:bodyPr/>
                    <a:lstStyle/>
                    <a:p>
                      <a:r>
                        <a:rPr sz="1500" b="1"/>
                        <a:t>CSF 1.1 (2018)</a:t>
                      </a:r>
                    </a:p>
                  </a:txBody>
                  <a:tcPr anchor="ctr" marT="36576" marB="36576"/>
                </a:tc>
                <a:tc>
                  <a:txBody>
                    <a:bodyPr/>
                    <a:lstStyle/>
                    <a:p>
                      <a:r>
                        <a:rPr sz="1500" b="1"/>
                        <a:t>CSF 2.0 (2024)</a:t>
                      </a:r>
                    </a:p>
                  </a:txBody>
                  <a:tcPr anchor="ctr" marT="36576" marB="36576"/>
                </a:tc>
              </a:tr>
              <a:tr h="530352">
                <a:tc>
                  <a:txBody>
                    <a:bodyPr/>
                    <a:lstStyle/>
                    <a:p>
                      <a:r>
                        <a:rPr sz="1500"/>
                        <a:t>Title and audience</a:t>
                      </a:r>
                    </a:p>
                  </a:txBody>
                  <a:tcPr anchor="ctr" marT="36576" marB="36576"/>
                </a:tc>
                <a:tc>
                  <a:txBody>
                    <a:bodyPr/>
                    <a:lstStyle/>
                    <a:p>
                      <a:r>
                        <a:rPr sz="1500"/>
                        <a:t>Improving Critical Infrastructure Cybersecurity</a:t>
                      </a:r>
                    </a:p>
                  </a:txBody>
                  <a:tcPr anchor="ctr" marT="36576" marB="36576"/>
                </a:tc>
                <a:tc>
                  <a:txBody>
                    <a:bodyPr/>
                    <a:lstStyle/>
                    <a:p>
                      <a:r>
                        <a:rPr sz="1500"/>
                        <a:t>The NIST Cybersecurity Framework — all organisations</a:t>
                      </a:r>
                    </a:p>
                  </a:txBody>
                  <a:tcPr anchor="ctr" marT="36576" marB="36576"/>
                </a:tc>
              </a:tr>
              <a:tr h="530352">
                <a:tc>
                  <a:txBody>
                    <a:bodyPr/>
                    <a:lstStyle/>
                    <a:p>
                      <a:r>
                        <a:rPr sz="1500"/>
                        <a:t>Structure</a:t>
                      </a:r>
                    </a:p>
                  </a:txBody>
                  <a:tcPr anchor="ctr" marT="36576" marB="36576"/>
                </a:tc>
                <a:tc>
                  <a:txBody>
                    <a:bodyPr/>
                    <a:lstStyle/>
                    <a:p>
                      <a:r>
                        <a:rPr sz="1500"/>
                        <a:t>5 Functions · 23 Categories · 108 Subcategories</a:t>
                      </a:r>
                    </a:p>
                  </a:txBody>
                  <a:tcPr anchor="ctr" marT="36576" marB="36576"/>
                </a:tc>
                <a:tc>
                  <a:txBody>
                    <a:bodyPr/>
                    <a:lstStyle/>
                    <a:p>
                      <a:r>
                        <a:rPr sz="1500" b="1"/>
                        <a:t>6 Functions · 22 Categories · 106 Subcategories</a:t>
                      </a:r>
                    </a:p>
                  </a:txBody>
                  <a:tcPr anchor="ctr" marT="36576" marB="36576"/>
                </a:tc>
              </a:tr>
              <a:tr h="530352">
                <a:tc>
                  <a:txBody>
                    <a:bodyPr/>
                    <a:lstStyle/>
                    <a:p>
                      <a:r>
                        <a:rPr sz="1500"/>
                        <a:t>Governance</a:t>
                      </a:r>
                    </a:p>
                  </a:txBody>
                  <a:tcPr anchor="ctr" marT="36576" marB="36576"/>
                </a:tc>
                <a:tc>
                  <a:txBody>
                    <a:bodyPr/>
                    <a:lstStyle/>
                    <a:p>
                      <a:r>
                        <a:rPr sz="1500"/>
                        <a:t>Scattered across Identify</a:t>
                      </a:r>
                    </a:p>
                  </a:txBody>
                  <a:tcPr anchor="ctr" marT="36576" marB="36576"/>
                </a:tc>
                <a:tc>
                  <a:txBody>
                    <a:bodyPr/>
                    <a:lstStyle/>
                    <a:p>
                      <a:r>
                        <a:rPr sz="1500" b="1">
                          <a:solidFill>
                            <a:srgbClr val="FD5108"/>
                          </a:solidFill>
                        </a:rPr>
                        <a:t>A new Govern function at the centre</a:t>
                      </a:r>
                    </a:p>
                  </a:txBody>
                  <a:tcPr anchor="ctr" marT="36576" marB="36576"/>
                </a:tc>
              </a:tr>
              <a:tr h="530352">
                <a:tc>
                  <a:txBody>
                    <a:bodyPr/>
                    <a:lstStyle/>
                    <a:p>
                      <a:r>
                        <a:rPr sz="1500"/>
                        <a:t>Supply chain</a:t>
                      </a:r>
                    </a:p>
                  </a:txBody>
                  <a:tcPr anchor="ctr" marT="36576" marB="36576"/>
                </a:tc>
                <a:tc>
                  <a:txBody>
                    <a:bodyPr/>
                    <a:lstStyle/>
                    <a:p>
                      <a:r>
                        <a:rPr sz="1500"/>
                        <a:t>ID.SC, one category in Identify</a:t>
                      </a:r>
                    </a:p>
                  </a:txBody>
                  <a:tcPr anchor="ctr" marT="36576" marB="36576"/>
                </a:tc>
                <a:tc>
                  <a:txBody>
                    <a:bodyPr/>
                    <a:lstStyle/>
                    <a:p>
                      <a:r>
                        <a:rPr sz="1500"/>
                        <a:t>GV.SC, 10 subcategories in Govern</a:t>
                      </a:r>
                    </a:p>
                  </a:txBody>
                  <a:tcPr anchor="ctr" marT="36576" marB="36576"/>
                </a:tc>
              </a:tr>
              <a:tr h="530352">
                <a:tc>
                  <a:txBody>
                    <a:bodyPr/>
                    <a:lstStyle/>
                    <a:p>
                      <a:r>
                        <a:rPr sz="1500"/>
                        <a:t>Improvement</a:t>
                      </a:r>
                    </a:p>
                  </a:txBody>
                  <a:tcPr anchor="ctr" marT="36576" marB="36576"/>
                </a:tc>
                <a:tc>
                  <a:txBody>
                    <a:bodyPr/>
                    <a:lstStyle/>
                    <a:p>
                      <a:r>
                        <a:rPr sz="1500"/>
                        <a:t>Implicit</a:t>
                      </a:r>
                    </a:p>
                  </a:txBody>
                  <a:tcPr anchor="ctr" marT="36576" marB="36576"/>
                </a:tc>
                <a:tc>
                  <a:txBody>
                    <a:bodyPr/>
                    <a:lstStyle/>
                    <a:p>
                      <a:r>
                        <a:rPr sz="1500"/>
                        <a:t>ID.IM, a category of its own</a:t>
                      </a:r>
                    </a:p>
                  </a:txBody>
                  <a:tcPr anchor="ctr" marT="36576" marB="36576"/>
                </a:tc>
              </a:tr>
              <a:tr h="530352">
                <a:tc>
                  <a:txBody>
                    <a:bodyPr/>
                    <a:lstStyle/>
                    <a:p>
                      <a:r>
                        <a:rPr sz="1500"/>
                        <a:t>Guidance</a:t>
                      </a:r>
                    </a:p>
                  </a:txBody>
                  <a:tcPr anchor="ctr" marT="36576" marB="36576"/>
                </a:tc>
                <a:tc>
                  <a:txBody>
                    <a:bodyPr/>
                    <a:lstStyle/>
                    <a:p>
                      <a:r>
                        <a:rPr sz="1500"/>
                        <a:t>The framework document</a:t>
                      </a:r>
                    </a:p>
                  </a:txBody>
                  <a:tcPr anchor="ctr" marT="36576" marB="36576"/>
                </a:tc>
                <a:tc>
                  <a:txBody>
                    <a:bodyPr/>
                    <a:lstStyle/>
                    <a:p>
                      <a:r>
                        <a:rPr sz="1500"/>
                        <a:t>Plus Implementation Examples, Quick-Start Guides, online references</a:t>
                      </a:r>
                    </a:p>
                  </a:txBody>
                  <a:tcPr anchor="ctr" marT="36576" marB="36576"/>
                </a:tc>
              </a:tr>
              <a:tr h="530352">
                <a:tc>
                  <a:txBody>
                    <a:bodyPr/>
                    <a:lstStyle/>
                    <a:p>
                      <a:r>
                        <a:rPr sz="1500"/>
                        <a:t>Profiles</a:t>
                      </a:r>
                    </a:p>
                  </a:txBody>
                  <a:tcPr anchor="ctr" marT="36576" marB="36576"/>
                </a:tc>
                <a:tc>
                  <a:txBody>
                    <a:bodyPr/>
                    <a:lstStyle/>
                    <a:p>
                      <a:r>
                        <a:rPr sz="1500"/>
                        <a:t>Concept only</a:t>
                      </a:r>
                    </a:p>
                  </a:txBody>
                  <a:tcPr anchor="ctr" marT="36576" marB="36576"/>
                </a:tc>
                <a:tc>
                  <a:txBody>
                    <a:bodyPr/>
                    <a:lstStyle/>
                    <a:p>
                      <a:r>
                        <a:rPr sz="1500"/>
                        <a:t>Templates, plus Community Profiles for sectors and threats</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CSF 1.1 (16 Apr 2018) · NIST CSWP 29 (26 Feb 2024) · NIST publishes a 1.1 → 2.0 mapping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 name="Content Placeholder 15">
            <a:extLst>
              <a:ext uri="{FF2B5EF4-FFF2-40B4-BE49-F238E27FC236}">
                <a16:creationId xmlns:a16="http://schemas.microsoft.com/office/drawing/2014/main" id="{AF658E04-C7DC-0508-E067-5441F9DC2554}"/>
              </a:ext>
            </a:extLst>
          </p:cNvPr>
          <p:cNvSpPr>
            <a:spLocks noGrp="1"/>
          </p:cNvSpPr>
          <p:nvPr>
            <p:ph sz="quarter" idx="10"/>
          </p:nvPr>
        </p:nvSpPr>
        <p:spPr>
          <a:xfrm>
            <a:off x="366398" y="1298688"/>
            <a:ext cx="6640827" cy="1038112"/>
          </a:xfrm>
        </p:spPr>
        <p:txBody>
          <a:bodyPr/>
          <a:lstStyle/>
          <a:p>
            <a:pPr lvl="1">
              <a:spcBef>
                <a:spcPts val="600"/>
              </a:spcBef>
              <a:spcAft>
                <a:spcPts val="0"/>
              </a:spcAft>
              <a:defRPr/>
            </a:pPr>
            <a:r>
              <a:rPr lang="en-US" sz="1400" b="1" noProof="1">
                <a:solidFill>
                  <a:srgbClr val="000000"/>
                </a:solidFill>
              </a:rPr>
              <a:t>Current Profile: what you achieve today. Target Profile: what you choose to achieve.</a:t>
            </a:r>
          </a:p>
          <a:p>
            <a:pPr lvl="1">
              <a:spcBef>
                <a:spcPts val="600"/>
              </a:spcBef>
              <a:spcAft>
                <a:spcPts val="0"/>
              </a:spcAft>
              <a:defRPr/>
            </a:pPr>
            <a:r>
              <a:rPr lang="en-US" noProof="1" sz="1400">
                <a:solidFill>
                  <a:srgbClr val="000000"/>
                </a:solidFill>
              </a:rPr>
              <a:t>Community Profile: a shared target published for a sector, a technology or a threat. Always ask who set the Target, and who approved it.</a:t>
            </a:r>
          </a:p>
        </p:txBody>
      </p:sp>
      <p:sp>
        <p:nvSpPr>
          <p:cNvPr id="17" name="Title 10">
            <a:extLst>
              <a:ext uri="{FF2B5EF4-FFF2-40B4-BE49-F238E27FC236}">
                <a16:creationId xmlns:a16="http://schemas.microsoft.com/office/drawing/2014/main" id="{F8B22BF5-7A4C-608C-31CD-3688FE7959DA}"/>
              </a:ext>
            </a:extLst>
          </p:cNvPr>
          <p:cNvSpPr>
            <a:spLocks noGrp="1"/>
          </p:cNvSpPr>
          <p:nvPr>
            <p:ph type="title"/>
          </p:nvPr>
        </p:nvSpPr>
        <p:spPr>
          <a:xfrm>
            <a:off x="370586" y="613720"/>
            <a:ext cx="11453114" cy="362412"/>
          </a:xfrm>
        </p:spPr>
        <p:txBody>
          <a:bodyPr/>
          <a:lstStyle/>
          <a:p>
            <a:pPr marL="0" indent="0"/>
            <a:r>
              <a:rPr lang="en-US" noProof="1"/>
              <a:t>Profiles turn a catalogue into a plan</a:t>
            </a:r>
          </a:p>
        </p:txBody>
      </p:sp>
      <p:grpSp>
        <p:nvGrpSpPr>
          <p:cNvPr id="18" name="Group 17">
            <a:extLst>
              <a:ext uri="{FF2B5EF4-FFF2-40B4-BE49-F238E27FC236}">
                <a16:creationId xmlns:a16="http://schemas.microsoft.com/office/drawing/2014/main" id="{A8A04C60-4ACE-0A86-D2A0-D01AB723C94C}"/>
              </a:ext>
            </a:extLst>
          </p:cNvPr>
          <p:cNvGrpSpPr/>
          <p:nvPr/>
        </p:nvGrpSpPr>
        <p:grpSpPr>
          <a:xfrm>
            <a:off x="-4800" y="2718897"/>
            <a:ext cx="12196800" cy="3267220"/>
            <a:chOff x="-4800" y="2507877"/>
            <a:chExt cx="12196800" cy="3267220"/>
          </a:xfrm>
        </p:grpSpPr>
        <p:cxnSp>
          <p:nvCxnSpPr>
            <p:cNvPr id="2" name="Straight Connector 1">
              <a:extLst>
                <a:ext uri="{FF2B5EF4-FFF2-40B4-BE49-F238E27FC236}">
                  <a16:creationId xmlns:a16="http://schemas.microsoft.com/office/drawing/2014/main" id="{396FC443-982D-B0C6-8697-595F83F929E0}"/>
                </a:ext>
              </a:extLst>
            </p:cNvPr>
            <p:cNvCxnSpPr>
              <a:cxnSpLocks/>
            </p:cNvCxnSpPr>
            <p:nvPr/>
          </p:nvCxnSpPr>
          <p:spPr>
            <a:xfrm>
              <a:off x="-4800" y="2557235"/>
              <a:ext cx="12196800" cy="0"/>
            </a:xfrm>
            <a:prstGeom prst="line">
              <a:avLst/>
            </a:prstGeom>
            <a:ln w="19050">
              <a:solidFill>
                <a:srgbClr val="DFE3E6"/>
              </a:solidFill>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BB4BB4AC-5FB1-3097-18FE-0A9B418F4B08}"/>
                </a:ext>
              </a:extLst>
            </p:cNvPr>
            <p:cNvGrpSpPr/>
            <p:nvPr/>
          </p:nvGrpSpPr>
          <p:grpSpPr>
            <a:xfrm>
              <a:off x="366398" y="2511515"/>
              <a:ext cx="91440" cy="372686"/>
              <a:chOff x="468828" y="4820948"/>
              <a:chExt cx="91440" cy="372686"/>
            </a:xfrm>
          </p:grpSpPr>
          <p:sp>
            <p:nvSpPr>
              <p:cNvPr id="7" name="Rectangle 6">
                <a:extLst>
                  <a:ext uri="{FF2B5EF4-FFF2-40B4-BE49-F238E27FC236}">
                    <a16:creationId xmlns:a16="http://schemas.microsoft.com/office/drawing/2014/main" id="{F902EFDA-F395-C663-048A-DF2D5EC62435}"/>
                  </a:ext>
                </a:extLst>
              </p:cNvPr>
              <p:cNvSpPr>
                <a:spLocks noChangeAspect="1"/>
              </p:cNvSpPr>
              <p:nvPr/>
            </p:nvSpPr>
            <p:spPr>
              <a:xfrm>
                <a:off x="468828" y="4820948"/>
                <a:ext cx="91440" cy="91440"/>
              </a:xfrm>
              <a:prstGeom prst="rect">
                <a:avLst/>
              </a:prstGeom>
              <a:solidFill>
                <a:srgbClr val="DFE3E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19" name="Straight Connector 18">
                <a:extLst>
                  <a:ext uri="{FF2B5EF4-FFF2-40B4-BE49-F238E27FC236}">
                    <a16:creationId xmlns:a16="http://schemas.microsoft.com/office/drawing/2014/main" id="{27D4E6CC-B05F-DB1C-C791-F49CC990A9FA}"/>
                  </a:ext>
                </a:extLst>
              </p:cNvPr>
              <p:cNvCxnSpPr>
                <a:cxnSpLocks/>
              </p:cNvCxnSpPr>
              <p:nvPr/>
            </p:nvCxnSpPr>
            <p:spPr>
              <a:xfrm>
                <a:off x="514548" y="4883813"/>
                <a:ext cx="0" cy="309821"/>
              </a:xfrm>
              <a:prstGeom prst="line">
                <a:avLst/>
              </a:prstGeom>
              <a:ln w="12700">
                <a:solidFill>
                  <a:srgbClr val="DFE3E6"/>
                </a:solidFill>
                <a:headEnd type="none"/>
              </a:ln>
            </p:spPr>
            <p:style>
              <a:lnRef idx="2">
                <a:schemeClr val="accent1"/>
              </a:lnRef>
              <a:fillRef idx="0">
                <a:schemeClr val="accent1"/>
              </a:fillRef>
              <a:effectRef idx="1">
                <a:schemeClr val="accent1"/>
              </a:effectRef>
              <a:fontRef idx="minor">
                <a:schemeClr val="tx1"/>
              </a:fontRef>
            </p:style>
          </p:cxnSp>
        </p:grpSp>
        <p:sp>
          <p:nvSpPr>
            <p:cNvPr id="87" name="Rectangle 86">
              <a:extLst>
                <a:ext uri="{FF2B5EF4-FFF2-40B4-BE49-F238E27FC236}">
                  <a16:creationId xmlns:a16="http://schemas.microsoft.com/office/drawing/2014/main" id="{363F9C8A-37B7-FA2C-EE8B-7807E949969B}"/>
                </a:ext>
              </a:extLst>
            </p:cNvPr>
            <p:cNvSpPr/>
            <p:nvPr/>
          </p:nvSpPr>
          <p:spPr>
            <a:xfrm>
              <a:off x="397665" y="2999593"/>
              <a:ext cx="2179147" cy="2775504"/>
            </a:xfrm>
            <a:prstGeom prst="rect">
              <a:avLst/>
            </a:prstGeom>
            <a:solidFill>
              <a:srgbClr val="FFF5ED"/>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737360" rIns="182880" bIns="9144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Which part of the organisation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And why</a:t>
              </a:r>
            </a:p>
          </p:txBody>
        </p:sp>
        <p:sp>
          <p:nvSpPr>
            <p:cNvPr id="93" name="TextBox 92">
              <a:extLst>
                <a:ext uri="{FF2B5EF4-FFF2-40B4-BE49-F238E27FC236}">
                  <a16:creationId xmlns:a16="http://schemas.microsoft.com/office/drawing/2014/main" id="{E48F9461-38C1-63DE-1158-02F342E29874}"/>
                </a:ext>
              </a:extLst>
            </p:cNvPr>
            <p:cNvSpPr txBox="1"/>
            <p:nvPr/>
          </p:nvSpPr>
          <p:spPr>
            <a:xfrm>
              <a:off x="404830" y="2993925"/>
              <a:ext cx="2171980" cy="1092607"/>
            </a:xfrm>
            <a:prstGeom prst="rect">
              <a:avLst/>
            </a:prstGeom>
            <a:noFill/>
          </p:spPr>
          <p:txBody>
            <a:bodyPr wrap="square" lIns="91440" t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1">
                  <a:ln>
                    <a:noFill/>
                  </a:ln>
                  <a:solidFill>
                    <a:srgbClr val="000000"/>
                  </a:solidFill>
                  <a:effectLst/>
                  <a:uLnTx/>
                  <a:uFillTx/>
                  <a:latin typeface="Arial"/>
                  <a:ea typeface="+mn-ea"/>
                  <a:cs typeface="+mn-cs"/>
                </a:rPr>
                <a:t>Step 1</a:t>
              </a:r>
              <a:br/>
              <a:r>
                <a:rPr kumimoji="0" lang="en-US" sz="2800" b="0" i="0" u="none" strike="noStrike" kern="1200" cap="none" spc="0" normalizeH="0" baseline="0" noProof="1">
                  <a:ln>
                    <a:noFill/>
                  </a:ln>
                  <a:solidFill>
                    <a:srgbClr val="000000"/>
                  </a:solidFill>
                  <a:effectLst/>
                  <a:uLnTx/>
                  <a:uFillTx/>
                  <a:latin typeface="Arial"/>
                  <a:ea typeface="+mn-ea"/>
                  <a:cs typeface="+mn-cs"/>
                </a:rPr>
                <a:t>Scope</a:t>
              </a:r>
            </a:p>
          </p:txBody>
        </p:sp>
        <p:sp>
          <p:nvSpPr>
            <p:cNvPr id="94" name="Rectangle 93">
              <a:extLst>
                <a:ext uri="{FF2B5EF4-FFF2-40B4-BE49-F238E27FC236}">
                  <a16:creationId xmlns:a16="http://schemas.microsoft.com/office/drawing/2014/main" id="{3485E8EF-3591-AB7E-DAF6-62ED1B897387}"/>
                </a:ext>
              </a:extLst>
            </p:cNvPr>
            <p:cNvSpPr/>
            <p:nvPr/>
          </p:nvSpPr>
          <p:spPr>
            <a:xfrm>
              <a:off x="2703830" y="2999593"/>
              <a:ext cx="2179147" cy="2775504"/>
            </a:xfrm>
            <a:prstGeom prst="rect">
              <a:avLst/>
            </a:prstGeom>
            <a:solidFill>
              <a:srgbClr val="FFE8D4"/>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737360" rIns="182880" bIns="9144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Policies, risk priorities, BIAs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Legal and regulatory duties</a:t>
              </a:r>
            </a:p>
          </p:txBody>
        </p:sp>
        <p:sp>
          <p:nvSpPr>
            <p:cNvPr id="95" name="TextBox 94">
              <a:extLst>
                <a:ext uri="{FF2B5EF4-FFF2-40B4-BE49-F238E27FC236}">
                  <a16:creationId xmlns:a16="http://schemas.microsoft.com/office/drawing/2014/main" id="{9DE73A2C-F034-016C-8D16-FC43B103CB1B}"/>
                </a:ext>
              </a:extLst>
            </p:cNvPr>
            <p:cNvSpPr txBox="1"/>
            <p:nvPr/>
          </p:nvSpPr>
          <p:spPr>
            <a:xfrm>
              <a:off x="2707413" y="3000008"/>
              <a:ext cx="2171980" cy="1092607"/>
            </a:xfrm>
            <a:prstGeom prst="rect">
              <a:avLst/>
            </a:prstGeom>
            <a:noFill/>
          </p:spPr>
          <p:txBody>
            <a:bodyPr wrap="square" lIns="91440" t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1">
                  <a:ln>
                    <a:noFill/>
                  </a:ln>
                  <a:solidFill>
                    <a:srgbClr val="000000"/>
                  </a:solidFill>
                  <a:effectLst/>
                  <a:uLnTx/>
                  <a:uFillTx/>
                  <a:latin typeface="Arial"/>
                  <a:ea typeface="+mn-ea"/>
                  <a:cs typeface="+mn-cs"/>
                </a:rPr>
                <a:t>Step 2</a:t>
              </a:r>
              <a:br/>
              <a:r>
                <a:rPr kumimoji="0" lang="en-US" sz="2800" b="0" i="0" u="none" strike="noStrike" kern="1200" cap="none" spc="0" normalizeH="0" baseline="0" noProof="1">
                  <a:ln>
                    <a:noFill/>
                  </a:ln>
                  <a:solidFill>
                    <a:srgbClr val="000000"/>
                  </a:solidFill>
                  <a:effectLst/>
                  <a:uLnTx/>
                  <a:uFillTx/>
                  <a:latin typeface="Arial"/>
                  <a:ea typeface="+mn-ea"/>
                  <a:cs typeface="+mn-cs"/>
                </a:rPr>
                <a:t>Gather</a:t>
              </a:r>
            </a:p>
          </p:txBody>
        </p:sp>
        <p:sp>
          <p:nvSpPr>
            <p:cNvPr id="97" name="Rectangle 96">
              <a:extLst>
                <a:ext uri="{FF2B5EF4-FFF2-40B4-BE49-F238E27FC236}">
                  <a16:creationId xmlns:a16="http://schemas.microsoft.com/office/drawing/2014/main" id="{D7B3742F-6799-F8F3-02CC-CC86D0CF156E}"/>
                </a:ext>
              </a:extLst>
            </p:cNvPr>
            <p:cNvSpPr/>
            <p:nvPr/>
          </p:nvSpPr>
          <p:spPr>
            <a:xfrm>
              <a:off x="5038556" y="2999593"/>
              <a:ext cx="2179147" cy="2775504"/>
            </a:xfrm>
            <a:prstGeom prst="rect">
              <a:avLst/>
            </a:prstGeom>
            <a:solidFill>
              <a:srgbClr val="FFCDA8"/>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737360" rIns="182880" bIns="9144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Current and Target Profiles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Outcome by outcome</a:t>
              </a:r>
            </a:p>
          </p:txBody>
        </p:sp>
        <p:sp>
          <p:nvSpPr>
            <p:cNvPr id="98" name="TextBox 97">
              <a:extLst>
                <a:ext uri="{FF2B5EF4-FFF2-40B4-BE49-F238E27FC236}">
                  <a16:creationId xmlns:a16="http://schemas.microsoft.com/office/drawing/2014/main" id="{D9D7E446-E0B0-517A-4E0E-1CD0C08982DD}"/>
                </a:ext>
              </a:extLst>
            </p:cNvPr>
            <p:cNvSpPr txBox="1"/>
            <p:nvPr/>
          </p:nvSpPr>
          <p:spPr>
            <a:xfrm>
              <a:off x="5042139" y="2993925"/>
              <a:ext cx="2171980" cy="1092607"/>
            </a:xfrm>
            <a:prstGeom prst="rect">
              <a:avLst/>
            </a:prstGeom>
            <a:noFill/>
          </p:spPr>
          <p:txBody>
            <a:bodyPr wrap="square" lIns="91440" t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1">
                  <a:ln>
                    <a:noFill/>
                  </a:ln>
                  <a:solidFill>
                    <a:srgbClr val="000000"/>
                  </a:solidFill>
                  <a:effectLst/>
                  <a:uLnTx/>
                  <a:uFillTx/>
                  <a:latin typeface="Arial"/>
                  <a:ea typeface="+mn-ea"/>
                  <a:cs typeface="+mn-cs"/>
                </a:rPr>
                <a:t>Step 3</a:t>
              </a:r>
              <a:br/>
              <a:r>
                <a:rPr kumimoji="0" lang="en-US" sz="2800" b="0" i="0" u="none" strike="noStrike" kern="1200" cap="none" spc="0" normalizeH="0" baseline="0" noProof="1">
                  <a:ln>
                    <a:noFill/>
                  </a:ln>
                  <a:solidFill>
                    <a:srgbClr val="000000"/>
                  </a:solidFill>
                  <a:effectLst/>
                  <a:uLnTx/>
                  <a:uFillTx/>
                  <a:latin typeface="Arial"/>
                  <a:ea typeface="+mn-ea"/>
                  <a:cs typeface="+mn-cs"/>
                </a:rPr>
                <a:t>Create</a:t>
              </a:r>
            </a:p>
          </p:txBody>
        </p:sp>
        <p:sp>
          <p:nvSpPr>
            <p:cNvPr id="99" name="Rectangle 98">
              <a:extLst>
                <a:ext uri="{FF2B5EF4-FFF2-40B4-BE49-F238E27FC236}">
                  <a16:creationId xmlns:a16="http://schemas.microsoft.com/office/drawing/2014/main" id="{3C4DB53E-1068-3EED-8523-1DF1E31547AA}"/>
                </a:ext>
              </a:extLst>
            </p:cNvPr>
            <p:cNvSpPr/>
            <p:nvPr/>
          </p:nvSpPr>
          <p:spPr>
            <a:xfrm>
              <a:off x="7339267" y="2999593"/>
              <a:ext cx="2179147" cy="2775504"/>
            </a:xfrm>
            <a:prstGeom prst="rect">
              <a:avLst/>
            </a:prstGeom>
            <a:solidFill>
              <a:srgbClr val="FFAA7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737360" rIns="182880" bIns="9144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Prioritised action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Owner and date per gap</a:t>
              </a:r>
            </a:p>
          </p:txBody>
        </p:sp>
        <p:sp>
          <p:nvSpPr>
            <p:cNvPr id="100" name="TextBox 99">
              <a:extLst>
                <a:ext uri="{FF2B5EF4-FFF2-40B4-BE49-F238E27FC236}">
                  <a16:creationId xmlns:a16="http://schemas.microsoft.com/office/drawing/2014/main" id="{EE6B6D25-3A46-6072-5310-068E8DAADDCE}"/>
                </a:ext>
              </a:extLst>
            </p:cNvPr>
            <p:cNvSpPr txBox="1"/>
            <p:nvPr/>
          </p:nvSpPr>
          <p:spPr>
            <a:xfrm>
              <a:off x="7342850" y="2980453"/>
              <a:ext cx="2171980" cy="1523494"/>
            </a:xfrm>
            <a:prstGeom prst="rect">
              <a:avLst/>
            </a:prstGeom>
            <a:noFill/>
          </p:spPr>
          <p:txBody>
            <a:bodyPr wrap="square" lIns="91440" t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1">
                  <a:ln>
                    <a:noFill/>
                  </a:ln>
                  <a:solidFill>
                    <a:srgbClr val="000000"/>
                  </a:solidFill>
                  <a:effectLst/>
                  <a:uLnTx/>
                  <a:uFillTx/>
                  <a:latin typeface="Arial"/>
                  <a:ea typeface="+mn-ea"/>
                  <a:cs typeface="+mn-cs"/>
                </a:rPr>
                <a:t>Step 4</a:t>
              </a:r>
              <a:br/>
              <a:r>
                <a:rPr kumimoji="0" lang="en-US" sz="2800" b="0" i="0" u="none" strike="noStrike" kern="1200" cap="none" spc="0" normalizeH="0" baseline="0" noProof="1">
                  <a:ln>
                    <a:noFill/>
                  </a:ln>
                  <a:solidFill>
                    <a:srgbClr val="000000"/>
                  </a:solidFill>
                  <a:effectLst/>
                  <a:uLnTx/>
                  <a:uFillTx/>
                  <a:latin typeface="Arial"/>
                  <a:ea typeface="+mn-ea"/>
                  <a:cs typeface="+mn-cs"/>
                </a:rPr>
                <a:t>Analyse gaps</a:t>
              </a:r>
            </a:p>
          </p:txBody>
        </p:sp>
        <p:sp>
          <p:nvSpPr>
            <p:cNvPr id="101" name="Rectangle 100">
              <a:extLst>
                <a:ext uri="{FF2B5EF4-FFF2-40B4-BE49-F238E27FC236}">
                  <a16:creationId xmlns:a16="http://schemas.microsoft.com/office/drawing/2014/main" id="{4B4DB0A2-0BE1-D921-4D60-6001936E3047}"/>
                </a:ext>
              </a:extLst>
            </p:cNvPr>
            <p:cNvSpPr/>
            <p:nvPr/>
          </p:nvSpPr>
          <p:spPr>
            <a:xfrm>
              <a:off x="9615188" y="2999593"/>
              <a:ext cx="2179147" cy="2775504"/>
            </a:xfrm>
            <a:prstGeom prst="rect">
              <a:avLst/>
            </a:prstGeom>
            <a:solidFill>
              <a:srgbClr val="FE7C39"/>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1737360" rIns="182880" bIns="9144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Act on the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1">
                  <a:ln>
                    <a:noFill/>
                  </a:ln>
                  <a:solidFill>
                    <a:srgbClr val="000000"/>
                  </a:solidFill>
                  <a:effectLst/>
                  <a:uLnTx/>
                  <a:uFillTx/>
                  <a:latin typeface="Arial"/>
                  <a:ea typeface="+mn-ea"/>
                  <a:cs typeface="+mn-cs"/>
                </a:rPr>
                <a:t>Refresh both Profiles</a:t>
              </a:r>
            </a:p>
          </p:txBody>
        </p:sp>
        <p:sp>
          <p:nvSpPr>
            <p:cNvPr id="102" name="TextBox 101">
              <a:extLst>
                <a:ext uri="{FF2B5EF4-FFF2-40B4-BE49-F238E27FC236}">
                  <a16:creationId xmlns:a16="http://schemas.microsoft.com/office/drawing/2014/main" id="{FD00D170-CC79-4E14-9DAF-CF0DD2AF8258}"/>
                </a:ext>
              </a:extLst>
            </p:cNvPr>
            <p:cNvSpPr txBox="1"/>
            <p:nvPr/>
          </p:nvSpPr>
          <p:spPr>
            <a:xfrm>
              <a:off x="9618771" y="2961791"/>
              <a:ext cx="2171980" cy="1092607"/>
            </a:xfrm>
            <a:prstGeom prst="rect">
              <a:avLst/>
            </a:prstGeom>
            <a:noFill/>
          </p:spPr>
          <p:txBody>
            <a:bodyPr wrap="square" lIns="91440" tIns="18288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1">
                  <a:ln>
                    <a:noFill/>
                  </a:ln>
                  <a:solidFill>
                    <a:srgbClr val="000000"/>
                  </a:solidFill>
                  <a:effectLst/>
                  <a:uLnTx/>
                  <a:uFillTx/>
                  <a:latin typeface="Arial"/>
                  <a:ea typeface="+mn-ea"/>
                  <a:cs typeface="+mn-cs"/>
                </a:rPr>
                <a:t>Step 5</a:t>
              </a:r>
              <a:br/>
              <a:r>
                <a:rPr kumimoji="0" lang="en-US" sz="2800" b="0" i="0" u="none" strike="noStrike" kern="1200" cap="none" spc="0" normalizeH="0" baseline="0" noProof="1">
                  <a:ln>
                    <a:noFill/>
                  </a:ln>
                  <a:solidFill>
                    <a:srgbClr val="000000"/>
                  </a:solidFill>
                  <a:effectLst/>
                  <a:uLnTx/>
                  <a:uFillTx/>
                  <a:latin typeface="Arial"/>
                  <a:ea typeface="+mn-ea"/>
                  <a:cs typeface="+mn-cs"/>
                </a:rPr>
                <a:t>Implement</a:t>
              </a:r>
            </a:p>
          </p:txBody>
        </p:sp>
        <p:grpSp>
          <p:nvGrpSpPr>
            <p:cNvPr id="103" name="Group 102">
              <a:extLst>
                <a:ext uri="{FF2B5EF4-FFF2-40B4-BE49-F238E27FC236}">
                  <a16:creationId xmlns:a16="http://schemas.microsoft.com/office/drawing/2014/main" id="{4F768441-0830-1542-CE2A-789021262690}"/>
                </a:ext>
              </a:extLst>
            </p:cNvPr>
            <p:cNvGrpSpPr/>
            <p:nvPr/>
          </p:nvGrpSpPr>
          <p:grpSpPr>
            <a:xfrm>
              <a:off x="2658110" y="2507877"/>
              <a:ext cx="91440" cy="372686"/>
              <a:chOff x="468828" y="4820948"/>
              <a:chExt cx="91440" cy="372686"/>
            </a:xfrm>
          </p:grpSpPr>
          <p:sp>
            <p:nvSpPr>
              <p:cNvPr id="104" name="Rectangle 103">
                <a:extLst>
                  <a:ext uri="{FF2B5EF4-FFF2-40B4-BE49-F238E27FC236}">
                    <a16:creationId xmlns:a16="http://schemas.microsoft.com/office/drawing/2014/main" id="{27D9BF44-C215-6F44-6EC6-A44202AD5214}"/>
                  </a:ext>
                </a:extLst>
              </p:cNvPr>
              <p:cNvSpPr>
                <a:spLocks noChangeAspect="1"/>
              </p:cNvSpPr>
              <p:nvPr/>
            </p:nvSpPr>
            <p:spPr>
              <a:xfrm>
                <a:off x="468828" y="4820948"/>
                <a:ext cx="91440" cy="91440"/>
              </a:xfrm>
              <a:prstGeom prst="rect">
                <a:avLst/>
              </a:prstGeom>
              <a:solidFill>
                <a:srgbClr val="DFE3E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105" name="Straight Connector 104">
                <a:extLst>
                  <a:ext uri="{FF2B5EF4-FFF2-40B4-BE49-F238E27FC236}">
                    <a16:creationId xmlns:a16="http://schemas.microsoft.com/office/drawing/2014/main" id="{8A3FA704-E31E-B45A-E7A9-88FDC47CF2AA}"/>
                  </a:ext>
                </a:extLst>
              </p:cNvPr>
              <p:cNvCxnSpPr>
                <a:cxnSpLocks/>
              </p:cNvCxnSpPr>
              <p:nvPr/>
            </p:nvCxnSpPr>
            <p:spPr>
              <a:xfrm>
                <a:off x="514548" y="4883813"/>
                <a:ext cx="0" cy="309821"/>
              </a:xfrm>
              <a:prstGeom prst="line">
                <a:avLst/>
              </a:prstGeom>
              <a:ln w="12700">
                <a:solidFill>
                  <a:srgbClr val="DFE3E6"/>
                </a:solidFill>
                <a:headEnd type="none"/>
              </a:ln>
            </p:spPr>
            <p:style>
              <a:lnRef idx="2">
                <a:schemeClr val="accent1"/>
              </a:lnRef>
              <a:fillRef idx="0">
                <a:schemeClr val="accent1"/>
              </a:fillRef>
              <a:effectRef idx="1">
                <a:schemeClr val="accent1"/>
              </a:effectRef>
              <a:fontRef idx="minor">
                <a:schemeClr val="tx1"/>
              </a:fontRef>
            </p:style>
          </p:cxnSp>
        </p:grpSp>
        <p:grpSp>
          <p:nvGrpSpPr>
            <p:cNvPr id="106" name="Group 105">
              <a:extLst>
                <a:ext uri="{FF2B5EF4-FFF2-40B4-BE49-F238E27FC236}">
                  <a16:creationId xmlns:a16="http://schemas.microsoft.com/office/drawing/2014/main" id="{7100A22E-F283-F1D4-57E7-01E2269EBB29}"/>
                </a:ext>
              </a:extLst>
            </p:cNvPr>
            <p:cNvGrpSpPr/>
            <p:nvPr/>
          </p:nvGrpSpPr>
          <p:grpSpPr>
            <a:xfrm>
              <a:off x="5007584" y="2514365"/>
              <a:ext cx="91440" cy="372686"/>
              <a:chOff x="468828" y="4820948"/>
              <a:chExt cx="91440" cy="372686"/>
            </a:xfrm>
          </p:grpSpPr>
          <p:sp>
            <p:nvSpPr>
              <p:cNvPr id="107" name="Rectangle 106">
                <a:extLst>
                  <a:ext uri="{FF2B5EF4-FFF2-40B4-BE49-F238E27FC236}">
                    <a16:creationId xmlns:a16="http://schemas.microsoft.com/office/drawing/2014/main" id="{084B9918-F00B-8D80-2CA8-741DE054BFF8}"/>
                  </a:ext>
                </a:extLst>
              </p:cNvPr>
              <p:cNvSpPr>
                <a:spLocks noChangeAspect="1"/>
              </p:cNvSpPr>
              <p:nvPr/>
            </p:nvSpPr>
            <p:spPr>
              <a:xfrm>
                <a:off x="468828" y="4820948"/>
                <a:ext cx="91440" cy="91440"/>
              </a:xfrm>
              <a:prstGeom prst="rect">
                <a:avLst/>
              </a:prstGeom>
              <a:solidFill>
                <a:srgbClr val="DFE3E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108" name="Straight Connector 107">
                <a:extLst>
                  <a:ext uri="{FF2B5EF4-FFF2-40B4-BE49-F238E27FC236}">
                    <a16:creationId xmlns:a16="http://schemas.microsoft.com/office/drawing/2014/main" id="{6AD2D335-622D-36A0-EED9-63394AC5023A}"/>
                  </a:ext>
                </a:extLst>
              </p:cNvPr>
              <p:cNvCxnSpPr>
                <a:cxnSpLocks/>
              </p:cNvCxnSpPr>
              <p:nvPr/>
            </p:nvCxnSpPr>
            <p:spPr>
              <a:xfrm>
                <a:off x="514548" y="4883813"/>
                <a:ext cx="0" cy="309821"/>
              </a:xfrm>
              <a:prstGeom prst="line">
                <a:avLst/>
              </a:prstGeom>
              <a:ln w="12700">
                <a:solidFill>
                  <a:srgbClr val="DFE3E6"/>
                </a:solidFill>
                <a:headEnd type="none"/>
              </a:ln>
            </p:spPr>
            <p:style>
              <a:lnRef idx="2">
                <a:schemeClr val="accent1"/>
              </a:lnRef>
              <a:fillRef idx="0">
                <a:schemeClr val="accent1"/>
              </a:fillRef>
              <a:effectRef idx="1">
                <a:schemeClr val="accent1"/>
              </a:effectRef>
              <a:fontRef idx="minor">
                <a:schemeClr val="tx1"/>
              </a:fontRef>
            </p:style>
          </p:cxnSp>
        </p:grpSp>
        <p:grpSp>
          <p:nvGrpSpPr>
            <p:cNvPr id="109" name="Group 108">
              <a:extLst>
                <a:ext uri="{FF2B5EF4-FFF2-40B4-BE49-F238E27FC236}">
                  <a16:creationId xmlns:a16="http://schemas.microsoft.com/office/drawing/2014/main" id="{3D3F3063-628D-7D2F-9984-B1388417654E}"/>
                </a:ext>
              </a:extLst>
            </p:cNvPr>
            <p:cNvGrpSpPr/>
            <p:nvPr/>
          </p:nvGrpSpPr>
          <p:grpSpPr>
            <a:xfrm>
              <a:off x="7299296" y="2510727"/>
              <a:ext cx="91440" cy="372686"/>
              <a:chOff x="468828" y="4820948"/>
              <a:chExt cx="91440" cy="372686"/>
            </a:xfrm>
          </p:grpSpPr>
          <p:sp>
            <p:nvSpPr>
              <p:cNvPr id="110" name="Rectangle 109">
                <a:extLst>
                  <a:ext uri="{FF2B5EF4-FFF2-40B4-BE49-F238E27FC236}">
                    <a16:creationId xmlns:a16="http://schemas.microsoft.com/office/drawing/2014/main" id="{6D51D5EA-53FF-ED36-06BB-9C857254E68E}"/>
                  </a:ext>
                </a:extLst>
              </p:cNvPr>
              <p:cNvSpPr>
                <a:spLocks noChangeAspect="1"/>
              </p:cNvSpPr>
              <p:nvPr/>
            </p:nvSpPr>
            <p:spPr>
              <a:xfrm>
                <a:off x="468828" y="4820948"/>
                <a:ext cx="91440" cy="91440"/>
              </a:xfrm>
              <a:prstGeom prst="rect">
                <a:avLst/>
              </a:prstGeom>
              <a:solidFill>
                <a:srgbClr val="DFE3E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111" name="Straight Connector 110">
                <a:extLst>
                  <a:ext uri="{FF2B5EF4-FFF2-40B4-BE49-F238E27FC236}">
                    <a16:creationId xmlns:a16="http://schemas.microsoft.com/office/drawing/2014/main" id="{49A46D02-7D1D-DBB5-D1B2-0DE72BFE7CDB}"/>
                  </a:ext>
                </a:extLst>
              </p:cNvPr>
              <p:cNvCxnSpPr>
                <a:cxnSpLocks/>
              </p:cNvCxnSpPr>
              <p:nvPr/>
            </p:nvCxnSpPr>
            <p:spPr>
              <a:xfrm>
                <a:off x="514548" y="4883813"/>
                <a:ext cx="0" cy="309821"/>
              </a:xfrm>
              <a:prstGeom prst="line">
                <a:avLst/>
              </a:prstGeom>
              <a:ln w="12700">
                <a:solidFill>
                  <a:srgbClr val="DFE3E6"/>
                </a:solidFill>
                <a:headEnd type="none"/>
              </a:ln>
            </p:spPr>
            <p:style>
              <a:lnRef idx="2">
                <a:schemeClr val="accent1"/>
              </a:lnRef>
              <a:fillRef idx="0">
                <a:schemeClr val="accent1"/>
              </a:fillRef>
              <a:effectRef idx="1">
                <a:schemeClr val="accent1"/>
              </a:effectRef>
              <a:fontRef idx="minor">
                <a:schemeClr val="tx1"/>
              </a:fontRef>
            </p:style>
          </p:cxnSp>
        </p:grpSp>
        <p:grpSp>
          <p:nvGrpSpPr>
            <p:cNvPr id="112" name="Group 111">
              <a:extLst>
                <a:ext uri="{FF2B5EF4-FFF2-40B4-BE49-F238E27FC236}">
                  <a16:creationId xmlns:a16="http://schemas.microsoft.com/office/drawing/2014/main" id="{62BF468E-C21D-9CB2-1E22-E05F24FBB5C9}"/>
                </a:ext>
              </a:extLst>
            </p:cNvPr>
            <p:cNvGrpSpPr/>
            <p:nvPr/>
          </p:nvGrpSpPr>
          <p:grpSpPr>
            <a:xfrm>
              <a:off x="9569468" y="2514365"/>
              <a:ext cx="91440" cy="372686"/>
              <a:chOff x="468828" y="4820948"/>
              <a:chExt cx="91440" cy="372686"/>
            </a:xfrm>
          </p:grpSpPr>
          <p:sp>
            <p:nvSpPr>
              <p:cNvPr id="113" name="Rectangle 112">
                <a:extLst>
                  <a:ext uri="{FF2B5EF4-FFF2-40B4-BE49-F238E27FC236}">
                    <a16:creationId xmlns:a16="http://schemas.microsoft.com/office/drawing/2014/main" id="{4D72C6B2-84E9-0ECA-9A43-762CD6E4196B}"/>
                  </a:ext>
                </a:extLst>
              </p:cNvPr>
              <p:cNvSpPr>
                <a:spLocks noChangeAspect="1"/>
              </p:cNvSpPr>
              <p:nvPr/>
            </p:nvSpPr>
            <p:spPr>
              <a:xfrm>
                <a:off x="468828" y="4820948"/>
                <a:ext cx="91440" cy="91440"/>
              </a:xfrm>
              <a:prstGeom prst="rect">
                <a:avLst/>
              </a:prstGeom>
              <a:solidFill>
                <a:srgbClr val="DFE3E6"/>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1">
                  <a:ln>
                    <a:noFill/>
                  </a:ln>
                  <a:solidFill>
                    <a:srgbClr val="000000"/>
                  </a:solidFill>
                  <a:effectLst/>
                  <a:uLnTx/>
                  <a:uFillTx/>
                  <a:latin typeface="Arial"/>
                  <a:ea typeface="+mn-ea"/>
                  <a:cs typeface="+mn-cs"/>
                </a:endParaRPr>
              </a:p>
            </p:txBody>
          </p:sp>
          <p:cxnSp>
            <p:nvCxnSpPr>
              <p:cNvPr id="114" name="Straight Connector 113">
                <a:extLst>
                  <a:ext uri="{FF2B5EF4-FFF2-40B4-BE49-F238E27FC236}">
                    <a16:creationId xmlns:a16="http://schemas.microsoft.com/office/drawing/2014/main" id="{78D214B7-6742-5493-1C84-97087EC88780}"/>
                  </a:ext>
                </a:extLst>
              </p:cNvPr>
              <p:cNvCxnSpPr>
                <a:cxnSpLocks/>
              </p:cNvCxnSpPr>
              <p:nvPr/>
            </p:nvCxnSpPr>
            <p:spPr>
              <a:xfrm>
                <a:off x="514548" y="4883813"/>
                <a:ext cx="0" cy="309821"/>
              </a:xfrm>
              <a:prstGeom prst="line">
                <a:avLst/>
              </a:prstGeom>
              <a:ln w="12700">
                <a:solidFill>
                  <a:srgbClr val="DFE3E6"/>
                </a:solidFill>
                <a:headEnd type="none"/>
              </a:ln>
            </p:spPr>
            <p:style>
              <a:lnRef idx="2">
                <a:schemeClr val="accent1"/>
              </a:lnRef>
              <a:fillRef idx="0">
                <a:schemeClr val="accent1"/>
              </a:fillRef>
              <a:effectRef idx="1">
                <a:schemeClr val="accent1"/>
              </a:effectRef>
              <a:fontRef idx="minor">
                <a:schemeClr val="tx1"/>
              </a:fontRef>
            </p:style>
          </p:cxnSp>
        </p:grpSp>
      </p:grpSp>
      <p:grpSp>
        <p:nvGrpSpPr>
          <p:cNvPr id="3" name="Group 2">
            <a:extLst>
              <a:ext uri="{FF2B5EF4-FFF2-40B4-BE49-F238E27FC236}">
                <a16:creationId xmlns:a16="http://schemas.microsoft.com/office/drawing/2014/main" id="{13C8B294-D4A1-06E7-AC73-B9E4E98C61C5}"/>
              </a:ext>
            </a:extLst>
          </p:cNvPr>
          <p:cNvGrpSpPr/>
          <p:nvPr/>
        </p:nvGrpSpPr>
        <p:grpSpPr>
          <a:xfrm>
            <a:off x="368300" y="197653"/>
            <a:ext cx="3473401" cy="170647"/>
            <a:chOff x="368300" y="197653"/>
            <a:chExt cx="3473401" cy="170647"/>
          </a:xfrm>
          <a:noFill/>
        </p:grpSpPr>
      </p:grpSp>
      <p:sp>
        <p:nvSpPr>
          <p:cNvPr id="9000"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9001"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0" name="Group 19">
            <a:extLst>
              <a:ext uri="{FF2B5EF4-FFF2-40B4-BE49-F238E27FC236}">
                <a16:creationId xmlns:a16="http://schemas.microsoft.com/office/drawing/2014/main" id="{B4D70E95-CAAD-2344-7099-E6549F40C902}"/>
              </a:ext>
            </a:extLst>
          </p:cNvPr>
          <p:cNvGrpSpPr/>
          <p:nvPr/>
        </p:nvGrpSpPr>
        <p:grpSpPr>
          <a:xfrm>
            <a:off x="-52941" y="1406523"/>
            <a:ext cx="12270340" cy="4673605"/>
            <a:chOff x="352850" y="1406523"/>
            <a:chExt cx="11410028" cy="4578499"/>
          </a:xfrm>
          <a:gradFill>
            <a:gsLst>
              <a:gs pos="0">
                <a:srgbClr val="FF9F00"/>
              </a:gs>
              <a:gs pos="5090">
                <a:srgbClr val="FE9900"/>
              </a:gs>
              <a:gs pos="46630">
                <a:srgbClr val="FD7204"/>
              </a:gs>
              <a:gs pos="79710">
                <a:srgbClr val="FD5907"/>
              </a:gs>
              <a:gs pos="100000">
                <a:srgbClr val="FD5108"/>
              </a:gs>
            </a:gsLst>
            <a:lin ang="18900000" scaled="1"/>
          </a:gradFill>
        </p:grpSpPr>
        <p:sp>
          <p:nvSpPr>
            <p:cNvPr id="14" name="Rectangle 13">
              <a:extLst>
                <a:ext uri="{FF2B5EF4-FFF2-40B4-BE49-F238E27FC236}">
                  <a16:creationId xmlns:a16="http://schemas.microsoft.com/office/drawing/2014/main" id="{2BB0DEBD-DD1B-4401-18AA-4E03BC834177}"/>
                </a:ext>
              </a:extLst>
            </p:cNvPr>
            <p:cNvSpPr/>
            <p:nvPr/>
          </p:nvSpPr>
          <p:spPr>
            <a:xfrm rot="5400000">
              <a:off x="7846933" y="2069077"/>
              <a:ext cx="4578497" cy="3253392"/>
            </a:xfrm>
            <a:prstGeom prst="rect">
              <a:avLst/>
            </a:prstGeom>
            <a:gr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B992EA21-6144-ABAE-CB07-C383FC6AB49E}"/>
                </a:ext>
              </a:extLst>
            </p:cNvPr>
            <p:cNvSpPr/>
            <p:nvPr/>
          </p:nvSpPr>
          <p:spPr>
            <a:xfrm rot="5400000">
              <a:off x="5029513" y="2211202"/>
              <a:ext cx="4578497" cy="2969143"/>
            </a:xfrm>
            <a:custGeom>
              <a:avLst/>
              <a:gdLst>
                <a:gd name="connsiteX0" fmla="*/ 0 w 4416569"/>
                <a:gd name="connsiteY0" fmla="*/ 3079910 h 3079910"/>
                <a:gd name="connsiteX1" fmla="*/ 0 w 4416569"/>
                <a:gd name="connsiteY1" fmla="*/ 271732 h 3079910"/>
                <a:gd name="connsiteX2" fmla="*/ 1940071 w 4416569"/>
                <a:gd name="connsiteY2" fmla="*/ 271732 h 3079910"/>
                <a:gd name="connsiteX3" fmla="*/ 2097676 w 4416569"/>
                <a:gd name="connsiteY3" fmla="*/ 0 h 3079910"/>
                <a:gd name="connsiteX4" fmla="*/ 2255280 w 4416569"/>
                <a:gd name="connsiteY4" fmla="*/ 271732 h 3079910"/>
                <a:gd name="connsiteX5" fmla="*/ 4416569 w 4416569"/>
                <a:gd name="connsiteY5" fmla="*/ 271732 h 3079910"/>
                <a:gd name="connsiteX6" fmla="*/ 4416569 w 4416569"/>
                <a:gd name="connsiteY6"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416569 w 4578497"/>
                <a:gd name="csY5" fmla="*/ 2717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2 w 4578497"/>
                <a:gd name="csY5" fmla="*/ 300307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5 w 4578497"/>
                <a:gd name="csY5" fmla="*/ 2336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73716 w 4578497"/>
                <a:gd name="csY5" fmla="*/ 281011 h 3079910"/>
                <a:gd name="csX6" fmla="*/ 4578497 w 4578497"/>
                <a:gd name="csY6" fmla="*/ 3079910 h 3079910"/>
                <a:gd name="csX7" fmla="*/ 0 w 4578497"/>
                <a:gd name="csY7" fmla="*/ 3079910 h 30799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78497" h="3079910">
                  <a:moveTo>
                    <a:pt x="0" y="3079910"/>
                  </a:moveTo>
                  <a:lnTo>
                    <a:pt x="0" y="271732"/>
                  </a:lnTo>
                  <a:lnTo>
                    <a:pt x="1940071" y="271732"/>
                  </a:lnTo>
                  <a:lnTo>
                    <a:pt x="2097676" y="0"/>
                  </a:lnTo>
                  <a:lnTo>
                    <a:pt x="2255280" y="271732"/>
                  </a:lnTo>
                  <a:lnTo>
                    <a:pt x="4573716" y="281011"/>
                  </a:lnTo>
                  <a:cubicBezTo>
                    <a:pt x="4575310" y="1213977"/>
                    <a:pt x="4576903" y="2146944"/>
                    <a:pt x="4578497" y="3079910"/>
                  </a:cubicBezTo>
                  <a:lnTo>
                    <a:pt x="0" y="3079910"/>
                  </a:lnTo>
                  <a:close/>
                </a:path>
              </a:pathLst>
            </a:custGeom>
            <a:gr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4C222705-69BB-965D-E453-9E70D2FF5C33}"/>
                </a:ext>
              </a:extLst>
            </p:cNvPr>
            <p:cNvSpPr/>
            <p:nvPr/>
          </p:nvSpPr>
          <p:spPr>
            <a:xfrm rot="5400000">
              <a:off x="2291099" y="2155817"/>
              <a:ext cx="4578497" cy="3079910"/>
            </a:xfrm>
            <a:custGeom>
              <a:avLst/>
              <a:gdLst>
                <a:gd name="connsiteX0" fmla="*/ 0 w 4416569"/>
                <a:gd name="connsiteY0" fmla="*/ 3079910 h 3079910"/>
                <a:gd name="connsiteX1" fmla="*/ 0 w 4416569"/>
                <a:gd name="connsiteY1" fmla="*/ 271732 h 3079910"/>
                <a:gd name="connsiteX2" fmla="*/ 1940071 w 4416569"/>
                <a:gd name="connsiteY2" fmla="*/ 271732 h 3079910"/>
                <a:gd name="connsiteX3" fmla="*/ 2097676 w 4416569"/>
                <a:gd name="connsiteY3" fmla="*/ 0 h 3079910"/>
                <a:gd name="connsiteX4" fmla="*/ 2255280 w 4416569"/>
                <a:gd name="connsiteY4" fmla="*/ 271732 h 3079910"/>
                <a:gd name="connsiteX5" fmla="*/ 4416569 w 4416569"/>
                <a:gd name="connsiteY5" fmla="*/ 271732 h 3079910"/>
                <a:gd name="connsiteX6" fmla="*/ 4416569 w 4416569"/>
                <a:gd name="connsiteY6"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416569 w 4578497"/>
                <a:gd name="csY5" fmla="*/ 2717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2 w 4578497"/>
                <a:gd name="csY5" fmla="*/ 300307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5 w 4578497"/>
                <a:gd name="csY5" fmla="*/ 2336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73716 w 4578497"/>
                <a:gd name="csY5" fmla="*/ 281011 h 3079910"/>
                <a:gd name="csX6" fmla="*/ 4578497 w 4578497"/>
                <a:gd name="csY6" fmla="*/ 3079910 h 3079910"/>
                <a:gd name="csX7" fmla="*/ 0 w 4578497"/>
                <a:gd name="csY7" fmla="*/ 3079910 h 30799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78497" h="3079910">
                  <a:moveTo>
                    <a:pt x="0" y="3079910"/>
                  </a:moveTo>
                  <a:lnTo>
                    <a:pt x="0" y="271732"/>
                  </a:lnTo>
                  <a:lnTo>
                    <a:pt x="1940071" y="271732"/>
                  </a:lnTo>
                  <a:lnTo>
                    <a:pt x="2097676" y="0"/>
                  </a:lnTo>
                  <a:lnTo>
                    <a:pt x="2255280" y="271732"/>
                  </a:lnTo>
                  <a:lnTo>
                    <a:pt x="4573716" y="281011"/>
                  </a:lnTo>
                  <a:cubicBezTo>
                    <a:pt x="4575310" y="1213977"/>
                    <a:pt x="4576903" y="2146944"/>
                    <a:pt x="4578497" y="3079910"/>
                  </a:cubicBezTo>
                  <a:lnTo>
                    <a:pt x="0" y="3079910"/>
                  </a:lnTo>
                  <a:close/>
                </a:path>
              </a:pathLst>
            </a:custGeom>
            <a:gr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95745948-AC8E-CFD1-3C9B-87D13BBC91E6}"/>
                </a:ext>
              </a:extLst>
            </p:cNvPr>
            <p:cNvSpPr/>
            <p:nvPr/>
          </p:nvSpPr>
          <p:spPr>
            <a:xfrm rot="5400000">
              <a:off x="-451827" y="2211201"/>
              <a:ext cx="4578497" cy="2969143"/>
            </a:xfrm>
            <a:custGeom>
              <a:avLst/>
              <a:gdLst>
                <a:gd name="connsiteX0" fmla="*/ 0 w 4416569"/>
                <a:gd name="connsiteY0" fmla="*/ 3079910 h 3079910"/>
                <a:gd name="connsiteX1" fmla="*/ 0 w 4416569"/>
                <a:gd name="connsiteY1" fmla="*/ 271732 h 3079910"/>
                <a:gd name="connsiteX2" fmla="*/ 1940071 w 4416569"/>
                <a:gd name="connsiteY2" fmla="*/ 271732 h 3079910"/>
                <a:gd name="connsiteX3" fmla="*/ 2097676 w 4416569"/>
                <a:gd name="connsiteY3" fmla="*/ 0 h 3079910"/>
                <a:gd name="connsiteX4" fmla="*/ 2255280 w 4416569"/>
                <a:gd name="connsiteY4" fmla="*/ 271732 h 3079910"/>
                <a:gd name="connsiteX5" fmla="*/ 4416569 w 4416569"/>
                <a:gd name="connsiteY5" fmla="*/ 271732 h 3079910"/>
                <a:gd name="connsiteX6" fmla="*/ 4416569 w 4416569"/>
                <a:gd name="connsiteY6"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416569 w 4578497"/>
                <a:gd name="csY5" fmla="*/ 2717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2 w 4578497"/>
                <a:gd name="csY5" fmla="*/ 300307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68975 w 4578497"/>
                <a:gd name="csY5" fmla="*/ 233632 h 3079910"/>
                <a:gd name="csX6" fmla="*/ 4578497 w 4578497"/>
                <a:gd name="csY6" fmla="*/ 3079910 h 3079910"/>
                <a:gd name="csX7" fmla="*/ 0 w 4578497"/>
                <a:gd name="csY7" fmla="*/ 3079910 h 3079910"/>
                <a:gd name="csX0" fmla="*/ 0 w 4578497"/>
                <a:gd name="csY0" fmla="*/ 3079910 h 3079910"/>
                <a:gd name="csX1" fmla="*/ 0 w 4578497"/>
                <a:gd name="csY1" fmla="*/ 271732 h 3079910"/>
                <a:gd name="csX2" fmla="*/ 1940071 w 4578497"/>
                <a:gd name="csY2" fmla="*/ 271732 h 3079910"/>
                <a:gd name="csX3" fmla="*/ 2097676 w 4578497"/>
                <a:gd name="csY3" fmla="*/ 0 h 3079910"/>
                <a:gd name="csX4" fmla="*/ 2255280 w 4578497"/>
                <a:gd name="csY4" fmla="*/ 271732 h 3079910"/>
                <a:gd name="csX5" fmla="*/ 4573716 w 4578497"/>
                <a:gd name="csY5" fmla="*/ 281011 h 3079910"/>
                <a:gd name="csX6" fmla="*/ 4578497 w 4578497"/>
                <a:gd name="csY6" fmla="*/ 3079910 h 3079910"/>
                <a:gd name="csX7" fmla="*/ 0 w 4578497"/>
                <a:gd name="csY7" fmla="*/ 3079910 h 30799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578497" h="3079910">
                  <a:moveTo>
                    <a:pt x="0" y="3079910"/>
                  </a:moveTo>
                  <a:lnTo>
                    <a:pt x="0" y="271732"/>
                  </a:lnTo>
                  <a:lnTo>
                    <a:pt x="1940071" y="271732"/>
                  </a:lnTo>
                  <a:lnTo>
                    <a:pt x="2097676" y="0"/>
                  </a:lnTo>
                  <a:lnTo>
                    <a:pt x="2255280" y="271732"/>
                  </a:lnTo>
                  <a:lnTo>
                    <a:pt x="4573716" y="281011"/>
                  </a:lnTo>
                  <a:cubicBezTo>
                    <a:pt x="4575310" y="1213977"/>
                    <a:pt x="4576903" y="2146944"/>
                    <a:pt x="4578497" y="3079910"/>
                  </a:cubicBezTo>
                  <a:lnTo>
                    <a:pt x="0" y="3079910"/>
                  </a:lnTo>
                  <a:close/>
                </a:path>
              </a:pathLst>
            </a:custGeom>
            <a:grp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0" name="Content Placeholder 29">
            <a:extLst>
              <a:ext uri="{FF2B5EF4-FFF2-40B4-BE49-F238E27FC236}">
                <a16:creationId xmlns:a16="http://schemas.microsoft.com/office/drawing/2014/main" id="{2433E1EE-06C6-074B-4E35-5B9AFAF4A740}"/>
              </a:ext>
            </a:extLst>
          </p:cNvPr>
          <p:cNvSpPr>
            <a:spLocks noGrp="1"/>
          </p:cNvSpPr>
          <p:nvPr>
            <p:ph idx="1"/>
          </p:nvPr>
        </p:nvSpPr>
        <p:spPr>
          <a:xfrm>
            <a:off x="370062" y="1887326"/>
            <a:ext cx="2396050" cy="898948"/>
          </a:xfrm>
        </p:spPr>
        <p:txBody>
          <a:bodyPr/>
          <a:lstStyle/>
          <a:p>
            <a:r>
              <a:rPr lang="en-US" spc="0">
                <a:solidFill>
                  <a:schemeClr val="bg1"/>
                </a:solidFill>
              </a:rPr>
              <a:t>01</a:t>
            </a:r>
          </a:p>
        </p:txBody>
      </p:sp>
      <p:sp>
        <p:nvSpPr>
          <p:cNvPr id="31" name="Content Placeholder 30">
            <a:extLst>
              <a:ext uri="{FF2B5EF4-FFF2-40B4-BE49-F238E27FC236}">
                <a16:creationId xmlns:a16="http://schemas.microsoft.com/office/drawing/2014/main" id="{7ADD301D-AFF8-ED2E-E2F4-4D9F6B46CE7A}"/>
              </a:ext>
            </a:extLst>
          </p:cNvPr>
          <p:cNvSpPr>
            <a:spLocks noGrp="1"/>
          </p:cNvSpPr>
          <p:nvPr>
            <p:ph idx="13"/>
          </p:nvPr>
        </p:nvSpPr>
        <p:spPr>
          <a:xfrm>
            <a:off x="3267108" y="1887326"/>
            <a:ext cx="2396050" cy="898948"/>
          </a:xfrm>
        </p:spPr>
        <p:txBody>
          <a:bodyPr lIns="182880"/>
          <a:lstStyle/>
          <a:p>
            <a:r>
              <a:rPr lang="en-US" spc="0">
                <a:solidFill>
                  <a:schemeClr val="bg1"/>
                </a:solidFill>
              </a:rPr>
              <a:t>02</a:t>
            </a:r>
          </a:p>
        </p:txBody>
      </p:sp>
      <p:sp>
        <p:nvSpPr>
          <p:cNvPr id="32" name="Content Placeholder 31">
            <a:extLst>
              <a:ext uri="{FF2B5EF4-FFF2-40B4-BE49-F238E27FC236}">
                <a16:creationId xmlns:a16="http://schemas.microsoft.com/office/drawing/2014/main" id="{47637369-F5B2-827E-908C-4D50CE649E82}"/>
              </a:ext>
            </a:extLst>
          </p:cNvPr>
          <p:cNvSpPr>
            <a:spLocks noGrp="1"/>
          </p:cNvSpPr>
          <p:nvPr>
            <p:ph idx="14"/>
          </p:nvPr>
        </p:nvSpPr>
        <p:spPr>
          <a:xfrm>
            <a:off x="6153663" y="1887326"/>
            <a:ext cx="2396050" cy="898948"/>
          </a:xfrm>
        </p:spPr>
        <p:txBody>
          <a:bodyPr lIns="182880"/>
          <a:lstStyle/>
          <a:p>
            <a:r>
              <a:rPr lang="en-US" spc="0">
                <a:solidFill>
                  <a:schemeClr val="bg1"/>
                </a:solidFill>
              </a:rPr>
              <a:t>03</a:t>
            </a:r>
          </a:p>
        </p:txBody>
      </p:sp>
      <p:sp>
        <p:nvSpPr>
          <p:cNvPr id="33" name="Content Placeholder 32">
            <a:extLst>
              <a:ext uri="{FF2B5EF4-FFF2-40B4-BE49-F238E27FC236}">
                <a16:creationId xmlns:a16="http://schemas.microsoft.com/office/drawing/2014/main" id="{949160F6-BAD4-0B1A-5084-4D4BF0A5F1E9}"/>
              </a:ext>
            </a:extLst>
          </p:cNvPr>
          <p:cNvSpPr>
            <a:spLocks noGrp="1"/>
          </p:cNvSpPr>
          <p:nvPr>
            <p:ph idx="16"/>
          </p:nvPr>
        </p:nvSpPr>
        <p:spPr>
          <a:xfrm>
            <a:off x="9050976" y="1887326"/>
            <a:ext cx="2396050" cy="898948"/>
          </a:xfrm>
        </p:spPr>
        <p:txBody>
          <a:bodyPr lIns="182880"/>
          <a:lstStyle/>
          <a:p>
            <a:r>
              <a:rPr lang="en-US" spc="0">
                <a:solidFill>
                  <a:schemeClr val="bg1"/>
                </a:solidFill>
              </a:rPr>
              <a:t>04</a:t>
            </a:r>
          </a:p>
        </p:txBody>
      </p:sp>
      <p:sp>
        <p:nvSpPr>
          <p:cNvPr id="7" name="Title 6">
            <a:extLst>
              <a:ext uri="{FF2B5EF4-FFF2-40B4-BE49-F238E27FC236}">
                <a16:creationId xmlns:a16="http://schemas.microsoft.com/office/drawing/2014/main" id="{89D4EC2C-81EC-5656-1DA2-6A76AEE5C32C}"/>
              </a:ext>
            </a:extLst>
          </p:cNvPr>
          <p:cNvSpPr>
            <a:spLocks noGrp="1"/>
          </p:cNvSpPr>
          <p:nvPr>
            <p:ph type="title"/>
          </p:nvPr>
        </p:nvSpPr>
        <p:spPr>
          <a:xfrm>
            <a:off x="370586" y="368301"/>
            <a:ext cx="11453114" cy="601855"/>
          </a:xfrm>
        </p:spPr>
        <p:txBody>
          <a:bodyPr anchor="b"/>
          <a:lstStyle/>
          <a:p>
            <a:r>
              <a:rPr lang="en-GB"/>
              <a:t>Tiers describe rigour — not a score to maximise</a:t>
            </a:r>
            <a:endParaRPr lang="en-GB" noProof="0"/>
          </a:p>
        </p:txBody>
      </p:sp>
      <p:sp>
        <p:nvSpPr>
          <p:cNvPr id="34" name="Content Placeholder 33">
            <a:extLst>
              <a:ext uri="{FF2B5EF4-FFF2-40B4-BE49-F238E27FC236}">
                <a16:creationId xmlns:a16="http://schemas.microsoft.com/office/drawing/2014/main" id="{F5A0F144-4943-034D-0ADD-3D9554BB6D41}"/>
              </a:ext>
            </a:extLst>
          </p:cNvPr>
          <p:cNvSpPr>
            <a:spLocks noGrp="1"/>
          </p:cNvSpPr>
          <p:nvPr>
            <p:ph sz="quarter" idx="17"/>
          </p:nvPr>
        </p:nvSpPr>
        <p:spPr>
          <a:xfrm>
            <a:off x="369888" y="2910565"/>
            <a:ext cx="2396050" cy="2794000"/>
          </a:xfrm>
        </p:spPr>
        <p:txBody>
          <a:bodyPr/>
          <a:lstStyle/>
          <a:p>
            <a:pPr marL="0" marR="0" lvl="0" indent="0" algn="l" defTabSz="914400" rtl="0" eaLnBrk="1" fontAlgn="auto" latinLnBrk="0" hangingPunct="1">
              <a:lnSpc>
                <a:spcPct val="125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a:ea typeface="+mn-ea"/>
                <a:cs typeface="+mn-cs"/>
              </a:rPr>
              <a:t>Partial</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Governance: managed in an ad hoc manner.</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err="1">
                <a:ln>
                  <a:noFill/>
                </a:ln>
                <a:solidFill>
                  <a:srgbClr val="000000"/>
                </a:solidFill>
                <a:effectLst/>
                <a:uLnTx/>
                <a:uFillTx/>
                <a:latin typeface="Arial"/>
                <a:ea typeface="+mn-ea"/>
                <a:cs typeface="+mn-cs"/>
              </a:rPr>
              <a:t>Management: irregular, case-by-case.</a:t>
            </a:r>
          </a:p>
        </p:txBody>
      </p:sp>
      <p:sp>
        <p:nvSpPr>
          <p:cNvPr id="35" name="Content Placeholder 34">
            <a:extLst>
              <a:ext uri="{FF2B5EF4-FFF2-40B4-BE49-F238E27FC236}">
                <a16:creationId xmlns:a16="http://schemas.microsoft.com/office/drawing/2014/main" id="{BA132CC2-65C2-92A2-5B08-09DBF235AD4F}"/>
              </a:ext>
            </a:extLst>
          </p:cNvPr>
          <p:cNvSpPr>
            <a:spLocks noGrp="1"/>
          </p:cNvSpPr>
          <p:nvPr>
            <p:ph sz="quarter" idx="18"/>
          </p:nvPr>
        </p:nvSpPr>
        <p:spPr>
          <a:xfrm>
            <a:off x="3271236" y="2910565"/>
            <a:ext cx="2396050" cy="2794000"/>
          </a:xfrm>
        </p:spPr>
        <p:txBody>
          <a:bodyPr lIns="182880"/>
          <a:lstStyle/>
          <a:p>
            <a:pPr marL="0" marR="0" lvl="0" indent="0" algn="l" defTabSz="914400" rtl="0" eaLnBrk="1" fontAlgn="auto" latinLnBrk="0" hangingPunct="1">
              <a:lnSpc>
                <a:spcPct val="125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a:ea typeface="+mn-ea"/>
                <a:cs typeface="+mn-cs"/>
              </a:rPr>
              <a:t>Risk Informed</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Governance: approved by management, but may not be organisation-wide policy.</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err="1">
                <a:ln>
                  <a:noFill/>
                </a:ln>
                <a:solidFill>
                  <a:srgbClr val="000000"/>
                </a:solidFill>
                <a:effectLst/>
                <a:uLnTx/>
                <a:uFillTx/>
                <a:latin typeface="Arial"/>
                <a:ea typeface="+mn-ea"/>
                <a:cs typeface="+mn-cs"/>
              </a:rPr>
              <a:t>Management: awareness, no organisation-wide approach.</a:t>
            </a:r>
          </a:p>
        </p:txBody>
      </p:sp>
      <p:sp>
        <p:nvSpPr>
          <p:cNvPr id="36" name="Content Placeholder 35">
            <a:extLst>
              <a:ext uri="{FF2B5EF4-FFF2-40B4-BE49-F238E27FC236}">
                <a16:creationId xmlns:a16="http://schemas.microsoft.com/office/drawing/2014/main" id="{B5593E73-E7A2-4B60-FEDB-E6A6CDB00DAD}"/>
              </a:ext>
            </a:extLst>
          </p:cNvPr>
          <p:cNvSpPr>
            <a:spLocks noGrp="1"/>
          </p:cNvSpPr>
          <p:nvPr>
            <p:ph sz="quarter" idx="19"/>
          </p:nvPr>
        </p:nvSpPr>
        <p:spPr>
          <a:xfrm>
            <a:off x="6149975" y="2910565"/>
            <a:ext cx="2396050" cy="2794000"/>
          </a:xfrm>
        </p:spPr>
        <p:txBody>
          <a:bodyPr lIns="182880"/>
          <a:lstStyle/>
          <a:p>
            <a:pPr marL="0" marR="0" lvl="0" indent="0" algn="l" defTabSz="914400" rtl="0" eaLnBrk="1" fontAlgn="auto" latinLnBrk="0" hangingPunct="1">
              <a:lnSpc>
                <a:spcPct val="125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a:ea typeface="+mn-ea"/>
                <a:cs typeface="+mn-cs"/>
              </a:rPr>
              <a:t>Repeatable</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Governance: formally approved and expressed as policy.</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err="1">
                <a:ln>
                  <a:noFill/>
                </a:ln>
                <a:solidFill>
                  <a:srgbClr val="000000"/>
                </a:solidFill>
                <a:effectLst/>
                <a:uLnTx/>
                <a:uFillTx/>
                <a:latin typeface="Arial"/>
                <a:ea typeface="+mn-ea"/>
                <a:cs typeface="+mn-cs"/>
              </a:rPr>
              <a:t>Management: an organisation-wide approach.</a:t>
            </a:r>
          </a:p>
        </p:txBody>
      </p:sp>
      <p:sp>
        <p:nvSpPr>
          <p:cNvPr id="37" name="Content Placeholder 36">
            <a:extLst>
              <a:ext uri="{FF2B5EF4-FFF2-40B4-BE49-F238E27FC236}">
                <a16:creationId xmlns:a16="http://schemas.microsoft.com/office/drawing/2014/main" id="{4913A3D6-FFFF-4F8F-3E78-A6C2984DA617}"/>
              </a:ext>
            </a:extLst>
          </p:cNvPr>
          <p:cNvSpPr>
            <a:spLocks noGrp="1"/>
          </p:cNvSpPr>
          <p:nvPr>
            <p:ph sz="quarter" idx="20"/>
          </p:nvPr>
        </p:nvSpPr>
        <p:spPr>
          <a:xfrm>
            <a:off x="9047405" y="2910565"/>
            <a:ext cx="2396050" cy="2794000"/>
          </a:xfrm>
        </p:spPr>
        <p:txBody>
          <a:bodyPr lIns="182880"/>
          <a:lstStyle/>
          <a:p>
            <a:pPr marL="0" marR="0" lvl="0" indent="0" algn="l" defTabSz="914400" rtl="0" eaLnBrk="1" fontAlgn="auto" latinLnBrk="0" hangingPunct="1">
              <a:lnSpc>
                <a:spcPct val="125000"/>
              </a:lnSpc>
              <a:spcBef>
                <a:spcPts val="0"/>
              </a:spcBef>
              <a:spcAft>
                <a:spcPts val="6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a:ea typeface="+mn-ea"/>
                <a:cs typeface="+mn-cs"/>
              </a:rPr>
              <a:t>Adaptive</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Governance: risk-informed policies, processes and procedures.</a:t>
            </a:r>
          </a:p>
          <a:p>
            <a:pPr marL="285750" marR="0" lvl="0" indent="-285750" algn="l" defTabSz="914400" rtl="0" eaLnBrk="1" fontAlgn="auto" latinLnBrk="0" hangingPunct="1">
              <a:lnSpc>
                <a:spcPct val="125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err="1">
                <a:ln>
                  <a:noFill/>
                </a:ln>
                <a:solidFill>
                  <a:srgbClr val="000000"/>
                </a:solidFill>
                <a:effectLst/>
                <a:uLnTx/>
                <a:uFillTx/>
                <a:latin typeface="Arial"/>
                <a:ea typeface="+mn-ea"/>
                <a:cs typeface="+mn-cs"/>
              </a:rPr>
              <a:t>Management: cyber risk management is part of the culture.</a:t>
            </a:r>
          </a:p>
        </p:txBody>
      </p:sp>
      <p:grpSp>
        <p:nvGrpSpPr>
          <p:cNvPr id="5" name="Group 4">
            <a:extLst>
              <a:ext uri="{FF2B5EF4-FFF2-40B4-BE49-F238E27FC236}">
                <a16:creationId xmlns:a16="http://schemas.microsoft.com/office/drawing/2014/main" id="{AFB51753-6393-C32B-859D-F44D5B5D4583}"/>
              </a:ext>
            </a:extLst>
          </p:cNvPr>
          <p:cNvGrpSpPr/>
          <p:nvPr/>
        </p:nvGrpSpPr>
        <p:grpSpPr>
          <a:xfrm>
            <a:off x="368300" y="197653"/>
            <a:ext cx="3473401" cy="170647"/>
            <a:chOff x="368300" y="197653"/>
            <a:chExt cx="3473401" cy="170647"/>
          </a:xfrm>
          <a:noFill/>
        </p:grpSpPr>
      </p:grpSp>
      <p:sp>
        <p:nvSpPr>
          <p:cNvPr id="9004"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9005"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Pulse check: Tiers</a:t>
            </a:r>
          </a:p>
        </p:txBody>
      </p:sp>
      <p:sp>
        <p:nvSpPr>
          <p:cNvPr id="3" name="Text Placeholder 2"/>
          <p:cNvSpPr>
            <a:spLocks noGrp="1"/>
          </p:cNvSpPr>
          <p:nvPr>
            <p:ph type="body" idx="12" sz="quarter"/>
          </p:nvPr>
        </p:nvSpPr>
        <p:spPr/>
        <p:txBody>
          <a:bodyPr/>
          <a:lstStyle/>
          <a:p>
            <a:r>
              <a:rPr b="0" sz="3600"/>
              <a:t>Your client is at Tier 2, “Risk Informed”. Should your report recommend Tier 4?</a:t>
            </a:r>
          </a:p>
        </p:txBody>
      </p:sp>
      <p:sp>
        <p:nvSpPr>
          <p:cNvPr id="4" name="Content Placeholder 3"/>
          <p:cNvSpPr>
            <a:spLocks noGrp="1"/>
          </p:cNvSpPr>
          <p:nvPr>
            <p:ph idx="10" sz="quarter"/>
          </p:nvPr>
        </p:nvSpPr>
        <p:spPr/>
        <p:txBody>
          <a:bodyPr/>
          <a:lstStyle/>
          <a:p>
            <a:r>
              <a:rPr b="1" sz="1600"/>
              <a:t>Hands up: Yes, always · No · Depends</a:t>
            </a:r>
          </a:p>
          <a:p>
            <a:r>
              <a:rPr b="0" sz="1600"/>
              <a:t>Pulse check</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It depends — and NIST says so</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00200"/>
          <a:ext cx="11430000" cy="2926080"/>
        </p:xfrm>
        <a:graphic>
          <a:graphicData uri="http://schemas.openxmlformats.org/drawingml/2006/table">
            <a:tbl>
              <a:tblPr firstRow="1">
                <a:tableStyleId>{605943CB-6F42-4776-B506-94E284F2829C}</a:tableStyleId>
              </a:tblPr>
              <a:tblGrid>
                <a:gridCol w="2743200"/>
                <a:gridCol w="4343400"/>
                <a:gridCol w="4343400"/>
              </a:tblGrid>
              <a:tr h="731520">
                <a:tc>
                  <a:txBody>
                    <a:bodyPr/>
                    <a:lstStyle/>
                    <a:p>
                      <a:r>
                        <a:rPr sz="1600" b="1"/>
                        <a:t>Question</a:t>
                      </a:r>
                    </a:p>
                  </a:txBody>
                  <a:tcPr anchor="ctr" marT="36576" marB="36576"/>
                </a:tc>
                <a:tc>
                  <a:txBody>
                    <a:bodyPr/>
                    <a:lstStyle/>
                    <a:p>
                      <a:r>
                        <a:rPr sz="1600" b="1"/>
                        <a:t>What the CSF says</a:t>
                      </a:r>
                    </a:p>
                  </a:txBody>
                  <a:tcPr anchor="ctr" marT="36576" marB="36576"/>
                </a:tc>
                <a:tc>
                  <a:txBody>
                    <a:bodyPr/>
                    <a:lstStyle/>
                    <a:p>
                      <a:r>
                        <a:rPr sz="1600" b="1"/>
                        <a:t>What it means for your report</a:t>
                      </a:r>
                    </a:p>
                  </a:txBody>
                  <a:tcPr anchor="ctr" marT="36576" marB="36576"/>
                </a:tc>
              </a:tr>
              <a:tr h="731520">
                <a:tc>
                  <a:txBody>
                    <a:bodyPr/>
                    <a:lstStyle/>
                    <a:p>
                      <a:r>
                        <a:rPr sz="1600"/>
                        <a:t>Is Tier 4 the goal?</a:t>
                      </a:r>
                    </a:p>
                  </a:txBody>
                  <a:tcPr anchor="ctr" marT="36576" marB="36576"/>
                </a:tc>
                <a:tc>
                  <a:txBody>
                    <a:bodyPr/>
                    <a:lstStyle/>
                    <a:p>
                      <a:r>
                        <a:rPr sz="1600"/>
                        <a:t>Organisations choose the Tiers that fit their objectives and risk</a:t>
                      </a:r>
                    </a:p>
                  </a:txBody>
                  <a:tcPr anchor="ctr" marT="36576" marB="36576"/>
                </a:tc>
                <a:tc>
                  <a:txBody>
                    <a:bodyPr/>
                    <a:lstStyle/>
                    <a:p>
                      <a:r>
                        <a:rPr sz="1600"/>
                        <a:t>Recommend the Tier management chose and approved, not the maximum</a:t>
                      </a:r>
                    </a:p>
                  </a:txBody>
                  <a:tcPr anchor="ctr" marT="36576" marB="36576"/>
                </a:tc>
              </a:tr>
              <a:tr h="731520">
                <a:tc>
                  <a:txBody>
                    <a:bodyPr/>
                    <a:lstStyle/>
                    <a:p>
                      <a:r>
                        <a:rPr sz="1600"/>
                        <a:t>When should they move up?</a:t>
                      </a:r>
                    </a:p>
                  </a:txBody>
                  <a:tcPr anchor="ctr" marT="36576" marB="36576"/>
                </a:tc>
                <a:tc>
                  <a:txBody>
                    <a:bodyPr/>
                    <a:lstStyle/>
                    <a:p>
                      <a:r>
                        <a:rPr sz="1600"/>
                        <a:t>When risks or mandates are greater, or cost-benefit supports it</a:t>
                      </a:r>
                    </a:p>
                  </a:txBody>
                  <a:tcPr anchor="ctr" marT="36576" marB="36576"/>
                </a:tc>
                <a:tc>
                  <a:txBody>
                    <a:bodyPr/>
                    <a:lstStyle/>
                    <a:p>
                      <a:r>
                        <a:rPr sz="1600"/>
                        <a:t>Tie any “move up” recommendation to a risk or a mandate</a:t>
                      </a:r>
                    </a:p>
                  </a:txBody>
                  <a:tcPr anchor="ctr" marT="36576" marB="36576"/>
                </a:tc>
              </a:tr>
              <a:tr h="731520">
                <a:tc>
                  <a:txBody>
                    <a:bodyPr/>
                    <a:lstStyle/>
                    <a:p>
                      <a:r>
                        <a:rPr sz="1600"/>
                        <a:t>Can a regulator raise the bar?</a:t>
                      </a:r>
                    </a:p>
                  </a:txBody>
                  <a:tcPr anchor="ctr" marT="36576" marB="36576"/>
                </a:tc>
                <a:tc>
                  <a:txBody>
                    <a:bodyPr/>
                    <a:lstStyle/>
                    <a:p>
                      <a:r>
                        <a:rPr sz="1600"/>
                        <a:t>The CSF is voluntary, but laws and regulators sit on top of it</a:t>
                      </a:r>
                    </a:p>
                  </a:txBody>
                  <a:tcPr anchor="ctr" marT="36576" marB="36576"/>
                </a:tc>
                <a:tc>
                  <a:txBody>
                    <a:bodyPr/>
                    <a:lstStyle/>
                    <a:p>
                      <a:r>
                        <a:rPr sz="1600"/>
                        <a:t>In HK, Cap. 653 or the HKMA may set the floor</a:t>
                      </a:r>
                    </a:p>
                  </a:txBody>
                  <a:tcPr anchor="ctr" marT="36576" marB="36576"/>
                </a:tc>
              </a:tr>
            </a:tbl>
          </a:graphicData>
        </a:graphic>
      </p:graphicFrame>
      <p:sp>
        <p:nvSpPr>
          <p:cNvPr id="8" name="Rectangle 7"/>
          <p:cNvSpPr/>
          <p:nvPr/>
        </p:nvSpPr>
        <p:spPr>
          <a:xfrm>
            <a:off x="365760" y="4846320"/>
            <a:ext cx="11430000" cy="7315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A finding needs criteria. “You are not Tier 4” is not a finding unless Tier 4 was the target.</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§3.2 and Appendix 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Since 2024: from a document to an ecosystem</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554480"/>
          <a:ext cx="11430000" cy="4224528"/>
        </p:xfrm>
        <a:graphic>
          <a:graphicData uri="http://schemas.openxmlformats.org/drawingml/2006/table">
            <a:tbl>
              <a:tblPr firstRow="1">
                <a:tableStyleId>{605943CB-6F42-4776-B506-94E284F2829C}</a:tableStyleId>
              </a:tblPr>
              <a:tblGrid>
                <a:gridCol w="1371600"/>
                <a:gridCol w="5669280"/>
                <a:gridCol w="4389120"/>
              </a:tblGrid>
              <a:tr h="603504">
                <a:tc>
                  <a:txBody>
                    <a:bodyPr/>
                    <a:lstStyle/>
                    <a:p>
                      <a:r>
                        <a:rPr sz="1500" b="1"/>
                        <a:t>When</a:t>
                      </a:r>
                    </a:p>
                  </a:txBody>
                  <a:tcPr anchor="ctr" marT="36576" marB="36576"/>
                </a:tc>
                <a:tc>
                  <a:txBody>
                    <a:bodyPr/>
                    <a:lstStyle/>
                    <a:p>
                      <a:r>
                        <a:rPr sz="1500" b="1"/>
                        <a:t>Resource</a:t>
                      </a:r>
                    </a:p>
                  </a:txBody>
                  <a:tcPr anchor="ctr" marT="36576" marB="36576"/>
                </a:tc>
                <a:tc>
                  <a:txBody>
                    <a:bodyPr/>
                    <a:lstStyle/>
                    <a:p>
                      <a:r>
                        <a:rPr sz="1500" b="1"/>
                        <a:t>Why it matters to an auditor</a:t>
                      </a:r>
                    </a:p>
                  </a:txBody>
                  <a:tcPr anchor="ctr" marT="36576" marB="36576"/>
                </a:tc>
              </a:tr>
              <a:tr h="603504">
                <a:tc>
                  <a:txBody>
                    <a:bodyPr/>
                    <a:lstStyle/>
                    <a:p>
                      <a:r>
                        <a:rPr sz="1500"/>
                        <a:t>Oct 2024</a:t>
                      </a:r>
                    </a:p>
                  </a:txBody>
                  <a:tcPr anchor="ctr" marT="36576" marB="36576"/>
                </a:tc>
                <a:tc>
                  <a:txBody>
                    <a:bodyPr/>
                    <a:lstStyle/>
                    <a:p>
                      <a:r>
                        <a:rPr sz="1500"/>
                        <a:t>Quick-Start Guide: Cybersecurity Supply Chain Risk Management</a:t>
                      </a:r>
                    </a:p>
                  </a:txBody>
                  <a:tcPr anchor="ctr" marT="36576" marB="36576"/>
                </a:tc>
                <a:tc>
                  <a:txBody>
                    <a:bodyPr/>
                    <a:lstStyle/>
                    <a:p>
                      <a:r>
                        <a:rPr sz="1500"/>
                        <a:t>A ready-made reading of GV.SC</a:t>
                      </a:r>
                    </a:p>
                  </a:txBody>
                  <a:tcPr anchor="ctr" marT="36576" marB="36576"/>
                </a:tc>
              </a:tr>
              <a:tr h="603504">
                <a:tc>
                  <a:txBody>
                    <a:bodyPr/>
                    <a:lstStyle/>
                    <a:p>
                      <a:r>
                        <a:rPr sz="1500"/>
                        <a:t>Apr 2025</a:t>
                      </a:r>
                    </a:p>
                  </a:txBody>
                  <a:tcPr anchor="ctr" marT="36576" marB="36576"/>
                </a:tc>
                <a:tc>
                  <a:txBody>
                    <a:bodyPr/>
                    <a:lstStyle/>
                    <a:p>
                      <a:r>
                        <a:rPr sz="1500"/>
                        <a:t>SP 800-61r3: Incident Response Recommendations for CSF 2.0</a:t>
                      </a:r>
                    </a:p>
                  </a:txBody>
                  <a:tcPr anchor="ctr" marT="36576" marB="36576"/>
                </a:tc>
                <a:tc>
                  <a:txBody>
                    <a:bodyPr/>
                    <a:lstStyle/>
                    <a:p>
                      <a:r>
                        <a:rPr sz="1500"/>
                        <a:t>The IR guide, rebuilt around the six functions</a:t>
                      </a:r>
                    </a:p>
                  </a:txBody>
                  <a:tcPr anchor="ctr" marT="36576" marB="36576"/>
                </a:tc>
              </a:tr>
              <a:tr h="603504">
                <a:tc>
                  <a:txBody>
                    <a:bodyPr/>
                    <a:lstStyle/>
                    <a:p>
                      <a:r>
                        <a:rPr sz="1500"/>
                        <a:t>Nov 2025</a:t>
                      </a:r>
                    </a:p>
                  </a:txBody>
                  <a:tcPr anchor="ctr" marT="36576" marB="36576"/>
                </a:tc>
                <a:tc>
                  <a:txBody>
                    <a:bodyPr/>
                    <a:lstStyle/>
                    <a:p>
                      <a:r>
                        <a:rPr sz="1500"/>
                        <a:t>Online mapping: CSF 2.0 to SP 800-53 Rev. 5</a:t>
                      </a:r>
                    </a:p>
                  </a:txBody>
                  <a:tcPr anchor="ctr" marT="36576" marB="36576"/>
                </a:tc>
                <a:tc>
                  <a:txBody>
                    <a:bodyPr/>
                    <a:lstStyle/>
                    <a:p>
                      <a:r>
                        <a:rPr sz="1500"/>
                        <a:t>From outcome to detailed control</a:t>
                      </a:r>
                    </a:p>
                  </a:txBody>
                  <a:tcPr anchor="ctr" marT="36576" marB="36576"/>
                </a:tc>
              </a:tr>
              <a:tr h="603504">
                <a:tc>
                  <a:txBody>
                    <a:bodyPr/>
                    <a:lstStyle/>
                    <a:p>
                      <a:r>
                        <a:rPr sz="1500"/>
                        <a:t>Dec 2025</a:t>
                      </a:r>
                    </a:p>
                  </a:txBody>
                  <a:tcPr anchor="ctr" marT="36576" marB="36576"/>
                </a:tc>
                <a:tc>
                  <a:txBody>
                    <a:bodyPr/>
                    <a:lstStyle/>
                    <a:p>
                      <a:r>
                        <a:rPr sz="1500"/>
                        <a:t>Cyber AI Profile, preliminary draft (NIST IR 8596)</a:t>
                      </a:r>
                    </a:p>
                  </a:txBody>
                  <a:tcPr anchor="ctr" marT="36576" marB="36576"/>
                </a:tc>
                <a:tc>
                  <a:txBody>
                    <a:bodyPr/>
                    <a:lstStyle/>
                    <a:p>
                      <a:r>
                        <a:rPr sz="1500"/>
                        <a:t>CSF outcomes applied to AI — Week 10 preview</a:t>
                      </a:r>
                    </a:p>
                  </a:txBody>
                  <a:tcPr anchor="ctr" marT="36576" marB="36576"/>
                </a:tc>
              </a:tr>
              <a:tr h="603504">
                <a:tc>
                  <a:txBody>
                    <a:bodyPr/>
                    <a:lstStyle/>
                    <a:p>
                      <a:r>
                        <a:rPr sz="1500"/>
                        <a:t>Mar 2026</a:t>
                      </a:r>
                    </a:p>
                  </a:txBody>
                  <a:tcPr anchor="ctr" marT="36576" marB="36576"/>
                </a:tc>
                <a:tc>
                  <a:txBody>
                    <a:bodyPr/>
                    <a:lstStyle/>
                    <a:p>
                      <a:r>
                        <a:rPr sz="1500"/>
                        <a:t>SP 1308: CSF, ERM and Workforce Quick-Start Guide</a:t>
                      </a:r>
                    </a:p>
                  </a:txBody>
                  <a:tcPr anchor="ctr" marT="36576" marB="36576"/>
                </a:tc>
                <a:tc>
                  <a:txBody>
                    <a:bodyPr/>
                    <a:lstStyle/>
                    <a:p>
                      <a:r>
                        <a:rPr sz="1500"/>
                        <a:t>Linking cyber risk to enterprise risk</a:t>
                      </a:r>
                    </a:p>
                  </a:txBody>
                  <a:tcPr anchor="ctr" marT="36576" marB="36576"/>
                </a:tc>
              </a:tr>
              <a:tr h="603504">
                <a:tc>
                  <a:txBody>
                    <a:bodyPr/>
                    <a:lstStyle/>
                    <a:p>
                      <a:r>
                        <a:rPr sz="1500"/>
                        <a:t>Apr 2026</a:t>
                      </a:r>
                    </a:p>
                  </a:txBody>
                  <a:tcPr anchor="ctr" marT="36576" marB="36576"/>
                </a:tc>
                <a:tc>
                  <a:txBody>
                    <a:bodyPr/>
                    <a:lstStyle/>
                    <a:p>
                      <a:r>
                        <a:rPr sz="1500"/>
                        <a:t>Informative References Quick-Start Guide; OWASP LLM Top 10 mapping</a:t>
                      </a:r>
                    </a:p>
                  </a:txBody>
                  <a:tcPr anchor="ctr" marT="36576" marB="36576"/>
                </a:tc>
                <a:tc>
                  <a:txBody>
                    <a:bodyPr/>
                    <a:lstStyle/>
                    <a:p>
                      <a:r>
                        <a:rPr sz="1500"/>
                        <a:t>How to find and use the crosswalks</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CSF updates archive (nist.gov/cyberframework) · NIST news, 23 Mar 2026 · status as published by NIST; check for later versions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The auditor’s lens</a:t>
            </a:r>
          </a:p>
        </p:txBody>
      </p:sp>
      <p:sp>
        <p:nvSpPr>
          <p:cNvPr id="3" name="Text Placeholder 2"/>
          <p:cNvSpPr>
            <a:spLocks noGrp="1"/>
          </p:cNvSpPr>
          <p:nvPr>
            <p:ph type="body" idx="1"/>
          </p:nvPr>
        </p:nvSpPr>
        <p:spPr/>
        <p:txBody>
          <a:bodyPr/>
          <a:lstStyle/>
          <a:p>
            <a:r>
              <a:rPr b="0"/>
              <a:t>5</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You have been auditing NIST for four weeks</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508760"/>
          <a:ext cx="11430000" cy="3712464"/>
        </p:xfrm>
        <a:graphic>
          <a:graphicData uri="http://schemas.openxmlformats.org/drawingml/2006/table">
            <a:tbl>
              <a:tblPr firstRow="1">
                <a:tableStyleId>{605943CB-6F42-4776-B506-94E284F2829C}</a:tableStyleId>
              </a:tblPr>
              <a:tblGrid>
                <a:gridCol w="1828800"/>
                <a:gridCol w="9601200"/>
              </a:tblGrid>
              <a:tr h="530352">
                <a:tc>
                  <a:txBody>
                    <a:bodyPr/>
                    <a:lstStyle/>
                    <a:p>
                      <a:r>
                        <a:rPr sz="1600" b="1"/>
                        <a:t>Function</a:t>
                      </a:r>
                    </a:p>
                  </a:txBody>
                  <a:tcPr anchor="ctr" marT="36576" marB="36576"/>
                </a:tc>
                <a:tc>
                  <a:txBody>
                    <a:bodyPr/>
                    <a:lstStyle/>
                    <a:p>
                      <a:r>
                        <a:rPr sz="1600" b="1"/>
                        <a:t>Where you met it in Weeks 2–5</a:t>
                      </a:r>
                    </a:p>
                  </a:txBody>
                  <a:tcPr anchor="ctr" marT="36576" marB="36576"/>
                </a:tc>
              </a:tr>
              <a:tr h="530352">
                <a:tc>
                  <a:txBody>
                    <a:bodyPr/>
                    <a:lstStyle/>
                    <a:p>
                      <a:r>
                        <a:rPr sz="1600"/>
                        <a:t>Govern</a:t>
                      </a:r>
                    </a:p>
                  </a:txBody>
                  <a:tcPr anchor="ctr" marT="36576" marB="36576"/>
                </a:tc>
                <a:tc>
                  <a:txBody>
                    <a:bodyPr/>
                    <a:lstStyle/>
                    <a:p>
                      <a:r>
                        <a:rPr sz="1600"/>
                        <a:t>C-RAF: board accountability, independent audit (Wk 5) · G3: SRA and audit cycle (Wk 4)</a:t>
                      </a:r>
                    </a:p>
                  </a:txBody>
                  <a:tcPr anchor="ctr" marT="36576" marB="36576"/>
                </a:tc>
              </a:tr>
              <a:tr h="530352">
                <a:tc>
                  <a:txBody>
                    <a:bodyPr/>
                    <a:lstStyle/>
                    <a:p>
                      <a:r>
                        <a:rPr sz="1600"/>
                        <a:t>Identify</a:t>
                      </a:r>
                    </a:p>
                  </a:txBody>
                  <a:tcPr anchor="ctr" marT="36576" marB="36576"/>
                </a:tc>
                <a:tc>
                  <a:txBody>
                    <a:bodyPr/>
                    <a:lstStyle/>
                    <a:p>
                      <a:r>
                        <a:rPr sz="1600"/>
                        <a:t>Cap. 653: annual security risk assessment (Wk 2) · G3 risk framework (Wk 4)</a:t>
                      </a:r>
                    </a:p>
                  </a:txBody>
                  <a:tcPr anchor="ctr" marT="36576" marB="36576"/>
                </a:tc>
              </a:tr>
              <a:tr h="530352">
                <a:tc>
                  <a:txBody>
                    <a:bodyPr/>
                    <a:lstStyle/>
                    <a:p>
                      <a:r>
                        <a:rPr sz="1600"/>
                        <a:t>Protect</a:t>
                      </a:r>
                    </a:p>
                  </a:txBody>
                  <a:tcPr anchor="ctr" marT="36576" marB="36576"/>
                </a:tc>
                <a:tc>
                  <a:txBody>
                    <a:bodyPr/>
                    <a:lstStyle/>
                    <a:p>
                      <a:r>
                        <a:rPr sz="1600"/>
                        <a:t>PDPO DPP4: security of personal data (Wk 3) · G3: MFA for remote access (Wk 4)</a:t>
                      </a:r>
                    </a:p>
                  </a:txBody>
                  <a:tcPr anchor="ctr" marT="36576" marB="36576"/>
                </a:tc>
              </a:tr>
              <a:tr h="530352">
                <a:tc>
                  <a:txBody>
                    <a:bodyPr/>
                    <a:lstStyle/>
                    <a:p>
                      <a:r>
                        <a:rPr sz="1600"/>
                        <a:t>Detect</a:t>
                      </a:r>
                    </a:p>
                  </a:txBody>
                  <a:tcPr anchor="ctr" marT="36576" marB="36576"/>
                </a:tc>
                <a:tc>
                  <a:txBody>
                    <a:bodyPr/>
                    <a:lstStyle/>
                    <a:p>
                      <a:r>
                        <a:rPr sz="1600"/>
                        <a:t>C-RAF 2.0 Detection domain (Wk 5) · iCAST blue-team expectations (Wk 5, Wk 8)</a:t>
                      </a:r>
                    </a:p>
                  </a:txBody>
                  <a:tcPr anchor="ctr" marT="36576" marB="36576"/>
                </a:tc>
              </a:tr>
              <a:tr h="530352">
                <a:tc>
                  <a:txBody>
                    <a:bodyPr/>
                    <a:lstStyle/>
                    <a:p>
                      <a:r>
                        <a:rPr sz="1600" b="1">
                          <a:solidFill>
                            <a:srgbClr val="FD5108"/>
                          </a:solidFill>
                        </a:rPr>
                        <a:t>Respond</a:t>
                      </a:r>
                    </a:p>
                  </a:txBody>
                  <a:tcPr anchor="ctr" marT="36576" marB="36576"/>
                </a:tc>
                <a:tc>
                  <a:txBody>
                    <a:bodyPr/>
                    <a:lstStyle/>
                    <a:p>
                      <a:r>
                        <a:rPr sz="1600" b="1"/>
                        <a:t>Cap. 653: notify in 12 h (serious) / 48 h (other) (Wk 2) · G3: report to GIRO in 60 min (Wk 4)</a:t>
                      </a:r>
                    </a:p>
                  </a:txBody>
                  <a:tcPr anchor="ctr" marT="36576" marB="36576"/>
                </a:tc>
              </a:tr>
              <a:tr h="530352">
                <a:tc>
                  <a:txBody>
                    <a:bodyPr/>
                    <a:lstStyle/>
                    <a:p>
                      <a:r>
                        <a:rPr sz="1600"/>
                        <a:t>Recover</a:t>
                      </a:r>
                    </a:p>
                  </a:txBody>
                  <a:tcPr anchor="ctr" marT="36576" marB="36576"/>
                </a:tc>
                <a:tc>
                  <a:txBody>
                    <a:bodyPr/>
                    <a:lstStyle/>
                    <a:p>
                      <a:r>
                        <a:rPr sz="1600"/>
                        <a:t>Cap. 653: emergency response plan and drills (Wk 2) · HKMA STDB tertiary backups</a:t>
                      </a:r>
                    </a:p>
                  </a:txBody>
                  <a:tcPr anchor="ctr" marT="36576" marB="36576"/>
                </a:tc>
              </a:tr>
            </a:tbl>
          </a:graphicData>
        </a:graphic>
      </p:graphicFrame>
      <p:sp>
        <p:nvSpPr>
          <p:cNvPr id="8" name="Rectangle 7"/>
          <p:cNvSpPr/>
          <p:nvPr/>
        </p:nvSpPr>
        <p:spPr>
          <a:xfrm>
            <a:off x="365760" y="5440680"/>
            <a:ext cx="11430000" cy="5029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1">
                <a:solidFill>
                  <a:srgbClr val="000000"/>
                </a:solidFill>
              </a:rPr>
              <a:t>NIST gives you the shape. Local law and regulators fill in the numbers.</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Cap. 653 and OCCICS Code of Practice · Cap. 486 · DPO G3 v10.2 · HKMA C-RAF 2.0, CFI 2.0 (2020), STDB (May 2021)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Same goal, three different kinds of instrument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00200"/>
          <a:ext cx="11430000" cy="3950208"/>
        </p:xfrm>
        <a:graphic>
          <a:graphicData uri="http://schemas.openxmlformats.org/drawingml/2006/table">
            <a:tbl>
              <a:tblPr firstRow="1">
                <a:tableStyleId>{605943CB-6F42-4776-B506-94E284F2829C}</a:tableStyleId>
              </a:tblPr>
              <a:tblGrid>
                <a:gridCol w="2560320"/>
                <a:gridCol w="2926080"/>
                <a:gridCol w="2971800"/>
                <a:gridCol w="2971800"/>
              </a:tblGrid>
              <a:tr h="658368">
                <a:tc>
                  <a:txBody>
                    <a:bodyPr/>
                    <a:lstStyle/>
                    <a:p/>
                  </a:txBody>
                  <a:tcPr anchor="ctr" marT="36576" marB="36576"/>
                </a:tc>
                <a:tc>
                  <a:txBody>
                    <a:bodyPr/>
                    <a:lstStyle/>
                    <a:p>
                      <a:r>
                        <a:rPr sz="1600" b="1"/>
                        <a:t>NIST CSF 2.0</a:t>
                      </a:r>
                    </a:p>
                  </a:txBody>
                  <a:tcPr anchor="ctr" marT="36576" marB="36576"/>
                </a:tc>
                <a:tc>
                  <a:txBody>
                    <a:bodyPr/>
                    <a:lstStyle/>
                    <a:p>
                      <a:r>
                        <a:rPr sz="1600" b="1"/>
                        <a:t>ISO/IEC 27001</a:t>
                      </a:r>
                    </a:p>
                  </a:txBody>
                  <a:tcPr anchor="ctr" marT="36576" marB="36576"/>
                </a:tc>
                <a:tc>
                  <a:txBody>
                    <a:bodyPr/>
                    <a:lstStyle/>
                    <a:p>
                      <a:r>
                        <a:rPr sz="1600" b="1"/>
                        <a:t>HKMA C-RAF 2.0</a:t>
                      </a:r>
                    </a:p>
                  </a:txBody>
                  <a:tcPr anchor="ctr" marT="36576" marB="36576"/>
                </a:tc>
              </a:tr>
              <a:tr h="658368">
                <a:tc>
                  <a:txBody>
                    <a:bodyPr/>
                    <a:lstStyle/>
                    <a:p>
                      <a:r>
                        <a:rPr sz="1600"/>
                        <a:t>Nature</a:t>
                      </a:r>
                    </a:p>
                  </a:txBody>
                  <a:tcPr anchor="ctr" marT="36576" marB="36576"/>
                </a:tc>
                <a:tc>
                  <a:txBody>
                    <a:bodyPr/>
                    <a:lstStyle/>
                    <a:p>
                      <a:r>
                        <a:rPr sz="1600"/>
                        <a:t>Voluntary outcomes</a:t>
                      </a:r>
                    </a:p>
                  </a:txBody>
                  <a:tcPr anchor="ctr" marT="36576" marB="36576"/>
                </a:tc>
                <a:tc>
                  <a:txBody>
                    <a:bodyPr/>
                    <a:lstStyle/>
                    <a:p>
                      <a:r>
                        <a:rPr sz="1600"/>
                        <a:t>Certifiable management system</a:t>
                      </a:r>
                    </a:p>
                  </a:txBody>
                  <a:tcPr anchor="ctr" marT="36576" marB="36576"/>
                </a:tc>
                <a:tc>
                  <a:txBody>
                    <a:bodyPr/>
                    <a:lstStyle/>
                    <a:p>
                      <a:r>
                        <a:rPr sz="1600"/>
                        <a:t>Supervisory expectation</a:t>
                      </a:r>
                    </a:p>
                  </a:txBody>
                  <a:tcPr anchor="ctr" marT="36576" marB="36576"/>
                </a:tc>
              </a:tr>
              <a:tr h="658368">
                <a:tc>
                  <a:txBody>
                    <a:bodyPr/>
                    <a:lstStyle/>
                    <a:p>
                      <a:r>
                        <a:rPr sz="1600"/>
                        <a:t>Who checks</a:t>
                      </a:r>
                    </a:p>
                  </a:txBody>
                  <a:tcPr anchor="ctr" marT="36576" marB="36576"/>
                </a:tc>
                <a:tc>
                  <a:txBody>
                    <a:bodyPr/>
                    <a:lstStyle/>
                    <a:p>
                      <a:r>
                        <a:rPr sz="1600"/>
                        <a:t>Anyone — self or third party</a:t>
                      </a:r>
                    </a:p>
                  </a:txBody>
                  <a:tcPr anchor="ctr" marT="36576" marB="36576"/>
                </a:tc>
                <a:tc>
                  <a:txBody>
                    <a:bodyPr/>
                    <a:lstStyle/>
                    <a:p>
                      <a:r>
                        <a:rPr sz="1600"/>
                        <a:t>Accredited certification body</a:t>
                      </a:r>
                    </a:p>
                  </a:txBody>
                  <a:tcPr anchor="ctr" marT="36576" marB="36576"/>
                </a:tc>
                <a:tc>
                  <a:txBody>
                    <a:bodyPr/>
                    <a:lstStyle/>
                    <a:p>
                      <a:r>
                        <a:rPr sz="1600"/>
                        <a:t>Assessors on the HKMA’s PDP list</a:t>
                      </a:r>
                    </a:p>
                  </a:txBody>
                  <a:tcPr anchor="ctr" marT="36576" marB="36576"/>
                </a:tc>
              </a:tr>
              <a:tr h="658368">
                <a:tc>
                  <a:txBody>
                    <a:bodyPr/>
                    <a:lstStyle/>
                    <a:p>
                      <a:r>
                        <a:rPr sz="1600"/>
                        <a:t>How the bar is set</a:t>
                      </a:r>
                    </a:p>
                  </a:txBody>
                  <a:tcPr anchor="ctr" marT="36576" marB="36576"/>
                </a:tc>
                <a:tc>
                  <a:txBody>
                    <a:bodyPr/>
                    <a:lstStyle/>
                    <a:p>
                      <a:r>
                        <a:rPr sz="1600"/>
                        <a:t>You choose a Target Profile</a:t>
                      </a:r>
                    </a:p>
                  </a:txBody>
                  <a:tcPr anchor="ctr" marT="36576" marB="36576"/>
                </a:tc>
                <a:tc>
                  <a:txBody>
                    <a:bodyPr/>
                    <a:lstStyle/>
                    <a:p>
                      <a:r>
                        <a:rPr sz="1600"/>
                        <a:t>Your risk assessment and Statement of Applicability</a:t>
                      </a:r>
                    </a:p>
                  </a:txBody>
                  <a:tcPr anchor="ctr" marT="36576" marB="36576"/>
                </a:tc>
                <a:tc>
                  <a:txBody>
                    <a:bodyPr/>
                    <a:lstStyle/>
                    <a:p>
                      <a:r>
                        <a:rPr sz="1600"/>
                        <a:t>Inherent risk sets the maturity level</a:t>
                      </a:r>
                    </a:p>
                  </a:txBody>
                  <a:tcPr anchor="ctr" marT="36576" marB="36576"/>
                </a:tc>
              </a:tr>
              <a:tr h="658368">
                <a:tc>
                  <a:txBody>
                    <a:bodyPr/>
                    <a:lstStyle/>
                    <a:p>
                      <a:r>
                        <a:rPr sz="1600"/>
                        <a:t>Output</a:t>
                      </a:r>
                    </a:p>
                  </a:txBody>
                  <a:tcPr anchor="ctr" marT="36576" marB="36576"/>
                </a:tc>
                <a:tc>
                  <a:txBody>
                    <a:bodyPr/>
                    <a:lstStyle/>
                    <a:p>
                      <a:r>
                        <a:rPr sz="1600"/>
                        <a:t>Current vs Target gap and plan</a:t>
                      </a:r>
                    </a:p>
                  </a:txBody>
                  <a:tcPr anchor="ctr" marT="36576" marB="36576"/>
                </a:tc>
                <a:tc>
                  <a:txBody>
                    <a:bodyPr/>
                    <a:lstStyle/>
                    <a:p>
                      <a:r>
                        <a:rPr sz="1600"/>
                        <a:t>Certificate with a scope</a:t>
                      </a:r>
                    </a:p>
                  </a:txBody>
                  <a:tcPr anchor="ctr" marT="36576" marB="36576"/>
                </a:tc>
                <a:tc>
                  <a:txBody>
                    <a:bodyPr/>
                    <a:lstStyle/>
                    <a:p>
                      <a:r>
                        <a:rPr sz="1600"/>
                        <a:t>Maturity assessment report to the HKMA</a:t>
                      </a:r>
                    </a:p>
                  </a:txBody>
                  <a:tcPr anchor="ctr" marT="36576" marB="36576"/>
                </a:tc>
              </a:tr>
              <a:tr h="658368">
                <a:tc>
                  <a:txBody>
                    <a:bodyPr/>
                    <a:lstStyle/>
                    <a:p>
                      <a:r>
                        <a:rPr sz="1600" b="1"/>
                        <a:t>Your first audit question</a:t>
                      </a:r>
                    </a:p>
                  </a:txBody>
                  <a:tcPr anchor="ctr" marT="36576" marB="36576"/>
                </a:tc>
                <a:tc>
                  <a:txBody>
                    <a:bodyPr/>
                    <a:lstStyle/>
                    <a:p>
                      <a:r>
                        <a:rPr sz="1600" b="1">
                          <a:solidFill>
                            <a:srgbClr val="FD5108"/>
                          </a:solidFill>
                        </a:rPr>
                        <a:t>Who set the Target?</a:t>
                      </a:r>
                    </a:p>
                  </a:txBody>
                  <a:tcPr anchor="ctr" marT="36576" marB="36576"/>
                </a:tc>
                <a:tc>
                  <a:txBody>
                    <a:bodyPr/>
                    <a:lstStyle/>
                    <a:p>
                      <a:r>
                        <a:rPr sz="1600" b="1"/>
                        <a:t>What is in scope?</a:t>
                      </a:r>
                    </a:p>
                  </a:txBody>
                  <a:tcPr anchor="ctr" marT="36576" marB="36576"/>
                </a:tc>
                <a:tc>
                  <a:txBody>
                    <a:bodyPr/>
                    <a:lstStyle/>
                    <a:p>
                      <a:r>
                        <a:rPr sz="1600" b="1"/>
                        <a:t>Was inherent risk rated right?</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CSF 2.0 (2024) · ISO/IEC 27001:2022 · HKMA C-RAF 2.0 (Nov 2020), which was benchmarked against NIST CSF (Week 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1</a:t>
            </a:r>
          </a:p>
        </p:txBody>
      </p:sp>
      <p:sp>
        <p:nvSpPr>
          <p:cNvPr id="3" name="Content Placeholder 2"/>
          <p:cNvSpPr>
            <a:spLocks noGrp="1"/>
          </p:cNvSpPr>
          <p:nvPr>
            <p:ph idx="13"/>
          </p:nvPr>
        </p:nvSpPr>
        <p:spPr/>
        <p:txBody>
          <a:bodyPr/>
          <a:lstStyle/>
          <a:p>
            <a:r>
              <a:rPr b="0"/>
              <a:t>2</a:t>
            </a:r>
          </a:p>
        </p:txBody>
      </p:sp>
      <p:sp>
        <p:nvSpPr>
          <p:cNvPr id="4" name="Content Placeholder 3"/>
          <p:cNvSpPr>
            <a:spLocks noGrp="1"/>
          </p:cNvSpPr>
          <p:nvPr>
            <p:ph idx="14"/>
          </p:nvPr>
        </p:nvSpPr>
        <p:spPr/>
        <p:txBody>
          <a:bodyPr/>
          <a:lstStyle/>
          <a:p>
            <a:r>
              <a:rPr b="0"/>
              <a:t>3</a:t>
            </a:r>
          </a:p>
        </p:txBody>
      </p:sp>
      <p:sp>
        <p:nvSpPr>
          <p:cNvPr id="5" name="Content Placeholder 4"/>
          <p:cNvSpPr>
            <a:spLocks noGrp="1"/>
          </p:cNvSpPr>
          <p:nvPr>
            <p:ph idx="15" sz="quarter"/>
          </p:nvPr>
        </p:nvSpPr>
        <p:spPr/>
        <p:txBody>
          <a:bodyPr/>
          <a:lstStyle/>
          <a:p>
            <a:pPr>
              <a:spcAft>
                <a:spcPts val="600"/>
              </a:spcAft>
            </a:pPr>
            <a:r>
              <a:rPr b="1" sz="1600"/>
              <a:t>Treating it as a checklist</a:t>
            </a:r>
          </a:p>
          <a:p>
            <a:r>
              <a:rPr b="0" sz="1600"/>
              <a:t>The CSF says what, not how. Before testing, agree the criteria: the Target Profile, plus any law or policy that sets a threshold.</a:t>
            </a:r>
          </a:p>
        </p:txBody>
      </p:sp>
      <p:sp>
        <p:nvSpPr>
          <p:cNvPr id="6" name="Content Placeholder 5"/>
          <p:cNvSpPr>
            <a:spLocks noGrp="1"/>
          </p:cNvSpPr>
          <p:nvPr>
            <p:ph idx="16" sz="quarter"/>
          </p:nvPr>
        </p:nvSpPr>
        <p:spPr/>
        <p:txBody>
          <a:bodyPr/>
          <a:lstStyle/>
          <a:p>
            <a:pPr>
              <a:spcAft>
                <a:spcPts val="600"/>
              </a:spcAft>
            </a:pPr>
            <a:r>
              <a:rPr b="1" sz="1600"/>
              <a:t>Accepting a policy as the outcome</a:t>
            </a:r>
          </a:p>
          <a:p>
            <a:r>
              <a:rPr b="0" sz="1600"/>
              <a:t>A policy proves design. The outcome needs operating evidence: records, logs and test results over a period.</a:t>
            </a:r>
          </a:p>
        </p:txBody>
      </p:sp>
      <p:sp>
        <p:nvSpPr>
          <p:cNvPr id="7" name="Content Placeholder 6"/>
          <p:cNvSpPr>
            <a:spLocks noGrp="1"/>
          </p:cNvSpPr>
          <p:nvPr>
            <p:ph idx="17" sz="quarter"/>
          </p:nvPr>
        </p:nvSpPr>
        <p:spPr/>
        <p:txBody>
          <a:bodyPr/>
          <a:lstStyle/>
          <a:p>
            <a:pPr>
              <a:spcAft>
                <a:spcPts val="600"/>
              </a:spcAft>
            </a:pPr>
            <a:r>
              <a:rPr b="1" sz="1600"/>
              <a:t>Testing one verb out of six</a:t>
            </a:r>
          </a:p>
          <a:p>
            <a:r>
              <a:rPr b="0" sz="1600"/>
              <a:t>Many subcategories bundle several actions. Test each one, or say clearly which you did not test.</a:t>
            </a:r>
          </a:p>
        </p:txBody>
      </p:sp>
      <p:sp>
        <p:nvSpPr>
          <p:cNvPr id="8" name="Title 7"/>
          <p:cNvSpPr>
            <a:spLocks noGrp="1"/>
          </p:cNvSpPr>
          <p:nvPr>
            <p:ph type="title"/>
          </p:nvPr>
        </p:nvSpPr>
        <p:spPr/>
        <p:txBody>
          <a:bodyPr/>
          <a:lstStyle/>
          <a:p>
            <a:r>
              <a:rPr b="0"/>
              <a:t>Auditing an outcome framework: three traps</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 CS5292 Week 1 (design vs operating effectiveness)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Worked example 1: backups</a:t>
            </a:r>
          </a:p>
        </p:txBody>
      </p:sp>
      <p:sp>
        <p:nvSpPr>
          <p:cNvPr id="3" name="Text Placeholder 2"/>
          <p:cNvSpPr>
            <a:spLocks noGrp="1"/>
          </p:cNvSpPr>
          <p:nvPr>
            <p:ph type="body" idx="11" sz="quarter"/>
          </p:nvPr>
        </p:nvSpPr>
        <p:spPr/>
        <p:txBody>
          <a:bodyPr/>
          <a:lstStyle/>
          <a:p>
            <a:r>
              <a:rPr b="1" sz="1800"/>
              <a:t>PR.DS-11 · Backups of data are created, protected, maintained, and tested.</a:t>
            </a:r>
          </a:p>
        </p:txBody>
      </p:sp>
      <p:sp>
        <p:nvSpPr>
          <p:cNvPr id="4" name="Content Placeholder 3"/>
          <p:cNvSpPr>
            <a:spLocks noGrp="1"/>
          </p:cNvSpPr>
          <p:nvPr>
            <p:ph idx="12" sz="quarter"/>
          </p:nvPr>
        </p:nvSpPr>
        <p:spPr/>
        <p:txBody>
          <a:bodyPr/>
          <a:lstStyle/>
          <a:p>
            <a:pPr>
              <a:spcAft>
                <a:spcPts val="600"/>
              </a:spcAft>
            </a:pPr>
            <a:r>
              <a:rPr b="1" sz="1800">
                <a:solidFill>
                  <a:srgbClr val="FD5108"/>
                </a:solidFill>
              </a:rPr>
              <a:t>What I would ask for</a:t>
            </a:r>
          </a:p>
          <a:p>
            <a:pPr>
              <a:spcAft>
                <a:spcPts val="800"/>
              </a:spcAft>
            </a:pPr>
            <a:r>
              <a:rPr b="0" sz="1800"/>
              <a:t>1. Backup policy and schedule, with the systems in scope</a:t>
            </a:r>
          </a:p>
          <a:p>
            <a:pPr>
              <a:spcAft>
                <a:spcPts val="800"/>
              </a:spcAft>
            </a:pPr>
            <a:r>
              <a:rPr b="0" sz="1800"/>
              <a:t>2. Backup job reports for a 3-month sample</a:t>
            </a:r>
          </a:p>
          <a:p>
            <a:pPr>
              <a:spcAft>
                <a:spcPts val="800"/>
              </a:spcAft>
            </a:pPr>
            <a:r>
              <a:rPr b="0" sz="1800"/>
              <a:t>3. How backups are protected: encryption, access, offline or immutable copies</a:t>
            </a:r>
          </a:p>
          <a:p>
            <a:pPr>
              <a:spcAft>
                <a:spcPts val="800"/>
              </a:spcAft>
            </a:pPr>
            <a:r>
              <a:rPr b="0" sz="1800"/>
              <a:t>4. The last two restore tests: plan, results, sign-off</a:t>
            </a:r>
          </a:p>
        </p:txBody>
      </p:sp>
      <p:sp>
        <p:nvSpPr>
          <p:cNvPr id="5" name="Content Placeholder 4"/>
          <p:cNvSpPr>
            <a:spLocks noGrp="1"/>
          </p:cNvSpPr>
          <p:nvPr>
            <p:ph idx="13" sz="quarter"/>
          </p:nvPr>
        </p:nvSpPr>
        <p:spPr/>
        <p:txBody>
          <a:bodyPr/>
          <a:lstStyle/>
          <a:p>
            <a:pPr>
              <a:spcAft>
                <a:spcPts val="600"/>
              </a:spcAft>
            </a:pPr>
            <a:r>
              <a:rPr b="1" sz="1800">
                <a:solidFill>
                  <a:srgbClr val="FD5108"/>
                </a:solidFill>
              </a:rPr>
              <a:t>What good evidence shows</a:t>
            </a:r>
          </a:p>
          <a:p>
            <a:pPr>
              <a:spcAft>
                <a:spcPts val="800"/>
              </a:spcAft>
            </a:pPr>
            <a:r>
              <a:rPr b="0" sz="1800"/>
              <a:t>Critical systems are all covered, not just some</a:t>
            </a:r>
          </a:p>
          <a:p>
            <a:pPr>
              <a:spcAft>
                <a:spcPts val="800"/>
              </a:spcAft>
            </a:pPr>
            <a:r>
              <a:rPr b="0" sz="1800"/>
              <a:t>Production admin accounts cannot alter the backups</a:t>
            </a:r>
          </a:p>
          <a:p>
            <a:pPr>
              <a:spcAft>
                <a:spcPts val="800"/>
              </a:spcAft>
            </a:pPr>
            <a:r>
              <a:rPr b="0" sz="1800"/>
              <a:t>A recent restore succeeded and was signed off</a:t>
            </a:r>
          </a:p>
          <a:p>
            <a:pPr>
              <a:spcAft>
                <a:spcPts val="800"/>
              </a:spcAft>
            </a:pPr>
            <a:r>
              <a:rPr b="0" sz="1800"/>
              <a:t>Failed jobs were followed up</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CSF 2.0, PR.DS-11 and Implementation Examples · Informative Reference SP 800-53 Rev. 5 CP-09 · HK banks: HKMA STDB (2021)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Worked example 2: oversight</a:t>
            </a:r>
          </a:p>
        </p:txBody>
      </p:sp>
      <p:sp>
        <p:nvSpPr>
          <p:cNvPr id="3" name="Text Placeholder 2"/>
          <p:cNvSpPr>
            <a:spLocks noGrp="1"/>
          </p:cNvSpPr>
          <p:nvPr>
            <p:ph type="body" idx="11" sz="quarter"/>
          </p:nvPr>
        </p:nvSpPr>
        <p:spPr/>
        <p:txBody>
          <a:bodyPr/>
          <a:lstStyle/>
          <a:p>
            <a:r>
              <a:rPr b="1" sz="1800"/>
              <a:t>GV.OV-01 · Cybersecurity risk management strategy outcomes are reviewed to inform and adjust strategy and direction.</a:t>
            </a:r>
          </a:p>
        </p:txBody>
      </p:sp>
      <p:sp>
        <p:nvSpPr>
          <p:cNvPr id="4" name="Content Placeholder 3"/>
          <p:cNvSpPr>
            <a:spLocks noGrp="1"/>
          </p:cNvSpPr>
          <p:nvPr>
            <p:ph idx="12" sz="quarter"/>
          </p:nvPr>
        </p:nvSpPr>
        <p:spPr/>
        <p:txBody>
          <a:bodyPr/>
          <a:lstStyle/>
          <a:p>
            <a:pPr>
              <a:spcAft>
                <a:spcPts val="600"/>
              </a:spcAft>
            </a:pPr>
            <a:r>
              <a:rPr b="1" sz="1800">
                <a:solidFill>
                  <a:srgbClr val="FD5108"/>
                </a:solidFill>
              </a:rPr>
              <a:t>What I would ask for</a:t>
            </a:r>
          </a:p>
          <a:p>
            <a:pPr>
              <a:spcAft>
                <a:spcPts val="800"/>
              </a:spcAft>
            </a:pPr>
            <a:r>
              <a:rPr b="0" sz="1800"/>
              <a:t>1. The approved cyber strategy, and who approved it</a:t>
            </a:r>
          </a:p>
          <a:p>
            <a:pPr>
              <a:spcAft>
                <a:spcPts val="800"/>
              </a:spcAft>
            </a:pPr>
            <a:r>
              <a:rPr b="0" sz="1800"/>
              <a:t>2. Board or committee minutes for the last 4 quarters that discuss cyber</a:t>
            </a:r>
          </a:p>
          <a:p>
            <a:pPr>
              <a:spcAft>
                <a:spcPts val="800"/>
              </a:spcAft>
            </a:pPr>
            <a:r>
              <a:rPr b="0" sz="1800"/>
              <a:t>3. The reports or KRIs presented to them</a:t>
            </a:r>
          </a:p>
          <a:p>
            <a:pPr>
              <a:spcAft>
                <a:spcPts val="800"/>
              </a:spcAft>
            </a:pPr>
            <a:r>
              <a:rPr b="0" sz="1800"/>
              <a:t>4. Any decision that changed strategy, budget or priorities</a:t>
            </a:r>
          </a:p>
        </p:txBody>
      </p:sp>
      <p:sp>
        <p:nvSpPr>
          <p:cNvPr id="5" name="Content Placeholder 4"/>
          <p:cNvSpPr>
            <a:spLocks noGrp="1"/>
          </p:cNvSpPr>
          <p:nvPr>
            <p:ph idx="13" sz="quarter"/>
          </p:nvPr>
        </p:nvSpPr>
        <p:spPr/>
        <p:txBody>
          <a:bodyPr/>
          <a:lstStyle/>
          <a:p>
            <a:pPr>
              <a:spcAft>
                <a:spcPts val="600"/>
              </a:spcAft>
            </a:pPr>
            <a:r>
              <a:rPr b="1" sz="1800">
                <a:solidFill>
                  <a:srgbClr val="FD5108"/>
                </a:solidFill>
              </a:rPr>
              <a:t>What good evidence shows</a:t>
            </a:r>
          </a:p>
          <a:p>
            <a:pPr>
              <a:spcAft>
                <a:spcPts val="800"/>
              </a:spcAft>
            </a:pPr>
            <a:r>
              <a:rPr b="0" sz="1800"/>
              <a:t>Cyber reached the board regularly, not once</a:t>
            </a:r>
          </a:p>
          <a:p>
            <a:pPr>
              <a:spcAft>
                <a:spcPts val="800"/>
              </a:spcAft>
            </a:pPr>
            <a:r>
              <a:rPr b="0" sz="1800"/>
              <a:t>Reports measured results against the strategy, not just activity</a:t>
            </a:r>
          </a:p>
          <a:p>
            <a:pPr>
              <a:spcAft>
                <a:spcPts val="800"/>
              </a:spcAft>
            </a:pPr>
            <a:r>
              <a:rPr b="0" sz="1800"/>
              <a:t>The board asked questions and decided something</a:t>
            </a:r>
          </a:p>
          <a:p>
            <a:pPr>
              <a:spcAft>
                <a:spcPts val="800"/>
              </a:spcAft>
            </a:pPr>
            <a:r>
              <a:rPr b="0" sz="1800"/>
              <a:t>The strategy changed, and the change is traceable</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CSF 2.0, GV.OV-01 · compare HKMA C-RAF 2.0 governance principles (Week 5 group task)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01</a:t>
            </a:r>
          </a:p>
        </p:txBody>
      </p:sp>
      <p:sp>
        <p:nvSpPr>
          <p:cNvPr id="3" name="Content Placeholder 2"/>
          <p:cNvSpPr>
            <a:spLocks noGrp="1"/>
          </p:cNvSpPr>
          <p:nvPr>
            <p:ph idx="13"/>
          </p:nvPr>
        </p:nvSpPr>
        <p:spPr/>
        <p:txBody>
          <a:bodyPr/>
          <a:lstStyle/>
          <a:p>
            <a:r>
              <a:rPr b="0"/>
              <a:t>02</a:t>
            </a:r>
          </a:p>
        </p:txBody>
      </p:sp>
      <p:sp>
        <p:nvSpPr>
          <p:cNvPr id="4" name="Content Placeholder 3"/>
          <p:cNvSpPr>
            <a:spLocks noGrp="1"/>
          </p:cNvSpPr>
          <p:nvPr>
            <p:ph idx="14"/>
          </p:nvPr>
        </p:nvSpPr>
        <p:spPr/>
        <p:txBody>
          <a:bodyPr/>
          <a:lstStyle/>
          <a:p>
            <a:r>
              <a:rPr b="0"/>
              <a:t>03</a:t>
            </a:r>
          </a:p>
        </p:txBody>
      </p:sp>
      <p:sp>
        <p:nvSpPr>
          <p:cNvPr id="5" name="Content Placeholder 4"/>
          <p:cNvSpPr>
            <a:spLocks noGrp="1"/>
          </p:cNvSpPr>
          <p:nvPr>
            <p:ph idx="16"/>
          </p:nvPr>
        </p:nvSpPr>
        <p:spPr/>
        <p:txBody>
          <a:bodyPr/>
          <a:lstStyle/>
          <a:p>
            <a:r>
              <a:rPr b="0"/>
              <a:t>04</a:t>
            </a:r>
          </a:p>
        </p:txBody>
      </p:sp>
      <p:sp>
        <p:nvSpPr>
          <p:cNvPr id="6" name="Title 5"/>
          <p:cNvSpPr>
            <a:spLocks noGrp="1"/>
          </p:cNvSpPr>
          <p:nvPr>
            <p:ph type="title"/>
          </p:nvPr>
        </p:nvSpPr>
        <p:spPr/>
        <p:txBody>
          <a:bodyPr/>
          <a:lstStyle/>
          <a:p>
            <a:r>
              <a:rPr b="0"/>
              <a:t>What to take into the midterm</a:t>
            </a:r>
          </a:p>
        </p:txBody>
      </p:sp>
      <p:sp>
        <p:nvSpPr>
          <p:cNvPr id="7" name="Content Placeholder 6"/>
          <p:cNvSpPr>
            <a:spLocks noGrp="1"/>
          </p:cNvSpPr>
          <p:nvPr>
            <p:ph idx="17" sz="quarter"/>
          </p:nvPr>
        </p:nvSpPr>
        <p:spPr/>
        <p:txBody>
          <a:bodyPr/>
          <a:lstStyle/>
          <a:p>
            <a:pPr>
              <a:spcAft>
                <a:spcPts val="600"/>
              </a:spcAft>
            </a:pPr>
            <a:r>
              <a:rPr b="1" sz="1600"/>
              <a:t>What, not how</a:t>
            </a:r>
          </a:p>
          <a:p>
            <a:r>
              <a:rPr b="0" sz="1600"/>
              <a:t>NIST sets outcomes. Criteria come from the Target Profile and from local law.</a:t>
            </a:r>
          </a:p>
        </p:txBody>
      </p:sp>
      <p:sp>
        <p:nvSpPr>
          <p:cNvPr id="8" name="Content Placeholder 7"/>
          <p:cNvSpPr>
            <a:spLocks noGrp="1"/>
          </p:cNvSpPr>
          <p:nvPr>
            <p:ph idx="18" sz="quarter"/>
          </p:nvPr>
        </p:nvSpPr>
        <p:spPr/>
        <p:txBody>
          <a:bodyPr/>
          <a:lstStyle/>
          <a:p>
            <a:pPr>
              <a:spcAft>
                <a:spcPts val="600"/>
              </a:spcAft>
            </a:pPr>
            <a:r>
              <a:rPr b="1" sz="1600"/>
              <a:t>Govern is the centre</a:t>
            </a:r>
          </a:p>
          <a:p>
            <a:r>
              <a:rPr b="0" sz="1600"/>
              <a:t>Six categories; supply chain now lives here. Start your audit here.</a:t>
            </a:r>
          </a:p>
        </p:txBody>
      </p:sp>
      <p:sp>
        <p:nvSpPr>
          <p:cNvPr id="9" name="Content Placeholder 8"/>
          <p:cNvSpPr>
            <a:spLocks noGrp="1"/>
          </p:cNvSpPr>
          <p:nvPr>
            <p:ph idx="19" sz="quarter"/>
          </p:nvPr>
        </p:nvSpPr>
        <p:spPr/>
        <p:txBody>
          <a:bodyPr/>
          <a:lstStyle/>
          <a:p>
            <a:pPr>
              <a:spcAft>
                <a:spcPts val="600"/>
              </a:spcAft>
            </a:pPr>
            <a:r>
              <a:rPr b="1" sz="1600"/>
              <a:t>The gap is the finding</a:t>
            </a:r>
          </a:p>
          <a:p>
            <a:r>
              <a:rPr b="0" sz="1600"/>
              <a:t>Current vs Target, prioritised, owned and dated.</a:t>
            </a:r>
          </a:p>
        </p:txBody>
      </p:sp>
      <p:sp>
        <p:nvSpPr>
          <p:cNvPr id="10" name="Content Placeholder 9"/>
          <p:cNvSpPr>
            <a:spLocks noGrp="1"/>
          </p:cNvSpPr>
          <p:nvPr>
            <p:ph idx="20" sz="quarter"/>
          </p:nvPr>
        </p:nvSpPr>
        <p:spPr/>
        <p:txBody>
          <a:bodyPr/>
          <a:lstStyle/>
          <a:p>
            <a:pPr>
              <a:spcAft>
                <a:spcPts val="600"/>
              </a:spcAft>
            </a:pPr>
            <a:r>
              <a:rPr b="1" sz="1600"/>
              <a:t>Tiers are not scores</a:t>
            </a:r>
          </a:p>
          <a:p>
            <a:r>
              <a:rPr b="0" sz="1600"/>
              <a:t>Recommend the approved Tier, tied to a risk or a mandate.</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4" name="TextBox 13"/>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The NIST Cybersecurity Framework (CSF) 2.0, 26 Feb 2024 · Every verb in a subcategory is a test; every test needs operating evidence.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Break, then Module 3</a:t>
            </a:r>
          </a:p>
        </p:txBody>
      </p:sp>
      <p:sp>
        <p:nvSpPr>
          <p:cNvPr id="3" name="Text Placeholder 2"/>
          <p:cNvSpPr>
            <a:spLocks noGrp="1"/>
          </p:cNvSpPr>
          <p:nvPr>
            <p:ph type="body" idx="12" sz="quarter"/>
          </p:nvPr>
        </p:nvSpPr>
        <p:spPr/>
        <p:txBody>
          <a:bodyPr/>
          <a:lstStyle/>
          <a:p>
            <a:r>
              <a:rPr b="0"/>
              <a:t>Break. Then: your turn.</a:t>
            </a:r>
          </a:p>
        </p:txBody>
      </p:sp>
      <p:sp>
        <p:nvSpPr>
          <p:cNvPr id="4" name="Content Placeholder 3"/>
          <p:cNvSpPr>
            <a:spLocks noGrp="1"/>
          </p:cNvSpPr>
          <p:nvPr>
            <p:ph idx="10" sz="quarter"/>
          </p:nvPr>
        </p:nvSpPr>
        <p:spPr/>
        <p:txBody>
          <a:bodyPr/>
          <a:lstStyle/>
          <a:p>
            <a:r>
              <a:rPr b="1" sz="1600"/>
              <a:t>10 minutes</a:t>
            </a:r>
          </a:p>
          <a:p>
            <a:r>
              <a:rPr b="0" sz="1600"/>
              <a:t>Module 3: the XYZ-TS evidence pack, five Govern outcomes, your group RFI.</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What Herman showed us, in CSF terms</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463040"/>
          <a:ext cx="11430000" cy="3950208"/>
        </p:xfrm>
        <a:graphic>
          <a:graphicData uri="http://schemas.openxmlformats.org/drawingml/2006/table">
            <a:tbl>
              <a:tblPr firstRow="1">
                <a:tableStyleId>{605943CB-6F42-4776-B506-94E284F2829C}</a:tableStyleId>
              </a:tblPr>
              <a:tblGrid>
                <a:gridCol w="4206240"/>
                <a:gridCol w="3840480"/>
                <a:gridCol w="3383280"/>
              </a:tblGrid>
              <a:tr h="658368">
                <a:tc>
                  <a:txBody>
                    <a:bodyPr/>
                    <a:lstStyle/>
                    <a:p>
                      <a:r>
                        <a:rPr sz="1400" b="1"/>
                        <a:t>What Herman said</a:t>
                      </a:r>
                    </a:p>
                  </a:txBody>
                  <a:tcPr anchor="ctr" marT="36576" marB="36576"/>
                </a:tc>
                <a:tc>
                  <a:txBody>
                    <a:bodyPr/>
                    <a:lstStyle/>
                    <a:p>
                      <a:r>
                        <a:rPr sz="1400" b="1"/>
                        <a:t>Where it sits in CSF 2.0</a:t>
                      </a:r>
                    </a:p>
                  </a:txBody>
                  <a:tcPr anchor="ctr" marT="36576" marB="36576"/>
                </a:tc>
                <a:tc>
                  <a:txBody>
                    <a:bodyPr/>
                    <a:lstStyle/>
                    <a:p>
                      <a:r>
                        <a:rPr sz="1400" b="1"/>
                        <a:t>Where we go with it tonight</a:t>
                      </a:r>
                    </a:p>
                  </a:txBody>
                  <a:tcPr anchor="ctr" marT="36576" marB="36576"/>
                </a:tc>
              </a:tr>
              <a:tr h="658368">
                <a:tc>
                  <a:txBody>
                    <a:bodyPr/>
                    <a:lstStyle/>
                    <a:p>
                      <a:r>
                        <a:rPr sz="1400"/>
                        <a:t>500+ systems, 12 divisions, 80+ departments, ~10,000 staff — and no regulator</a:t>
                      </a:r>
                    </a:p>
                  </a:txBody>
                  <a:tcPr anchor="ctr" marT="36576" marB="36576"/>
                </a:tc>
                <a:tc>
                  <a:txBody>
                    <a:bodyPr/>
                    <a:lstStyle/>
                    <a:p>
                      <a:r>
                        <a:rPr sz="1400"/>
                        <a:t>GV.OC — organisational context; why a common language is needed</a:t>
                      </a:r>
                    </a:p>
                  </a:txBody>
                  <a:tcPr anchor="ctr" marT="36576" marB="36576"/>
                </a:tc>
                <a:tc>
                  <a:txBody>
                    <a:bodyPr/>
                    <a:lstStyle/>
                    <a:p>
                      <a:r>
                        <a:rPr sz="1400"/>
                        <a:t>Part A: why NIST when there is no law</a:t>
                      </a:r>
                    </a:p>
                  </a:txBody>
                  <a:tcPr anchor="ctr" marT="36576" marB="36576"/>
                </a:tc>
              </a:tr>
              <a:tr h="658368">
                <a:tc>
                  <a:txBody>
                    <a:bodyPr/>
                    <a:lstStyle/>
                    <a:p>
                      <a:r>
                        <a:rPr sz="1400"/>
                        <a:t>The betting system is down: Security, IT Ops and the business owner all point at each other</a:t>
                      </a:r>
                    </a:p>
                  </a:txBody>
                  <a:tcPr anchor="ctr" marT="36576" marB="36576"/>
                </a:tc>
                <a:tc>
                  <a:txBody>
                    <a:bodyPr/>
                    <a:lstStyle/>
                    <a:p>
                      <a:r>
                        <a:rPr sz="1400" b="1">
                          <a:solidFill>
                            <a:srgbClr val="FD5108"/>
                          </a:solidFill>
                        </a:rPr>
                        <a:t>GV.RR — roles, responsibilities, authorities</a:t>
                      </a:r>
                    </a:p>
                  </a:txBody>
                  <a:tcPr anchor="ctr" marT="36576" marB="36576"/>
                </a:tc>
                <a:tc>
                  <a:txBody>
                    <a:bodyPr/>
                    <a:lstStyle/>
                    <a:p>
                      <a:r>
                        <a:rPr sz="1400"/>
                        <a:t>Next slide; Module 3, control 1</a:t>
                      </a:r>
                    </a:p>
                  </a:txBody>
                  <a:tcPr anchor="ctr" marT="36576" marB="36576"/>
                </a:tc>
              </a:tr>
              <a:tr h="658368">
                <a:tc>
                  <a:txBody>
                    <a:bodyPr/>
                    <a:lstStyle/>
                    <a:p>
                      <a:r>
                        <a:rPr sz="1400"/>
                        <a:t>A maturity table: current score vs target score, function by function</a:t>
                      </a:r>
                    </a:p>
                  </a:txBody>
                  <a:tcPr anchor="ctr" marT="36576" marB="36576"/>
                </a:tc>
                <a:tc>
                  <a:txBody>
                    <a:bodyPr/>
                    <a:lstStyle/>
                    <a:p>
                      <a:r>
                        <a:rPr sz="1400"/>
                        <a:t>Organizational Profiles — Current vs Target</a:t>
                      </a:r>
                    </a:p>
                  </a:txBody>
                  <a:tcPr anchor="ctr" marT="36576" marB="36576"/>
                </a:tc>
                <a:tc>
                  <a:txBody>
                    <a:bodyPr/>
                    <a:lstStyle/>
                    <a:p>
                      <a:r>
                        <a:rPr sz="1400"/>
                        <a:t>Part B: Profiles and Tiers</a:t>
                      </a:r>
                    </a:p>
                  </a:txBody>
                  <a:tcPr anchor="ctr" marT="36576" marB="36576"/>
                </a:tc>
              </a:tr>
              <a:tr h="658368">
                <a:tc>
                  <a:txBody>
                    <a:bodyPr/>
                    <a:lstStyle/>
                    <a:p>
                      <a:r>
                        <a:rPr sz="1400"/>
                        <a:t>KRIs for every function, each with an owner</a:t>
                      </a:r>
                    </a:p>
                  </a:txBody>
                  <a:tcPr anchor="ctr" marT="36576" marB="36576"/>
                </a:tc>
                <a:tc>
                  <a:txBody>
                    <a:bodyPr/>
                    <a:lstStyle/>
                    <a:p>
                      <a:r>
                        <a:rPr sz="1400"/>
                        <a:t>GV.OV — oversight; GV.RM — tolerances</a:t>
                      </a:r>
                    </a:p>
                  </a:txBody>
                  <a:tcPr anchor="ctr" marT="36576" marB="36576"/>
                </a:tc>
                <a:tc>
                  <a:txBody>
                    <a:bodyPr/>
                    <a:lstStyle/>
                    <a:p>
                      <a:r>
                        <a:rPr sz="1400"/>
                        <a:t>Part B: KRIs function by function</a:t>
                      </a:r>
                    </a:p>
                  </a:txBody>
                  <a:tcPr anchor="ctr" marT="36576" marB="36576"/>
                </a:tc>
              </a:tr>
              <a:tr h="658368">
                <a:tc>
                  <a:txBody>
                    <a:bodyPr/>
                    <a:lstStyle/>
                    <a:p>
                      <a:r>
                        <a:rPr sz="1400"/>
                        <a:t>Red below 90% → escalate → compensating controls → risk acceptance</a:t>
                      </a:r>
                    </a:p>
                  </a:txBody>
                  <a:tcPr anchor="ctr" marT="36576" marB="36576"/>
                </a:tc>
                <a:tc>
                  <a:txBody>
                    <a:bodyPr/>
                    <a:lstStyle/>
                    <a:p>
                      <a:r>
                        <a:rPr sz="1400"/>
                        <a:t>GV.RM-02 tolerance; ID.RA-06 risk response</a:t>
                      </a:r>
                    </a:p>
                  </a:txBody>
                  <a:tcPr anchor="ctr" marT="36576" marB="36576"/>
                </a:tc>
                <a:tc>
                  <a:txBody>
                    <a:bodyPr/>
                    <a:lstStyle/>
                    <a:p>
                      <a:r>
                        <a:rPr sz="1400"/>
                        <a:t>Part B; Module 3 worked example</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Herman Sin, “NIST CSF 2.0”, CS5292 guest lecture, 7 Oct 2026 · NIST CSWP 29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Security</a:t>
            </a:r>
          </a:p>
        </p:txBody>
      </p:sp>
      <p:sp>
        <p:nvSpPr>
          <p:cNvPr id="3" name="Content Placeholder 2"/>
          <p:cNvSpPr>
            <a:spLocks noGrp="1"/>
          </p:cNvSpPr>
          <p:nvPr>
            <p:ph idx="13"/>
          </p:nvPr>
        </p:nvSpPr>
        <p:spPr/>
        <p:txBody>
          <a:bodyPr/>
          <a:lstStyle/>
          <a:p>
            <a:r>
              <a:rPr b="0"/>
              <a:t>IT Ops</a:t>
            </a:r>
          </a:p>
        </p:txBody>
      </p:sp>
      <p:sp>
        <p:nvSpPr>
          <p:cNvPr id="4" name="Content Placeholder 3"/>
          <p:cNvSpPr>
            <a:spLocks noGrp="1"/>
          </p:cNvSpPr>
          <p:nvPr>
            <p:ph idx="14"/>
          </p:nvPr>
        </p:nvSpPr>
        <p:spPr/>
        <p:txBody>
          <a:bodyPr/>
          <a:lstStyle/>
          <a:p>
            <a:r>
              <a:rPr b="0"/>
              <a:t>Owner</a:t>
            </a:r>
          </a:p>
        </p:txBody>
      </p:sp>
      <p:sp>
        <p:nvSpPr>
          <p:cNvPr id="5" name="Content Placeholder 4"/>
          <p:cNvSpPr>
            <a:spLocks noGrp="1"/>
          </p:cNvSpPr>
          <p:nvPr>
            <p:ph idx="15" sz="quarter"/>
          </p:nvPr>
        </p:nvSpPr>
        <p:spPr/>
        <p:txBody>
          <a:bodyPr/>
          <a:lstStyle/>
          <a:p>
            <a:pPr>
              <a:spcAft>
                <a:spcPts val="600"/>
              </a:spcAft>
            </a:pPr>
            <a:r>
              <a:rPr b="1" sz="1600"/>
              <a:t>“We identified the risk and issued recommendations. We don’t own the system!”</a:t>
            </a:r>
          </a:p>
          <a:p>
            <a:r>
              <a:rPr b="0" sz="1600"/>
              <a:t>Defines requirements, assesses risk, challenges decisions, coordinates response.</a:t>
            </a:r>
          </a:p>
        </p:txBody>
      </p:sp>
      <p:sp>
        <p:nvSpPr>
          <p:cNvPr id="6" name="Content Placeholder 5"/>
          <p:cNvSpPr>
            <a:spLocks noGrp="1"/>
          </p:cNvSpPr>
          <p:nvPr>
            <p:ph idx="16" sz="quarter"/>
          </p:nvPr>
        </p:nvSpPr>
        <p:spPr/>
        <p:txBody>
          <a:bodyPr/>
          <a:lstStyle/>
          <a:p>
            <a:pPr>
              <a:spcAft>
                <a:spcPts val="600"/>
              </a:spcAft>
            </a:pPr>
            <a:r>
              <a:rPr b="1" sz="1600"/>
              <a:t>“We run the platform — we don’t decide which vulnerabilities to fix!”</a:t>
            </a:r>
          </a:p>
          <a:p>
            <a:r>
              <a:rPr b="0" sz="1600"/>
              <a:t>Keeps it available, applies approved patches, monitors, contains incidents.</a:t>
            </a:r>
          </a:p>
        </p:txBody>
      </p:sp>
      <p:sp>
        <p:nvSpPr>
          <p:cNvPr id="7" name="Content Placeholder 6"/>
          <p:cNvSpPr>
            <a:spLocks noGrp="1"/>
          </p:cNvSpPr>
          <p:nvPr>
            <p:ph idx="17" sz="quarter"/>
          </p:nvPr>
        </p:nvSpPr>
        <p:spPr/>
        <p:txBody>
          <a:bodyPr/>
          <a:lstStyle/>
          <a:p>
            <a:pPr>
              <a:spcAft>
                <a:spcPts val="600"/>
              </a:spcAft>
            </a:pPr>
            <a:r>
              <a:rPr b="1" sz="1600"/>
              <a:t>“We rely on IT and Security to tell us what must be fixed!”</a:t>
            </a:r>
          </a:p>
          <a:p>
            <a:r>
              <a:rPr b="0" sz="1600"/>
              <a:t>Owns the application and its business risk — prioritises fixes, accepts or rejects residual risk.</a:t>
            </a:r>
          </a:p>
        </p:txBody>
      </p:sp>
      <p:sp>
        <p:nvSpPr>
          <p:cNvPr id="8" name="Title 7"/>
          <p:cNvSpPr>
            <a:spLocks noGrp="1"/>
          </p:cNvSpPr>
          <p:nvPr>
            <p:ph type="title"/>
          </p:nvPr>
        </p:nvSpPr>
        <p:spPr/>
        <p:txBody>
          <a:bodyPr/>
          <a:lstStyle/>
          <a:p>
            <a:r>
              <a:rPr b="0"/>
              <a:t>The betting system is down. Whose risk is it?</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Rectangle 11"/>
          <p:cNvSpPr/>
          <p:nvPr/>
        </p:nvSpPr>
        <p:spPr>
          <a:xfrm>
            <a:off x="365760" y="5486400"/>
            <a:ext cx="11430000" cy="5029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CSF answer: the business owner owns and accepts the risk (GV.RR, GV.RM). The auditor’s question: where is that written down?</a:t>
            </a:r>
          </a:p>
        </p:txBody>
      </p:sp>
      <p:sp>
        <p:nvSpPr>
          <p:cNvPr id="13" name="TextBox 12"/>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Herman Sin, guest lecture — “Common issue” and “Governance comes in play” · NIST CSWP 29, GV.RR-01, GV.RR-02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Break</a:t>
            </a:r>
          </a:p>
        </p:txBody>
      </p:sp>
      <p:sp>
        <p:nvSpPr>
          <p:cNvPr id="3" name="Text Placeholder 2"/>
          <p:cNvSpPr>
            <a:spLocks noGrp="1"/>
          </p:cNvSpPr>
          <p:nvPr>
            <p:ph type="body" idx="12" sz="quarter"/>
          </p:nvPr>
        </p:nvSpPr>
        <p:spPr/>
        <p:txBody>
          <a:bodyPr/>
          <a:lstStyle/>
          <a:p>
            <a:r>
              <a:rPr b="0"/>
              <a:t>Break.</a:t>
            </a:r>
          </a:p>
        </p:txBody>
      </p:sp>
      <p:sp>
        <p:nvSpPr>
          <p:cNvPr id="4" name="Content Placeholder 3"/>
          <p:cNvSpPr>
            <a:spLocks noGrp="1"/>
          </p:cNvSpPr>
          <p:nvPr>
            <p:ph idx="10" sz="quarter"/>
          </p:nvPr>
        </p:nvSpPr>
        <p:spPr/>
        <p:txBody>
          <a:bodyPr/>
          <a:lstStyle/>
          <a:p>
            <a:r>
              <a:rPr b="1" sz="1600"/>
              <a:t>10 minutes</a:t>
            </a:r>
          </a:p>
          <a:p>
            <a:r>
              <a:rPr b="0" sz="1600"/>
              <a:t>Part B after the break: how the framework is built — and how an auditor uses it.</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Herman’s maturity table is a Current and Target Profile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463040"/>
          <a:ext cx="7223760" cy="3401568"/>
        </p:xfrm>
        <a:graphic>
          <a:graphicData uri="http://schemas.openxmlformats.org/drawingml/2006/table">
            <a:tbl>
              <a:tblPr firstRow="1">
                <a:tableStyleId>{605943CB-6F42-4776-B506-94E284F2829C}</a:tableStyleId>
              </a:tblPr>
              <a:tblGrid>
                <a:gridCol w="1371600"/>
                <a:gridCol w="3017520"/>
                <a:gridCol w="1097280"/>
                <a:gridCol w="914400"/>
                <a:gridCol w="822960"/>
              </a:tblGrid>
              <a:tr h="566928">
                <a:tc>
                  <a:txBody>
                    <a:bodyPr/>
                    <a:lstStyle/>
                    <a:p>
                      <a:r>
                        <a:rPr sz="1500" b="1"/>
                        <a:t>Function</a:t>
                      </a:r>
                    </a:p>
                  </a:txBody>
                  <a:tcPr anchor="ctr" marT="36576" marB="36576"/>
                </a:tc>
                <a:tc>
                  <a:txBody>
                    <a:bodyPr/>
                    <a:lstStyle/>
                    <a:p>
                      <a:r>
                        <a:rPr sz="1500" b="1"/>
                        <a:t>What it covers</a:t>
                      </a:r>
                    </a:p>
                  </a:txBody>
                  <a:tcPr anchor="ctr" marT="36576" marB="36576"/>
                </a:tc>
                <a:tc>
                  <a:txBody>
                    <a:bodyPr/>
                    <a:lstStyle/>
                    <a:p>
                      <a:r>
                        <a:rPr sz="1500" b="1"/>
                        <a:t>Current</a:t>
                      </a:r>
                    </a:p>
                  </a:txBody>
                  <a:tcPr anchor="ctr" marT="36576" marB="36576"/>
                </a:tc>
                <a:tc>
                  <a:txBody>
                    <a:bodyPr/>
                    <a:lstStyle/>
                    <a:p>
                      <a:r>
                        <a:rPr sz="1500" b="1"/>
                        <a:t>Target</a:t>
                      </a:r>
                    </a:p>
                  </a:txBody>
                  <a:tcPr anchor="ctr" marT="36576" marB="36576"/>
                </a:tc>
                <a:tc>
                  <a:txBody>
                    <a:bodyPr/>
                    <a:lstStyle/>
                    <a:p>
                      <a:r>
                        <a:rPr sz="1500" b="1"/>
                        <a:t>Gap</a:t>
                      </a:r>
                    </a:p>
                  </a:txBody>
                  <a:tcPr anchor="ctr" marT="36576" marB="36576"/>
                </a:tc>
              </a:tr>
              <a:tr h="566928">
                <a:tc>
                  <a:txBody>
                    <a:bodyPr/>
                    <a:lstStyle/>
                    <a:p>
                      <a:r>
                        <a:rPr sz="1500"/>
                        <a:t>Identify</a:t>
                      </a:r>
                    </a:p>
                  </a:txBody>
                  <a:tcPr anchor="ctr" marT="36576" marB="36576"/>
                </a:tc>
                <a:tc>
                  <a:txBody>
                    <a:bodyPr/>
                    <a:lstStyle/>
                    <a:p>
                      <a:r>
                        <a:rPr sz="1500"/>
                        <a:t>Assets, risks and business context</a:t>
                      </a:r>
                    </a:p>
                  </a:txBody>
                  <a:tcPr anchor="ctr" marT="36576" marB="36576"/>
                </a:tc>
                <a:tc>
                  <a:txBody>
                    <a:bodyPr/>
                    <a:lstStyle/>
                    <a:p>
                      <a:r>
                        <a:rPr sz="1500"/>
                        <a:t>2</a:t>
                      </a:r>
                    </a:p>
                  </a:txBody>
                  <a:tcPr anchor="ctr" marT="36576" marB="36576"/>
                </a:tc>
                <a:tc>
                  <a:txBody>
                    <a:bodyPr/>
                    <a:lstStyle/>
                    <a:p>
                      <a:r>
                        <a:rPr sz="1500"/>
                        <a:t>3</a:t>
                      </a:r>
                    </a:p>
                  </a:txBody>
                  <a:tcPr anchor="ctr" marT="36576" marB="36576"/>
                </a:tc>
                <a:tc>
                  <a:txBody>
                    <a:bodyPr/>
                    <a:lstStyle/>
                    <a:p>
                      <a:r>
                        <a:rPr sz="1500" b="1">
                          <a:solidFill>
                            <a:srgbClr val="FD5108"/>
                          </a:solidFill>
                        </a:rPr>
                        <a:t>1.0</a:t>
                      </a:r>
                    </a:p>
                  </a:txBody>
                  <a:tcPr anchor="ctr" marT="36576" marB="36576"/>
                </a:tc>
              </a:tr>
              <a:tr h="566928">
                <a:tc>
                  <a:txBody>
                    <a:bodyPr/>
                    <a:lstStyle/>
                    <a:p>
                      <a:r>
                        <a:rPr sz="1500"/>
                        <a:t>Protect</a:t>
                      </a:r>
                    </a:p>
                  </a:txBody>
                  <a:tcPr anchor="ctr" marT="36576" marB="36576"/>
                </a:tc>
                <a:tc>
                  <a:txBody>
                    <a:bodyPr/>
                    <a:lstStyle/>
                    <a:p>
                      <a:r>
                        <a:rPr sz="1500"/>
                        <a:t>Safeguard systems, data and services</a:t>
                      </a:r>
                    </a:p>
                  </a:txBody>
                  <a:tcPr anchor="ctr" marT="36576" marB="36576"/>
                </a:tc>
                <a:tc>
                  <a:txBody>
                    <a:bodyPr/>
                    <a:lstStyle/>
                    <a:p>
                      <a:r>
                        <a:rPr sz="1500"/>
                        <a:t>2</a:t>
                      </a:r>
                    </a:p>
                  </a:txBody>
                  <a:tcPr anchor="ctr" marT="36576" marB="36576"/>
                </a:tc>
                <a:tc>
                  <a:txBody>
                    <a:bodyPr/>
                    <a:lstStyle/>
                    <a:p>
                      <a:r>
                        <a:rPr sz="1500"/>
                        <a:t>3</a:t>
                      </a:r>
                    </a:p>
                  </a:txBody>
                  <a:tcPr anchor="ctr" marT="36576" marB="36576"/>
                </a:tc>
                <a:tc>
                  <a:txBody>
                    <a:bodyPr/>
                    <a:lstStyle/>
                    <a:p>
                      <a:r>
                        <a:rPr sz="1500" b="1">
                          <a:solidFill>
                            <a:srgbClr val="FD5108"/>
                          </a:solidFill>
                        </a:rPr>
                        <a:t>1.0</a:t>
                      </a:r>
                    </a:p>
                  </a:txBody>
                  <a:tcPr anchor="ctr" marT="36576" marB="36576"/>
                </a:tc>
              </a:tr>
              <a:tr h="566928">
                <a:tc>
                  <a:txBody>
                    <a:bodyPr/>
                    <a:lstStyle/>
                    <a:p>
                      <a:r>
                        <a:rPr sz="1500"/>
                        <a:t>Detect</a:t>
                      </a:r>
                    </a:p>
                  </a:txBody>
                  <a:tcPr anchor="ctr" marT="36576" marB="36576"/>
                </a:tc>
                <a:tc>
                  <a:txBody>
                    <a:bodyPr/>
                    <a:lstStyle/>
                    <a:p>
                      <a:r>
                        <a:rPr sz="1500"/>
                        <a:t>Discover events promptly</a:t>
                      </a:r>
                    </a:p>
                  </a:txBody>
                  <a:tcPr anchor="ctr" marT="36576" marB="36576"/>
                </a:tc>
                <a:tc>
                  <a:txBody>
                    <a:bodyPr/>
                    <a:lstStyle/>
                    <a:p>
                      <a:r>
                        <a:rPr sz="1500"/>
                        <a:t>3</a:t>
                      </a:r>
                    </a:p>
                  </a:txBody>
                  <a:tcPr anchor="ctr" marT="36576" marB="36576"/>
                </a:tc>
                <a:tc>
                  <a:txBody>
                    <a:bodyPr/>
                    <a:lstStyle/>
                    <a:p>
                      <a:r>
                        <a:rPr sz="1500"/>
                        <a:t>3.5</a:t>
                      </a:r>
                    </a:p>
                  </a:txBody>
                  <a:tcPr anchor="ctr" marT="36576" marB="36576"/>
                </a:tc>
                <a:tc>
                  <a:txBody>
                    <a:bodyPr/>
                    <a:lstStyle/>
                    <a:p>
                      <a:r>
                        <a:rPr sz="1500"/>
                        <a:t>0.5</a:t>
                      </a:r>
                    </a:p>
                  </a:txBody>
                  <a:tcPr anchor="ctr" marT="36576" marB="36576"/>
                </a:tc>
              </a:tr>
              <a:tr h="566928">
                <a:tc>
                  <a:txBody>
                    <a:bodyPr/>
                    <a:lstStyle/>
                    <a:p>
                      <a:r>
                        <a:rPr sz="1500"/>
                        <a:t>Respond</a:t>
                      </a:r>
                    </a:p>
                  </a:txBody>
                  <a:tcPr anchor="ctr" marT="36576" marB="36576"/>
                </a:tc>
                <a:tc>
                  <a:txBody>
                    <a:bodyPr/>
                    <a:lstStyle/>
                    <a:p>
                      <a:r>
                        <a:rPr sz="1500"/>
                        <a:t>Contain and manage incidents</a:t>
                      </a:r>
                    </a:p>
                  </a:txBody>
                  <a:tcPr anchor="ctr" marT="36576" marB="36576"/>
                </a:tc>
                <a:tc>
                  <a:txBody>
                    <a:bodyPr/>
                    <a:lstStyle/>
                    <a:p>
                      <a:r>
                        <a:rPr sz="1500"/>
                        <a:t>3</a:t>
                      </a:r>
                    </a:p>
                  </a:txBody>
                  <a:tcPr anchor="ctr" marT="36576" marB="36576"/>
                </a:tc>
                <a:tc>
                  <a:txBody>
                    <a:bodyPr/>
                    <a:lstStyle/>
                    <a:p>
                      <a:r>
                        <a:rPr sz="1500"/>
                        <a:t>3.5</a:t>
                      </a:r>
                    </a:p>
                  </a:txBody>
                  <a:tcPr anchor="ctr" marT="36576" marB="36576"/>
                </a:tc>
                <a:tc>
                  <a:txBody>
                    <a:bodyPr/>
                    <a:lstStyle/>
                    <a:p>
                      <a:r>
                        <a:rPr sz="1500"/>
                        <a:t>0.5</a:t>
                      </a:r>
                    </a:p>
                  </a:txBody>
                  <a:tcPr anchor="ctr" marT="36576" marB="36576"/>
                </a:tc>
              </a:tr>
              <a:tr h="566928">
                <a:tc>
                  <a:txBody>
                    <a:bodyPr/>
                    <a:lstStyle/>
                    <a:p>
                      <a:r>
                        <a:rPr sz="1500"/>
                        <a:t>Recover</a:t>
                      </a:r>
                    </a:p>
                  </a:txBody>
                  <a:tcPr anchor="ctr" marT="36576" marB="36576"/>
                </a:tc>
                <a:tc>
                  <a:txBody>
                    <a:bodyPr/>
                    <a:lstStyle/>
                    <a:p>
                      <a:r>
                        <a:rPr sz="1500"/>
                        <a:t>Restore operations, improve resilience</a:t>
                      </a:r>
                    </a:p>
                  </a:txBody>
                  <a:tcPr anchor="ctr" marT="36576" marB="36576"/>
                </a:tc>
                <a:tc>
                  <a:txBody>
                    <a:bodyPr/>
                    <a:lstStyle/>
                    <a:p>
                      <a:r>
                        <a:rPr sz="1500"/>
                        <a:t>2</a:t>
                      </a:r>
                    </a:p>
                  </a:txBody>
                  <a:tcPr anchor="ctr" marT="36576" marB="36576"/>
                </a:tc>
                <a:tc>
                  <a:txBody>
                    <a:bodyPr/>
                    <a:lstStyle/>
                    <a:p>
                      <a:r>
                        <a:rPr sz="1500"/>
                        <a:t>3</a:t>
                      </a:r>
                    </a:p>
                  </a:txBody>
                  <a:tcPr anchor="ctr" marT="36576" marB="36576"/>
                </a:tc>
                <a:tc>
                  <a:txBody>
                    <a:bodyPr/>
                    <a:lstStyle/>
                    <a:p>
                      <a:r>
                        <a:rPr sz="1500" b="1">
                          <a:solidFill>
                            <a:srgbClr val="FD5108"/>
                          </a:solidFill>
                        </a:rPr>
                        <a:t>1.0</a:t>
                      </a:r>
                    </a:p>
                  </a:txBody>
                  <a:tcPr anchor="ctr" marT="36576" marB="36576"/>
                </a:tc>
              </a:tr>
            </a:tbl>
          </a:graphicData>
        </a:graphic>
      </p:graphicFrame>
      <p:sp>
        <p:nvSpPr>
          <p:cNvPr id="8" name="TextBox 7"/>
          <p:cNvSpPr txBox="1"/>
          <p:nvPr/>
        </p:nvSpPr>
        <p:spPr>
          <a:xfrm>
            <a:off x="7863840" y="1463040"/>
            <a:ext cx="3931920" cy="3840480"/>
          </a:xfrm>
          <a:prstGeom prst="rect">
            <a:avLst/>
          </a:prstGeom>
          <a:noFill/>
        </p:spPr>
        <p:txBody>
          <a:bodyPr wrap="square" anchor="t" lIns="0" rIns="0">
            <a:spAutoFit/>
          </a:bodyPr>
          <a:lstStyle/>
          <a:p>
            <a:pPr>
              <a:spcAft>
                <a:spcPts val="600"/>
              </a:spcAft>
            </a:pPr>
            <a:r>
              <a:rPr b="1" sz="1500">
                <a:solidFill>
                  <a:srgbClr val="000000"/>
                </a:solidFill>
              </a:rPr>
              <a:t>How do you close a gap?</a:t>
            </a:r>
          </a:p>
          <a:p>
            <a:pPr>
              <a:spcAft>
                <a:spcPts val="400"/>
              </a:spcAft>
            </a:pPr>
            <a:r>
              <a:rPr b="0" sz="1500">
                <a:solidFill>
                  <a:srgbClr val="000000"/>
                </a:solidFill>
              </a:rPr>
              <a:t>People — training, phishing simulation</a:t>
            </a:r>
          </a:p>
          <a:p>
            <a:pPr>
              <a:spcAft>
                <a:spcPts val="400"/>
              </a:spcAft>
            </a:pPr>
            <a:r>
              <a:rPr b="0" sz="1500">
                <a:solidFill>
                  <a:srgbClr val="000000"/>
                </a:solidFill>
              </a:rPr>
              <a:t>Process — improve and enforce</a:t>
            </a:r>
          </a:p>
          <a:p>
            <a:pPr>
              <a:spcAft>
                <a:spcPts val="1400"/>
              </a:spcAft>
            </a:pPr>
            <a:r>
              <a:rPr b="0" sz="1500">
                <a:solidFill>
                  <a:srgbClr val="000000"/>
                </a:solidFill>
              </a:rPr>
              <a:t>Technology — deploy and tune tools</a:t>
            </a:r>
          </a:p>
          <a:p>
            <a:pPr>
              <a:spcAft>
                <a:spcPts val="600"/>
              </a:spcAft>
            </a:pPr>
            <a:r>
              <a:rPr b="1" sz="1500">
                <a:solidFill>
                  <a:srgbClr val="FD5108"/>
                </a:solidFill>
              </a:rPr>
              <a:t>The auditor’s questions</a:t>
            </a:r>
          </a:p>
          <a:p>
            <a:pPr>
              <a:spcAft>
                <a:spcPts val="400"/>
              </a:spcAft>
            </a:pPr>
            <a:r>
              <a:rPr b="0" sz="1500">
                <a:solidFill>
                  <a:srgbClr val="000000"/>
                </a:solidFill>
              </a:rPr>
              <a:t>Who set the Target, and who approved it?</a:t>
            </a:r>
          </a:p>
          <a:p>
            <a:pPr>
              <a:spcAft>
                <a:spcPts val="400"/>
              </a:spcAft>
            </a:pPr>
            <a:r>
              <a:rPr b="0" sz="1500">
                <a:solidFill>
                  <a:srgbClr val="000000"/>
                </a:solidFill>
              </a:rPr>
              <a:t>What evidence supports “2”?</a:t>
            </a:r>
          </a:p>
          <a:p>
            <a:r>
              <a:rPr b="0" sz="1500">
                <a:solidFill>
                  <a:srgbClr val="000000"/>
                </a:solidFill>
              </a:rPr>
              <a:t>Is there a dated plan for each gap?</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Herman Sin, guest lecture — “Maturity assessment” · NIST CSWP 29, §3.1 Organizational Profiles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Pulse check: what is missing?</a:t>
            </a:r>
          </a:p>
        </p:txBody>
      </p:sp>
      <p:sp>
        <p:nvSpPr>
          <p:cNvPr id="3" name="Text Placeholder 2"/>
          <p:cNvSpPr>
            <a:spLocks noGrp="1"/>
          </p:cNvSpPr>
          <p:nvPr>
            <p:ph type="body" idx="12" sz="quarter"/>
          </p:nvPr>
        </p:nvSpPr>
        <p:spPr/>
        <p:txBody>
          <a:bodyPr/>
          <a:lstStyle/>
          <a:p>
            <a:r>
              <a:rPr b="0" sz="3600"/>
              <a:t>Look at Herman’s table again. Which function is missing?</a:t>
            </a:r>
          </a:p>
        </p:txBody>
      </p:sp>
      <p:sp>
        <p:nvSpPr>
          <p:cNvPr id="4" name="Content Placeholder 3"/>
          <p:cNvSpPr>
            <a:spLocks noGrp="1"/>
          </p:cNvSpPr>
          <p:nvPr>
            <p:ph idx="10" sz="quarter"/>
          </p:nvPr>
        </p:nvSpPr>
        <p:spPr/>
        <p:txBody>
          <a:bodyPr/>
          <a:lstStyle/>
          <a:p>
            <a:r>
              <a:rPr b="1" sz="1600"/>
              <a:t>Hands up when you see it</a:t>
            </a:r>
          </a:p>
          <a:p>
            <a:r>
              <a:rPr b="0" sz="1600"/>
              <a:t>Pulse check</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Govern is missing</a:t>
            </a:r>
          </a:p>
        </p:txBody>
      </p:sp>
      <p:sp>
        <p:nvSpPr>
          <p:cNvPr id="3" name="Text Placeholder 2"/>
          <p:cNvSpPr>
            <a:spLocks noGrp="1"/>
          </p:cNvSpPr>
          <p:nvPr>
            <p:ph type="body" idx="12" sz="quarter"/>
          </p:nvPr>
        </p:nvSpPr>
        <p:spPr/>
        <p:txBody>
          <a:bodyPr/>
          <a:lstStyle/>
          <a:p>
            <a:r>
              <a:rPr b="0" sz="3400"/>
              <a:t>Govern. It is the one you score last — and should score first.</a:t>
            </a:r>
          </a:p>
        </p:txBody>
      </p:sp>
      <p:sp>
        <p:nvSpPr>
          <p:cNvPr id="4" name="Content Placeholder 3"/>
          <p:cNvSpPr>
            <a:spLocks noGrp="1"/>
          </p:cNvSpPr>
          <p:nvPr>
            <p:ph idx="10" sz="quarter"/>
          </p:nvPr>
        </p:nvSpPr>
        <p:spPr/>
        <p:txBody>
          <a:bodyPr/>
          <a:lstStyle/>
          <a:p>
            <a:r>
              <a:rPr b="1" sz="1600"/>
              <a:t>Why it matters</a:t>
            </a:r>
          </a:p>
          <a:p>
            <a:r>
              <a:rPr b="0" sz="1600"/>
              <a:t>Scores for the five functions only mean something if someone owns the targets, the risks and the acceptance. That is Govern.</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Herman’s KRIs, function by function</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371600"/>
          <a:ext cx="11429999" cy="3621024"/>
        </p:xfrm>
        <a:graphic>
          <a:graphicData uri="http://schemas.openxmlformats.org/drawingml/2006/table">
            <a:tbl>
              <a:tblPr firstRow="1">
                <a:tableStyleId>{605943CB-6F42-4776-B506-94E284F2829C}</a:tableStyleId>
              </a:tblPr>
              <a:tblGrid>
                <a:gridCol w="1280160"/>
                <a:gridCol w="6400800"/>
                <a:gridCol w="3749039"/>
              </a:tblGrid>
              <a:tr h="603504">
                <a:tc>
                  <a:txBody>
                    <a:bodyPr/>
                    <a:lstStyle/>
                    <a:p>
                      <a:r>
                        <a:rPr sz="1200" b="1"/>
                        <a:t>Function</a:t>
                      </a:r>
                    </a:p>
                  </a:txBody>
                  <a:tcPr anchor="ctr" marT="36576" marB="36576"/>
                </a:tc>
                <a:tc>
                  <a:txBody>
                    <a:bodyPr/>
                    <a:lstStyle/>
                    <a:p>
                      <a:r>
                        <a:rPr sz="1200" b="1"/>
                        <a:t>Key risk indicators (Herman)</a:t>
                      </a:r>
                    </a:p>
                  </a:txBody>
                  <a:tcPr anchor="ctr" marT="36576" marB="36576"/>
                </a:tc>
                <a:tc>
                  <a:txBody>
                    <a:bodyPr/>
                    <a:lstStyle/>
                    <a:p>
                      <a:r>
                        <a:rPr sz="1200" b="1"/>
                        <a:t>What the auditor asks for</a:t>
                      </a:r>
                    </a:p>
                  </a:txBody>
                  <a:tcPr anchor="ctr" marT="36576" marB="36576"/>
                </a:tc>
              </a:tr>
              <a:tr h="603504">
                <a:tc>
                  <a:txBody>
                    <a:bodyPr/>
                    <a:lstStyle/>
                    <a:p>
                      <a:r>
                        <a:rPr sz="1200"/>
                        <a:t>Identify</a:t>
                      </a:r>
                    </a:p>
                  </a:txBody>
                  <a:tcPr anchor="ctr" marT="36576" marB="36576"/>
                </a:tc>
                <a:tc>
                  <a:txBody>
                    <a:bodyPr/>
                    <a:lstStyle/>
                    <a:p>
                      <a:r>
                        <a:rPr sz="1200"/>
                        <a:t>% critical assets without an owner · % servers onboarded to vulnerability scanning · % internet-facing assets not in inventory</a:t>
                      </a:r>
                    </a:p>
                  </a:txBody>
                  <a:tcPr anchor="ctr" marT="36576" marB="36576"/>
                </a:tc>
                <a:tc>
                  <a:txBody>
                    <a:bodyPr/>
                    <a:lstStyle/>
                    <a:p>
                      <a:r>
                        <a:rPr sz="1200"/>
                        <a:t>Inventory extract, scanner coverage report, owner field</a:t>
                      </a:r>
                    </a:p>
                  </a:txBody>
                  <a:tcPr anchor="ctr" marT="36576" marB="36576"/>
                </a:tc>
              </a:tr>
              <a:tr h="603504">
                <a:tc>
                  <a:txBody>
                    <a:bodyPr/>
                    <a:lstStyle/>
                    <a:p>
                      <a:r>
                        <a:rPr sz="1200"/>
                        <a:t>Protect</a:t>
                      </a:r>
                    </a:p>
                  </a:txBody>
                  <a:tcPr anchor="ctr" marT="36576" marB="36576"/>
                </a:tc>
                <a:tc>
                  <a:txBody>
                    <a:bodyPr/>
                    <a:lstStyle/>
                    <a:p>
                      <a:r>
                        <a:rPr sz="1200"/>
                        <a:t>% privileged accounts without MFA · % critical systems missing critical patches past SLA · phishing click rate</a:t>
                      </a:r>
                    </a:p>
                  </a:txBody>
                  <a:tcPr anchor="ctr" marT="36576" marB="36576"/>
                </a:tc>
                <a:tc>
                  <a:txBody>
                    <a:bodyPr/>
                    <a:lstStyle/>
                    <a:p>
                      <a:r>
                        <a:rPr sz="1200"/>
                        <a:t>PAM / MFA report, patch SLA report, simulation results</a:t>
                      </a:r>
                    </a:p>
                  </a:txBody>
                  <a:tcPr anchor="ctr" marT="36576" marB="36576"/>
                </a:tc>
              </a:tr>
              <a:tr h="603504">
                <a:tc>
                  <a:txBody>
                    <a:bodyPr/>
                    <a:lstStyle/>
                    <a:p>
                      <a:r>
                        <a:rPr sz="1200"/>
                        <a:t>Detect</a:t>
                      </a:r>
                    </a:p>
                  </a:txBody>
                  <a:tcPr anchor="ctr" marT="36576" marB="36576"/>
                </a:tc>
                <a:tc>
                  <a:txBody>
                    <a:bodyPr/>
                    <a:lstStyle/>
                    <a:p>
                      <a:r>
                        <a:rPr sz="1200"/>
                        <a:t>MTTD for high-severity incidents · % critical systems not monitored by SIEM · high alerts not triaged in time</a:t>
                      </a:r>
                    </a:p>
                  </a:txBody>
                  <a:tcPr anchor="ctr" marT="36576" marB="36576"/>
                </a:tc>
                <a:tc>
                  <a:txBody>
                    <a:bodyPr/>
                    <a:lstStyle/>
                    <a:p>
                      <a:r>
                        <a:rPr sz="1200"/>
                        <a:t>SIEM log-source list, alert triage records</a:t>
                      </a:r>
                    </a:p>
                  </a:txBody>
                  <a:tcPr anchor="ctr" marT="36576" marB="36576"/>
                </a:tc>
              </a:tr>
              <a:tr h="603504">
                <a:tc>
                  <a:txBody>
                    <a:bodyPr/>
                    <a:lstStyle/>
                    <a:p>
                      <a:r>
                        <a:rPr sz="1200"/>
                        <a:t>Respond</a:t>
                      </a:r>
                    </a:p>
                  </a:txBody>
                  <a:tcPr anchor="ctr" marT="36576" marB="36576"/>
                </a:tc>
                <a:tc>
                  <a:txBody>
                    <a:bodyPr/>
                    <a:lstStyle/>
                    <a:p>
                      <a:r>
                        <a:rPr sz="1200"/>
                        <a:t>MTTR / contain for high-severity incidents · % incidents without root-cause analysis · comms plan not followed</a:t>
                      </a:r>
                    </a:p>
                  </a:txBody>
                  <a:tcPr anchor="ctr" marT="36576" marB="36576"/>
                </a:tc>
                <a:tc>
                  <a:txBody>
                    <a:bodyPr/>
                    <a:lstStyle/>
                    <a:p>
                      <a:r>
                        <a:rPr sz="1200"/>
                        <a:t>Incident tickets, RCA reports, notification timestamps</a:t>
                      </a:r>
                    </a:p>
                  </a:txBody>
                  <a:tcPr anchor="ctr" marT="36576" marB="36576"/>
                </a:tc>
              </a:tr>
              <a:tr h="603504">
                <a:tc>
                  <a:txBody>
                    <a:bodyPr/>
                    <a:lstStyle/>
                    <a:p>
                      <a:r>
                        <a:rPr sz="1200"/>
                        <a:t>Recover</a:t>
                      </a:r>
                    </a:p>
                  </a:txBody>
                  <a:tcPr anchor="ctr" marT="36576" marB="36576"/>
                </a:tc>
                <a:tc>
                  <a:txBody>
                    <a:bodyPr/>
                    <a:lstStyle/>
                    <a:p>
                      <a:r>
                        <a:rPr sz="1200"/>
                        <a:t>% critical systems without a tested recovery plan · restore time vs RTO · % backups failing restore test</a:t>
                      </a:r>
                    </a:p>
                  </a:txBody>
                  <a:tcPr anchor="ctr" marT="36576" marB="36576"/>
                </a:tc>
                <a:tc>
                  <a:txBody>
                    <a:bodyPr/>
                    <a:lstStyle/>
                    <a:p>
                      <a:r>
                        <a:rPr sz="1200"/>
                        <a:t>DR test reports, restore test results</a:t>
                      </a:r>
                    </a:p>
                  </a:txBody>
                  <a:tcPr anchor="ctr" marT="36576" marB="36576"/>
                </a:tc>
              </a:tr>
            </a:tbl>
          </a:graphicData>
        </a:graphic>
      </p:graphicFrame>
      <p:sp>
        <p:nvSpPr>
          <p:cNvPr id="8" name="Rectangle 7"/>
          <p:cNvSpPr/>
          <p:nvPr/>
        </p:nvSpPr>
        <p:spPr>
          <a:xfrm>
            <a:off x="365760" y="5623560"/>
            <a:ext cx="11430000" cy="41148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a:solidFill>
                  <a:srgbClr val="000000"/>
                </a:solidFill>
              </a:rPr>
              <a:t>A KRI is only governance if it has a threshold, an owner, and someone who acts when it goes red.</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Herman Sin, guest lecture — KRI slides for Identify, Protect, Detect, Respond, Recover · NIST CSWP 29, GV.OV-03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p:nvPr>
        </p:nvSpPr>
        <p:spPr/>
        <p:txBody>
          <a:bodyPr/>
          <a:lstStyle/>
          <a:p>
            <a:r>
              <a:rPr b="1" sz="5400">
                <a:solidFill>
                  <a:srgbClr val="FD5108"/>
                </a:solidFill>
              </a:rPr>
              <a:t>70%</a:t>
            </a:r>
          </a:p>
        </p:txBody>
      </p:sp>
      <p:sp>
        <p:nvSpPr>
          <p:cNvPr id="3" name="Content Placeholder 2"/>
          <p:cNvSpPr>
            <a:spLocks noGrp="1"/>
          </p:cNvSpPr>
          <p:nvPr>
            <p:ph idx="16" sz="quarter"/>
          </p:nvPr>
        </p:nvSpPr>
        <p:spPr/>
        <p:txBody>
          <a:bodyPr/>
          <a:lstStyle/>
          <a:p>
            <a:pPr>
              <a:spcAft>
                <a:spcPts val="400"/>
              </a:spcAft>
            </a:pPr>
            <a:r>
              <a:rPr b="1" sz="1500"/>
              <a:t>of servers onboarded to vulnerability scanning</a:t>
            </a:r>
          </a:p>
          <a:p>
            <a:r>
              <a:rPr b="0" sz="1500"/>
              <a:t>20% pending onboarding · 10% not compatible with the scanner</a:t>
            </a:r>
          </a:p>
          <a:p>
            <a:r>
              <a:rPr b="1" sz="1500">
                <a:solidFill>
                  <a:srgbClr val="FD5108"/>
                </a:solidFill>
              </a:rPr>
              <a:t>Threshold: red below 90%</a:t>
            </a:r>
          </a:p>
        </p:txBody>
      </p:sp>
      <p:sp>
        <p:nvSpPr>
          <p:cNvPr id="4" name="Content Placeholder 3"/>
          <p:cNvSpPr>
            <a:spLocks noGrp="1"/>
          </p:cNvSpPr>
          <p:nvPr>
            <p:ph idx="17" sz="quarter"/>
          </p:nvPr>
        </p:nvSpPr>
        <p:spPr/>
        <p:txBody>
          <a:bodyPr/>
          <a:lstStyle/>
          <a:p>
            <a:pPr>
              <a:spcAft>
                <a:spcPts val="600"/>
              </a:spcAft>
            </a:pPr>
            <a:r>
              <a:rPr b="1" sz="1500"/>
              <a:t>What HKJC does</a:t>
            </a:r>
          </a:p>
          <a:p>
            <a:pPr>
              <a:spcAft>
                <a:spcPts val="400"/>
              </a:spcAft>
            </a:pPr>
            <a:r>
              <a:rPr b="0" sz="1500"/>
              <a:t>1. Escalate to the Tech Risk Committee</a:t>
            </a:r>
          </a:p>
          <a:p>
            <a:pPr>
              <a:spcAft>
                <a:spcPts val="400"/>
              </a:spcAft>
            </a:pPr>
            <a:r>
              <a:rPr b="0" sz="1500"/>
              <a:t>2. Document compensating controls</a:t>
            </a:r>
          </a:p>
          <a:p>
            <a:pPr>
              <a:spcAft>
                <a:spcPts val="400"/>
              </a:spcAft>
            </a:pPr>
            <a:r>
              <a:rPr b="0" sz="1500"/>
              <a:t>3. Proceed to formal risk acceptance</a:t>
            </a:r>
          </a:p>
          <a:p>
            <a:r>
              <a:rPr b="0" sz="1500"/>
              <a:t>4. Keep monitoring: onboard new servers, record reasons for delay, get business buy-in</a:t>
            </a:r>
          </a:p>
        </p:txBody>
      </p:sp>
      <p:sp>
        <p:nvSpPr>
          <p:cNvPr id="5" name="Content Placeholder 4"/>
          <p:cNvSpPr>
            <a:spLocks noGrp="1"/>
          </p:cNvSpPr>
          <p:nvPr>
            <p:ph idx="18" sz="quarter"/>
          </p:nvPr>
        </p:nvSpPr>
        <p:spPr/>
        <p:txBody>
          <a:bodyPr/>
          <a:lstStyle/>
          <a:p>
            <a:pPr>
              <a:spcAft>
                <a:spcPts val="600"/>
              </a:spcAft>
            </a:pPr>
            <a:r>
              <a:rPr b="1" sz="1500"/>
              <a:t>In CSF 2.0 terms</a:t>
            </a:r>
          </a:p>
          <a:p>
            <a:pPr>
              <a:spcAft>
                <a:spcPts val="400"/>
              </a:spcAft>
            </a:pPr>
            <a:r>
              <a:rPr b="0" sz="1500"/>
              <a:t>GV.RM-02 — tolerance: “red below 90%”</a:t>
            </a:r>
          </a:p>
          <a:p>
            <a:pPr>
              <a:spcAft>
                <a:spcPts val="400"/>
              </a:spcAft>
            </a:pPr>
            <a:r>
              <a:rPr b="0" sz="1500"/>
              <a:t>GV.OV-03 — performance reviewed for adjustment</a:t>
            </a:r>
          </a:p>
          <a:p>
            <a:pPr>
              <a:spcAft>
                <a:spcPts val="1000"/>
              </a:spcAft>
            </a:pPr>
            <a:r>
              <a:rPr b="0" sz="1500"/>
              <a:t>ID.RA-06 — risk responses chosen, tracked, communicated</a:t>
            </a:r>
          </a:p>
          <a:p>
            <a:r>
              <a:rPr b="1" sz="1500"/>
              <a:t>Auditor: ask for the committee minute and the signed acceptance — with an expiry date.</a:t>
            </a:r>
          </a:p>
        </p:txBody>
      </p:sp>
      <p:sp>
        <p:nvSpPr>
          <p:cNvPr id="6" name="Title 5"/>
          <p:cNvSpPr>
            <a:spLocks noGrp="1"/>
          </p:cNvSpPr>
          <p:nvPr>
            <p:ph type="title"/>
          </p:nvPr>
        </p:nvSpPr>
        <p:spPr/>
        <p:txBody>
          <a:bodyPr/>
          <a:lstStyle/>
          <a:p>
            <a:r>
              <a:rPr b="0"/>
              <a:t>When a KRI goes red: escalate, compensate, accept</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Herman Sin, guest lecture — “Putting it together” · NIST CSWP 29, GV.RM-02, GV.OV-03, ID.RA-06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Herman’s verdict</a:t>
            </a:r>
          </a:p>
        </p:txBody>
      </p:sp>
      <p:sp>
        <p:nvSpPr>
          <p:cNvPr id="3" name="Text Placeholder 2"/>
          <p:cNvSpPr>
            <a:spLocks noGrp="1"/>
          </p:cNvSpPr>
          <p:nvPr>
            <p:ph type="body" idx="12" sz="quarter"/>
          </p:nvPr>
        </p:nvSpPr>
        <p:spPr/>
        <p:txBody>
          <a:bodyPr/>
          <a:lstStyle/>
          <a:p>
            <a:r>
              <a:rPr b="0" sz="3200"/>
              <a:t>Cybersecurity is simply: govern, then identify, then protect, detect, respond, recover.</a:t>
            </a:r>
          </a:p>
        </p:txBody>
      </p:sp>
      <p:sp>
        <p:nvSpPr>
          <p:cNvPr id="4" name="Content Placeholder 3"/>
          <p:cNvSpPr>
            <a:spLocks noGrp="1"/>
          </p:cNvSpPr>
          <p:nvPr>
            <p:ph idx="10" sz="quarter"/>
          </p:nvPr>
        </p:nvSpPr>
        <p:spPr/>
        <p:txBody>
          <a:bodyPr/>
          <a:lstStyle/>
          <a:p>
            <a:r>
              <a:rPr b="1" sz="1600"/>
              <a:t>Govern first</a:t>
            </a:r>
          </a:p>
          <a:p>
            <a:r>
              <a:rPr b="0" sz="1600"/>
              <a:t>Accountability and risk ownership guide everything; reduce risk to the level top management is willing to accept — with people, process and technology.</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Module 3: your turn</a:t>
            </a:r>
          </a:p>
        </p:txBody>
      </p:sp>
      <p:sp>
        <p:nvSpPr>
          <p:cNvPr id="3" name="Text Placeholder 2"/>
          <p:cNvSpPr>
            <a:spLocks noGrp="1"/>
          </p:cNvSpPr>
          <p:nvPr>
            <p:ph type="body" idx="12" sz="quarter"/>
          </p:nvPr>
        </p:nvSpPr>
        <p:spPr/>
        <p:txBody>
          <a:bodyPr/>
          <a:lstStyle/>
          <a:p>
            <a:r>
              <a:rPr b="0" sz="4400"/>
              <a:t>Module 3: auditing Govern at XYZ-TS.</a:t>
            </a:r>
          </a:p>
        </p:txBody>
      </p:sp>
      <p:sp>
        <p:nvSpPr>
          <p:cNvPr id="4" name="Content Placeholder 3"/>
          <p:cNvSpPr>
            <a:spLocks noGrp="1"/>
          </p:cNvSpPr>
          <p:nvPr>
            <p:ph idx="10" sz="quarter"/>
          </p:nvPr>
        </p:nvSpPr>
        <p:spPr/>
        <p:txBody>
          <a:bodyPr/>
          <a:lstStyle/>
          <a:p>
            <a:r>
              <a:rPr b="1" sz="1600"/>
              <a:t>20-minute walkthrough · group work · 15-minute review</a:t>
            </a:r>
          </a:p>
          <a:p>
            <a:r>
              <a:rPr b="0" sz="1600"/>
              <a:t>Five controls, one worked example, then the other four are yours.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The client: XYZ-TS, and five Govern outcomes</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325880"/>
            <a:ext cx="11430000" cy="685800"/>
          </a:xfrm>
          <a:prstGeom prst="rect">
            <a:avLst/>
          </a:prstGeom>
          <a:noFill/>
        </p:spPr>
        <p:txBody>
          <a:bodyPr wrap="square" anchor="t" lIns="0" rIns="0">
            <a:spAutoFit/>
          </a:bodyPr>
          <a:lstStyle/>
          <a:p>
            <a:r>
              <a:rPr b="1" sz="1500">
                <a:solidFill>
                  <a:srgbClr val="000000"/>
                </a:solidFill>
              </a:rPr>
              <a:t>XYZ Holdings — Technology Services. </a:t>
            </a:r>
          </a:p>
          <a:p>
            <a:r>
              <a:rPr b="0" sz="1500">
                <a:solidFill>
                  <a:srgbClr val="000000"/>
                </a:solidFill>
              </a:rPr>
              <a:t>The IT arm of a multinational manufacturer. ISO 27001 in scope, no sector regulator, no cyber ordinance — so management chose NIST CSF 2.0 as its yardstick. You assess the Govern function.</a:t>
            </a:r>
          </a:p>
        </p:txBody>
      </p:sp>
      <p:graphicFrame>
        <p:nvGraphicFramePr>
          <p:cNvPr id="8" name="Table 7"/>
          <p:cNvGraphicFramePr>
            <a:graphicFrameLocks noGrp="1"/>
          </p:cNvGraphicFramePr>
          <p:nvPr/>
        </p:nvGraphicFramePr>
        <p:xfrm>
          <a:off x="365760" y="2148840"/>
          <a:ext cx="11430000" cy="3072384"/>
        </p:xfrm>
        <a:graphic>
          <a:graphicData uri="http://schemas.openxmlformats.org/drawingml/2006/table">
            <a:tbl>
              <a:tblPr firstRow="1">
                <a:tableStyleId>{605943CB-6F42-4776-B506-94E284F2829C}</a:tableStyleId>
              </a:tblPr>
              <a:tblGrid>
                <a:gridCol w="548640"/>
                <a:gridCol w="1645920"/>
                <a:gridCol w="9235440"/>
              </a:tblGrid>
              <a:tr h="512064">
                <a:tc>
                  <a:txBody>
                    <a:bodyPr/>
                    <a:lstStyle/>
                    <a:p>
                      <a:r>
                        <a:rPr sz="1500" b="1"/>
                        <a:t>#</a:t>
                      </a:r>
                    </a:p>
                  </a:txBody>
                  <a:tcPr anchor="ctr" marT="36576" marB="36576"/>
                </a:tc>
                <a:tc>
                  <a:txBody>
                    <a:bodyPr/>
                    <a:lstStyle/>
                    <a:p>
                      <a:r>
                        <a:rPr sz="1500" b="1"/>
                        <a:t>Subcategory</a:t>
                      </a:r>
                    </a:p>
                  </a:txBody>
                  <a:tcPr anchor="ctr" marT="36576" marB="36576"/>
                </a:tc>
                <a:tc>
                  <a:txBody>
                    <a:bodyPr/>
                    <a:lstStyle/>
                    <a:p>
                      <a:r>
                        <a:rPr sz="1500" b="1"/>
                        <a:t>The outcome, abridged — exact wording on the worksheet</a:t>
                      </a:r>
                    </a:p>
                  </a:txBody>
                  <a:tcPr anchor="ctr" marT="36576" marB="36576"/>
                </a:tc>
              </a:tr>
              <a:tr h="512064">
                <a:tc>
                  <a:txBody>
                    <a:bodyPr/>
                    <a:lstStyle/>
                    <a:p>
                      <a:r>
                        <a:rPr sz="1500"/>
                        <a:t>1</a:t>
                      </a:r>
                    </a:p>
                  </a:txBody>
                  <a:tcPr anchor="ctr" marT="36576" marB="36576"/>
                </a:tc>
                <a:tc>
                  <a:txBody>
                    <a:bodyPr/>
                    <a:lstStyle/>
                    <a:p>
                      <a:r>
                        <a:rPr sz="1500" b="1"/>
                        <a:t>GV.RR-01</a:t>
                      </a:r>
                    </a:p>
                  </a:txBody>
                  <a:tcPr anchor="ctr" marT="36576" marB="36576"/>
                </a:tc>
                <a:tc>
                  <a:txBody>
                    <a:bodyPr/>
                    <a:lstStyle/>
                    <a:p>
                      <a:r>
                        <a:rPr sz="1500"/>
                        <a:t>Leadership is accountable for cyber risk and fosters a risk-aware culture</a:t>
                      </a:r>
                    </a:p>
                  </a:txBody>
                  <a:tcPr anchor="ctr" marT="36576" marB="36576"/>
                </a:tc>
              </a:tr>
              <a:tr h="512064">
                <a:tc>
                  <a:txBody>
                    <a:bodyPr/>
                    <a:lstStyle/>
                    <a:p>
                      <a:r>
                        <a:rPr sz="1500"/>
                        <a:t>2</a:t>
                      </a:r>
                    </a:p>
                  </a:txBody>
                  <a:tcPr anchor="ctr" marT="36576" marB="36576"/>
                </a:tc>
                <a:tc>
                  <a:txBody>
                    <a:bodyPr/>
                    <a:lstStyle/>
                    <a:p>
                      <a:r>
                        <a:rPr sz="1500" b="1"/>
                        <a:t>GV.RM-02</a:t>
                      </a:r>
                    </a:p>
                  </a:txBody>
                  <a:tcPr anchor="ctr" marT="36576" marB="36576"/>
                </a:tc>
                <a:tc>
                  <a:txBody>
                    <a:bodyPr/>
                    <a:lstStyle/>
                    <a:p>
                      <a:r>
                        <a:rPr sz="1500"/>
                        <a:t>Risk appetite and tolerance statements are established, communicated and maintained</a:t>
                      </a:r>
                    </a:p>
                  </a:txBody>
                  <a:tcPr anchor="ctr" marT="36576" marB="36576"/>
                </a:tc>
              </a:tr>
              <a:tr h="512064">
                <a:tc>
                  <a:txBody>
                    <a:bodyPr/>
                    <a:lstStyle/>
                    <a:p>
                      <a:r>
                        <a:rPr sz="1500"/>
                        <a:t>3</a:t>
                      </a:r>
                    </a:p>
                  </a:txBody>
                  <a:tcPr anchor="ctr" marT="36576" marB="36576"/>
                </a:tc>
                <a:tc>
                  <a:txBody>
                    <a:bodyPr/>
                    <a:lstStyle/>
                    <a:p>
                      <a:r>
                        <a:rPr sz="1500" b="1"/>
                        <a:t>GV.PO-02</a:t>
                      </a:r>
                    </a:p>
                  </a:txBody>
                  <a:tcPr anchor="ctr" marT="36576" marB="36576"/>
                </a:tc>
                <a:tc>
                  <a:txBody>
                    <a:bodyPr/>
                    <a:lstStyle/>
                    <a:p>
                      <a:r>
                        <a:rPr sz="1500"/>
                        <a:t>Policy is reviewed, updated, communicated and enforced as things change</a:t>
                      </a:r>
                    </a:p>
                  </a:txBody>
                  <a:tcPr anchor="ctr" marT="36576" marB="36576"/>
                </a:tc>
              </a:tr>
              <a:tr h="512064">
                <a:tc>
                  <a:txBody>
                    <a:bodyPr/>
                    <a:lstStyle/>
                    <a:p>
                      <a:r>
                        <a:rPr sz="1500"/>
                        <a:t>4</a:t>
                      </a:r>
                    </a:p>
                  </a:txBody>
                  <a:tcPr anchor="ctr" marT="36576" marB="36576"/>
                </a:tc>
                <a:tc>
                  <a:txBody>
                    <a:bodyPr/>
                    <a:lstStyle/>
                    <a:p>
                      <a:r>
                        <a:rPr sz="1500" b="1"/>
                        <a:t>GV.OV-01</a:t>
                      </a:r>
                    </a:p>
                  </a:txBody>
                  <a:tcPr anchor="ctr" marT="36576" marB="36576"/>
                </a:tc>
                <a:tc>
                  <a:txBody>
                    <a:bodyPr/>
                    <a:lstStyle/>
                    <a:p>
                      <a:r>
                        <a:rPr sz="1500"/>
                        <a:t>Strategy outcomes are reviewed to inform and adjust strategy and direction</a:t>
                      </a:r>
                    </a:p>
                  </a:txBody>
                  <a:tcPr anchor="ctr" marT="36576" marB="36576"/>
                </a:tc>
              </a:tr>
              <a:tr h="512064">
                <a:tc>
                  <a:txBody>
                    <a:bodyPr/>
                    <a:lstStyle/>
                    <a:p>
                      <a:r>
                        <a:rPr sz="1500"/>
                        <a:t>5</a:t>
                      </a:r>
                    </a:p>
                  </a:txBody>
                  <a:tcPr anchor="ctr" marT="36576" marB="36576"/>
                </a:tc>
                <a:tc>
                  <a:txBody>
                    <a:bodyPr/>
                    <a:lstStyle/>
                    <a:p>
                      <a:r>
                        <a:rPr sz="1500" b="1"/>
                        <a:t>GV.SC-07</a:t>
                      </a:r>
                    </a:p>
                  </a:txBody>
                  <a:tcPr anchor="ctr" marT="36576" marB="36576"/>
                </a:tc>
                <a:tc>
                  <a:txBody>
                    <a:bodyPr/>
                    <a:lstStyle/>
                    <a:p>
                      <a:r>
                        <a:rPr sz="1500"/>
                        <a:t>Supplier risks are understood, recorded, prioritized, assessed, responded to and monitored</a:t>
                      </a:r>
                    </a:p>
                  </a:txBody>
                  <a:tcPr anchor="ctr" marT="36576" marB="36576"/>
                </a:tc>
              </a:tr>
            </a:tbl>
          </a:graphicData>
        </a:graphic>
      </p:graphicFrame>
      <p:sp>
        <p:nvSpPr>
          <p:cNvPr id="9" name="Rectangle 8"/>
          <p:cNvSpPr/>
          <p:nvPr/>
        </p:nvSpPr>
        <p:spPr>
          <a:xfrm>
            <a:off x="365760" y="5440680"/>
            <a:ext cx="11430000" cy="5029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500" b="1">
                <a:solidFill>
                  <a:srgbClr val="000000"/>
                </a:solidFill>
              </a:rPr>
              <a:t>GV.SC-07 is the one we read verb by verb in Module 2. Six verbs, six tests.</a:t>
            </a:r>
          </a:p>
        </p:txBody>
      </p:sp>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(CSF 2.0), Appendix A · client documents sanitised for teaching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1 · GV.RR-01: Leadership is accountable for cyber risk and fosters a risk-aware culture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56692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000000"/>
                </a:solidFill>
              </a:rPr>
              <a:t>Organizational leadership is responsible and accountable for cybersecurity risk and fosters a culture that is risk-aware, ethical, and continually improving.</a:t>
            </a:r>
          </a:p>
        </p:txBody>
      </p:sp>
      <p:sp>
        <p:nvSpPr>
          <p:cNvPr id="8" name="TextBox 7"/>
          <p:cNvSpPr txBox="1"/>
          <p:nvPr/>
        </p:nvSpPr>
        <p:spPr>
          <a:xfrm>
            <a:off x="365760" y="2011680"/>
            <a:ext cx="3657600" cy="3566160"/>
          </a:xfrm>
          <a:prstGeom prst="rect">
            <a:avLst/>
          </a:prstGeom>
          <a:noFill/>
        </p:spPr>
        <p:txBody>
          <a:bodyPr wrap="square" anchor="t" lIns="0" rIns="0">
            <a:spAutoFit/>
          </a:bodyPr>
          <a:lstStyle/>
          <a:p>
            <a:pPr>
              <a:spcAft>
                <a:spcPts val="800"/>
              </a:spcAft>
            </a:pPr>
            <a:r>
              <a:rPr b="1" sz="1500">
                <a:solidFill>
                  <a:srgbClr val="000000"/>
                </a:solidFill>
              </a:rPr>
              <a:t>What to ask for</a:t>
            </a:r>
          </a:p>
          <a:p>
            <a:pPr>
              <a:spcAft>
                <a:spcPts val="600"/>
              </a:spcAft>
            </a:pPr>
            <a:r>
              <a:rPr b="0" sz="1500">
                <a:solidFill>
                  <a:srgbClr val="000000"/>
                </a:solidFill>
              </a:rPr>
              <a:t>Charters of ISMC, CSSC and any Board technology-risk committee</a:t>
            </a:r>
          </a:p>
          <a:p>
            <a:pPr>
              <a:spcAft>
                <a:spcPts val="600"/>
              </a:spcAft>
            </a:pPr>
            <a:r>
              <a:rPr b="0" sz="1500">
                <a:solidFill>
                  <a:srgbClr val="000000"/>
                </a:solidFill>
              </a:rPr>
              <a:t>Board / BAC minute naming the accountable executive</a:t>
            </a:r>
          </a:p>
          <a:p>
            <a:pPr>
              <a:spcAft>
                <a:spcPts val="600"/>
              </a:spcAft>
            </a:pPr>
            <a:r>
              <a:rPr b="0" sz="1500">
                <a:solidFill>
                  <a:srgbClr val="000000"/>
                </a:solidFill>
              </a:rPr>
              <a:t>Minutes and attendance, last 4 meetings</a:t>
            </a:r>
          </a:p>
          <a:p>
            <a:pPr>
              <a:spcAft>
                <a:spcPts val="600"/>
              </a:spcAft>
            </a:pPr>
            <a:r>
              <a:rPr b="0" sz="1500">
                <a:solidFill>
                  <a:srgbClr val="000000"/>
                </a:solidFill>
              </a:rPr>
              <a:t>Awareness completion and what leadership did about it</a:t>
            </a:r>
          </a:p>
        </p:txBody>
      </p:sp>
      <p:sp>
        <p:nvSpPr>
          <p:cNvPr id="9" name="TextBox 8"/>
          <p:cNvSpPr txBox="1"/>
          <p:nvPr/>
        </p:nvSpPr>
        <p:spPr>
          <a:xfrm>
            <a:off x="4224528" y="2011680"/>
            <a:ext cx="3657600" cy="3566160"/>
          </a:xfrm>
          <a:prstGeom prst="rect">
            <a:avLst/>
          </a:prstGeom>
          <a:noFill/>
        </p:spPr>
        <p:txBody>
          <a:bodyPr wrap="square" anchor="t" lIns="0" rIns="0">
            <a:spAutoFit/>
          </a:bodyPr>
          <a:lstStyle/>
          <a:p>
            <a:pPr>
              <a:spcAft>
                <a:spcPts val="800"/>
              </a:spcAft>
            </a:pPr>
            <a:r>
              <a:rPr b="1" sz="1500">
                <a:solidFill>
                  <a:srgbClr val="000000"/>
                </a:solidFill>
              </a:rPr>
              <a:t>Where to look in the pack</a:t>
            </a:r>
          </a:p>
          <a:p>
            <a:pPr>
              <a:spcAft>
                <a:spcPts val="600"/>
              </a:spcAft>
            </a:pPr>
            <a:r>
              <a:rPr b="0" sz="1500">
                <a:solidFill>
                  <a:srgbClr val="000000"/>
                </a:solidFill>
              </a:rPr>
              <a:t>D03 ISMC ToR — chair, mandate, reports to BAC</a:t>
            </a:r>
          </a:p>
          <a:p>
            <a:pPr>
              <a:spcAft>
                <a:spcPts val="600"/>
              </a:spcAft>
            </a:pPr>
            <a:r>
              <a:rPr b="0" sz="1500">
                <a:solidFill>
                  <a:srgbClr val="000000"/>
                </a:solidFill>
              </a:rPr>
              <a:t>D09 p6 GTRC ToR (a slide)</a:t>
            </a:r>
          </a:p>
          <a:p>
            <a:pPr>
              <a:spcAft>
                <a:spcPts val="600"/>
              </a:spcAft>
            </a:pPr>
            <a:r>
              <a:rPr b="0" sz="1500">
                <a:solidFill>
                  <a:srgbClr val="000000"/>
                </a:solidFill>
              </a:rPr>
              <a:t>D07–D10 CSSC packs</a:t>
            </a:r>
          </a:p>
          <a:p>
            <a:pPr>
              <a:spcAft>
                <a:spcPts val="600"/>
              </a:spcAft>
            </a:pPr>
            <a:r>
              <a:rPr b="0" sz="1500">
                <a:solidFill>
                  <a:srgbClr val="000000"/>
                </a:solidFill>
              </a:rPr>
              <a:t>D10 p16 team structure · D10 p25 training</a:t>
            </a:r>
          </a:p>
        </p:txBody>
      </p:sp>
      <p:sp>
        <p:nvSpPr>
          <p:cNvPr id="10" name="TextBox 9"/>
          <p:cNvSpPr txBox="1"/>
          <p:nvPr/>
        </p:nvSpPr>
        <p:spPr>
          <a:xfrm>
            <a:off x="8083296" y="2011680"/>
            <a:ext cx="3657600" cy="3566160"/>
          </a:xfrm>
          <a:prstGeom prst="rect">
            <a:avLst/>
          </a:prstGeom>
          <a:noFill/>
        </p:spPr>
        <p:txBody>
          <a:bodyPr wrap="square" anchor="t" lIns="0" rIns="0">
            <a:spAutoFit/>
          </a:bodyPr>
          <a:lstStyle/>
          <a:p>
            <a:pPr>
              <a:spcAft>
                <a:spcPts val="800"/>
              </a:spcAft>
            </a:pPr>
            <a:r>
              <a:rPr b="1" sz="1500">
                <a:solidFill>
                  <a:srgbClr val="FD5108"/>
                </a:solidFill>
              </a:rPr>
              <a:t>Watch for</a:t>
            </a:r>
          </a:p>
          <a:p>
            <a:pPr>
              <a:spcAft>
                <a:spcPts val="600"/>
              </a:spcAft>
            </a:pPr>
            <a:r>
              <a:rPr b="0" sz="1500">
                <a:solidFill>
                  <a:srgbClr val="000000"/>
                </a:solidFill>
              </a:rPr>
              <a:t>Three committees — who is accountable?</a:t>
            </a:r>
          </a:p>
          <a:p>
            <a:pPr>
              <a:spcAft>
                <a:spcPts val="600"/>
              </a:spcAft>
            </a:pPr>
            <a:r>
              <a:rPr b="0" sz="1500">
                <a:solidFill>
                  <a:srgbClr val="000000"/>
                </a:solidFill>
              </a:rPr>
              <a:t>No CSSC charter; GTRC ToR still being amended</a:t>
            </a:r>
          </a:p>
          <a:p>
            <a:pPr>
              <a:spcAft>
                <a:spcPts val="600"/>
              </a:spcAft>
            </a:pPr>
            <a:r>
              <a:rPr b="0" sz="1500">
                <a:solidFill>
                  <a:srgbClr val="000000"/>
                </a:solidFill>
              </a:rPr>
              <a:t>~19% training completion: “culture”?</a:t>
            </a:r>
          </a:p>
        </p:txBody>
      </p:sp>
      <p:sp>
        <p:nvSpPr>
          <p:cNvPr id="11" name="TextBox 10"/>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Appendix A · XYZ-TS evidence pack D01–D16 (sanitised)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2 · GV.RM-02: Risk appetite and tolerance statements are established, communicated and maintained</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56692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a:solidFill>
                  <a:srgbClr val="000000"/>
                </a:solidFill>
              </a:rPr>
              <a:t>Risk appetite and risk tolerance statements are established, communicated, and maintained.</a:t>
            </a:r>
          </a:p>
        </p:txBody>
      </p:sp>
      <p:sp>
        <p:nvSpPr>
          <p:cNvPr id="8" name="TextBox 7"/>
          <p:cNvSpPr txBox="1"/>
          <p:nvPr/>
        </p:nvSpPr>
        <p:spPr>
          <a:xfrm>
            <a:off x="365760" y="2011680"/>
            <a:ext cx="3657600" cy="3566160"/>
          </a:xfrm>
          <a:prstGeom prst="rect">
            <a:avLst/>
          </a:prstGeom>
          <a:noFill/>
        </p:spPr>
        <p:txBody>
          <a:bodyPr wrap="square" anchor="t" lIns="0" rIns="0">
            <a:spAutoFit/>
          </a:bodyPr>
          <a:lstStyle/>
          <a:p>
            <a:pPr>
              <a:spcAft>
                <a:spcPts val="800"/>
              </a:spcAft>
            </a:pPr>
            <a:r>
              <a:rPr b="1" sz="1500">
                <a:solidFill>
                  <a:srgbClr val="000000"/>
                </a:solidFill>
              </a:rPr>
              <a:t>What to ask for</a:t>
            </a:r>
          </a:p>
          <a:p>
            <a:pPr>
              <a:spcAft>
                <a:spcPts val="600"/>
              </a:spcAft>
            </a:pPr>
            <a:r>
              <a:rPr b="0" sz="1500">
                <a:solidFill>
                  <a:srgbClr val="000000"/>
                </a:solidFill>
              </a:rPr>
              <a:t>The approved risk appetite and tolerance statement</a:t>
            </a:r>
          </a:p>
          <a:p>
            <a:pPr>
              <a:spcAft>
                <a:spcPts val="600"/>
              </a:spcAft>
            </a:pPr>
            <a:r>
              <a:rPr b="0" sz="1500">
                <a:solidFill>
                  <a:srgbClr val="000000"/>
                </a:solidFill>
              </a:rPr>
              <a:t>The enterprise risk method: matrix, acceptance authority</a:t>
            </a:r>
          </a:p>
          <a:p>
            <a:pPr>
              <a:spcAft>
                <a:spcPts val="600"/>
              </a:spcAft>
            </a:pPr>
            <a:r>
              <a:rPr b="0" sz="1500">
                <a:solidFill>
                  <a:srgbClr val="000000"/>
                </a:solidFill>
              </a:rPr>
              <a:t>Where it is communicated</a:t>
            </a:r>
          </a:p>
          <a:p>
            <a:pPr>
              <a:spcAft>
                <a:spcPts val="600"/>
              </a:spcAft>
            </a:pPr>
            <a:r>
              <a:rPr b="0" sz="1500">
                <a:solidFill>
                  <a:srgbClr val="000000"/>
                </a:solidFill>
              </a:rPr>
              <a:t>Last review; how KRIs link to it</a:t>
            </a:r>
          </a:p>
        </p:txBody>
      </p:sp>
      <p:sp>
        <p:nvSpPr>
          <p:cNvPr id="9" name="TextBox 8"/>
          <p:cNvSpPr txBox="1"/>
          <p:nvPr/>
        </p:nvSpPr>
        <p:spPr>
          <a:xfrm>
            <a:off x="4224528" y="2011680"/>
            <a:ext cx="3657600" cy="3566160"/>
          </a:xfrm>
          <a:prstGeom prst="rect">
            <a:avLst/>
          </a:prstGeom>
          <a:noFill/>
        </p:spPr>
        <p:txBody>
          <a:bodyPr wrap="square" anchor="t" lIns="0" rIns="0">
            <a:spAutoFit/>
          </a:bodyPr>
          <a:lstStyle/>
          <a:p>
            <a:pPr>
              <a:spcAft>
                <a:spcPts val="800"/>
              </a:spcAft>
            </a:pPr>
            <a:r>
              <a:rPr b="1" sz="1500">
                <a:solidFill>
                  <a:srgbClr val="000000"/>
                </a:solidFill>
              </a:rPr>
              <a:t>Where to look in the pack</a:t>
            </a:r>
          </a:p>
          <a:p>
            <a:pPr>
              <a:spcAft>
                <a:spcPts val="600"/>
              </a:spcAft>
            </a:pPr>
            <a:r>
              <a:rPr b="0" sz="1500">
                <a:solidFill>
                  <a:srgbClr val="000000"/>
                </a:solidFill>
              </a:rPr>
              <a:t>D07 p24 “Risk Movement and Accountability”</a:t>
            </a:r>
          </a:p>
          <a:p>
            <a:pPr>
              <a:spcAft>
                <a:spcPts val="600"/>
              </a:spcAft>
            </a:pPr>
            <a:r>
              <a:rPr b="0" sz="1500">
                <a:solidFill>
                  <a:srgbClr val="000000"/>
                </a:solidFill>
              </a:rPr>
              <a:t>D07–D10 risk grid and KRIs</a:t>
            </a:r>
          </a:p>
          <a:p>
            <a:pPr>
              <a:spcAft>
                <a:spcPts val="600"/>
              </a:spcAft>
            </a:pPr>
            <a:r>
              <a:rPr b="0" sz="1500">
                <a:solidFill>
                  <a:srgbClr val="000000"/>
                </a:solidFill>
              </a:rPr>
              <a:t>D09 p6 GTRC · D03 p6 ISMC</a:t>
            </a:r>
          </a:p>
          <a:p>
            <a:pPr>
              <a:spcAft>
                <a:spcPts val="600"/>
              </a:spcAft>
            </a:pPr>
            <a:r>
              <a:rPr b="0" sz="1500">
                <a:solidFill>
                  <a:srgbClr val="000000"/>
                </a:solidFill>
              </a:rPr>
              <a:t>D06 project risk matrix</a:t>
            </a:r>
          </a:p>
        </p:txBody>
      </p:sp>
      <p:sp>
        <p:nvSpPr>
          <p:cNvPr id="10" name="TextBox 9"/>
          <p:cNvSpPr txBox="1"/>
          <p:nvPr/>
        </p:nvSpPr>
        <p:spPr>
          <a:xfrm>
            <a:off x="8083296" y="2011680"/>
            <a:ext cx="3657600" cy="3566160"/>
          </a:xfrm>
          <a:prstGeom prst="rect">
            <a:avLst/>
          </a:prstGeom>
          <a:noFill/>
        </p:spPr>
        <p:txBody>
          <a:bodyPr wrap="square" anchor="t" lIns="0" rIns="0">
            <a:spAutoFit/>
          </a:bodyPr>
          <a:lstStyle/>
          <a:p>
            <a:pPr>
              <a:spcAft>
                <a:spcPts val="800"/>
              </a:spcAft>
            </a:pPr>
            <a:r>
              <a:rPr b="1" sz="1500">
                <a:solidFill>
                  <a:srgbClr val="FD5108"/>
                </a:solidFill>
              </a:rPr>
              <a:t>Watch for</a:t>
            </a:r>
          </a:p>
          <a:p>
            <a:pPr>
              <a:spcAft>
                <a:spcPts val="600"/>
              </a:spcAft>
            </a:pPr>
            <a:r>
              <a:rPr b="0" sz="1500">
                <a:solidFill>
                  <a:srgbClr val="000000"/>
                </a:solidFill>
              </a:rPr>
              <a:t>No statement anywhere</a:t>
            </a:r>
          </a:p>
          <a:p>
            <a:pPr>
              <a:spcAft>
                <a:spcPts val="600"/>
              </a:spcAft>
            </a:pPr>
            <a:r>
              <a:rPr b="0" sz="1500">
                <a:solidFill>
                  <a:srgbClr val="000000"/>
                </a:solidFill>
              </a:rPr>
              <a:t>Two committees claim appetite</a:t>
            </a:r>
          </a:p>
          <a:p>
            <a:pPr>
              <a:spcAft>
                <a:spcPts val="600"/>
              </a:spcAft>
            </a:pPr>
            <a:r>
              <a:rPr b="0" sz="1500">
                <a:solidFill>
                  <a:srgbClr val="000000"/>
                </a:solidFill>
              </a:rPr>
              <a:t>Four different risk-acceptance rules in D06</a:t>
            </a:r>
          </a:p>
        </p:txBody>
      </p:sp>
      <p:sp>
        <p:nvSpPr>
          <p:cNvPr id="11" name="TextBox 10"/>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Appendix A · XYZ-TS evidence pack D01–D16 (sanitised)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3 · GV.PO-02: Policy is reviewed, updated, communicated and enforced as things change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56692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000000"/>
                </a:solidFill>
              </a:rPr>
              <a:t>Policy for managing cybersecurity risks is reviewed, updated, communicated, and enforced to reflect changes in requirements, threats, technology, and organizational mission.</a:t>
            </a:r>
          </a:p>
        </p:txBody>
      </p:sp>
      <p:sp>
        <p:nvSpPr>
          <p:cNvPr id="8" name="TextBox 7"/>
          <p:cNvSpPr txBox="1"/>
          <p:nvPr/>
        </p:nvSpPr>
        <p:spPr>
          <a:xfrm>
            <a:off x="365760" y="2011680"/>
            <a:ext cx="3657600" cy="3566160"/>
          </a:xfrm>
          <a:prstGeom prst="rect">
            <a:avLst/>
          </a:prstGeom>
          <a:noFill/>
        </p:spPr>
        <p:txBody>
          <a:bodyPr wrap="square" anchor="t" lIns="0" rIns="0">
            <a:spAutoFit/>
          </a:bodyPr>
          <a:lstStyle/>
          <a:p>
            <a:pPr>
              <a:spcAft>
                <a:spcPts val="800"/>
              </a:spcAft>
            </a:pPr>
            <a:r>
              <a:rPr b="1" sz="1500">
                <a:solidFill>
                  <a:srgbClr val="000000"/>
                </a:solidFill>
              </a:rPr>
              <a:t>What to ask for</a:t>
            </a:r>
          </a:p>
          <a:p>
            <a:pPr>
              <a:spcAft>
                <a:spcPts val="600"/>
              </a:spcAft>
            </a:pPr>
            <a:r>
              <a:rPr b="0" sz="1500">
                <a:solidFill>
                  <a:srgbClr val="000000"/>
                </a:solidFill>
              </a:rPr>
              <a:t>Policy register: owner, version, approval, next review</a:t>
            </a:r>
          </a:p>
          <a:p>
            <a:pPr>
              <a:spcAft>
                <a:spcPts val="600"/>
              </a:spcAft>
            </a:pPr>
            <a:r>
              <a:rPr b="0" sz="1500">
                <a:solidFill>
                  <a:srgbClr val="000000"/>
                </a:solidFill>
              </a:rPr>
              <a:t>ISMC minute approving the last review</a:t>
            </a:r>
          </a:p>
          <a:p>
            <a:pPr>
              <a:spcAft>
                <a:spcPts val="600"/>
              </a:spcAft>
            </a:pPr>
            <a:r>
              <a:rPr b="0" sz="1500">
                <a:solidFill>
                  <a:srgbClr val="000000"/>
                </a:solidFill>
              </a:rPr>
              <a:t>Acknowledgement / attestation records</a:t>
            </a:r>
          </a:p>
          <a:p>
            <a:pPr>
              <a:spcAft>
                <a:spcPts val="600"/>
              </a:spcAft>
            </a:pPr>
            <a:r>
              <a:rPr b="0" sz="1500">
                <a:solidFill>
                  <a:srgbClr val="000000"/>
                </a:solidFill>
              </a:rPr>
              <a:t>A 2025 change triggered by a threat or technology; exceptions log</a:t>
            </a:r>
          </a:p>
        </p:txBody>
      </p:sp>
      <p:sp>
        <p:nvSpPr>
          <p:cNvPr id="9" name="TextBox 8"/>
          <p:cNvSpPr txBox="1"/>
          <p:nvPr/>
        </p:nvSpPr>
        <p:spPr>
          <a:xfrm>
            <a:off x="4224528" y="2011680"/>
            <a:ext cx="3657600" cy="3566160"/>
          </a:xfrm>
          <a:prstGeom prst="rect">
            <a:avLst/>
          </a:prstGeom>
          <a:noFill/>
        </p:spPr>
        <p:txBody>
          <a:bodyPr wrap="square" anchor="t" lIns="0" rIns="0">
            <a:spAutoFit/>
          </a:bodyPr>
          <a:lstStyle/>
          <a:p>
            <a:pPr>
              <a:spcAft>
                <a:spcPts val="800"/>
              </a:spcAft>
            </a:pPr>
            <a:r>
              <a:rPr b="1" sz="1500">
                <a:solidFill>
                  <a:srgbClr val="000000"/>
                </a:solidFill>
              </a:rPr>
              <a:t>Where to look in the pack</a:t>
            </a:r>
          </a:p>
          <a:p>
            <a:pPr>
              <a:spcAft>
                <a:spcPts val="600"/>
              </a:spcAft>
            </a:pPr>
            <a:r>
              <a:rPr b="0" sz="1500">
                <a:solidFill>
                  <a:srgbClr val="000000"/>
                </a:solidFill>
              </a:rPr>
              <a:t>D04 p2 document history</a:t>
            </a:r>
          </a:p>
          <a:p>
            <a:pPr>
              <a:spcAft>
                <a:spcPts val="600"/>
              </a:spcAft>
            </a:pPr>
            <a:r>
              <a:rPr b="0" sz="1500">
                <a:solidFill>
                  <a:srgbClr val="000000"/>
                </a:solidFill>
              </a:rPr>
              <a:t>D02 ISMS Manual — v1.0, 2021</a:t>
            </a:r>
          </a:p>
          <a:p>
            <a:pPr>
              <a:spcAft>
                <a:spcPts val="600"/>
              </a:spcAft>
            </a:pPr>
            <a:r>
              <a:rPr b="0" sz="1500">
                <a:solidFill>
                  <a:srgbClr val="000000"/>
                </a:solidFill>
              </a:rPr>
              <a:t>D09 p14 AI Usage Policy (+ D07, D08, D10 action items)</a:t>
            </a:r>
          </a:p>
          <a:p>
            <a:pPr>
              <a:spcAft>
                <a:spcPts val="600"/>
              </a:spcAft>
            </a:pPr>
            <a:r>
              <a:rPr b="0" sz="1500">
                <a:solidFill>
                  <a:srgbClr val="000000"/>
                </a:solidFill>
              </a:rPr>
              <a:t>D06, D11, D12, D14 histories</a:t>
            </a:r>
          </a:p>
        </p:txBody>
      </p:sp>
      <p:sp>
        <p:nvSpPr>
          <p:cNvPr id="10" name="TextBox 9"/>
          <p:cNvSpPr txBox="1"/>
          <p:nvPr/>
        </p:nvSpPr>
        <p:spPr>
          <a:xfrm>
            <a:off x="8083296" y="2011680"/>
            <a:ext cx="3657600" cy="3566160"/>
          </a:xfrm>
          <a:prstGeom prst="rect">
            <a:avLst/>
          </a:prstGeom>
          <a:noFill/>
        </p:spPr>
        <p:txBody>
          <a:bodyPr wrap="square" anchor="t" lIns="0" rIns="0">
            <a:spAutoFit/>
          </a:bodyPr>
          <a:lstStyle/>
          <a:p>
            <a:pPr>
              <a:spcAft>
                <a:spcPts val="800"/>
              </a:spcAft>
            </a:pPr>
            <a:r>
              <a:rPr b="1" sz="1500">
                <a:solidFill>
                  <a:srgbClr val="FD5108"/>
                </a:solidFill>
              </a:rPr>
              <a:t>Watch for</a:t>
            </a:r>
          </a:p>
          <a:p>
            <a:pPr>
              <a:spcAft>
                <a:spcPts val="600"/>
              </a:spcAft>
            </a:pPr>
            <a:r>
              <a:rPr b="0" sz="1500">
                <a:solidFill>
                  <a:srgbClr val="000000"/>
                </a:solidFill>
              </a:rPr>
              <a:t>D04: 1.1 / 1.2 / 2.0 — which version?</a:t>
            </a:r>
          </a:p>
          <a:p>
            <a:pPr>
              <a:spcAft>
                <a:spcPts val="600"/>
              </a:spcAft>
            </a:pPr>
            <a:r>
              <a:rPr b="0" sz="1500">
                <a:solidFill>
                  <a:srgbClr val="000000"/>
                </a:solidFill>
              </a:rPr>
              <a:t>Next review date = release date</a:t>
            </a:r>
          </a:p>
          <a:p>
            <a:pPr>
              <a:spcAft>
                <a:spcPts val="600"/>
              </a:spcAft>
            </a:pPr>
            <a:r>
              <a:rPr b="0" sz="1500">
                <a:solidFill>
                  <a:srgbClr val="000000"/>
                </a:solidFill>
              </a:rPr>
              <a:t>D02 still cites ISO 27001:2013</a:t>
            </a:r>
          </a:p>
        </p:txBody>
      </p:sp>
      <p:sp>
        <p:nvSpPr>
          <p:cNvPr id="11" name="TextBox 10"/>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Appendix A · XYZ-TS evidence pack D01–D16 (sanitised)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4 · GV.OV-01: Strategy outcomes are reviewed to inform and adjust strategy and direction</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56692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300" b="1">
                <a:solidFill>
                  <a:srgbClr val="000000"/>
                </a:solidFill>
              </a:rPr>
              <a:t>Cybersecurity risk management strategy outcomes are reviewed to inform and adjust strategy and direction.</a:t>
            </a:r>
          </a:p>
        </p:txBody>
      </p:sp>
      <p:sp>
        <p:nvSpPr>
          <p:cNvPr id="8" name="TextBox 7"/>
          <p:cNvSpPr txBox="1"/>
          <p:nvPr/>
        </p:nvSpPr>
        <p:spPr>
          <a:xfrm>
            <a:off x="365760" y="2011680"/>
            <a:ext cx="3657600" cy="3566160"/>
          </a:xfrm>
          <a:prstGeom prst="rect">
            <a:avLst/>
          </a:prstGeom>
          <a:noFill/>
        </p:spPr>
        <p:txBody>
          <a:bodyPr wrap="square" anchor="t" lIns="0" rIns="0">
            <a:spAutoFit/>
          </a:bodyPr>
          <a:lstStyle/>
          <a:p>
            <a:pPr>
              <a:spcAft>
                <a:spcPts val="800"/>
              </a:spcAft>
            </a:pPr>
            <a:r>
              <a:rPr b="1" sz="1500">
                <a:solidFill>
                  <a:srgbClr val="000000"/>
                </a:solidFill>
              </a:rPr>
              <a:t>What to ask for</a:t>
            </a:r>
          </a:p>
          <a:p>
            <a:pPr>
              <a:spcAft>
                <a:spcPts val="600"/>
              </a:spcAft>
            </a:pPr>
            <a:r>
              <a:rPr b="0" sz="1500">
                <a:solidFill>
                  <a:srgbClr val="000000"/>
                </a:solidFill>
              </a:rPr>
              <a:t>Approved strategy / roadmap and objectives</a:t>
            </a:r>
          </a:p>
          <a:p>
            <a:pPr>
              <a:spcAft>
                <a:spcPts val="600"/>
              </a:spcAft>
            </a:pPr>
            <a:r>
              <a:rPr b="0" sz="1500">
                <a:solidFill>
                  <a:srgbClr val="000000"/>
                </a:solidFill>
              </a:rPr>
              <a:t>Minutes: last 4 CSSC, last 2 ISMC management reviews</a:t>
            </a:r>
          </a:p>
          <a:p>
            <a:pPr>
              <a:spcAft>
                <a:spcPts val="600"/>
              </a:spcAft>
            </a:pPr>
            <a:r>
              <a:rPr b="0" sz="1500">
                <a:solidFill>
                  <a:srgbClr val="000000"/>
                </a:solidFill>
              </a:rPr>
              <a:t>Reports to the BAC and the Board</a:t>
            </a:r>
          </a:p>
          <a:p>
            <a:pPr>
              <a:spcAft>
                <a:spcPts val="600"/>
              </a:spcAft>
            </a:pPr>
            <a:r>
              <a:rPr b="0" sz="1500">
                <a:solidFill>
                  <a:srgbClr val="000000"/>
                </a:solidFill>
              </a:rPr>
              <a:t>Evidence a review changed something</a:t>
            </a:r>
          </a:p>
        </p:txBody>
      </p:sp>
      <p:sp>
        <p:nvSpPr>
          <p:cNvPr id="9" name="TextBox 8"/>
          <p:cNvSpPr txBox="1"/>
          <p:nvPr/>
        </p:nvSpPr>
        <p:spPr>
          <a:xfrm>
            <a:off x="4224528" y="2011680"/>
            <a:ext cx="3657600" cy="3566160"/>
          </a:xfrm>
          <a:prstGeom prst="rect">
            <a:avLst/>
          </a:prstGeom>
          <a:noFill/>
        </p:spPr>
        <p:txBody>
          <a:bodyPr wrap="square" anchor="t" lIns="0" rIns="0">
            <a:spAutoFit/>
          </a:bodyPr>
          <a:lstStyle/>
          <a:p>
            <a:pPr>
              <a:spcAft>
                <a:spcPts val="800"/>
              </a:spcAft>
            </a:pPr>
            <a:r>
              <a:rPr b="1" sz="1500">
                <a:solidFill>
                  <a:srgbClr val="000000"/>
                </a:solidFill>
              </a:rPr>
              <a:t>Where to look in the pack</a:t>
            </a:r>
          </a:p>
          <a:p>
            <a:pPr>
              <a:spcAft>
                <a:spcPts val="600"/>
              </a:spcAft>
            </a:pPr>
            <a:r>
              <a:rPr b="0" sz="1500">
                <a:solidFill>
                  <a:srgbClr val="000000"/>
                </a:solidFill>
              </a:rPr>
              <a:t>D07–D10 quarterly CSSC packs</a:t>
            </a:r>
          </a:p>
          <a:p>
            <a:pPr>
              <a:spcAft>
                <a:spcPts val="600"/>
              </a:spcAft>
            </a:pPr>
            <a:r>
              <a:rPr b="0" sz="1500">
                <a:solidFill>
                  <a:srgbClr val="000000"/>
                </a:solidFill>
              </a:rPr>
              <a:t>D09 pp20–22 risk → initiative → budget</a:t>
            </a:r>
          </a:p>
          <a:p>
            <a:pPr>
              <a:spcAft>
                <a:spcPts val="600"/>
              </a:spcAft>
            </a:pPr>
            <a:r>
              <a:rPr b="0" sz="1500">
                <a:solidFill>
                  <a:srgbClr val="000000"/>
                </a:solidFill>
              </a:rPr>
              <a:t>D08 p5 item “presented to BAC”</a:t>
            </a:r>
          </a:p>
          <a:p>
            <a:pPr>
              <a:spcAft>
                <a:spcPts val="600"/>
              </a:spcAft>
            </a:pPr>
            <a:r>
              <a:rPr b="0" sz="1500">
                <a:solidFill>
                  <a:srgbClr val="000000"/>
                </a:solidFill>
              </a:rPr>
              <a:t>D03 / D05 management review rules</a:t>
            </a:r>
          </a:p>
        </p:txBody>
      </p:sp>
      <p:sp>
        <p:nvSpPr>
          <p:cNvPr id="10" name="TextBox 9"/>
          <p:cNvSpPr txBox="1"/>
          <p:nvPr/>
        </p:nvSpPr>
        <p:spPr>
          <a:xfrm>
            <a:off x="8083296" y="2011680"/>
            <a:ext cx="3657600" cy="3566160"/>
          </a:xfrm>
          <a:prstGeom prst="rect">
            <a:avLst/>
          </a:prstGeom>
          <a:noFill/>
        </p:spPr>
        <p:txBody>
          <a:bodyPr wrap="square" anchor="t" lIns="0" rIns="0">
            <a:spAutoFit/>
          </a:bodyPr>
          <a:lstStyle/>
          <a:p>
            <a:pPr>
              <a:spcAft>
                <a:spcPts val="800"/>
              </a:spcAft>
            </a:pPr>
            <a:r>
              <a:rPr b="1" sz="1500">
                <a:solidFill>
                  <a:srgbClr val="FD5108"/>
                </a:solidFill>
              </a:rPr>
              <a:t>Watch for</a:t>
            </a:r>
          </a:p>
          <a:p>
            <a:pPr>
              <a:spcAft>
                <a:spcPts val="600"/>
              </a:spcAft>
            </a:pPr>
            <a:r>
              <a:rPr b="0" sz="1500">
                <a:solidFill>
                  <a:srgbClr val="000000"/>
                </a:solidFill>
              </a:rPr>
              <a:t>Pre-reads only — no minutes, no decisions</a:t>
            </a:r>
          </a:p>
          <a:p>
            <a:pPr>
              <a:spcAft>
                <a:spcPts val="600"/>
              </a:spcAft>
            </a:pPr>
            <a:r>
              <a:rPr b="0" sz="1500">
                <a:solidFill>
                  <a:srgbClr val="000000"/>
                </a:solidFill>
              </a:rPr>
              <a:t>Who approved “Not budget for 2026”?</a:t>
            </a:r>
          </a:p>
          <a:p>
            <a:pPr>
              <a:spcAft>
                <a:spcPts val="600"/>
              </a:spcAft>
            </a:pPr>
            <a:r>
              <a:rPr b="0" sz="1500">
                <a:solidFill>
                  <a:srgbClr val="000000"/>
                </a:solidFill>
              </a:rPr>
              <a:t>Review frequency: 6 months vs a year</a:t>
            </a:r>
          </a:p>
        </p:txBody>
      </p:sp>
      <p:sp>
        <p:nvSpPr>
          <p:cNvPr id="11" name="TextBox 10"/>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Appendix A · XYZ-TS evidence pack D01–D16 (sanitised)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5 · GV.SC-07: Supplier risks are understood, recorded, prioritized, assessed, responded to and monitored</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566928"/>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000000"/>
                </a:solidFill>
              </a:rPr>
              <a:t>The risks posed by a supplier, their products and services, and other third parties are understood, recorded, prioritized, assessed, responded to, and monitored over the course of the relationship.</a:t>
            </a:r>
          </a:p>
        </p:txBody>
      </p:sp>
      <p:sp>
        <p:nvSpPr>
          <p:cNvPr id="8" name="TextBox 7"/>
          <p:cNvSpPr txBox="1"/>
          <p:nvPr/>
        </p:nvSpPr>
        <p:spPr>
          <a:xfrm>
            <a:off x="365760" y="2011680"/>
            <a:ext cx="3657600" cy="3566160"/>
          </a:xfrm>
          <a:prstGeom prst="rect">
            <a:avLst/>
          </a:prstGeom>
          <a:noFill/>
        </p:spPr>
        <p:txBody>
          <a:bodyPr wrap="square" anchor="t" lIns="0" rIns="0">
            <a:spAutoFit/>
          </a:bodyPr>
          <a:lstStyle/>
          <a:p>
            <a:pPr>
              <a:spcAft>
                <a:spcPts val="800"/>
              </a:spcAft>
            </a:pPr>
            <a:r>
              <a:rPr b="1" sz="1500">
                <a:solidFill>
                  <a:srgbClr val="000000"/>
                </a:solidFill>
              </a:rPr>
              <a:t>What to ask for</a:t>
            </a:r>
          </a:p>
          <a:p>
            <a:pPr>
              <a:spcAft>
                <a:spcPts val="600"/>
              </a:spcAft>
            </a:pPr>
            <a:r>
              <a:rPr b="0" sz="1500">
                <a:solidFill>
                  <a:srgbClr val="000000"/>
                </a:solidFill>
              </a:rPr>
              <a:t>Supplier register with criticality tiering</a:t>
            </a:r>
          </a:p>
          <a:p>
            <a:pPr>
              <a:spcAft>
                <a:spcPts val="600"/>
              </a:spcAft>
            </a:pPr>
            <a:r>
              <a:rPr b="0" sz="1500">
                <a:solidFill>
                  <a:srgbClr val="000000"/>
                </a:solidFill>
              </a:rPr>
              <a:t>Assessments — incl. IT and security providers</a:t>
            </a:r>
          </a:p>
          <a:p>
            <a:pPr>
              <a:spcAft>
                <a:spcPts val="600"/>
              </a:spcAft>
            </a:pPr>
            <a:r>
              <a:rPr b="0" sz="1500">
                <a:solidFill>
                  <a:srgbClr val="000000"/>
                </a:solidFill>
              </a:rPr>
              <a:t>Remediation agreed with high / medium suppliers</a:t>
            </a:r>
          </a:p>
          <a:p>
            <a:pPr>
              <a:spcAft>
                <a:spcPts val="600"/>
              </a:spcAft>
            </a:pPr>
            <a:r>
              <a:rPr b="0" sz="1500">
                <a:solidFill>
                  <a:srgbClr val="000000"/>
                </a:solidFill>
              </a:rPr>
              <a:t>Monitoring: reviews, reports, right to audit used</a:t>
            </a:r>
          </a:p>
        </p:txBody>
      </p:sp>
      <p:sp>
        <p:nvSpPr>
          <p:cNvPr id="9" name="TextBox 8"/>
          <p:cNvSpPr txBox="1"/>
          <p:nvPr/>
        </p:nvSpPr>
        <p:spPr>
          <a:xfrm>
            <a:off x="4224528" y="2011680"/>
            <a:ext cx="3657600" cy="3566160"/>
          </a:xfrm>
          <a:prstGeom prst="rect">
            <a:avLst/>
          </a:prstGeom>
          <a:noFill/>
        </p:spPr>
        <p:txBody>
          <a:bodyPr wrap="square" anchor="t" lIns="0" rIns="0">
            <a:spAutoFit/>
          </a:bodyPr>
          <a:lstStyle/>
          <a:p>
            <a:pPr>
              <a:spcAft>
                <a:spcPts val="800"/>
              </a:spcAft>
            </a:pPr>
            <a:r>
              <a:rPr b="1" sz="1500">
                <a:solidFill>
                  <a:srgbClr val="000000"/>
                </a:solidFill>
              </a:rPr>
              <a:t>Where to look in the pack</a:t>
            </a:r>
          </a:p>
          <a:p>
            <a:pPr>
              <a:spcAft>
                <a:spcPts val="600"/>
              </a:spcAft>
            </a:pPr>
            <a:r>
              <a:rPr b="0" sz="1500">
                <a:solidFill>
                  <a:srgbClr val="000000"/>
                </a:solidFill>
              </a:rPr>
              <a:t>D04 §5.21–5.24 supplier policy</a:t>
            </a:r>
          </a:p>
          <a:p>
            <a:pPr>
              <a:spcAft>
                <a:spcPts val="600"/>
              </a:spcAft>
            </a:pPr>
            <a:r>
              <a:rPr b="0" sz="1500">
                <a:solidFill>
                  <a:srgbClr val="000000"/>
                </a:solidFill>
              </a:rPr>
              <a:t>D09 p15 supplier security assessment</a:t>
            </a:r>
          </a:p>
          <a:p>
            <a:pPr>
              <a:spcAft>
                <a:spcPts val="600"/>
              </a:spcAft>
            </a:pPr>
            <a:r>
              <a:rPr b="0" sz="1500">
                <a:solidFill>
                  <a:srgbClr val="000000"/>
                </a:solidFill>
              </a:rPr>
              <a:t>D07–D10 supply-chain risk #7 and KRI</a:t>
            </a:r>
          </a:p>
          <a:p>
            <a:pPr>
              <a:spcAft>
                <a:spcPts val="600"/>
              </a:spcAft>
            </a:pPr>
            <a:r>
              <a:rPr b="0" sz="1500">
                <a:solidFill>
                  <a:srgbClr val="000000"/>
                </a:solidFill>
              </a:rPr>
              <a:t>D07 p13 supplier incident · D11 SLAs</a:t>
            </a:r>
          </a:p>
        </p:txBody>
      </p:sp>
      <p:sp>
        <p:nvSpPr>
          <p:cNvPr id="10" name="TextBox 9"/>
          <p:cNvSpPr txBox="1"/>
          <p:nvPr/>
        </p:nvSpPr>
        <p:spPr>
          <a:xfrm>
            <a:off x="8083296" y="2011680"/>
            <a:ext cx="3657600" cy="3566160"/>
          </a:xfrm>
          <a:prstGeom prst="rect">
            <a:avLst/>
          </a:prstGeom>
          <a:noFill/>
        </p:spPr>
        <p:txBody>
          <a:bodyPr wrap="square" anchor="t" lIns="0" rIns="0">
            <a:spAutoFit/>
          </a:bodyPr>
          <a:lstStyle/>
          <a:p>
            <a:pPr>
              <a:spcAft>
                <a:spcPts val="800"/>
              </a:spcAft>
            </a:pPr>
            <a:r>
              <a:rPr b="1" sz="1500">
                <a:solidFill>
                  <a:srgbClr val="FD5108"/>
                </a:solidFill>
              </a:rPr>
              <a:t>Watch for</a:t>
            </a:r>
          </a:p>
          <a:p>
            <a:pPr>
              <a:spcAft>
                <a:spcPts val="600"/>
              </a:spcAft>
            </a:pPr>
            <a:r>
              <a:rPr b="0" sz="1500">
                <a:solidFill>
                  <a:srgbClr val="000000"/>
                </a:solidFill>
              </a:rPr>
              <a:t>Which suppliers? The IT ones (D16)?</a:t>
            </a:r>
          </a:p>
          <a:p>
            <a:pPr>
              <a:spcAft>
                <a:spcPts val="600"/>
              </a:spcAft>
            </a:pPr>
            <a:r>
              <a:rPr b="0" sz="1500">
                <a:solidFill>
                  <a:srgbClr val="000000"/>
                </a:solidFill>
              </a:rPr>
              <a:t>8 of 24 never responded</a:t>
            </a:r>
          </a:p>
          <a:p>
            <a:pPr>
              <a:spcAft>
                <a:spcPts val="600"/>
              </a:spcAft>
            </a:pPr>
            <a:r>
              <a:rPr b="0" sz="1500">
                <a:solidFill>
                  <a:srgbClr val="000000"/>
                </a:solidFill>
              </a:rPr>
              <a:t>“Responded to”, “monitored” are next steps</a:t>
            </a:r>
          </a:p>
        </p:txBody>
      </p:sp>
      <p:sp>
        <p:nvSpPr>
          <p:cNvPr id="11" name="TextBox 10"/>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Appendix A · XYZ-TS evidence pack D01–D16 (sanitised)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Worked example: GV.RM-02 — what the evidence shows</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463040"/>
          <a:ext cx="11430000" cy="3968496"/>
        </p:xfrm>
        <a:graphic>
          <a:graphicData uri="http://schemas.openxmlformats.org/drawingml/2006/table">
            <a:tbl>
              <a:tblPr firstRow="1">
                <a:tableStyleId>{605943CB-6F42-4776-B506-94E284F2829C}</a:tableStyleId>
              </a:tblPr>
              <a:tblGrid>
                <a:gridCol w="2011680"/>
                <a:gridCol w="7680960"/>
                <a:gridCol w="1737360"/>
              </a:tblGrid>
              <a:tr h="566928">
                <a:tc>
                  <a:txBody>
                    <a:bodyPr/>
                    <a:lstStyle/>
                    <a:p>
                      <a:r>
                        <a:rPr sz="1300" b="1"/>
                        <a:t>Verb</a:t>
                      </a:r>
                    </a:p>
                  </a:txBody>
                  <a:tcPr anchor="ctr" marT="36576" marB="36576"/>
                </a:tc>
                <a:tc>
                  <a:txBody>
                    <a:bodyPr/>
                    <a:lstStyle/>
                    <a:p>
                      <a:r>
                        <a:rPr sz="1300" b="1"/>
                        <a:t>What we found</a:t>
                      </a:r>
                    </a:p>
                  </a:txBody>
                  <a:tcPr anchor="ctr" marT="36576" marB="36576"/>
                </a:tc>
                <a:tc>
                  <a:txBody>
                    <a:bodyPr/>
                    <a:lstStyle/>
                    <a:p>
                      <a:r>
                        <a:rPr sz="1300" b="1"/>
                        <a:t>Where</a:t>
                      </a:r>
                    </a:p>
                  </a:txBody>
                  <a:tcPr anchor="ctr" marT="36576" marB="36576"/>
                </a:tc>
              </a:tr>
              <a:tr h="566928">
                <a:tc>
                  <a:txBody>
                    <a:bodyPr/>
                    <a:lstStyle/>
                    <a:p>
                      <a:r>
                        <a:rPr sz="1300"/>
                        <a:t>Established</a:t>
                      </a:r>
                    </a:p>
                  </a:txBody>
                  <a:tcPr anchor="ctr" marT="36576" marB="36576"/>
                </a:tc>
                <a:tc>
                  <a:txBody>
                    <a:bodyPr/>
                    <a:lstStyle/>
                    <a:p>
                      <a:r>
                        <a:rPr sz="1300"/>
                        <a:t>No risk appetite or tolerance statement. The pack itself says risk management must still be “formally established … to align risk appetite”.</a:t>
                      </a:r>
                    </a:p>
                  </a:txBody>
                  <a:tcPr anchor="ctr" marT="36576" marB="36576"/>
                </a:tc>
                <a:tc>
                  <a:txBody>
                    <a:bodyPr/>
                    <a:lstStyle/>
                    <a:p>
                      <a:r>
                        <a:rPr sz="1300"/>
                        <a:t>D07 p24</a:t>
                      </a:r>
                    </a:p>
                  </a:txBody>
                  <a:tcPr anchor="ctr" marT="36576" marB="36576"/>
                </a:tc>
              </a:tr>
              <a:tr h="566928">
                <a:tc>
                  <a:txBody>
                    <a:bodyPr/>
                    <a:lstStyle/>
                    <a:p/>
                  </a:txBody>
                  <a:tcPr anchor="ctr" marT="36576" marB="36576"/>
                </a:tc>
                <a:tc>
                  <a:txBody>
                    <a:bodyPr/>
                    <a:lstStyle/>
                    <a:p>
                      <a:r>
                        <a:rPr sz="1300"/>
                        <a:t>Two bodies are given the job: the GTRC “defines risk appetite on behalf of the Board”; the ISMC “determines the level of acceptable risk”.</a:t>
                      </a:r>
                    </a:p>
                  </a:txBody>
                  <a:tcPr anchor="ctr" marT="36576" marB="36576"/>
                </a:tc>
                <a:tc>
                  <a:txBody>
                    <a:bodyPr/>
                    <a:lstStyle/>
                    <a:p>
                      <a:r>
                        <a:rPr sz="1300"/>
                        <a:t>D09 p6 · D03 p6</a:t>
                      </a:r>
                    </a:p>
                  </a:txBody>
                  <a:tcPr anchor="ctr" marT="36576" marB="36576"/>
                </a:tc>
              </a:tr>
              <a:tr h="566928">
                <a:tc>
                  <a:txBody>
                    <a:bodyPr/>
                    <a:lstStyle/>
                    <a:p>
                      <a:r>
                        <a:rPr sz="1300"/>
                        <a:t>Tolerances (in practice)</a:t>
                      </a:r>
                    </a:p>
                  </a:txBody>
                  <a:tcPr anchor="ctr" marT="36576" marB="36576"/>
                </a:tc>
                <a:tc>
                  <a:txBody>
                    <a:bodyPr/>
                    <a:lstStyle/>
                    <a:p>
                      <a:r>
                        <a:rPr sz="1300"/>
                        <a:t>Impact bands in USD (10k / 500k / 1.5m) and KRI thresholds for most headline risks — but #9 and #14 have none, #13 is “to be defined”.</a:t>
                      </a:r>
                    </a:p>
                  </a:txBody>
                  <a:tcPr anchor="ctr" marT="36576" marB="36576"/>
                </a:tc>
                <a:tc>
                  <a:txBody>
                    <a:bodyPr/>
                    <a:lstStyle/>
                    <a:p>
                      <a:r>
                        <a:rPr sz="1300"/>
                        <a:t>D07–D10</a:t>
                      </a:r>
                    </a:p>
                  </a:txBody>
                  <a:tcPr anchor="ctr" marT="36576" marB="36576"/>
                </a:tc>
              </a:tr>
              <a:tr h="566928">
                <a:tc>
                  <a:txBody>
                    <a:bodyPr/>
                    <a:lstStyle/>
                    <a:p>
                      <a:r>
                        <a:rPr sz="1300"/>
                        <a:t>Communicated</a:t>
                      </a:r>
                    </a:p>
                  </a:txBody>
                  <a:tcPr anchor="ctr" marT="36576" marB="36576"/>
                </a:tc>
                <a:tc>
                  <a:txBody>
                    <a:bodyPr/>
                    <a:lstStyle/>
                    <a:p>
                      <a:r>
                        <a:rPr sz="1300"/>
                        <a:t>Nothing outside the CSSC packs.</a:t>
                      </a:r>
                    </a:p>
                  </a:txBody>
                  <a:tcPr anchor="ctr" marT="36576" marB="36576"/>
                </a:tc>
                <a:tc>
                  <a:txBody>
                    <a:bodyPr/>
                    <a:lstStyle/>
                    <a:p>
                      <a:r>
                        <a:rPr sz="1300"/>
                        <a:t>—</a:t>
                      </a:r>
                    </a:p>
                  </a:txBody>
                  <a:tcPr anchor="ctr" marT="36576" marB="36576"/>
                </a:tc>
              </a:tr>
              <a:tr h="566928">
                <a:tc>
                  <a:txBody>
                    <a:bodyPr/>
                    <a:lstStyle/>
                    <a:p>
                      <a:r>
                        <a:rPr sz="1300"/>
                        <a:t>Maintained</a:t>
                      </a:r>
                    </a:p>
                  </a:txBody>
                  <a:tcPr anchor="ctr" marT="36576" marB="36576"/>
                </a:tc>
                <a:tc>
                  <a:txBody>
                    <a:bodyPr/>
                    <a:lstStyle/>
                    <a:p>
                      <a:r>
                        <a:rPr sz="1300"/>
                        <a:t>KRIs labelled “Q3 2024” in the Q1 2025 pack, then Q2 and Q4 2025. Reviewed, or just relabelled?</a:t>
                      </a:r>
                    </a:p>
                  </a:txBody>
                  <a:tcPr anchor="ctr" marT="36576" marB="36576"/>
                </a:tc>
                <a:tc>
                  <a:txBody>
                    <a:bodyPr/>
                    <a:lstStyle/>
                    <a:p>
                      <a:r>
                        <a:rPr sz="1300"/>
                        <a:t>D07 pp27–29</a:t>
                      </a:r>
                    </a:p>
                  </a:txBody>
                  <a:tcPr anchor="ctr" marT="36576" marB="36576"/>
                </a:tc>
              </a:tr>
              <a:tr h="566928">
                <a:tc>
                  <a:txBody>
                    <a:bodyPr/>
                    <a:lstStyle/>
                    <a:p>
                      <a:r>
                        <a:rPr sz="1300"/>
                        <a:t>Acceptance</a:t>
                      </a:r>
                    </a:p>
                  </a:txBody>
                  <a:tcPr anchor="ctr" marT="36576" marB="36576"/>
                </a:tc>
                <a:tc>
                  <a:txBody>
                    <a:bodyPr/>
                    <a:lstStyle/>
                    <a:p>
                      <a:r>
                        <a:rPr sz="1300"/>
                        <a:t>Four different rules for who accepts risk: ISMC, project owner, sponsor, ISO.</a:t>
                      </a:r>
                    </a:p>
                  </a:txBody>
                  <a:tcPr anchor="ctr" marT="36576" marB="36576"/>
                </a:tc>
                <a:tc>
                  <a:txBody>
                    <a:bodyPr/>
                    <a:lstStyle/>
                    <a:p>
                      <a:r>
                        <a:rPr sz="1300"/>
                        <a:t>D06 pp12–13</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NIST CSWP 29, GV.RM-02 · XYZ-TS evidence pack (sanitised)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Worked example: the verdict and the RFI</a:t>
            </a:r>
          </a:p>
        </p:txBody>
      </p:sp>
      <p:sp>
        <p:nvSpPr>
          <p:cNvPr id="3" name="Text Placeholder 2"/>
          <p:cNvSpPr>
            <a:spLocks noGrp="1"/>
          </p:cNvSpPr>
          <p:nvPr>
            <p:ph type="body" idx="11" sz="quarter"/>
          </p:nvPr>
        </p:nvSpPr>
        <p:spPr/>
        <p:txBody>
          <a:bodyPr/>
          <a:lstStyle/>
          <a:p>
            <a:r>
              <a:rPr b="1" sz="1800"/>
              <a:t>Result: Not met — or unable to conclude without the statement</a:t>
            </a:r>
          </a:p>
        </p:txBody>
      </p:sp>
      <p:sp>
        <p:nvSpPr>
          <p:cNvPr id="4" name="Content Placeholder 3"/>
          <p:cNvSpPr>
            <a:spLocks noGrp="1"/>
          </p:cNvSpPr>
          <p:nvPr>
            <p:ph idx="12" sz="quarter"/>
          </p:nvPr>
        </p:nvSpPr>
        <p:spPr/>
        <p:txBody>
          <a:bodyPr/>
          <a:lstStyle/>
          <a:p>
            <a:pPr>
              <a:spcAft>
                <a:spcPts val="600"/>
              </a:spcAft>
            </a:pPr>
            <a:r>
              <a:rPr b="1" sz="1500">
                <a:solidFill>
                  <a:srgbClr val="FD5108"/>
                </a:solidFill>
              </a:rPr>
              <a:t>Justification</a:t>
            </a:r>
          </a:p>
          <a:p>
            <a:pPr>
              <a:spcAft>
                <a:spcPts val="600"/>
              </a:spcAft>
            </a:pPr>
            <a:r>
              <a:rPr b="0" sz="1500"/>
              <a:t>No appetite or tolerance statement is in the pack, and the client’s own Q1 2025 pack says risk management is not yet formally established to align appetite (D07 p24).</a:t>
            </a:r>
          </a:p>
          <a:p>
            <a:r>
              <a:rPr b="0" sz="1500"/>
              <a:t>KRI thresholds and impact bands work as tolerances in practice (D07–D10), but nothing shows they derive from an approved appetite, or are known outside the CSSC.</a:t>
            </a:r>
          </a:p>
        </p:txBody>
      </p:sp>
      <p:sp>
        <p:nvSpPr>
          <p:cNvPr id="5" name="Content Placeholder 4"/>
          <p:cNvSpPr>
            <a:spLocks noGrp="1"/>
          </p:cNvSpPr>
          <p:nvPr>
            <p:ph idx="13" sz="quarter"/>
          </p:nvPr>
        </p:nvSpPr>
        <p:spPr/>
        <p:txBody>
          <a:bodyPr/>
          <a:lstStyle/>
          <a:p>
            <a:pPr>
              <a:spcAft>
                <a:spcPts val="600"/>
              </a:spcAft>
            </a:pPr>
            <a:r>
              <a:rPr b="1" sz="1500">
                <a:solidFill>
                  <a:srgbClr val="FD5108"/>
                </a:solidFill>
              </a:rPr>
              <a:t>Outstanding RFI</a:t>
            </a:r>
          </a:p>
          <a:p>
            <a:pPr>
              <a:spcAft>
                <a:spcPts val="400"/>
              </a:spcAft>
            </a:pPr>
            <a:r>
              <a:rPr b="0" sz="1500"/>
              <a:t>1. The approved appetite / tolerance statement and approving minute</a:t>
            </a:r>
          </a:p>
          <a:p>
            <a:pPr>
              <a:spcAft>
                <a:spcPts val="400"/>
              </a:spcAft>
            </a:pPr>
            <a:r>
              <a:rPr b="0" sz="1500"/>
              <a:t>2. Who sets it — GTRC or ISMC — and who accepts risk</a:t>
            </a:r>
          </a:p>
          <a:p>
            <a:pPr>
              <a:spcAft>
                <a:spcPts val="400"/>
              </a:spcAft>
            </a:pPr>
            <a:r>
              <a:rPr b="0" sz="1500"/>
              <a:t>3. The enterprise risk method (RG-003) cited by D02 and D06</a:t>
            </a:r>
          </a:p>
          <a:p>
            <a:r>
              <a:rPr b="0" sz="1500"/>
              <a:t>4. KRIs for risks #9, #13, #14; last threshold review</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Model answer format for Part B · the other four outcomes are your homework</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Your turn: the other four</a:t>
            </a:r>
          </a:p>
        </p:txBody>
      </p:sp>
      <p:sp>
        <p:nvSpPr>
          <p:cNvPr id="3" name="Content Placeholder 2"/>
          <p:cNvSpPr>
            <a:spLocks noGrp="1"/>
          </p:cNvSpPr>
          <p:nvPr>
            <p:ph idx="1"/>
          </p:nvPr>
        </p:nvSpPr>
        <p:spPr/>
        <p:txBody>
          <a:bodyPr/>
          <a:lstStyle/>
          <a:p>
            <a:pPr>
              <a:spcAft>
                <a:spcPts val="1000"/>
              </a:spcAft>
            </a:pPr>
            <a:r>
              <a:rPr b="1" sz="1700">
                <a:solidFill>
                  <a:srgbClr val="FD5108"/>
                </a:solidFill>
              </a:rPr>
              <a:t>IN YOUR GROUPS · UNTIL 21:30</a:t>
            </a:r>
          </a:p>
          <a:p>
            <a:pPr>
              <a:spcAft>
                <a:spcPts val="800"/>
              </a:spcAft>
            </a:pPr>
            <a:r>
              <a:rPr b="0" sz="1700"/>
              <a:t>Pick one of controls 1, 3, 4 or 5 per group — every control covered.</a:t>
            </a:r>
          </a:p>
          <a:p>
            <a:pPr>
              <a:spcAft>
                <a:spcPts val="800"/>
              </a:spcAft>
            </a:pPr>
            <a:r>
              <a:rPr b="0" sz="1700"/>
              <a:t>Draft its RFI first (5 min), then open the pack and find the evidence.</a:t>
            </a:r>
          </a:p>
          <a:p>
            <a:pPr>
              <a:spcAft>
                <a:spcPts val="800"/>
              </a:spcAft>
            </a:pPr>
            <a:r>
              <a:rPr b="0" sz="1700"/>
              <a:t>Start with D03, D04, D07 and D09. Read page two first: version, approver, next review.</a:t>
            </a:r>
          </a:p>
          <a:p>
            <a:r>
              <a:rPr b="0" sz="1700"/>
              <a:t>21:30: each group gives its verdict in one sentence — then the class review.</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What the client sent — and what it did not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463040"/>
          <a:ext cx="11430000" cy="3950208"/>
        </p:xfrm>
        <a:graphic>
          <a:graphicData uri="http://schemas.openxmlformats.org/drawingml/2006/table">
            <a:tbl>
              <a:tblPr firstRow="1">
                <a:tableStyleId>{605943CB-6F42-4776-B506-94E284F2829C}</a:tableStyleId>
              </a:tblPr>
              <a:tblGrid>
                <a:gridCol w="2651760"/>
                <a:gridCol w="5760720"/>
                <a:gridCol w="3017520"/>
              </a:tblGrid>
              <a:tr h="658368">
                <a:tc>
                  <a:txBody>
                    <a:bodyPr/>
                    <a:lstStyle/>
                    <a:p>
                      <a:r>
                        <a:rPr sz="1400" b="1"/>
                        <a:t>Outcome</a:t>
                      </a:r>
                    </a:p>
                  </a:txBody>
                  <a:tcPr anchor="ctr" marT="36576" marB="36576"/>
                </a:tc>
                <a:tc>
                  <a:txBody>
                    <a:bodyPr/>
                    <a:lstStyle/>
                    <a:p>
                      <a:r>
                        <a:rPr sz="1400" b="1"/>
                        <a:t>In the pack</a:t>
                      </a:r>
                    </a:p>
                  </a:txBody>
                  <a:tcPr anchor="ctr" marT="36576" marB="36576"/>
                </a:tc>
                <a:tc>
                  <a:txBody>
                    <a:bodyPr/>
                    <a:lstStyle/>
                    <a:p>
                      <a:r>
                        <a:rPr sz="1400" b="1"/>
                        <a:t>Asked for, not in the pack</a:t>
                      </a:r>
                    </a:p>
                  </a:txBody>
                  <a:tcPr anchor="ctr" marT="36576" marB="36576"/>
                </a:tc>
              </a:tr>
              <a:tr h="658368">
                <a:tc>
                  <a:txBody>
                    <a:bodyPr/>
                    <a:lstStyle/>
                    <a:p>
                      <a:r>
                        <a:rPr sz="1400"/>
                        <a:t>GV.RR-01 Accountability</a:t>
                      </a:r>
                    </a:p>
                  </a:txBody>
                  <a:tcPr anchor="ctr" marT="36576" marB="36576"/>
                </a:tc>
                <a:tc>
                  <a:txBody>
                    <a:bodyPr/>
                    <a:lstStyle/>
                    <a:p>
                      <a:r>
                        <a:rPr sz="1400"/>
                        <a:t>ISMC ToR (D03) · GTRC ToR slide (D09) · CSSC packs (D07–D10) · team structure (D10)</a:t>
                      </a:r>
                    </a:p>
                  </a:txBody>
                  <a:tcPr anchor="ctr" marT="36576" marB="36576"/>
                </a:tc>
                <a:tc>
                  <a:txBody>
                    <a:bodyPr/>
                    <a:lstStyle/>
                    <a:p>
                      <a:r>
                        <a:rPr sz="1400" b="1">
                          <a:solidFill>
                            <a:srgbClr val="DC2626"/>
                          </a:solidFill>
                        </a:rPr>
                        <a:t>CSSC charter · Board / BAC minutes</a:t>
                      </a:r>
                    </a:p>
                  </a:txBody>
                  <a:tcPr anchor="ctr" marT="36576" marB="36576"/>
                </a:tc>
              </a:tr>
              <a:tr h="658368">
                <a:tc>
                  <a:txBody>
                    <a:bodyPr/>
                    <a:lstStyle/>
                    <a:p>
                      <a:r>
                        <a:rPr sz="1400"/>
                        <a:t>GV.RM-02 Risk appetite</a:t>
                      </a:r>
                    </a:p>
                  </a:txBody>
                  <a:tcPr anchor="ctr" marT="36576" marB="36576"/>
                </a:tc>
                <a:tc>
                  <a:txBody>
                    <a:bodyPr/>
                    <a:lstStyle/>
                    <a:p>
                      <a:r>
                        <a:rPr sz="1400"/>
                        <a:t>Risk grid and KRIs (D07–D10) · “Risk Movement” (D07) · project risk matrix (D06)</a:t>
                      </a:r>
                    </a:p>
                  </a:txBody>
                  <a:tcPr anchor="ctr" marT="36576" marB="36576"/>
                </a:tc>
                <a:tc>
                  <a:txBody>
                    <a:bodyPr/>
                    <a:lstStyle/>
                    <a:p>
                      <a:r>
                        <a:rPr sz="1400" b="1">
                          <a:solidFill>
                            <a:srgbClr val="DC2626"/>
                          </a:solidFill>
                        </a:rPr>
                        <a:t>Appetite statement · enterprise risk method</a:t>
                      </a:r>
                    </a:p>
                  </a:txBody>
                  <a:tcPr anchor="ctr" marT="36576" marB="36576"/>
                </a:tc>
              </a:tr>
              <a:tr h="658368">
                <a:tc>
                  <a:txBody>
                    <a:bodyPr/>
                    <a:lstStyle/>
                    <a:p>
                      <a:r>
                        <a:rPr sz="1400"/>
                        <a:t>GV.PO-02 Policy review</a:t>
                      </a:r>
                    </a:p>
                  </a:txBody>
                  <a:tcPr anchor="ctr" marT="36576" marB="36576"/>
                </a:tc>
                <a:tc>
                  <a:txBody>
                    <a:bodyPr/>
                    <a:lstStyle/>
                    <a:p>
                      <a:r>
                        <a:rPr sz="1400"/>
                        <a:t>InfoSec Policy history (D04) · ISMS Manual (D02) · AI Usage Policy (D09)</a:t>
                      </a:r>
                    </a:p>
                  </a:txBody>
                  <a:tcPr anchor="ctr" marT="36576" marB="36576"/>
                </a:tc>
                <a:tc>
                  <a:txBody>
                    <a:bodyPr/>
                    <a:lstStyle/>
                    <a:p>
                      <a:r>
                        <a:rPr sz="1400" b="1">
                          <a:solidFill>
                            <a:srgbClr val="DC2626"/>
                          </a:solidFill>
                        </a:rPr>
                        <a:t>Policy register · attestations · exceptions log</a:t>
                      </a:r>
                    </a:p>
                  </a:txBody>
                  <a:tcPr anchor="ctr" marT="36576" marB="36576"/>
                </a:tc>
              </a:tr>
              <a:tr h="658368">
                <a:tc>
                  <a:txBody>
                    <a:bodyPr/>
                    <a:lstStyle/>
                    <a:p>
                      <a:r>
                        <a:rPr sz="1400"/>
                        <a:t>GV.OV-01 Oversight</a:t>
                      </a:r>
                    </a:p>
                  </a:txBody>
                  <a:tcPr anchor="ctr" marT="36576" marB="36576"/>
                </a:tc>
                <a:tc>
                  <a:txBody>
                    <a:bodyPr/>
                    <a:lstStyle/>
                    <a:p>
                      <a:r>
                        <a:rPr sz="1400"/>
                        <a:t>Quarterly CSSC packs (D07–D10) · initiatives and budget (D09) · review procedure (D05)</a:t>
                      </a:r>
                    </a:p>
                  </a:txBody>
                  <a:tcPr anchor="ctr" marT="36576" marB="36576"/>
                </a:tc>
                <a:tc>
                  <a:txBody>
                    <a:bodyPr/>
                    <a:lstStyle/>
                    <a:p>
                      <a:r>
                        <a:rPr sz="1400" b="1">
                          <a:solidFill>
                            <a:srgbClr val="DC2626"/>
                          </a:solidFill>
                        </a:rPr>
                        <a:t>Any minutes · management review records</a:t>
                      </a:r>
                    </a:p>
                  </a:txBody>
                  <a:tcPr anchor="ctr" marT="36576" marB="36576"/>
                </a:tc>
              </a:tr>
              <a:tr h="658368">
                <a:tc>
                  <a:txBody>
                    <a:bodyPr/>
                    <a:lstStyle/>
                    <a:p>
                      <a:r>
                        <a:rPr sz="1400"/>
                        <a:t>GV.SC-07 Suppliers</a:t>
                      </a:r>
                    </a:p>
                  </a:txBody>
                  <a:tcPr anchor="ctr" marT="36576" marB="36576"/>
                </a:tc>
                <a:tc>
                  <a:txBody>
                    <a:bodyPr/>
                    <a:lstStyle/>
                    <a:p>
                      <a:r>
                        <a:rPr sz="1400"/>
                        <a:t>Policy §5.21–5.24 (D04) · supplier assessment (D09) · supply-chain KRI (D07–D10)</a:t>
                      </a:r>
                    </a:p>
                  </a:txBody>
                  <a:tcPr anchor="ctr" marT="36576" marB="36576"/>
                </a:tc>
                <a:tc>
                  <a:txBody>
                    <a:bodyPr/>
                    <a:lstStyle/>
                    <a:p>
                      <a:r>
                        <a:rPr sz="1400" b="1">
                          <a:solidFill>
                            <a:srgbClr val="DC2626"/>
                          </a:solidFill>
                        </a:rPr>
                        <a:t>Supplier register · IT-vendor assessments</a:t>
                      </a:r>
                    </a:p>
                  </a:txBody>
                  <a:tcPr anchor="ctr" marT="36576" marB="36576"/>
                </a:tc>
              </a:tr>
            </a:tbl>
          </a:graphicData>
        </a:graphic>
      </p:graphicFrame>
      <p:sp>
        <p:nvSpPr>
          <p:cNvPr id="8" name="Rectangle 7"/>
          <p:cNvSpPr/>
          <p:nvPr/>
        </p:nvSpPr>
        <p:spPr>
          <a:xfrm>
            <a:off x="365760" y="5486400"/>
            <a:ext cx="11430000" cy="5029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a:solidFill>
                  <a:srgbClr val="000000"/>
                </a:solidFill>
              </a:rPr>
              <a:t>Sixteen documents, five outcomes. D11–D16 barely touch Govern — knowing what to ignore is the skill.</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XYZ-TS evidence pack D01–D16 (sanitised)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r>
              <a:rPr b="0"/>
              <a:t>1</a:t>
            </a:r>
          </a:p>
        </p:txBody>
      </p:sp>
      <p:sp>
        <p:nvSpPr>
          <p:cNvPr id="3" name="Content Placeholder 2"/>
          <p:cNvSpPr>
            <a:spLocks noGrp="1"/>
          </p:cNvSpPr>
          <p:nvPr>
            <p:ph idx="13"/>
          </p:nvPr>
        </p:nvSpPr>
        <p:spPr/>
        <p:txBody>
          <a:bodyPr/>
          <a:lstStyle/>
          <a:p>
            <a:r>
              <a:rPr b="0"/>
              <a:t>2</a:t>
            </a:r>
          </a:p>
        </p:txBody>
      </p:sp>
      <p:sp>
        <p:nvSpPr>
          <p:cNvPr id="4" name="Content Placeholder 3"/>
          <p:cNvSpPr>
            <a:spLocks noGrp="1"/>
          </p:cNvSpPr>
          <p:nvPr>
            <p:ph idx="14"/>
          </p:nvPr>
        </p:nvSpPr>
        <p:spPr/>
        <p:txBody>
          <a:bodyPr/>
          <a:lstStyle/>
          <a:p>
            <a:r>
              <a:rPr b="0"/>
              <a:t>3</a:t>
            </a:r>
          </a:p>
        </p:txBody>
      </p:sp>
      <p:sp>
        <p:nvSpPr>
          <p:cNvPr id="5" name="Content Placeholder 4"/>
          <p:cNvSpPr>
            <a:spLocks noGrp="1"/>
          </p:cNvSpPr>
          <p:nvPr>
            <p:ph idx="15" sz="quarter"/>
          </p:nvPr>
        </p:nvSpPr>
        <p:spPr/>
        <p:txBody>
          <a:bodyPr/>
          <a:lstStyle/>
          <a:p>
            <a:pPr>
              <a:spcAft>
                <a:spcPts val="600"/>
              </a:spcAft>
            </a:pPr>
            <a:r>
              <a:rPr b="1" sz="1600"/>
              <a:t>Evidence referenced</a:t>
            </a:r>
          </a:p>
          <a:p>
            <a:r>
              <a:rPr b="0" sz="1600"/>
              <a:t>For controls 1, 3, 4 and 5: the documents and pages that support each (D01–D16). Leave out the noise.</a:t>
            </a:r>
          </a:p>
        </p:txBody>
      </p:sp>
      <p:sp>
        <p:nvSpPr>
          <p:cNvPr id="6" name="Content Placeholder 5"/>
          <p:cNvSpPr>
            <a:spLocks noGrp="1"/>
          </p:cNvSpPr>
          <p:nvPr>
            <p:ph idx="16" sz="quarter"/>
          </p:nvPr>
        </p:nvSpPr>
        <p:spPr/>
        <p:txBody>
          <a:bodyPr/>
          <a:lstStyle/>
          <a:p>
            <a:pPr>
              <a:spcAft>
                <a:spcPts val="600"/>
              </a:spcAft>
            </a:pPr>
            <a:r>
              <a:rPr b="1" sz="1600"/>
              <a:t>Result and justification</a:t>
            </a:r>
          </a:p>
          <a:p>
            <a:r>
              <a:rPr b="0" sz="1600"/>
              <a:t>Met · Partially met · Not met · Unable to conclude — and why, verb by verb.</a:t>
            </a:r>
          </a:p>
        </p:txBody>
      </p:sp>
      <p:sp>
        <p:nvSpPr>
          <p:cNvPr id="7" name="Content Placeholder 6"/>
          <p:cNvSpPr>
            <a:spLocks noGrp="1"/>
          </p:cNvSpPr>
          <p:nvPr>
            <p:ph idx="17" sz="quarter"/>
          </p:nvPr>
        </p:nvSpPr>
        <p:spPr/>
        <p:txBody>
          <a:bodyPr/>
          <a:lstStyle/>
          <a:p>
            <a:pPr>
              <a:spcAft>
                <a:spcPts val="600"/>
              </a:spcAft>
            </a:pPr>
            <a:r>
              <a:rPr b="1" sz="1600"/>
              <a:t>Outstanding RFI</a:t>
            </a:r>
          </a:p>
          <a:p>
            <a:r>
              <a:rPr b="0" sz="1600"/>
              <a:t>What you would still ask for, including documents the pack refers to but does not contain.</a:t>
            </a:r>
          </a:p>
        </p:txBody>
      </p:sp>
      <p:sp>
        <p:nvSpPr>
          <p:cNvPr id="8" name="Title 7"/>
          <p:cNvSpPr>
            <a:spLocks noGrp="1"/>
          </p:cNvSpPr>
          <p:nvPr>
            <p:ph type="title"/>
          </p:nvPr>
        </p:nvSpPr>
        <p:spPr/>
        <p:txBody>
          <a:bodyPr/>
          <a:lstStyle/>
          <a:p>
            <a:r>
              <a:rPr b="0"/>
              <a:t>Homework: the four other outcomes</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Part B of the worksheet · CS5292_W6_M3_Group_Template.xlsx · one file per group before the Week 7 class · graded 0 / 50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Next week: the midterm</a:t>
            </a:r>
          </a:p>
        </p:txBody>
      </p:sp>
      <p:sp>
        <p:nvSpPr>
          <p:cNvPr id="3" name="Text Placeholder 2"/>
          <p:cNvSpPr>
            <a:spLocks noGrp="1"/>
          </p:cNvSpPr>
          <p:nvPr>
            <p:ph type="body" idx="12" sz="quarter"/>
          </p:nvPr>
        </p:nvSpPr>
        <p:spPr/>
        <p:txBody>
          <a:bodyPr/>
          <a:lstStyle/>
          <a:p>
            <a:r>
              <a:rPr b="0" sz="4400"/>
              <a:t>Next week: the midterm.</a:t>
            </a:r>
          </a:p>
        </p:txBody>
      </p:sp>
      <p:sp>
        <p:nvSpPr>
          <p:cNvPr id="4" name="Content Placeholder 3"/>
          <p:cNvSpPr>
            <a:spLocks noGrp="1"/>
          </p:cNvSpPr>
          <p:nvPr>
            <p:ph idx="10" sz="quarter"/>
          </p:nvPr>
        </p:nvSpPr>
        <p:spPr/>
        <p:txBody>
          <a:bodyPr/>
          <a:lstStyle/>
          <a:p>
            <a:r>
              <a:rPr b="1" sz="1600"/>
              <a:t>Week 7 · 14 October · Weeks 1–6</a:t>
            </a:r>
          </a:p>
          <a:p>
            <a:r>
              <a:rPr b="0" sz="1600"/>
              <a:t>MCQ, evidence-based justification, RFI drafting — tonight’s skills.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6 · NIST CSF 2.0</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p:txBody>
          <a:bodyPr/>
          <a:lstStyle/>
          <a:p>
            <a:r>
              <a:rPr lang="en-GB" noProof="0" dirty="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p:txBody>
          <a:bodyPr/>
          <a:lstStyle/>
          <a:p>
            <a:r>
              <a:rPr lang="en-GB" dirty="0">
                <a:latin typeface="+mn-lt"/>
                <a:sym typeface="Arial"/>
              </a:rPr>
              <a:t>© 2026 PwC Hong Kong. All rights reserved. PwC refers to the Hong Kong member firm, and may sometimes refer to the PwC network. Each member firm is a separate legal entity. Please see www.pwc.com/structure for further details.</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p>
        </p:txBody>
      </p:sp>
    </p:spTree>
    <p:extLst>
      <p:ext uri="{BB962C8B-B14F-4D97-AF65-F5344CB8AC3E}">
        <p14:creationId xmlns:p14="http://schemas.microsoft.com/office/powerpoint/2010/main" val="55575978"/>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7B8F58A-87A8-A445-BF3B-697172D93401}" vid="{7DB83C05-8538-DA41-B73C-EC86F3DCE3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011f47f-2d48-4444-b183-f954f114b01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CAF0351C4D054082DA0B0C46A5F20B" ma:contentTypeVersion="13" ma:contentTypeDescription="Create a new document." ma:contentTypeScope="" ma:versionID="1f3a09be14d0a1e061465b106db3c77a">
  <xsd:schema xmlns:xsd="http://www.w3.org/2001/XMLSchema" xmlns:xs="http://www.w3.org/2001/XMLSchema" xmlns:p="http://schemas.microsoft.com/office/2006/metadata/properties" xmlns:ns2="c011f47f-2d48-4444-b183-f954f114b012" targetNamespace="http://schemas.microsoft.com/office/2006/metadata/properties" ma:root="true" ma:fieldsID="8903e899b8d40abcde43b3a9b91d14e4" ns2:_="">
    <xsd:import namespace="c011f47f-2d48-4444-b183-f954f114b0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11f47f-2d48-4444-b183-f954f114b0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758F2C-2961-4F3E-AF6C-A7AAF8C806B2}">
  <ds:schemaRefs>
    <ds:schemaRef ds:uri="http://schemas.microsoft.com/office/2006/metadata/properties"/>
    <ds:schemaRef ds:uri="http://schemas.microsoft.com/office/infopath/2007/PartnerControls"/>
    <ds:schemaRef ds:uri="c011f47f-2d48-4444-b183-f954f114b012"/>
  </ds:schemaRefs>
</ds:datastoreItem>
</file>

<file path=customXml/itemProps2.xml><?xml version="1.0" encoding="utf-8"?>
<ds:datastoreItem xmlns:ds="http://schemas.openxmlformats.org/officeDocument/2006/customXml" ds:itemID="{BC6C4AA5-9EB3-431C-B120-426EF90E76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11f47f-2d48-4444-b183-f954f114b0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265105-FE1D-453C-BB54-B143C57411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1173</TotalTime>
  <Words>9698</Words>
  <Application>Microsoft Office PowerPoint</Application>
  <PresentationFormat>Widescreen</PresentationFormat>
  <Paragraphs>1815</Paragraphs>
  <Slides>103</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103</vt:i4>
      </vt:variant>
    </vt:vector>
  </HeadingPairs>
  <TitlesOfParts>
    <vt:vector size="108" baseType="lpstr">
      <vt:lpstr>Arial</vt:lpstr>
      <vt:lpstr>Georgia</vt:lpstr>
      <vt:lpstr>Symbol</vt:lpstr>
      <vt:lpstr>Wingdings</vt:lpstr>
      <vt:lpstr>PwC Slide Master</vt:lpstr>
      <vt:lpstr>Cover slide    </vt:lpstr>
      <vt:lpstr>Cover slide image</vt:lpstr>
      <vt:lpstr>Title and content text goes here</vt:lpstr>
      <vt:lpstr>Divider title here lorem ipsum</vt:lpstr>
      <vt:lpstr>Divider title here lorem ipsum </vt:lpstr>
      <vt:lpstr>Divider title here lorem ipsum  </vt:lpstr>
      <vt:lpstr>Title for accessibility</vt:lpstr>
      <vt:lpstr>Title for accessibility     </vt:lpstr>
      <vt:lpstr>Title for accessibility           </vt:lpstr>
      <vt:lpstr>Title for accessibility                  </vt:lpstr>
      <vt:lpstr>Title for accessibility                                                </vt:lpstr>
      <vt:lpstr>Title for accessibility                           </vt:lpstr>
      <vt:lpstr>Title for accessibility                                           </vt:lpstr>
      <vt:lpstr>Content with image. Lorem ipsum dolor sit amet, consectetur adipiscing elit, sed diam nonummy nibh.</vt:lpstr>
      <vt:lpstr>Title for accessibility                                       </vt:lpstr>
      <vt:lpstr>Title for accessibility  </vt:lpstr>
      <vt:lpstr>Agenda</vt:lpstr>
      <vt:lpstr>Agenda </vt:lpstr>
      <vt:lpstr>Agenda  </vt:lpstr>
      <vt:lpstr>Agenda   </vt:lpstr>
      <vt:lpstr>Title for accessibility                                                   </vt:lpstr>
      <vt:lpstr>Content with image. Lorem ipsum dolor sit amet, consectetur adipiscing elit, sed diam nonummy nibh. </vt:lpstr>
      <vt:lpstr>Content with image</vt:lpstr>
      <vt:lpstr>Content  with image</vt:lpstr>
      <vt:lpstr>One content</vt:lpstr>
      <vt:lpstr>One content</vt:lpstr>
      <vt:lpstr>Two content</vt:lpstr>
      <vt:lpstr>Two content</vt:lpstr>
      <vt:lpstr>Two columns with images, lorem ipsum dolor sit amet, consectetur adipiscing elit sed diam</vt:lpstr>
      <vt:lpstr>Two columns with images, lorem ipsum dolor sit amet, consectetur adipiscing elit sed diam </vt:lpstr>
      <vt:lpstr>Two columns with images</vt:lpstr>
      <vt:lpstr>Three content</vt:lpstr>
      <vt:lpstr>Three content</vt:lpstr>
      <vt:lpstr>Three content </vt:lpstr>
      <vt:lpstr>Three content two small images</vt:lpstr>
      <vt:lpstr>Lorem ipsum dolor sit amet</vt:lpstr>
      <vt:lpstr>Three columns with images</vt:lpstr>
      <vt:lpstr>Three columns with images, lorem ipsum dolor sit amet, consect adipiscing elit </vt:lpstr>
      <vt:lpstr>Four content</vt:lpstr>
      <vt:lpstr>Four content</vt:lpstr>
      <vt:lpstr>Four content with images</vt:lpstr>
      <vt:lpstr>Four content with image</vt:lpstr>
      <vt:lpstr>Six content</vt:lpstr>
      <vt:lpstr>Six content</vt:lpstr>
      <vt:lpstr>Six content with numbers</vt:lpstr>
      <vt:lpstr>Six content, numbers, heavy text</vt:lpstr>
      <vt:lpstr>Pictograms</vt:lpstr>
      <vt:lpstr>Pictograms </vt:lpstr>
      <vt:lpstr>Pictograms    </vt:lpstr>
      <vt:lpstr>Pictograms       </vt:lpstr>
      <vt:lpstr>Text and large stat</vt:lpstr>
      <vt:lpstr>Four content infographic</vt:lpstr>
      <vt:lpstr>Three content infographic</vt:lpstr>
      <vt:lpstr>Data and two content</vt:lpstr>
      <vt:lpstr>Data and four stats</vt:lpstr>
      <vt:lpstr>Text and large stat  lorem ipsum dolor sit amet, consectetuer adipiscing elit </vt:lpstr>
      <vt:lpstr>Text and large stat lorem ipsum dolor sit amet, consectetuer adipiscing elit </vt:lpstr>
      <vt:lpstr>Chart and two content</vt:lpstr>
      <vt:lpstr>One column chart </vt:lpstr>
      <vt:lpstr>Three images three content</vt:lpstr>
      <vt:lpstr>Table slide sample</vt:lpstr>
      <vt:lpstr>Table slide sample </vt:lpstr>
      <vt:lpstr>Table slide sample   </vt:lpstr>
      <vt:lpstr>Table slide sample    </vt:lpstr>
      <vt:lpstr>Four team images</vt:lpstr>
      <vt:lpstr>Four team images stacked</vt:lpstr>
      <vt:lpstr>Icons</vt:lpstr>
      <vt:lpstr>Icon library</vt:lpstr>
      <vt:lpstr>Icon library</vt:lpstr>
      <vt:lpstr>Icon library</vt:lpstr>
      <vt:lpstr>Icon library</vt:lpstr>
      <vt:lpstr>Pictograms</vt:lpstr>
      <vt:lpstr>Pictogram library</vt:lpstr>
      <vt:lpstr>Pictogram library</vt:lpstr>
      <vt:lpstr>Pictogram library</vt:lpstr>
      <vt:lpstr>Pictogram library </vt:lpstr>
      <vt:lpstr>Pictogram library </vt:lpstr>
      <vt:lpstr>Pictogram library </vt:lpstr>
      <vt:lpstr>Pictogram library </vt:lpstr>
      <vt:lpstr>Pictogram library </vt:lpstr>
      <vt:lpstr>Pictogram library </vt:lpstr>
      <vt:lpstr>Pictogram library </vt:lpstr>
      <vt:lpstr>Thank you</vt:lpstr>
      <vt:lpstr>Thank you</vt:lpstr>
      <vt:lpstr>Conclusion 1</vt:lpstr>
      <vt:lpstr>Conclusion 2</vt:lpstr>
      <vt:lpstr>Conclusion 3</vt:lpstr>
      <vt:lpstr>Conclusion Photo 1</vt:lpstr>
      <vt:lpstr>Training</vt:lpstr>
      <vt:lpstr>Colour palette</vt:lpstr>
      <vt:lpstr>12 x 12 grid</vt:lpstr>
      <vt:lpstr>How to create a chart template</vt:lpstr>
      <vt:lpstr>How to create charts  from a chart template</vt:lpstr>
      <vt:lpstr>Four brand table styles programmed in templates</vt:lpstr>
      <vt:lpstr>Table design style options  allow custom formats</vt:lpstr>
      <vt:lpstr>Four brand table styles  programmed in templates </vt:lpstr>
      <vt:lpstr>Brand table 1</vt:lpstr>
      <vt:lpstr>Brand table 2</vt:lpstr>
      <vt:lpstr>Brand table 3 </vt:lpstr>
      <vt:lpstr>Brand table 4</vt:lpstr>
      <vt:lpstr>Dashboard table sample slide</vt:lpstr>
      <vt:lpstr>Accessibility check</vt:lpstr>
      <vt:lpstr>PowerPoint keyboard shortcuts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slide    </dc:title>
  <dc:creator>Christy Jewett (US)</dc:creator>
  <cp:lastModifiedBy>cloudconvert_13</cp:lastModifiedBy>
  <cp:revision>12</cp:revision>
  <dcterms:created xsi:type="dcterms:W3CDTF">2026-04-23T15:02:25Z</dcterms:created>
  <dcterms:modified xsi:type="dcterms:W3CDTF">2026-10-06T05:38:08Z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0x01010015CAF0351C4D054082DA0B0C46A5F20B</vt:lpwstr>
  </property>
</Properties>
</file>