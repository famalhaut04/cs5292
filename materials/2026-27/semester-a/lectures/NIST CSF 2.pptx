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6" r:id="rId6"/>
    <p:sldId id="277" r:id="rId7"/>
    <p:sldId id="278" r:id="rId8"/>
    <p:sldId id="279" r:id="rId9"/>
    <p:sldId id="290" r:id="rId10"/>
    <p:sldId id="280" r:id="rId11"/>
    <p:sldId id="293" r:id="rId12"/>
    <p:sldId id="297" r:id="rId13"/>
    <p:sldId id="298" r:id="rId14"/>
    <p:sldId id="289" r:id="rId15"/>
    <p:sldId id="299" r:id="rId16"/>
    <p:sldId id="300" r:id="rId17"/>
    <p:sldId id="301" r:id="rId18"/>
    <p:sldId id="302" r:id="rId19"/>
    <p:sldId id="285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49D"/>
    <a:srgbClr val="7DF49F"/>
    <a:srgbClr val="E57676"/>
    <a:srgbClr val="FAB746"/>
    <a:srgbClr val="918CEA"/>
    <a:srgbClr val="4BB2E0"/>
    <a:srgbClr val="FFFFFF"/>
    <a:srgbClr val="0D8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6352" autoAdjust="0"/>
  </p:normalViewPr>
  <p:slideViewPr>
    <p:cSldViewPr snapToGrid="0" showGuides="1">
      <p:cViewPr>
        <p:scale>
          <a:sx n="85" d="100"/>
          <a:sy n="85" d="100"/>
        </p:scale>
        <p:origin x="660" y="114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309904035433063"/>
          <c:y val="7.1012852422929845E-2"/>
          <c:w val="0.52380204232283467"/>
          <c:h val="0.7857030151511432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TVM Onboarding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F9-4C13-8980-A79A5311AF8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AF9-4C13-8980-A79A5311AF86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F9-4C13-8980-A79A5311AF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Onboarded</c:v>
                </c:pt>
                <c:pt idx="1">
                  <c:v>Pending to onboarded</c:v>
                </c:pt>
                <c:pt idx="2">
                  <c:v>Not compatible to TVM Scanner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</c:v>
                </c:pt>
                <c:pt idx="1">
                  <c:v>0.2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9-4C13-8980-A79A5311AF8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more Money, deploy </a:t>
            </a:r>
          </a:p>
          <a:p>
            <a:r>
              <a:rPr lang="en-US" dirty="0"/>
              <a:t>Improve process</a:t>
            </a:r>
          </a:p>
          <a:p>
            <a:r>
              <a:rPr lang="en-US" dirty="0"/>
              <a:t>Provide better training, phishing simulation etc.</a:t>
            </a:r>
          </a:p>
          <a:p>
            <a:endParaRPr lang="en-US" dirty="0"/>
          </a:p>
          <a:p>
            <a:r>
              <a:rPr lang="en-US" dirty="0"/>
              <a:t>People </a:t>
            </a:r>
            <a:br>
              <a:rPr lang="en-US" dirty="0"/>
            </a:br>
            <a:r>
              <a:rPr lang="en-US" dirty="0"/>
              <a:t>Process</a:t>
            </a:r>
          </a:p>
          <a:p>
            <a:r>
              <a:rPr lang="en-US" dirty="0"/>
              <a:t>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A53D8-9325-CAB7-8172-8E5CFBD27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A0AC8-0436-3BED-4353-5A2018F2F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F2787-F277-2C83-0D4B-4321BA5D0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30820-999D-B77E-A7DC-FDCCD0EF6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17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F7BB-D2EC-545A-37A3-DA5C09AC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0ED99-8DD2-0F32-ADA7-8841BDDFE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51273-64D3-963C-AB2D-C2E46940A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272B6-A568-B872-4C36-7D14ED37F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71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1E1C-7F1E-D4C5-D9BB-4DE0FAB13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D91BC-A903-7953-2139-44C0559D5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C75FF-77ED-BC28-773A-03791B766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50BAC-BB98-4457-51D6-C897D6D68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759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EDD7-39AC-70C5-51A4-17832615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EA70A-7F36-CA25-19F9-BF7768BC8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98FE3-33D1-89FD-2C15-C930F92FB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5852-DFAC-0FE7-F0FD-541BAE396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08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3FF1-BDF8-F269-1452-1E14234C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AB8C4-B122-8756-2968-583AB97C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66D3F-663E-E747-7220-640E90889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29F3E-AD5F-C940-65A3-EACD19102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22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98E0-F6E1-FE78-BDEE-D064EDBB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8ED32-44EF-6186-9D34-30932042A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BD6A4-266C-BBE1-74DC-ADC88E28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8F0CB-B24A-34D1-0770-B6E9B3857E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330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C659-DDFC-43FA-8945-AFC302F7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FA283-528C-00BD-5C7B-0A6BC7D1D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6AC93-B4B7-250B-FD7B-DE71C6170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C2E42-1249-07F4-BAD7-86B0EB410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343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64DC-8261-968F-0867-CD1003B06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1FEC4-4A5F-4455-B30B-6B90076C0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AB1A1-A359-5C56-CB38-61D7136BB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0676-C726-688B-B4E5-D9FD18956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33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AF07-5CDE-9ADF-D1F0-66170146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E5739-EF3B-A85F-4524-A7C296254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DBB94-E824-9095-58BF-9B8B72F52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0EE9-D58E-7883-EE5D-D6940757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85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6730-9C00-7472-9E9D-69A1EF56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5E271-83D6-6B93-A536-FE61D152E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035CC-8737-23B6-AAD2-515E2FF65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2F949-383F-5F96-0E94-15D8EA9FD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9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77009" y="2102247"/>
            <a:ext cx="9144000" cy="830997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NIST CSF 2.0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CA3D9CF-9C2C-A2A7-1897-4D83AC648662}"/>
              </a:ext>
            </a:extLst>
          </p:cNvPr>
          <p:cNvSpPr/>
          <p:nvPr/>
        </p:nvSpPr>
        <p:spPr>
          <a:xfrm>
            <a:off x="777240" y="914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chemeClr val="bg1"/>
                </a:solidFill>
                <a:latin typeface="+mj-lt"/>
              </a:rPr>
              <a:t>CS5292 · WEEK 6 · GUEST LECTURE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23A3C7-7D25-60F8-741E-04FCE163DCA8}"/>
              </a:ext>
            </a:extLst>
          </p:cNvPr>
          <p:cNvSpPr txBox="1">
            <a:spLocks/>
          </p:cNvSpPr>
          <p:nvPr/>
        </p:nvSpPr>
        <p:spPr>
          <a:xfrm>
            <a:off x="777240" y="5365595"/>
            <a:ext cx="9144000" cy="74789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chemeClr val="bg1"/>
                </a:solidFill>
              </a:rPr>
              <a:t>Herman Sin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Senior Manager, Information Security and Risk Assurance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</a:rPr>
              <a:t>Hong Kong Jockey Club</a:t>
            </a: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Bio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普華永道- 維基百科，自由的百科全書">
            <a:extLst>
              <a:ext uri="{FF2B5EF4-FFF2-40B4-BE49-F238E27FC236}">
                <a16:creationId xmlns:a16="http://schemas.microsoft.com/office/drawing/2014/main" id="{F1377980-F08E-352D-6F95-054D0EB3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916" y="2372244"/>
            <a:ext cx="3002167" cy="1454321"/>
          </a:xfrm>
          <a:prstGeom prst="rect">
            <a:avLst/>
          </a:prstGeom>
        </p:spPr>
      </p:pic>
      <p:pic>
        <p:nvPicPr>
          <p:cNvPr id="6" name="Picture 5" descr="hkbn-logo.png">
            <a:extLst>
              <a:ext uri="{FF2B5EF4-FFF2-40B4-BE49-F238E27FC236}">
                <a16:creationId xmlns:a16="http://schemas.microsoft.com/office/drawing/2014/main" id="{A47C03B6-B4E5-852B-665A-651B4AC16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92" y="2172515"/>
            <a:ext cx="2501140" cy="1870853"/>
          </a:xfrm>
          <a:prstGeom prst="rect">
            <a:avLst/>
          </a:prstGeom>
        </p:spPr>
      </p:pic>
      <p:pic>
        <p:nvPicPr>
          <p:cNvPr id="7" name="Picture 6" descr="HKJC - YouTube">
            <a:extLst>
              <a:ext uri="{FF2B5EF4-FFF2-40B4-BE49-F238E27FC236}">
                <a16:creationId xmlns:a16="http://schemas.microsoft.com/office/drawing/2014/main" id="{DD0EF501-6F6D-0968-8AAF-2EE6CEC93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583" y="1568928"/>
            <a:ext cx="3078025" cy="30780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036018-6989-9BA6-A5C5-2A3C92719A5B}"/>
              </a:ext>
            </a:extLst>
          </p:cNvPr>
          <p:cNvSpPr/>
          <p:nvPr/>
        </p:nvSpPr>
        <p:spPr>
          <a:xfrm>
            <a:off x="795723" y="5043361"/>
            <a:ext cx="2743195" cy="73096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IT Operator</a:t>
            </a:r>
          </a:p>
          <a:p>
            <a:pPr marL="342900" indent="-342900" algn="ctr">
              <a:lnSpc>
                <a:spcPts val="19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Segoe UI" panose="020B0502040204020203" pitchFamily="34" charset="0"/>
            </a:endParaRPr>
          </a:p>
          <a:p>
            <a:pPr algn="ctr">
              <a:lnSpc>
                <a:spcPts val="1900"/>
              </a:lnSpc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IT Audit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12BBC4-62A0-69A1-0CF9-84D4B37B283F}"/>
              </a:ext>
            </a:extLst>
          </p:cNvPr>
          <p:cNvSpPr/>
          <p:nvPr/>
        </p:nvSpPr>
        <p:spPr>
          <a:xfrm>
            <a:off x="5004647" y="5165188"/>
            <a:ext cx="2182703" cy="4873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Cyber Security Consultant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83CDB9-F9CE-9ABB-C470-011EB65C7FBC}"/>
              </a:ext>
            </a:extLst>
          </p:cNvPr>
          <p:cNvSpPr/>
          <p:nvPr/>
        </p:nvSpPr>
        <p:spPr>
          <a:xfrm>
            <a:off x="8875243" y="5165187"/>
            <a:ext cx="2182703" cy="4873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Tech Risk Manager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A5B25A72-5390-3228-4709-04FE2FB6E09E}"/>
              </a:ext>
            </a:extLst>
          </p:cNvPr>
          <p:cNvSpPr/>
          <p:nvPr/>
        </p:nvSpPr>
        <p:spPr>
          <a:xfrm>
            <a:off x="3847962" y="3041374"/>
            <a:ext cx="367748" cy="775252"/>
          </a:xfrm>
          <a:prstGeom prst="rightArrow">
            <a:avLst/>
          </a:prstGeom>
          <a:solidFill>
            <a:srgbClr val="0D82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D6DC21AE-71CB-38E6-02C3-39C74ABE83B7}"/>
              </a:ext>
            </a:extLst>
          </p:cNvPr>
          <p:cNvSpPr/>
          <p:nvPr/>
        </p:nvSpPr>
        <p:spPr>
          <a:xfrm>
            <a:off x="7997686" y="3051313"/>
            <a:ext cx="367748" cy="775252"/>
          </a:xfrm>
          <a:prstGeom prst="rightArrow">
            <a:avLst/>
          </a:prstGeom>
          <a:solidFill>
            <a:srgbClr val="0D82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NIST CSF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NIST Cybersecurity Framework 2.0">
            <a:extLst>
              <a:ext uri="{FF2B5EF4-FFF2-40B4-BE49-F238E27FC236}">
                <a16:creationId xmlns:a16="http://schemas.microsoft.com/office/drawing/2014/main" id="{D364A411-7B3D-32D6-E8BA-08140BAAE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2733"/>
            <a:ext cx="4727964" cy="4561706"/>
          </a:xfrm>
          <a:prstGeom prst="rect">
            <a:avLst/>
          </a:prstGeom>
          <a:solidFill>
            <a:srgbClr val="F9F49D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9C69E-8CEE-D4D8-7359-E39D080CD0EB}"/>
              </a:ext>
            </a:extLst>
          </p:cNvPr>
          <p:cNvSpPr txBox="1"/>
          <p:nvPr/>
        </p:nvSpPr>
        <p:spPr>
          <a:xfrm>
            <a:off x="4532658" y="1212929"/>
            <a:ext cx="71462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Developed by the </a:t>
            </a:r>
            <a:r>
              <a:rPr lang="en-GB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U.S. National Institute of Standards and Technology (NIST)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b="1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First released in 2014, major update to version 2.0 in February 2024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Voluntary, risk-based framework — </a:t>
            </a:r>
            <a:r>
              <a:rPr lang="en-GB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not</a:t>
            </a: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a law, </a:t>
            </a:r>
            <a:r>
              <a:rPr lang="en-GB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not</a:t>
            </a: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a certification standard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Provides a common language for managing cybersecurity risk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Originally focused on critical infrastructure → now designed for </a:t>
            </a:r>
            <a:r>
              <a:rPr lang="en-GB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any organisation</a:t>
            </a: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any size, any sector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Core structure: 6 Functions → 22 Categories →  106 Subcategories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Most important change in 2.0: addition of the </a:t>
            </a:r>
            <a:r>
              <a:rPr lang="en-GB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Govern</a:t>
            </a:r>
            <a:r>
              <a:rPr lang="en-GB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function</a:t>
            </a: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Maturity Assessment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9A7B54-9A28-1C57-5C10-C94F4B19D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54253"/>
              </p:ext>
            </p:extLst>
          </p:nvPr>
        </p:nvGraphicFramePr>
        <p:xfrm>
          <a:off x="421861" y="855297"/>
          <a:ext cx="10898810" cy="436916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04566">
                  <a:extLst>
                    <a:ext uri="{9D8B030D-6E8A-4147-A177-3AD203B41FA5}">
                      <a16:colId xmlns:a16="http://schemas.microsoft.com/office/drawing/2014/main" val="316606911"/>
                    </a:ext>
                  </a:extLst>
                </a:gridCol>
                <a:gridCol w="3244838">
                  <a:extLst>
                    <a:ext uri="{9D8B030D-6E8A-4147-A177-3AD203B41FA5}">
                      <a16:colId xmlns:a16="http://schemas.microsoft.com/office/drawing/2014/main" val="412521250"/>
                    </a:ext>
                  </a:extLst>
                </a:gridCol>
                <a:gridCol w="2626692">
                  <a:extLst>
                    <a:ext uri="{9D8B030D-6E8A-4147-A177-3AD203B41FA5}">
                      <a16:colId xmlns:a16="http://schemas.microsoft.com/office/drawing/2014/main" val="2698017276"/>
                    </a:ext>
                  </a:extLst>
                </a:gridCol>
                <a:gridCol w="2822714">
                  <a:extLst>
                    <a:ext uri="{9D8B030D-6E8A-4147-A177-3AD203B41FA5}">
                      <a16:colId xmlns:a16="http://schemas.microsoft.com/office/drawing/2014/main" val="1759855985"/>
                    </a:ext>
                  </a:extLst>
                </a:gridCol>
              </a:tblGrid>
              <a:tr h="705099">
                <a:tc>
                  <a:txBody>
                    <a:bodyPr/>
                    <a:lstStyle/>
                    <a:p>
                      <a:r>
                        <a:rPr lang="en-US" dirty="0"/>
                        <a:t>NIST Functions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</a:t>
                      </a:r>
                    </a:p>
                    <a:p>
                      <a:r>
                        <a:rPr lang="en-US" dirty="0"/>
                        <a:t>Maturity Score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Score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072931"/>
                  </a:ext>
                </a:extLst>
              </a:tr>
              <a:tr h="732814">
                <a:tc>
                  <a:txBody>
                    <a:bodyPr/>
                    <a:lstStyle/>
                    <a:p>
                      <a:r>
                        <a:rPr lang="en-US" dirty="0"/>
                        <a:t>Identify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</a:rPr>
                        <a:t>Understand assets, risks, and business context.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2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21197"/>
                  </a:ext>
                </a:extLst>
              </a:tr>
              <a:tr h="732814">
                <a:tc>
                  <a:txBody>
                    <a:bodyPr/>
                    <a:lstStyle/>
                    <a:p>
                      <a:r>
                        <a:rPr lang="en-US" dirty="0"/>
                        <a:t>Protect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</a:rPr>
                        <a:t>Safeguard systems, data, and services.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2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804122"/>
                  </a:ext>
                </a:extLst>
              </a:tr>
              <a:tr h="732814">
                <a:tc>
                  <a:txBody>
                    <a:bodyPr/>
                    <a:lstStyle/>
                    <a:p>
                      <a:r>
                        <a:rPr lang="en-US" dirty="0"/>
                        <a:t>Detect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rgbClr val="FAB74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</a:rPr>
                        <a:t>Discover cybersecurity events promptly.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3.5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911463"/>
                  </a:ext>
                </a:extLst>
              </a:tr>
              <a:tr h="732814">
                <a:tc>
                  <a:txBody>
                    <a:bodyPr/>
                    <a:lstStyle/>
                    <a:p>
                      <a:r>
                        <a:rPr lang="en-US" dirty="0"/>
                        <a:t>Respond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</a:rPr>
                        <a:t>Take action to contain and manage incidents.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3.5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3984"/>
                  </a:ext>
                </a:extLst>
              </a:tr>
              <a:tr h="732814">
                <a:tc>
                  <a:txBody>
                    <a:bodyPr/>
                    <a:lstStyle/>
                    <a:p>
                      <a:r>
                        <a:rPr lang="en-US" dirty="0"/>
                        <a:t>Recover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>
                    <a:solidFill>
                      <a:srgbClr val="7DF4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</a:rPr>
                        <a:t>Restore operations and improve resilience.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2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3</a:t>
                      </a:r>
                      <a:endParaRPr lang="en-GB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3207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82A0BBB-9F95-0382-FF4D-04A62A077F33}"/>
              </a:ext>
            </a:extLst>
          </p:cNvPr>
          <p:cNvSpPr/>
          <p:nvPr/>
        </p:nvSpPr>
        <p:spPr>
          <a:xfrm>
            <a:off x="421861" y="5460818"/>
            <a:ext cx="10898810" cy="115128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Question: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How to improve the maturity?</a:t>
            </a:r>
            <a:endParaRPr lang="en-GB" sz="2800" b="1" dirty="0">
              <a:solidFill>
                <a:schemeClr val="tx1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HKJC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KJC - YouTube">
            <a:extLst>
              <a:ext uri="{FF2B5EF4-FFF2-40B4-BE49-F238E27FC236}">
                <a16:creationId xmlns:a16="http://schemas.microsoft.com/office/drawing/2014/main" id="{A7208A22-A71D-B2DE-0A72-EB22A06F0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17155"/>
            <a:ext cx="3442470" cy="34424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697DCF-9BAF-82AD-D638-3B2FD611D671}"/>
              </a:ext>
            </a:extLst>
          </p:cNvPr>
          <p:cNvSpPr txBox="1"/>
          <p:nvPr/>
        </p:nvSpPr>
        <p:spPr>
          <a:xfrm>
            <a:off x="4478615" y="1397886"/>
            <a:ext cx="61075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effectLst/>
              </a:rPr>
              <a:t>When you hear </a:t>
            </a:r>
            <a:r>
              <a:rPr lang="en-GB" sz="3000" b="1" dirty="0">
                <a:effectLst/>
              </a:rPr>
              <a:t>HKJC</a:t>
            </a:r>
            <a:r>
              <a:rPr lang="en-GB" sz="3000" dirty="0">
                <a:effectLst/>
              </a:rPr>
              <a:t>, what is the first word that comes to your mind?</a:t>
            </a:r>
            <a:endParaRPr lang="en-GB" sz="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F1BDF-7389-57B9-E04F-E43D6D015EFC}"/>
              </a:ext>
            </a:extLst>
          </p:cNvPr>
          <p:cNvSpPr txBox="1"/>
          <p:nvPr/>
        </p:nvSpPr>
        <p:spPr>
          <a:xfrm>
            <a:off x="4512365" y="2981739"/>
            <a:ext cx="2464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Mark 6</a:t>
            </a:r>
            <a:endParaRPr lang="en-GB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C1E508-4470-9BE4-EECB-15D07D431FB8}"/>
              </a:ext>
            </a:extLst>
          </p:cNvPr>
          <p:cNvSpPr txBox="1"/>
          <p:nvPr/>
        </p:nvSpPr>
        <p:spPr>
          <a:xfrm>
            <a:off x="4512364" y="3872446"/>
            <a:ext cx="2464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Football Betting</a:t>
            </a:r>
            <a:endParaRPr lang="en-GB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037900-5284-DCEB-6CF9-5A2EF93C5FF3}"/>
              </a:ext>
            </a:extLst>
          </p:cNvPr>
          <p:cNvSpPr txBox="1"/>
          <p:nvPr/>
        </p:nvSpPr>
        <p:spPr>
          <a:xfrm>
            <a:off x="4512364" y="4763153"/>
            <a:ext cx="2464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Horse Racing</a:t>
            </a:r>
            <a:endParaRPr lang="en-GB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E70E6-853B-ADE7-C22F-0CCBB831DFD9}"/>
              </a:ext>
            </a:extLst>
          </p:cNvPr>
          <p:cNvSpPr txBox="1"/>
          <p:nvPr/>
        </p:nvSpPr>
        <p:spPr>
          <a:xfrm>
            <a:off x="7683982" y="2981739"/>
            <a:ext cx="2464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Charities</a:t>
            </a:r>
            <a:endParaRPr lang="en-GB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5F9488-8179-DD4B-2C8C-7C5A662B8487}"/>
              </a:ext>
            </a:extLst>
          </p:cNvPr>
          <p:cNvSpPr txBox="1"/>
          <p:nvPr/>
        </p:nvSpPr>
        <p:spPr>
          <a:xfrm>
            <a:off x="7683982" y="3872445"/>
            <a:ext cx="2464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Membership</a:t>
            </a:r>
            <a:endParaRPr lang="en-GB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63DF-AC05-E473-51C9-5D29426A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CF541D93-B81D-12E4-CDE6-F958B41B46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FDA31F-9A90-6218-B71A-7EA36CB59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8C4F0F3-B74A-4EA4-B4E7-9D4F720B383A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NIST CSF in HKJC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C1B78E-6ADC-0664-1DC9-7F716AB5D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25">
            <a:extLst>
              <a:ext uri="{FF2B5EF4-FFF2-40B4-BE49-F238E27FC236}">
                <a16:creationId xmlns:a16="http://schemas.microsoft.com/office/drawing/2014/main" id="{9BAF8EC8-2F26-AAD0-B09B-0B7A7D6B066E}"/>
              </a:ext>
            </a:extLst>
          </p:cNvPr>
          <p:cNvSpPr/>
          <p:nvPr/>
        </p:nvSpPr>
        <p:spPr>
          <a:xfrm>
            <a:off x="5340202" y="1928871"/>
            <a:ext cx="1327297" cy="1276120"/>
          </a:xfrm>
          <a:custGeom>
            <a:avLst/>
            <a:gdLst>
              <a:gd name="connsiteX0" fmla="*/ 169590 w 540885"/>
              <a:gd name="connsiteY0" fmla="*/ 270443 h 504826"/>
              <a:gd name="connsiteX1" fmla="*/ 181704 w 540885"/>
              <a:gd name="connsiteY1" fmla="*/ 276500 h 504826"/>
              <a:gd name="connsiteX2" fmla="*/ 202269 w 540885"/>
              <a:gd name="connsiteY2" fmla="*/ 290022 h 504826"/>
              <a:gd name="connsiteX3" fmla="*/ 232412 w 540885"/>
              <a:gd name="connsiteY3" fmla="*/ 303544 h 504826"/>
              <a:gd name="connsiteX4" fmla="*/ 270443 w 540885"/>
              <a:gd name="connsiteY4" fmla="*/ 309601 h 504826"/>
              <a:gd name="connsiteX5" fmla="*/ 308473 w 540885"/>
              <a:gd name="connsiteY5" fmla="*/ 303544 h 504826"/>
              <a:gd name="connsiteX6" fmla="*/ 338617 w 540885"/>
              <a:gd name="connsiteY6" fmla="*/ 290022 h 504826"/>
              <a:gd name="connsiteX7" fmla="*/ 359181 w 540885"/>
              <a:gd name="connsiteY7" fmla="*/ 276500 h 504826"/>
              <a:gd name="connsiteX8" fmla="*/ 371295 w 540885"/>
              <a:gd name="connsiteY8" fmla="*/ 270443 h 504826"/>
              <a:gd name="connsiteX9" fmla="*/ 402705 w 540885"/>
              <a:gd name="connsiteY9" fmla="*/ 276077 h 504826"/>
              <a:gd name="connsiteX10" fmla="*/ 426792 w 540885"/>
              <a:gd name="connsiteY10" fmla="*/ 291149 h 504826"/>
              <a:gd name="connsiteX11" fmla="*/ 444258 w 540885"/>
              <a:gd name="connsiteY11" fmla="*/ 313967 h 504826"/>
              <a:gd name="connsiteX12" fmla="*/ 456371 w 540885"/>
              <a:gd name="connsiteY12" fmla="*/ 341434 h 504826"/>
              <a:gd name="connsiteX13" fmla="*/ 463837 w 540885"/>
              <a:gd name="connsiteY13" fmla="*/ 372000 h 504826"/>
              <a:gd name="connsiteX14" fmla="*/ 467781 w 540885"/>
              <a:gd name="connsiteY14" fmla="*/ 402706 h 504826"/>
              <a:gd name="connsiteX15" fmla="*/ 468767 w 540885"/>
              <a:gd name="connsiteY15" fmla="*/ 431863 h 504826"/>
              <a:gd name="connsiteX16" fmla="*/ 448202 w 540885"/>
              <a:gd name="connsiteY16" fmla="*/ 485247 h 504826"/>
              <a:gd name="connsiteX17" fmla="*/ 393550 w 540885"/>
              <a:gd name="connsiteY17" fmla="*/ 504826 h 504826"/>
              <a:gd name="connsiteX18" fmla="*/ 147335 w 540885"/>
              <a:gd name="connsiteY18" fmla="*/ 504826 h 504826"/>
              <a:gd name="connsiteX19" fmla="*/ 92683 w 540885"/>
              <a:gd name="connsiteY19" fmla="*/ 485247 h 504826"/>
              <a:gd name="connsiteX20" fmla="*/ 72118 w 540885"/>
              <a:gd name="connsiteY20" fmla="*/ 431863 h 504826"/>
              <a:gd name="connsiteX21" fmla="*/ 73104 w 540885"/>
              <a:gd name="connsiteY21" fmla="*/ 402706 h 504826"/>
              <a:gd name="connsiteX22" fmla="*/ 77049 w 540885"/>
              <a:gd name="connsiteY22" fmla="*/ 372000 h 504826"/>
              <a:gd name="connsiteX23" fmla="*/ 84514 w 540885"/>
              <a:gd name="connsiteY23" fmla="*/ 341434 h 504826"/>
              <a:gd name="connsiteX24" fmla="*/ 96628 w 540885"/>
              <a:gd name="connsiteY24" fmla="*/ 313967 h 504826"/>
              <a:gd name="connsiteX25" fmla="*/ 114093 w 540885"/>
              <a:gd name="connsiteY25" fmla="*/ 291149 h 504826"/>
              <a:gd name="connsiteX26" fmla="*/ 138180 w 540885"/>
              <a:gd name="connsiteY26" fmla="*/ 276077 h 504826"/>
              <a:gd name="connsiteX27" fmla="*/ 169590 w 540885"/>
              <a:gd name="connsiteY27" fmla="*/ 270443 h 504826"/>
              <a:gd name="connsiteX28" fmla="*/ 505953 w 540885"/>
              <a:gd name="connsiteY28" fmla="*/ 144237 h 504826"/>
              <a:gd name="connsiteX29" fmla="*/ 540885 w 540885"/>
              <a:gd name="connsiteY29" fmla="*/ 243680 h 504826"/>
              <a:gd name="connsiteX30" fmla="*/ 525109 w 540885"/>
              <a:gd name="connsiteY30" fmla="*/ 277063 h 504826"/>
              <a:gd name="connsiteX31" fmla="*/ 486233 w 540885"/>
              <a:gd name="connsiteY31" fmla="*/ 288472 h 504826"/>
              <a:gd name="connsiteX32" fmla="*/ 448484 w 540885"/>
              <a:gd name="connsiteY32" fmla="*/ 288472 h 504826"/>
              <a:gd name="connsiteX33" fmla="*/ 373830 w 540885"/>
              <a:gd name="connsiteY33" fmla="*/ 252413 h 504826"/>
              <a:gd name="connsiteX34" fmla="*/ 396649 w 540885"/>
              <a:gd name="connsiteY34" fmla="*/ 180296 h 504826"/>
              <a:gd name="connsiteX35" fmla="*/ 395240 w 540885"/>
              <a:gd name="connsiteY35" fmla="*/ 161703 h 504826"/>
              <a:gd name="connsiteX36" fmla="*/ 432708 w 540885"/>
              <a:gd name="connsiteY36" fmla="*/ 168182 h 504826"/>
              <a:gd name="connsiteX37" fmla="*/ 466231 w 540885"/>
              <a:gd name="connsiteY37" fmla="*/ 162125 h 504826"/>
              <a:gd name="connsiteX38" fmla="*/ 493698 w 540885"/>
              <a:gd name="connsiteY38" fmla="*/ 150153 h 504826"/>
              <a:gd name="connsiteX39" fmla="*/ 505953 w 540885"/>
              <a:gd name="connsiteY39" fmla="*/ 144237 h 504826"/>
              <a:gd name="connsiteX40" fmla="*/ 34932 w 540885"/>
              <a:gd name="connsiteY40" fmla="*/ 144237 h 504826"/>
              <a:gd name="connsiteX41" fmla="*/ 47187 w 540885"/>
              <a:gd name="connsiteY41" fmla="*/ 150153 h 504826"/>
              <a:gd name="connsiteX42" fmla="*/ 74653 w 540885"/>
              <a:gd name="connsiteY42" fmla="*/ 162125 h 504826"/>
              <a:gd name="connsiteX43" fmla="*/ 108176 w 540885"/>
              <a:gd name="connsiteY43" fmla="*/ 168182 h 504826"/>
              <a:gd name="connsiteX44" fmla="*/ 145644 w 540885"/>
              <a:gd name="connsiteY44" fmla="*/ 161703 h 504826"/>
              <a:gd name="connsiteX45" fmla="*/ 144235 w 540885"/>
              <a:gd name="connsiteY45" fmla="*/ 180296 h 504826"/>
              <a:gd name="connsiteX46" fmla="*/ 167054 w 540885"/>
              <a:gd name="connsiteY46" fmla="*/ 252413 h 504826"/>
              <a:gd name="connsiteX47" fmla="*/ 92401 w 540885"/>
              <a:gd name="connsiteY47" fmla="*/ 288472 h 504826"/>
              <a:gd name="connsiteX48" fmla="*/ 54652 w 540885"/>
              <a:gd name="connsiteY48" fmla="*/ 288472 h 504826"/>
              <a:gd name="connsiteX49" fmla="*/ 15776 w 540885"/>
              <a:gd name="connsiteY49" fmla="*/ 277063 h 504826"/>
              <a:gd name="connsiteX50" fmla="*/ 0 w 540885"/>
              <a:gd name="connsiteY50" fmla="*/ 243680 h 504826"/>
              <a:gd name="connsiteX51" fmla="*/ 34932 w 540885"/>
              <a:gd name="connsiteY51" fmla="*/ 144237 h 504826"/>
              <a:gd name="connsiteX52" fmla="*/ 270442 w 540885"/>
              <a:gd name="connsiteY52" fmla="*/ 72119 h 504826"/>
              <a:gd name="connsiteX53" fmla="*/ 346926 w 540885"/>
              <a:gd name="connsiteY53" fmla="*/ 103811 h 504826"/>
              <a:gd name="connsiteX54" fmla="*/ 378619 w 540885"/>
              <a:gd name="connsiteY54" fmla="*/ 180296 h 504826"/>
              <a:gd name="connsiteX55" fmla="*/ 346926 w 540885"/>
              <a:gd name="connsiteY55" fmla="*/ 256780 h 504826"/>
              <a:gd name="connsiteX56" fmla="*/ 270442 w 540885"/>
              <a:gd name="connsiteY56" fmla="*/ 288472 h 504826"/>
              <a:gd name="connsiteX57" fmla="*/ 193957 w 540885"/>
              <a:gd name="connsiteY57" fmla="*/ 256780 h 504826"/>
              <a:gd name="connsiteX58" fmla="*/ 162265 w 540885"/>
              <a:gd name="connsiteY58" fmla="*/ 180296 h 504826"/>
              <a:gd name="connsiteX59" fmla="*/ 193957 w 540885"/>
              <a:gd name="connsiteY59" fmla="*/ 103811 h 504826"/>
              <a:gd name="connsiteX60" fmla="*/ 270442 w 540885"/>
              <a:gd name="connsiteY60" fmla="*/ 72119 h 504826"/>
              <a:gd name="connsiteX61" fmla="*/ 432707 w 540885"/>
              <a:gd name="connsiteY61" fmla="*/ 0 h 504826"/>
              <a:gd name="connsiteX62" fmla="*/ 483697 w 540885"/>
              <a:gd name="connsiteY62" fmla="*/ 21128 h 504826"/>
              <a:gd name="connsiteX63" fmla="*/ 504825 w 540885"/>
              <a:gd name="connsiteY63" fmla="*/ 72118 h 504826"/>
              <a:gd name="connsiteX64" fmla="*/ 483697 w 540885"/>
              <a:gd name="connsiteY64" fmla="*/ 123108 h 504826"/>
              <a:gd name="connsiteX65" fmla="*/ 432707 w 540885"/>
              <a:gd name="connsiteY65" fmla="*/ 144236 h 504826"/>
              <a:gd name="connsiteX66" fmla="*/ 381717 w 540885"/>
              <a:gd name="connsiteY66" fmla="*/ 123108 h 504826"/>
              <a:gd name="connsiteX67" fmla="*/ 360589 w 540885"/>
              <a:gd name="connsiteY67" fmla="*/ 72118 h 504826"/>
              <a:gd name="connsiteX68" fmla="*/ 381717 w 540885"/>
              <a:gd name="connsiteY68" fmla="*/ 21128 h 504826"/>
              <a:gd name="connsiteX69" fmla="*/ 432707 w 540885"/>
              <a:gd name="connsiteY69" fmla="*/ 0 h 504826"/>
              <a:gd name="connsiteX70" fmla="*/ 108176 w 540885"/>
              <a:gd name="connsiteY70" fmla="*/ 0 h 504826"/>
              <a:gd name="connsiteX71" fmla="*/ 159167 w 540885"/>
              <a:gd name="connsiteY71" fmla="*/ 21128 h 504826"/>
              <a:gd name="connsiteX72" fmla="*/ 180295 w 540885"/>
              <a:gd name="connsiteY72" fmla="*/ 72118 h 504826"/>
              <a:gd name="connsiteX73" fmla="*/ 159167 w 540885"/>
              <a:gd name="connsiteY73" fmla="*/ 123108 h 504826"/>
              <a:gd name="connsiteX74" fmla="*/ 108176 w 540885"/>
              <a:gd name="connsiteY74" fmla="*/ 144236 h 504826"/>
              <a:gd name="connsiteX75" fmla="*/ 57187 w 540885"/>
              <a:gd name="connsiteY75" fmla="*/ 123108 h 504826"/>
              <a:gd name="connsiteX76" fmla="*/ 36059 w 540885"/>
              <a:gd name="connsiteY76" fmla="*/ 72118 h 504826"/>
              <a:gd name="connsiteX77" fmla="*/ 57187 w 540885"/>
              <a:gd name="connsiteY77" fmla="*/ 21128 h 504826"/>
              <a:gd name="connsiteX78" fmla="*/ 108176 w 540885"/>
              <a:gd name="connsiteY78" fmla="*/ 0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40885" h="504826">
                <a:moveTo>
                  <a:pt x="169590" y="270443"/>
                </a:moveTo>
                <a:cubicBezTo>
                  <a:pt x="171469" y="270443"/>
                  <a:pt x="175506" y="272462"/>
                  <a:pt x="181704" y="276500"/>
                </a:cubicBezTo>
                <a:cubicBezTo>
                  <a:pt x="187902" y="280538"/>
                  <a:pt x="194757" y="285045"/>
                  <a:pt x="202269" y="290022"/>
                </a:cubicBezTo>
                <a:cubicBezTo>
                  <a:pt x="209781" y="294999"/>
                  <a:pt x="219829" y="299506"/>
                  <a:pt x="232412" y="303544"/>
                </a:cubicBezTo>
                <a:cubicBezTo>
                  <a:pt x="244995" y="307582"/>
                  <a:pt x="257673" y="309601"/>
                  <a:pt x="270443" y="309601"/>
                </a:cubicBezTo>
                <a:cubicBezTo>
                  <a:pt x="283214" y="309601"/>
                  <a:pt x="295891" y="307582"/>
                  <a:pt x="308473" y="303544"/>
                </a:cubicBezTo>
                <a:cubicBezTo>
                  <a:pt x="321057" y="299506"/>
                  <a:pt x="331105" y="294999"/>
                  <a:pt x="338617" y="290022"/>
                </a:cubicBezTo>
                <a:cubicBezTo>
                  <a:pt x="346129" y="285045"/>
                  <a:pt x="352983" y="280538"/>
                  <a:pt x="359181" y="276500"/>
                </a:cubicBezTo>
                <a:cubicBezTo>
                  <a:pt x="365379" y="272462"/>
                  <a:pt x="369418" y="270443"/>
                  <a:pt x="371295" y="270443"/>
                </a:cubicBezTo>
                <a:cubicBezTo>
                  <a:pt x="382751" y="270443"/>
                  <a:pt x="393222" y="272321"/>
                  <a:pt x="402705" y="276077"/>
                </a:cubicBezTo>
                <a:cubicBezTo>
                  <a:pt x="412191" y="279833"/>
                  <a:pt x="420218" y="284857"/>
                  <a:pt x="426792" y="291149"/>
                </a:cubicBezTo>
                <a:cubicBezTo>
                  <a:pt x="433365" y="297440"/>
                  <a:pt x="439187" y="305046"/>
                  <a:pt x="444258" y="313967"/>
                </a:cubicBezTo>
                <a:cubicBezTo>
                  <a:pt x="449329" y="322888"/>
                  <a:pt x="453367" y="332044"/>
                  <a:pt x="456371" y="341434"/>
                </a:cubicBezTo>
                <a:cubicBezTo>
                  <a:pt x="459376" y="350824"/>
                  <a:pt x="461865" y="361013"/>
                  <a:pt x="463837" y="372000"/>
                </a:cubicBezTo>
                <a:cubicBezTo>
                  <a:pt x="465809" y="382986"/>
                  <a:pt x="467124" y="393222"/>
                  <a:pt x="467781" y="402706"/>
                </a:cubicBezTo>
                <a:cubicBezTo>
                  <a:pt x="468438" y="412190"/>
                  <a:pt x="468767" y="421909"/>
                  <a:pt x="468767" y="431863"/>
                </a:cubicBezTo>
                <a:cubicBezTo>
                  <a:pt x="468767" y="454400"/>
                  <a:pt x="461912" y="472195"/>
                  <a:pt x="448202" y="485247"/>
                </a:cubicBezTo>
                <a:cubicBezTo>
                  <a:pt x="434492" y="498300"/>
                  <a:pt x="416275" y="504826"/>
                  <a:pt x="393550" y="504826"/>
                </a:cubicBezTo>
                <a:lnTo>
                  <a:pt x="147335" y="504826"/>
                </a:lnTo>
                <a:cubicBezTo>
                  <a:pt x="124611" y="504826"/>
                  <a:pt x="106393" y="498300"/>
                  <a:pt x="92683" y="485247"/>
                </a:cubicBezTo>
                <a:cubicBezTo>
                  <a:pt x="78974" y="472195"/>
                  <a:pt x="72118" y="454400"/>
                  <a:pt x="72118" y="431863"/>
                </a:cubicBezTo>
                <a:cubicBezTo>
                  <a:pt x="72118" y="421909"/>
                  <a:pt x="72447" y="412190"/>
                  <a:pt x="73104" y="402706"/>
                </a:cubicBezTo>
                <a:cubicBezTo>
                  <a:pt x="73761" y="393222"/>
                  <a:pt x="75077" y="382986"/>
                  <a:pt x="77049" y="372000"/>
                </a:cubicBezTo>
                <a:cubicBezTo>
                  <a:pt x="79021" y="361013"/>
                  <a:pt x="81510" y="350824"/>
                  <a:pt x="84514" y="341434"/>
                </a:cubicBezTo>
                <a:cubicBezTo>
                  <a:pt x="87519" y="332044"/>
                  <a:pt x="91556" y="322888"/>
                  <a:pt x="96628" y="313967"/>
                </a:cubicBezTo>
                <a:cubicBezTo>
                  <a:pt x="101698" y="305046"/>
                  <a:pt x="107521" y="297440"/>
                  <a:pt x="114093" y="291149"/>
                </a:cubicBezTo>
                <a:cubicBezTo>
                  <a:pt x="120667" y="284857"/>
                  <a:pt x="128696" y="279833"/>
                  <a:pt x="138180" y="276077"/>
                </a:cubicBezTo>
                <a:cubicBezTo>
                  <a:pt x="147664" y="272321"/>
                  <a:pt x="158135" y="270443"/>
                  <a:pt x="169590" y="270443"/>
                </a:cubicBezTo>
                <a:close/>
                <a:moveTo>
                  <a:pt x="505953" y="144237"/>
                </a:moveTo>
                <a:cubicBezTo>
                  <a:pt x="529241" y="144237"/>
                  <a:pt x="540885" y="177385"/>
                  <a:pt x="540885" y="243680"/>
                </a:cubicBezTo>
                <a:cubicBezTo>
                  <a:pt x="540885" y="258329"/>
                  <a:pt x="535626" y="269457"/>
                  <a:pt x="525109" y="277063"/>
                </a:cubicBezTo>
                <a:cubicBezTo>
                  <a:pt x="514592" y="284669"/>
                  <a:pt x="501634" y="288472"/>
                  <a:pt x="486233" y="288472"/>
                </a:cubicBezTo>
                <a:lnTo>
                  <a:pt x="448484" y="288472"/>
                </a:lnTo>
                <a:cubicBezTo>
                  <a:pt x="429140" y="265372"/>
                  <a:pt x="404256" y="253353"/>
                  <a:pt x="373830" y="252413"/>
                </a:cubicBezTo>
                <a:cubicBezTo>
                  <a:pt x="389043" y="230440"/>
                  <a:pt x="396649" y="206401"/>
                  <a:pt x="396649" y="180296"/>
                </a:cubicBezTo>
                <a:cubicBezTo>
                  <a:pt x="396649" y="174849"/>
                  <a:pt x="396179" y="168652"/>
                  <a:pt x="395240" y="161703"/>
                </a:cubicBezTo>
                <a:cubicBezTo>
                  <a:pt x="407636" y="166022"/>
                  <a:pt x="420125" y="168182"/>
                  <a:pt x="432708" y="168182"/>
                </a:cubicBezTo>
                <a:cubicBezTo>
                  <a:pt x="443789" y="168182"/>
                  <a:pt x="454964" y="166163"/>
                  <a:pt x="466231" y="162125"/>
                </a:cubicBezTo>
                <a:cubicBezTo>
                  <a:pt x="477500" y="158087"/>
                  <a:pt x="486655" y="154097"/>
                  <a:pt x="493698" y="150153"/>
                </a:cubicBezTo>
                <a:cubicBezTo>
                  <a:pt x="500742" y="146209"/>
                  <a:pt x="504826" y="144237"/>
                  <a:pt x="505953" y="144237"/>
                </a:cubicBezTo>
                <a:close/>
                <a:moveTo>
                  <a:pt x="34932" y="144237"/>
                </a:moveTo>
                <a:cubicBezTo>
                  <a:pt x="36059" y="144237"/>
                  <a:pt x="40144" y="146209"/>
                  <a:pt x="47187" y="150153"/>
                </a:cubicBezTo>
                <a:cubicBezTo>
                  <a:pt x="54229" y="154097"/>
                  <a:pt x="63384" y="158087"/>
                  <a:pt x="74653" y="162125"/>
                </a:cubicBezTo>
                <a:cubicBezTo>
                  <a:pt x="85921" y="166163"/>
                  <a:pt x="97096" y="168182"/>
                  <a:pt x="108176" y="168182"/>
                </a:cubicBezTo>
                <a:cubicBezTo>
                  <a:pt x="120760" y="168182"/>
                  <a:pt x="133249" y="166022"/>
                  <a:pt x="145644" y="161703"/>
                </a:cubicBezTo>
                <a:cubicBezTo>
                  <a:pt x="144705" y="168652"/>
                  <a:pt x="144235" y="174849"/>
                  <a:pt x="144235" y="180296"/>
                </a:cubicBezTo>
                <a:cubicBezTo>
                  <a:pt x="144235" y="206401"/>
                  <a:pt x="151841" y="230440"/>
                  <a:pt x="167054" y="252413"/>
                </a:cubicBezTo>
                <a:cubicBezTo>
                  <a:pt x="136630" y="253353"/>
                  <a:pt x="111745" y="265372"/>
                  <a:pt x="92401" y="288472"/>
                </a:cubicBezTo>
                <a:lnTo>
                  <a:pt x="54652" y="288472"/>
                </a:lnTo>
                <a:cubicBezTo>
                  <a:pt x="39251" y="288472"/>
                  <a:pt x="26293" y="284669"/>
                  <a:pt x="15776" y="277063"/>
                </a:cubicBezTo>
                <a:cubicBezTo>
                  <a:pt x="5259" y="269457"/>
                  <a:pt x="0" y="258329"/>
                  <a:pt x="0" y="243680"/>
                </a:cubicBezTo>
                <a:cubicBezTo>
                  <a:pt x="0" y="177385"/>
                  <a:pt x="11644" y="144237"/>
                  <a:pt x="34932" y="144237"/>
                </a:cubicBezTo>
                <a:close/>
                <a:moveTo>
                  <a:pt x="270442" y="72119"/>
                </a:moveTo>
                <a:cubicBezTo>
                  <a:pt x="300303" y="72119"/>
                  <a:pt x="325799" y="82683"/>
                  <a:pt x="346926" y="103811"/>
                </a:cubicBezTo>
                <a:cubicBezTo>
                  <a:pt x="368054" y="124940"/>
                  <a:pt x="378619" y="150434"/>
                  <a:pt x="378619" y="180296"/>
                </a:cubicBezTo>
                <a:cubicBezTo>
                  <a:pt x="378619" y="210157"/>
                  <a:pt x="368054" y="235652"/>
                  <a:pt x="346926" y="256780"/>
                </a:cubicBezTo>
                <a:cubicBezTo>
                  <a:pt x="325799" y="277908"/>
                  <a:pt x="300303" y="288472"/>
                  <a:pt x="270442" y="288472"/>
                </a:cubicBezTo>
                <a:cubicBezTo>
                  <a:pt x="240580" y="288472"/>
                  <a:pt x="215085" y="277908"/>
                  <a:pt x="193957" y="256780"/>
                </a:cubicBezTo>
                <a:cubicBezTo>
                  <a:pt x="172829" y="235652"/>
                  <a:pt x="162265" y="210157"/>
                  <a:pt x="162265" y="180296"/>
                </a:cubicBezTo>
                <a:cubicBezTo>
                  <a:pt x="162265" y="150434"/>
                  <a:pt x="172829" y="124940"/>
                  <a:pt x="193957" y="103811"/>
                </a:cubicBezTo>
                <a:cubicBezTo>
                  <a:pt x="215085" y="82683"/>
                  <a:pt x="240580" y="72119"/>
                  <a:pt x="270442" y="72119"/>
                </a:cubicBezTo>
                <a:close/>
                <a:moveTo>
                  <a:pt x="432707" y="0"/>
                </a:moveTo>
                <a:cubicBezTo>
                  <a:pt x="452615" y="0"/>
                  <a:pt x="469611" y="7043"/>
                  <a:pt x="483697" y="21128"/>
                </a:cubicBezTo>
                <a:cubicBezTo>
                  <a:pt x="497783" y="35214"/>
                  <a:pt x="504825" y="52210"/>
                  <a:pt x="504825" y="72118"/>
                </a:cubicBezTo>
                <a:cubicBezTo>
                  <a:pt x="504825" y="92025"/>
                  <a:pt x="497783" y="109022"/>
                  <a:pt x="483697" y="123108"/>
                </a:cubicBezTo>
                <a:cubicBezTo>
                  <a:pt x="469611" y="137193"/>
                  <a:pt x="452615" y="144236"/>
                  <a:pt x="432707" y="144236"/>
                </a:cubicBezTo>
                <a:cubicBezTo>
                  <a:pt x="412800" y="144236"/>
                  <a:pt x="395803" y="137193"/>
                  <a:pt x="381717" y="123108"/>
                </a:cubicBezTo>
                <a:cubicBezTo>
                  <a:pt x="367632" y="109022"/>
                  <a:pt x="360589" y="92025"/>
                  <a:pt x="360589" y="72118"/>
                </a:cubicBezTo>
                <a:cubicBezTo>
                  <a:pt x="360589" y="52210"/>
                  <a:pt x="367632" y="35214"/>
                  <a:pt x="381717" y="21128"/>
                </a:cubicBezTo>
                <a:cubicBezTo>
                  <a:pt x="395803" y="7043"/>
                  <a:pt x="412800" y="0"/>
                  <a:pt x="432707" y="0"/>
                </a:cubicBezTo>
                <a:close/>
                <a:moveTo>
                  <a:pt x="108176" y="0"/>
                </a:moveTo>
                <a:cubicBezTo>
                  <a:pt x="128085" y="0"/>
                  <a:pt x="145080" y="7043"/>
                  <a:pt x="159167" y="21128"/>
                </a:cubicBezTo>
                <a:cubicBezTo>
                  <a:pt x="173252" y="35214"/>
                  <a:pt x="180295" y="52210"/>
                  <a:pt x="180295" y="72118"/>
                </a:cubicBezTo>
                <a:cubicBezTo>
                  <a:pt x="180295" y="92025"/>
                  <a:pt x="173252" y="109022"/>
                  <a:pt x="159167" y="123108"/>
                </a:cubicBezTo>
                <a:cubicBezTo>
                  <a:pt x="145080" y="137193"/>
                  <a:pt x="128085" y="144236"/>
                  <a:pt x="108176" y="144236"/>
                </a:cubicBezTo>
                <a:cubicBezTo>
                  <a:pt x="88270" y="144236"/>
                  <a:pt x="71272" y="137193"/>
                  <a:pt x="57187" y="123108"/>
                </a:cubicBezTo>
                <a:cubicBezTo>
                  <a:pt x="43102" y="109022"/>
                  <a:pt x="36059" y="92025"/>
                  <a:pt x="36059" y="72118"/>
                </a:cubicBezTo>
                <a:cubicBezTo>
                  <a:pt x="36059" y="52210"/>
                  <a:pt x="43102" y="35214"/>
                  <a:pt x="57187" y="21128"/>
                </a:cubicBezTo>
                <a:cubicBezTo>
                  <a:pt x="71272" y="7043"/>
                  <a:pt x="88270" y="0"/>
                  <a:pt x="108176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Freeform 311">
            <a:extLst>
              <a:ext uri="{FF2B5EF4-FFF2-40B4-BE49-F238E27FC236}">
                <a16:creationId xmlns:a16="http://schemas.microsoft.com/office/drawing/2014/main" id="{8EE3FAFE-2B9B-B5B9-5542-CAE5578BE4F2}"/>
              </a:ext>
            </a:extLst>
          </p:cNvPr>
          <p:cNvSpPr/>
          <p:nvPr/>
        </p:nvSpPr>
        <p:spPr>
          <a:xfrm>
            <a:off x="9262598" y="1928871"/>
            <a:ext cx="1240653" cy="1276120"/>
          </a:xfrm>
          <a:custGeom>
            <a:avLst/>
            <a:gdLst/>
            <a:ahLst/>
            <a:cxnLst/>
            <a:rect l="l" t="t" r="r" b="b"/>
            <a:pathLst>
              <a:path w="540884" h="468766">
                <a:moveTo>
                  <a:pt x="45073" y="0"/>
                </a:moveTo>
                <a:lnTo>
                  <a:pt x="495810" y="0"/>
                </a:lnTo>
                <a:cubicBezTo>
                  <a:pt x="508206" y="0"/>
                  <a:pt x="518816" y="4413"/>
                  <a:pt x="527643" y="13241"/>
                </a:cubicBezTo>
                <a:cubicBezTo>
                  <a:pt x="536471" y="22067"/>
                  <a:pt x="540884" y="32678"/>
                  <a:pt x="540884" y="45074"/>
                </a:cubicBezTo>
                <a:lnTo>
                  <a:pt x="540884" y="351575"/>
                </a:lnTo>
                <a:cubicBezTo>
                  <a:pt x="540884" y="363970"/>
                  <a:pt x="536471" y="374581"/>
                  <a:pt x="527643" y="383408"/>
                </a:cubicBezTo>
                <a:cubicBezTo>
                  <a:pt x="518816" y="392235"/>
                  <a:pt x="508206" y="396648"/>
                  <a:pt x="495810" y="396648"/>
                </a:cubicBezTo>
                <a:lnTo>
                  <a:pt x="342560" y="396648"/>
                </a:lnTo>
                <a:cubicBezTo>
                  <a:pt x="342560" y="403597"/>
                  <a:pt x="344062" y="410875"/>
                  <a:pt x="347067" y="418481"/>
                </a:cubicBezTo>
                <a:cubicBezTo>
                  <a:pt x="350072" y="426087"/>
                  <a:pt x="353077" y="432754"/>
                  <a:pt x="356082" y="438482"/>
                </a:cubicBezTo>
                <a:cubicBezTo>
                  <a:pt x="359087" y="444210"/>
                  <a:pt x="360589" y="448295"/>
                  <a:pt x="360589" y="450737"/>
                </a:cubicBezTo>
                <a:cubicBezTo>
                  <a:pt x="360589" y="455620"/>
                  <a:pt x="358805" y="459845"/>
                  <a:pt x="355236" y="463414"/>
                </a:cubicBezTo>
                <a:cubicBezTo>
                  <a:pt x="351668" y="466982"/>
                  <a:pt x="347443" y="468766"/>
                  <a:pt x="342560" y="468766"/>
                </a:cubicBezTo>
                <a:lnTo>
                  <a:pt x="198324" y="468766"/>
                </a:lnTo>
                <a:cubicBezTo>
                  <a:pt x="193441" y="468766"/>
                  <a:pt x="189215" y="466982"/>
                  <a:pt x="185647" y="463414"/>
                </a:cubicBezTo>
                <a:cubicBezTo>
                  <a:pt x="182079" y="459845"/>
                  <a:pt x="180294" y="455620"/>
                  <a:pt x="180294" y="450737"/>
                </a:cubicBezTo>
                <a:cubicBezTo>
                  <a:pt x="180294" y="448107"/>
                  <a:pt x="181797" y="443976"/>
                  <a:pt x="184802" y="438342"/>
                </a:cubicBezTo>
                <a:cubicBezTo>
                  <a:pt x="187807" y="432707"/>
                  <a:pt x="190812" y="426134"/>
                  <a:pt x="193817" y="418622"/>
                </a:cubicBezTo>
                <a:cubicBezTo>
                  <a:pt x="196822" y="411110"/>
                  <a:pt x="198324" y="403785"/>
                  <a:pt x="198324" y="396648"/>
                </a:cubicBezTo>
                <a:lnTo>
                  <a:pt x="45073" y="396648"/>
                </a:lnTo>
                <a:cubicBezTo>
                  <a:pt x="32678" y="396648"/>
                  <a:pt x="22067" y="392235"/>
                  <a:pt x="13240" y="383408"/>
                </a:cubicBezTo>
                <a:cubicBezTo>
                  <a:pt x="4413" y="374581"/>
                  <a:pt x="0" y="363970"/>
                  <a:pt x="0" y="351575"/>
                </a:cubicBezTo>
                <a:lnTo>
                  <a:pt x="0" y="45074"/>
                </a:lnTo>
                <a:cubicBezTo>
                  <a:pt x="0" y="32678"/>
                  <a:pt x="4413" y="22067"/>
                  <a:pt x="13240" y="13241"/>
                </a:cubicBezTo>
                <a:cubicBezTo>
                  <a:pt x="22067" y="4413"/>
                  <a:pt x="32678" y="0"/>
                  <a:pt x="45073" y="0"/>
                </a:cubicBezTo>
                <a:close/>
                <a:moveTo>
                  <a:pt x="45073" y="36059"/>
                </a:moveTo>
                <a:cubicBezTo>
                  <a:pt x="42632" y="36059"/>
                  <a:pt x="40519" y="36951"/>
                  <a:pt x="38735" y="38735"/>
                </a:cubicBezTo>
                <a:cubicBezTo>
                  <a:pt x="36951" y="40519"/>
                  <a:pt x="36059" y="42632"/>
                  <a:pt x="36059" y="45074"/>
                </a:cubicBezTo>
                <a:lnTo>
                  <a:pt x="36059" y="279457"/>
                </a:lnTo>
                <a:cubicBezTo>
                  <a:pt x="36059" y="281898"/>
                  <a:pt x="36951" y="284011"/>
                  <a:pt x="38735" y="285795"/>
                </a:cubicBezTo>
                <a:cubicBezTo>
                  <a:pt x="40519" y="287579"/>
                  <a:pt x="42632" y="288471"/>
                  <a:pt x="45073" y="288471"/>
                </a:cubicBezTo>
                <a:lnTo>
                  <a:pt x="495810" y="288471"/>
                </a:lnTo>
                <a:cubicBezTo>
                  <a:pt x="498251" y="288471"/>
                  <a:pt x="500364" y="287579"/>
                  <a:pt x="502148" y="285795"/>
                </a:cubicBezTo>
                <a:cubicBezTo>
                  <a:pt x="503933" y="284011"/>
                  <a:pt x="504825" y="281898"/>
                  <a:pt x="504825" y="279457"/>
                </a:cubicBezTo>
                <a:lnTo>
                  <a:pt x="504825" y="45074"/>
                </a:lnTo>
                <a:cubicBezTo>
                  <a:pt x="504825" y="42632"/>
                  <a:pt x="503933" y="40519"/>
                  <a:pt x="502148" y="38735"/>
                </a:cubicBezTo>
                <a:cubicBezTo>
                  <a:pt x="500364" y="36951"/>
                  <a:pt x="498251" y="36059"/>
                  <a:pt x="495810" y="36059"/>
                </a:cubicBezTo>
                <a:lnTo>
                  <a:pt x="45073" y="3605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Freeform 461">
            <a:extLst>
              <a:ext uri="{FF2B5EF4-FFF2-40B4-BE49-F238E27FC236}">
                <a16:creationId xmlns:a16="http://schemas.microsoft.com/office/drawing/2014/main" id="{B4B67860-0E86-C57E-19B5-99CB91D83498}"/>
              </a:ext>
            </a:extLst>
          </p:cNvPr>
          <p:cNvSpPr/>
          <p:nvPr/>
        </p:nvSpPr>
        <p:spPr>
          <a:xfrm>
            <a:off x="1341120" y="1928871"/>
            <a:ext cx="1403983" cy="1098337"/>
          </a:xfrm>
          <a:custGeom>
            <a:avLst/>
            <a:gdLst>
              <a:gd name="connsiteX0" fmla="*/ 376365 w 504825"/>
              <a:gd name="connsiteY0" fmla="*/ 129586 h 378618"/>
              <a:gd name="connsiteX1" fmla="*/ 378619 w 504825"/>
              <a:gd name="connsiteY1" fmla="*/ 153250 h 378618"/>
              <a:gd name="connsiteX2" fmla="*/ 356364 w 504825"/>
              <a:gd name="connsiteY2" fmla="*/ 224664 h 378618"/>
              <a:gd name="connsiteX3" fmla="*/ 297487 w 504825"/>
              <a:gd name="connsiteY3" fmla="*/ 271005 h 378618"/>
              <a:gd name="connsiteX4" fmla="*/ 143391 w 504825"/>
              <a:gd name="connsiteY4" fmla="*/ 89865 h 378618"/>
              <a:gd name="connsiteX5" fmla="*/ 36060 w 504825"/>
              <a:gd name="connsiteY5" fmla="*/ 189309 h 378618"/>
              <a:gd name="connsiteX6" fmla="*/ 156350 w 504825"/>
              <a:gd name="connsiteY6" fmla="*/ 294950 h 378618"/>
              <a:gd name="connsiteX7" fmla="*/ 178323 w 504825"/>
              <a:gd name="connsiteY7" fmla="*/ 255229 h 378618"/>
              <a:gd name="connsiteX8" fmla="*/ 140011 w 504825"/>
              <a:gd name="connsiteY8" fmla="*/ 210437 h 378618"/>
              <a:gd name="connsiteX9" fmla="*/ 126207 w 504825"/>
              <a:gd name="connsiteY9" fmla="*/ 153250 h 378618"/>
              <a:gd name="connsiteX10" fmla="*/ 143391 w 504825"/>
              <a:gd name="connsiteY10" fmla="*/ 89865 h 378618"/>
              <a:gd name="connsiteX11" fmla="*/ 407072 w 504825"/>
              <a:gd name="connsiteY11" fmla="*/ 74934 h 378618"/>
              <a:gd name="connsiteX12" fmla="*/ 458484 w 504825"/>
              <a:gd name="connsiteY12" fmla="*/ 118036 h 378618"/>
              <a:gd name="connsiteX13" fmla="*/ 499191 w 504825"/>
              <a:gd name="connsiteY13" fmla="*/ 169871 h 378618"/>
              <a:gd name="connsiteX14" fmla="*/ 504825 w 504825"/>
              <a:gd name="connsiteY14" fmla="*/ 189309 h 378618"/>
              <a:gd name="connsiteX15" fmla="*/ 499191 w 504825"/>
              <a:gd name="connsiteY15" fmla="*/ 208747 h 378618"/>
              <a:gd name="connsiteX16" fmla="*/ 468485 w 504825"/>
              <a:gd name="connsiteY16" fmla="*/ 249595 h 378618"/>
              <a:gd name="connsiteX17" fmla="*/ 370591 w 504825"/>
              <a:gd name="connsiteY17" fmla="*/ 324812 h 378618"/>
              <a:gd name="connsiteX18" fmla="*/ 252413 w 504825"/>
              <a:gd name="connsiteY18" fmla="*/ 351574 h 378618"/>
              <a:gd name="connsiteX19" fmla="*/ 273260 w 504825"/>
              <a:gd name="connsiteY19" fmla="*/ 314388 h 378618"/>
              <a:gd name="connsiteX20" fmla="*/ 383831 w 504825"/>
              <a:gd name="connsiteY20" fmla="*/ 275794 h 378618"/>
              <a:gd name="connsiteX21" fmla="*/ 468766 w 504825"/>
              <a:gd name="connsiteY21" fmla="*/ 189309 h 378618"/>
              <a:gd name="connsiteX22" fmla="*/ 389324 w 504825"/>
              <a:gd name="connsiteY22" fmla="*/ 106486 h 378618"/>
              <a:gd name="connsiteX23" fmla="*/ 252413 w 504825"/>
              <a:gd name="connsiteY23" fmla="*/ 67610 h 378618"/>
              <a:gd name="connsiteX24" fmla="*/ 191986 w 504825"/>
              <a:gd name="connsiteY24" fmla="*/ 92823 h 378618"/>
              <a:gd name="connsiteX25" fmla="*/ 166773 w 504825"/>
              <a:gd name="connsiteY25" fmla="*/ 153250 h 378618"/>
              <a:gd name="connsiteX26" fmla="*/ 170717 w 504825"/>
              <a:gd name="connsiteY26" fmla="*/ 162828 h 378618"/>
              <a:gd name="connsiteX27" fmla="*/ 180295 w 504825"/>
              <a:gd name="connsiteY27" fmla="*/ 166772 h 378618"/>
              <a:gd name="connsiteX28" fmla="*/ 189873 w 504825"/>
              <a:gd name="connsiteY28" fmla="*/ 162828 h 378618"/>
              <a:gd name="connsiteX29" fmla="*/ 193817 w 504825"/>
              <a:gd name="connsiteY29" fmla="*/ 153250 h 378618"/>
              <a:gd name="connsiteX30" fmla="*/ 211001 w 504825"/>
              <a:gd name="connsiteY30" fmla="*/ 111839 h 378618"/>
              <a:gd name="connsiteX31" fmla="*/ 252413 w 504825"/>
              <a:gd name="connsiteY31" fmla="*/ 94654 h 378618"/>
              <a:gd name="connsiteX32" fmla="*/ 261991 w 504825"/>
              <a:gd name="connsiteY32" fmla="*/ 90710 h 378618"/>
              <a:gd name="connsiteX33" fmla="*/ 265935 w 504825"/>
              <a:gd name="connsiteY33" fmla="*/ 81132 h 378618"/>
              <a:gd name="connsiteX34" fmla="*/ 261991 w 504825"/>
              <a:gd name="connsiteY34" fmla="*/ 71554 h 378618"/>
              <a:gd name="connsiteX35" fmla="*/ 252413 w 504825"/>
              <a:gd name="connsiteY35" fmla="*/ 67610 h 378618"/>
              <a:gd name="connsiteX36" fmla="*/ 326221 w 504825"/>
              <a:gd name="connsiteY36" fmla="*/ 0 h 378618"/>
              <a:gd name="connsiteX37" fmla="*/ 331292 w 504825"/>
              <a:gd name="connsiteY37" fmla="*/ 1690 h 378618"/>
              <a:gd name="connsiteX38" fmla="*/ 340025 w 504825"/>
              <a:gd name="connsiteY38" fmla="*/ 6056 h 378618"/>
              <a:gd name="connsiteX39" fmla="*/ 349322 w 504825"/>
              <a:gd name="connsiteY39" fmla="*/ 11268 h 378618"/>
              <a:gd name="connsiteX40" fmla="*/ 358195 w 504825"/>
              <a:gd name="connsiteY40" fmla="*/ 16480 h 378618"/>
              <a:gd name="connsiteX41" fmla="*/ 363689 w 504825"/>
              <a:gd name="connsiteY41" fmla="*/ 19719 h 378618"/>
              <a:gd name="connsiteX42" fmla="*/ 368196 w 504825"/>
              <a:gd name="connsiteY42" fmla="*/ 27325 h 378618"/>
              <a:gd name="connsiteX43" fmla="*/ 367914 w 504825"/>
              <a:gd name="connsiteY43" fmla="*/ 29861 h 378618"/>
              <a:gd name="connsiteX44" fmla="*/ 279175 w 504825"/>
              <a:gd name="connsiteY44" fmla="*/ 189309 h 378618"/>
              <a:gd name="connsiteX45" fmla="*/ 190155 w 504825"/>
              <a:gd name="connsiteY45" fmla="*/ 349039 h 378618"/>
              <a:gd name="connsiteX46" fmla="*/ 176351 w 504825"/>
              <a:gd name="connsiteY46" fmla="*/ 374111 h 378618"/>
              <a:gd name="connsiteX47" fmla="*/ 168463 w 504825"/>
              <a:gd name="connsiteY47" fmla="*/ 378618 h 378618"/>
              <a:gd name="connsiteX48" fmla="*/ 130714 w 504825"/>
              <a:gd name="connsiteY48" fmla="*/ 358899 h 378618"/>
              <a:gd name="connsiteX49" fmla="*/ 126207 w 504825"/>
              <a:gd name="connsiteY49" fmla="*/ 351011 h 378618"/>
              <a:gd name="connsiteX50" fmla="*/ 138602 w 504825"/>
              <a:gd name="connsiteY50" fmla="*/ 326502 h 378618"/>
              <a:gd name="connsiteX51" fmla="*/ 64372 w 504825"/>
              <a:gd name="connsiteY51" fmla="*/ 277766 h 378618"/>
              <a:gd name="connsiteX52" fmla="*/ 5635 w 504825"/>
              <a:gd name="connsiteY52" fmla="*/ 208747 h 378618"/>
              <a:gd name="connsiteX53" fmla="*/ 0 w 504825"/>
              <a:gd name="connsiteY53" fmla="*/ 189309 h 378618"/>
              <a:gd name="connsiteX54" fmla="*/ 5635 w 504825"/>
              <a:gd name="connsiteY54" fmla="*/ 169871 h 378618"/>
              <a:gd name="connsiteX55" fmla="*/ 112685 w 504825"/>
              <a:gd name="connsiteY55" fmla="*/ 65356 h 378618"/>
              <a:gd name="connsiteX56" fmla="*/ 252413 w 504825"/>
              <a:gd name="connsiteY56" fmla="*/ 27044 h 378618"/>
              <a:gd name="connsiteX57" fmla="*/ 303121 w 504825"/>
              <a:gd name="connsiteY57" fmla="*/ 31833 h 378618"/>
              <a:gd name="connsiteX58" fmla="*/ 318333 w 504825"/>
              <a:gd name="connsiteY58" fmla="*/ 4507 h 378618"/>
              <a:gd name="connsiteX59" fmla="*/ 326221 w 504825"/>
              <a:gd name="connsiteY59" fmla="*/ 0 h 378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04825" h="378618">
                <a:moveTo>
                  <a:pt x="376365" y="129586"/>
                </a:moveTo>
                <a:cubicBezTo>
                  <a:pt x="377868" y="138038"/>
                  <a:pt x="378619" y="145926"/>
                  <a:pt x="378619" y="153250"/>
                </a:cubicBezTo>
                <a:cubicBezTo>
                  <a:pt x="378619" y="179355"/>
                  <a:pt x="371201" y="203160"/>
                  <a:pt x="356364" y="224664"/>
                </a:cubicBezTo>
                <a:cubicBezTo>
                  <a:pt x="341527" y="246167"/>
                  <a:pt x="321902" y="261615"/>
                  <a:pt x="297487" y="271005"/>
                </a:cubicBezTo>
                <a:close/>
                <a:moveTo>
                  <a:pt x="143391" y="89865"/>
                </a:moveTo>
                <a:cubicBezTo>
                  <a:pt x="100383" y="111839"/>
                  <a:pt x="64606" y="144987"/>
                  <a:pt x="36060" y="189309"/>
                </a:cubicBezTo>
                <a:cubicBezTo>
                  <a:pt x="67423" y="237763"/>
                  <a:pt x="107519" y="272977"/>
                  <a:pt x="156350" y="294950"/>
                </a:cubicBezTo>
                <a:lnTo>
                  <a:pt x="178323" y="255229"/>
                </a:lnTo>
                <a:cubicBezTo>
                  <a:pt x="161984" y="243397"/>
                  <a:pt x="149213" y="228467"/>
                  <a:pt x="140011" y="210437"/>
                </a:cubicBezTo>
                <a:cubicBezTo>
                  <a:pt x="130808" y="192408"/>
                  <a:pt x="126207" y="173345"/>
                  <a:pt x="126207" y="153250"/>
                </a:cubicBezTo>
                <a:cubicBezTo>
                  <a:pt x="126207" y="130525"/>
                  <a:pt x="131935" y="109397"/>
                  <a:pt x="143391" y="89865"/>
                </a:cubicBezTo>
                <a:close/>
                <a:moveTo>
                  <a:pt x="407072" y="74934"/>
                </a:moveTo>
                <a:cubicBezTo>
                  <a:pt x="424914" y="86954"/>
                  <a:pt x="442051" y="101322"/>
                  <a:pt x="458484" y="118036"/>
                </a:cubicBezTo>
                <a:cubicBezTo>
                  <a:pt x="474917" y="134751"/>
                  <a:pt x="488486" y="152029"/>
                  <a:pt x="499191" y="169871"/>
                </a:cubicBezTo>
                <a:cubicBezTo>
                  <a:pt x="502947" y="176257"/>
                  <a:pt x="504825" y="182736"/>
                  <a:pt x="504825" y="189309"/>
                </a:cubicBezTo>
                <a:cubicBezTo>
                  <a:pt x="504825" y="195882"/>
                  <a:pt x="502947" y="202362"/>
                  <a:pt x="499191" y="208747"/>
                </a:cubicBezTo>
                <a:cubicBezTo>
                  <a:pt x="491867" y="220767"/>
                  <a:pt x="481631" y="234383"/>
                  <a:pt x="468485" y="249595"/>
                </a:cubicBezTo>
                <a:cubicBezTo>
                  <a:pt x="440314" y="281898"/>
                  <a:pt x="407682" y="306970"/>
                  <a:pt x="370591" y="324812"/>
                </a:cubicBezTo>
                <a:cubicBezTo>
                  <a:pt x="333499" y="342653"/>
                  <a:pt x="294106" y="351574"/>
                  <a:pt x="252413" y="351574"/>
                </a:cubicBezTo>
                <a:lnTo>
                  <a:pt x="273260" y="314388"/>
                </a:lnTo>
                <a:cubicBezTo>
                  <a:pt x="313075" y="311008"/>
                  <a:pt x="349932" y="298143"/>
                  <a:pt x="383831" y="275794"/>
                </a:cubicBezTo>
                <a:cubicBezTo>
                  <a:pt x="417730" y="253445"/>
                  <a:pt x="446042" y="224617"/>
                  <a:pt x="468766" y="189309"/>
                </a:cubicBezTo>
                <a:cubicBezTo>
                  <a:pt x="447169" y="155691"/>
                  <a:pt x="420688" y="128084"/>
                  <a:pt x="389324" y="106486"/>
                </a:cubicBezTo>
                <a:close/>
                <a:moveTo>
                  <a:pt x="252413" y="67610"/>
                </a:moveTo>
                <a:cubicBezTo>
                  <a:pt x="228937" y="67610"/>
                  <a:pt x="208795" y="76014"/>
                  <a:pt x="191986" y="92823"/>
                </a:cubicBezTo>
                <a:cubicBezTo>
                  <a:pt x="175177" y="109632"/>
                  <a:pt x="166773" y="129774"/>
                  <a:pt x="166773" y="153250"/>
                </a:cubicBezTo>
                <a:cubicBezTo>
                  <a:pt x="166773" y="157006"/>
                  <a:pt x="168088" y="160199"/>
                  <a:pt x="170717" y="162828"/>
                </a:cubicBezTo>
                <a:cubicBezTo>
                  <a:pt x="173346" y="165457"/>
                  <a:pt x="176539" y="166772"/>
                  <a:pt x="180295" y="166772"/>
                </a:cubicBezTo>
                <a:cubicBezTo>
                  <a:pt x="184051" y="166772"/>
                  <a:pt x="187244" y="165457"/>
                  <a:pt x="189873" y="162828"/>
                </a:cubicBezTo>
                <a:cubicBezTo>
                  <a:pt x="192503" y="160199"/>
                  <a:pt x="193817" y="157006"/>
                  <a:pt x="193817" y="153250"/>
                </a:cubicBezTo>
                <a:cubicBezTo>
                  <a:pt x="193817" y="137099"/>
                  <a:pt x="199545" y="123295"/>
                  <a:pt x="211001" y="111839"/>
                </a:cubicBezTo>
                <a:cubicBezTo>
                  <a:pt x="222458" y="100382"/>
                  <a:pt x="236262" y="94654"/>
                  <a:pt x="252413" y="94654"/>
                </a:cubicBezTo>
                <a:cubicBezTo>
                  <a:pt x="256169" y="94654"/>
                  <a:pt x="259362" y="93339"/>
                  <a:pt x="261991" y="90710"/>
                </a:cubicBezTo>
                <a:cubicBezTo>
                  <a:pt x="264620" y="88081"/>
                  <a:pt x="265935" y="84888"/>
                  <a:pt x="265935" y="81132"/>
                </a:cubicBezTo>
                <a:cubicBezTo>
                  <a:pt x="265935" y="77376"/>
                  <a:pt x="264620" y="74183"/>
                  <a:pt x="261991" y="71554"/>
                </a:cubicBezTo>
                <a:cubicBezTo>
                  <a:pt x="259362" y="68925"/>
                  <a:pt x="256169" y="67610"/>
                  <a:pt x="252413" y="67610"/>
                </a:cubicBezTo>
                <a:close/>
                <a:moveTo>
                  <a:pt x="326221" y="0"/>
                </a:moveTo>
                <a:cubicBezTo>
                  <a:pt x="327160" y="0"/>
                  <a:pt x="328851" y="563"/>
                  <a:pt x="331292" y="1690"/>
                </a:cubicBezTo>
                <a:cubicBezTo>
                  <a:pt x="333733" y="2817"/>
                  <a:pt x="336645" y="4272"/>
                  <a:pt x="340025" y="6056"/>
                </a:cubicBezTo>
                <a:cubicBezTo>
                  <a:pt x="343406" y="7841"/>
                  <a:pt x="346504" y="9578"/>
                  <a:pt x="349322" y="11268"/>
                </a:cubicBezTo>
                <a:cubicBezTo>
                  <a:pt x="352138" y="12958"/>
                  <a:pt x="355096" y="14695"/>
                  <a:pt x="358195" y="16480"/>
                </a:cubicBezTo>
                <a:cubicBezTo>
                  <a:pt x="361294" y="18264"/>
                  <a:pt x="363125" y="19344"/>
                  <a:pt x="363689" y="19719"/>
                </a:cubicBezTo>
                <a:cubicBezTo>
                  <a:pt x="366693" y="21597"/>
                  <a:pt x="368196" y="24133"/>
                  <a:pt x="368196" y="27325"/>
                </a:cubicBezTo>
                <a:cubicBezTo>
                  <a:pt x="368196" y="28640"/>
                  <a:pt x="368102" y="29485"/>
                  <a:pt x="367914" y="29861"/>
                </a:cubicBezTo>
                <a:cubicBezTo>
                  <a:pt x="348195" y="65169"/>
                  <a:pt x="318615" y="118318"/>
                  <a:pt x="279175" y="189309"/>
                </a:cubicBezTo>
                <a:cubicBezTo>
                  <a:pt x="239736" y="260300"/>
                  <a:pt x="210062" y="313543"/>
                  <a:pt x="190155" y="349039"/>
                </a:cubicBezTo>
                <a:lnTo>
                  <a:pt x="176351" y="374111"/>
                </a:lnTo>
                <a:cubicBezTo>
                  <a:pt x="174473" y="377116"/>
                  <a:pt x="171844" y="378618"/>
                  <a:pt x="168463" y="378618"/>
                </a:cubicBezTo>
                <a:cubicBezTo>
                  <a:pt x="166210" y="378618"/>
                  <a:pt x="153627" y="372045"/>
                  <a:pt x="130714" y="358899"/>
                </a:cubicBezTo>
                <a:cubicBezTo>
                  <a:pt x="127709" y="357021"/>
                  <a:pt x="126207" y="354391"/>
                  <a:pt x="126207" y="351011"/>
                </a:cubicBezTo>
                <a:cubicBezTo>
                  <a:pt x="126207" y="348757"/>
                  <a:pt x="130338" y="340588"/>
                  <a:pt x="138602" y="326502"/>
                </a:cubicBezTo>
                <a:cubicBezTo>
                  <a:pt x="111745" y="314295"/>
                  <a:pt x="87002" y="298049"/>
                  <a:pt x="64372" y="277766"/>
                </a:cubicBezTo>
                <a:cubicBezTo>
                  <a:pt x="41740" y="257483"/>
                  <a:pt x="22162" y="234477"/>
                  <a:pt x="5635" y="208747"/>
                </a:cubicBezTo>
                <a:cubicBezTo>
                  <a:pt x="1878" y="202925"/>
                  <a:pt x="0" y="196446"/>
                  <a:pt x="0" y="189309"/>
                </a:cubicBezTo>
                <a:cubicBezTo>
                  <a:pt x="0" y="182172"/>
                  <a:pt x="1878" y="175693"/>
                  <a:pt x="5635" y="169871"/>
                </a:cubicBezTo>
                <a:cubicBezTo>
                  <a:pt x="34369" y="125736"/>
                  <a:pt x="70052" y="90898"/>
                  <a:pt x="112685" y="65356"/>
                </a:cubicBezTo>
                <a:cubicBezTo>
                  <a:pt x="155317" y="39815"/>
                  <a:pt x="201893" y="27044"/>
                  <a:pt x="252413" y="27044"/>
                </a:cubicBezTo>
                <a:cubicBezTo>
                  <a:pt x="269128" y="27044"/>
                  <a:pt x="286031" y="28640"/>
                  <a:pt x="303121" y="31833"/>
                </a:cubicBezTo>
                <a:lnTo>
                  <a:pt x="318333" y="4507"/>
                </a:lnTo>
                <a:cubicBezTo>
                  <a:pt x="320211" y="1502"/>
                  <a:pt x="322840" y="0"/>
                  <a:pt x="326221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FBEF24-A549-5639-FC3C-2D5B7A3C93C3}"/>
              </a:ext>
            </a:extLst>
          </p:cNvPr>
          <p:cNvSpPr/>
          <p:nvPr/>
        </p:nvSpPr>
        <p:spPr>
          <a:xfrm>
            <a:off x="671513" y="3748560"/>
            <a:ext cx="2743195" cy="249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Not regulated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0FD66D-AEC0-A461-4013-C0CCD58347F7}"/>
              </a:ext>
            </a:extLst>
          </p:cNvPr>
          <p:cNvSpPr/>
          <p:nvPr/>
        </p:nvSpPr>
        <p:spPr>
          <a:xfrm>
            <a:off x="4425565" y="3629809"/>
            <a:ext cx="3340870" cy="7371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12 Divisions</a:t>
            </a:r>
          </a:p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Over 80 Departments</a:t>
            </a:r>
          </a:p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~10,000 staff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B78A1D-2C9B-5412-03F4-3AE3A1B99BC2}"/>
              </a:ext>
            </a:extLst>
          </p:cNvPr>
          <p:cNvSpPr/>
          <p:nvPr/>
        </p:nvSpPr>
        <p:spPr>
          <a:xfrm>
            <a:off x="8105775" y="3629808"/>
            <a:ext cx="3340870" cy="2498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egoe UI" panose="020B0502040204020203" pitchFamily="34" charset="0"/>
              </a:rPr>
              <a:t>Over 500 systems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E337BF-C8EF-96E0-2C4B-234E3906AD46}"/>
              </a:ext>
            </a:extLst>
          </p:cNvPr>
          <p:cNvSpPr/>
          <p:nvPr/>
        </p:nvSpPr>
        <p:spPr>
          <a:xfrm>
            <a:off x="547835" y="4970164"/>
            <a:ext cx="10898810" cy="1151283"/>
          </a:xfrm>
          <a:prstGeom prst="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 common language is required to Cybersecurity Governance</a:t>
            </a:r>
            <a:endParaRPr lang="en-GB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4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 Issue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27C6DFA-F966-5013-65D8-B372E825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14" y="1402867"/>
            <a:ext cx="9753600" cy="5324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6E6017-9100-24C8-AAC8-E2DF6A7276FF}"/>
              </a:ext>
            </a:extLst>
          </p:cNvPr>
          <p:cNvSpPr txBox="1"/>
          <p:nvPr/>
        </p:nvSpPr>
        <p:spPr>
          <a:xfrm>
            <a:off x="145773" y="689098"/>
            <a:ext cx="115824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effectLst/>
              </a:rPr>
              <a:t>Scenario: Betting System getting hacked and down</a:t>
            </a:r>
            <a:endParaRPr lang="en-GB" sz="30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A87FD-DD4D-15DF-E6AA-CB4FF8B16B73}"/>
              </a:ext>
            </a:extLst>
          </p:cNvPr>
          <p:cNvSpPr/>
          <p:nvPr/>
        </p:nvSpPr>
        <p:spPr>
          <a:xfrm>
            <a:off x="1249014" y="1510749"/>
            <a:ext cx="2597426" cy="993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Cybersecurity Manager</a:t>
            </a:r>
          </a:p>
          <a:p>
            <a:r>
              <a:rPr lang="en-GB" sz="14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We identified the risk and issued recommendations. We don't own the system!</a:t>
            </a:r>
            <a:endParaRPr lang="en-US" sz="1400" dirty="0">
              <a:solidFill>
                <a:schemeClr val="tx1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EFBF3C-6273-B442-6E37-E09E37397D55}"/>
              </a:ext>
            </a:extLst>
          </p:cNvPr>
          <p:cNvSpPr/>
          <p:nvPr/>
        </p:nvSpPr>
        <p:spPr>
          <a:xfrm>
            <a:off x="5062327" y="1510749"/>
            <a:ext cx="2597426" cy="1302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IT Operation</a:t>
            </a:r>
          </a:p>
          <a:p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We are responsible for running the platform, not deciding which application vulnerabilities to fix!</a:t>
            </a:r>
            <a:endParaRPr lang="en-US" sz="1600" dirty="0">
              <a:solidFill>
                <a:schemeClr val="tx1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B1E003-8330-58DB-3511-3DEFD6AE1F85}"/>
              </a:ext>
            </a:extLst>
          </p:cNvPr>
          <p:cNvSpPr/>
          <p:nvPr/>
        </p:nvSpPr>
        <p:spPr>
          <a:xfrm>
            <a:off x="8322362" y="1679866"/>
            <a:ext cx="2597426" cy="993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Business Owner</a:t>
            </a:r>
          </a:p>
          <a:p>
            <a:r>
              <a:rPr lang="en-GB" sz="14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We rely on IT and Security to tell us what must be fixed!</a:t>
            </a:r>
            <a:endParaRPr lang="en-US" sz="1400" dirty="0">
              <a:solidFill>
                <a:schemeClr val="tx1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B4AF-E35D-8EF8-B463-0A013033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5E7891D-33B7-E7F9-2930-0298D62424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8AEADF-6C63-6DC8-F8DD-F14A13893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A72A690-F731-0312-5352-8DB501D719E2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Governance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Come in Play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F0E314-E842-09B4-886D-4A13486A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C3C6D5-4E1E-F576-D0F4-D75CE4497988}"/>
              </a:ext>
            </a:extLst>
          </p:cNvPr>
          <p:cNvGraphicFramePr>
            <a:graphicFrameLocks noGrp="1"/>
          </p:cNvGraphicFramePr>
          <p:nvPr/>
        </p:nvGraphicFramePr>
        <p:xfrm>
          <a:off x="532492" y="1179581"/>
          <a:ext cx="11127015" cy="1800906"/>
        </p:xfrm>
        <a:graphic>
          <a:graphicData uri="http://schemas.openxmlformats.org/drawingml/2006/table">
            <a:tbl>
              <a:tblPr/>
              <a:tblGrid>
                <a:gridCol w="1873686">
                  <a:extLst>
                    <a:ext uri="{9D8B030D-6E8A-4147-A177-3AD203B41FA5}">
                      <a16:colId xmlns:a16="http://schemas.microsoft.com/office/drawing/2014/main" val="3055957000"/>
                    </a:ext>
                  </a:extLst>
                </a:gridCol>
                <a:gridCol w="2007704">
                  <a:extLst>
                    <a:ext uri="{9D8B030D-6E8A-4147-A177-3AD203B41FA5}">
                      <a16:colId xmlns:a16="http://schemas.microsoft.com/office/drawing/2014/main" val="452472021"/>
                    </a:ext>
                  </a:extLst>
                </a:gridCol>
                <a:gridCol w="7245625">
                  <a:extLst>
                    <a:ext uri="{9D8B030D-6E8A-4147-A177-3AD203B41FA5}">
                      <a16:colId xmlns:a16="http://schemas.microsoft.com/office/drawing/2014/main" val="212123751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Function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Category Code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Category Name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0800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Govern (GV)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GV.OC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Organizational Context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228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GV.RM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Risk Management Strategy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055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GV.RR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Roles, Responsibilities, and Authorities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16173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GV.PO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Policy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18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GV.OV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Oversight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597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GV.SC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Cybersecurity Supply Chain Risk Management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718709"/>
                  </a:ext>
                </a:extLst>
              </a:tr>
            </a:tbl>
          </a:graphicData>
        </a:graphic>
      </p:graphicFrame>
      <p:sp>
        <p:nvSpPr>
          <p:cNvPr id="3" name="Arrow: Left 2">
            <a:extLst>
              <a:ext uri="{FF2B5EF4-FFF2-40B4-BE49-F238E27FC236}">
                <a16:creationId xmlns:a16="http://schemas.microsoft.com/office/drawing/2014/main" id="{E5C80151-CC78-DFBC-76F4-92D2037E61C6}"/>
              </a:ext>
            </a:extLst>
          </p:cNvPr>
          <p:cNvSpPr/>
          <p:nvPr/>
        </p:nvSpPr>
        <p:spPr>
          <a:xfrm>
            <a:off x="7986506" y="1938131"/>
            <a:ext cx="1276764" cy="3279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C3846-F4C4-B816-5DA8-AEA5218D17AD}"/>
              </a:ext>
            </a:extLst>
          </p:cNvPr>
          <p:cNvSpPr txBox="1"/>
          <p:nvPr/>
        </p:nvSpPr>
        <p:spPr>
          <a:xfrm>
            <a:off x="393344" y="3349487"/>
            <a:ext cx="38737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IT Operations Manager</a:t>
            </a:r>
          </a:p>
          <a:p>
            <a:endParaRPr lang="en-GB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Maintain availability and stability of the betting platform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[Protect]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Apply approved patches and system updates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[Protect]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Monitor system health and operational alerts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[Detect]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Execute incident containment actions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[Response]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139EC3-D2A3-67DC-AFE1-947B34F6256E}"/>
              </a:ext>
            </a:extLst>
          </p:cNvPr>
          <p:cNvSpPr txBox="1"/>
          <p:nvPr/>
        </p:nvSpPr>
        <p:spPr>
          <a:xfrm>
            <a:off x="4267120" y="3349487"/>
            <a:ext cx="38737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Cyber Security Manager</a:t>
            </a:r>
          </a:p>
          <a:p>
            <a:endParaRPr lang="en-GB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Define security requirements and standards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[Govern]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Perform risk and vulnerability assessments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[Identify]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Provide recommendations and challenge risk decisions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[Recover]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Coordinate incident response activities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[Response]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3C4223-3231-837D-7949-21807306B6F9}"/>
              </a:ext>
            </a:extLst>
          </p:cNvPr>
          <p:cNvSpPr txBox="1"/>
          <p:nvPr/>
        </p:nvSpPr>
        <p:spPr>
          <a:xfrm>
            <a:off x="8211999" y="3349487"/>
            <a:ext cx="387377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Business / Application Owner</a:t>
            </a:r>
          </a:p>
          <a:p>
            <a:endParaRPr lang="en-GB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70C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Own the betting application and associated business risks [Govern]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Prioritize security fixes and enhancement requests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[Govern / Protect]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Approve downtime for maintenance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[Recover]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Balance security, customer experience, and business impact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[Govern]</a:t>
            </a:r>
            <a:endParaRPr lang="en-GB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Accept or reject residual risks </a:t>
            </a:r>
            <a:r>
              <a:rPr lang="en-GB" sz="1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[Govern]</a:t>
            </a:r>
            <a:endParaRPr lang="en-GB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58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F5F4-9AF4-9EDD-73B9-793D4DCE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5277EDC1-34C3-5169-6721-F1AD93079C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570B3D-B921-0CB5-4AC4-7597E347A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72BA93E-9C39-1CAB-95DE-E9D63F9F687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Risk Indicators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(Identify)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11C9EA-7799-390A-262D-8E59C0000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017C5D-D181-AAB9-4A7F-2517978C4D27}"/>
              </a:ext>
            </a:extLst>
          </p:cNvPr>
          <p:cNvSpPr txBox="1"/>
          <p:nvPr/>
        </p:nvSpPr>
        <p:spPr>
          <a:xfrm>
            <a:off x="918457" y="1535164"/>
            <a:ext cx="103550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critical assets without an assigned owner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Servers onboarded to vulnerability Scan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internet-facing assets not in the asset inventory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CFD033-17B1-73AF-521E-9142CB976321}"/>
              </a:ext>
            </a:extLst>
          </p:cNvPr>
          <p:cNvSpPr/>
          <p:nvPr/>
        </p:nvSpPr>
        <p:spPr>
          <a:xfrm>
            <a:off x="0" y="0"/>
            <a:ext cx="2808111" cy="869244"/>
          </a:xfrm>
          <a:prstGeom prst="rect">
            <a:avLst/>
          </a:prstGeom>
          <a:solidFill>
            <a:srgbClr val="4BB2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Identify</a:t>
            </a:r>
          </a:p>
        </p:txBody>
      </p:sp>
    </p:spTree>
    <p:extLst>
      <p:ext uri="{BB962C8B-B14F-4D97-AF65-F5344CB8AC3E}">
        <p14:creationId xmlns:p14="http://schemas.microsoft.com/office/powerpoint/2010/main" val="784485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4FA2-DF36-919D-C456-D2B96C8C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94FBA1D-2638-D5F9-6BB6-3A21FDACA3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F9538-1F16-CBB3-4CC4-FFE845605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782D7373-DC07-FFB4-0879-CCF9BA491398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Risk Indicators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(Protect)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83254D-10E5-B9BD-4F53-12A9518F7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D9361B-4B96-1A1A-7003-FBAEE3405BFD}"/>
              </a:ext>
            </a:extLst>
          </p:cNvPr>
          <p:cNvSpPr txBox="1"/>
          <p:nvPr/>
        </p:nvSpPr>
        <p:spPr>
          <a:xfrm>
            <a:off x="918457" y="1535164"/>
            <a:ext cx="103550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privileged accounts without MFA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critical systems missing critical patches past SLA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Phishing simulation click rate (or failure rate)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CBE281-4DD3-293F-4BB8-176CD1216B3C}"/>
              </a:ext>
            </a:extLst>
          </p:cNvPr>
          <p:cNvSpPr/>
          <p:nvPr/>
        </p:nvSpPr>
        <p:spPr>
          <a:xfrm>
            <a:off x="0" y="0"/>
            <a:ext cx="2808111" cy="869244"/>
          </a:xfrm>
          <a:prstGeom prst="rect">
            <a:avLst/>
          </a:prstGeom>
          <a:solidFill>
            <a:srgbClr val="918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Protect</a:t>
            </a:r>
          </a:p>
        </p:txBody>
      </p:sp>
    </p:spTree>
    <p:extLst>
      <p:ext uri="{BB962C8B-B14F-4D97-AF65-F5344CB8AC3E}">
        <p14:creationId xmlns:p14="http://schemas.microsoft.com/office/powerpoint/2010/main" val="167820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03C3-67F5-9A1D-03E6-9CF9EDD8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6CB823B1-1185-DEAD-22FF-63261A81B8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F72C96-0D03-E5FD-D794-2B94D867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AE16619-AD11-30F8-24B9-BBE1AC3C6DD9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Risk Indicators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(Detect)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019850-872D-0CA3-5AE7-A56F200C0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323C6C-49B6-5171-5C13-F35177DEAE3D}"/>
              </a:ext>
            </a:extLst>
          </p:cNvPr>
          <p:cNvSpPr txBox="1"/>
          <p:nvPr/>
        </p:nvSpPr>
        <p:spPr>
          <a:xfrm>
            <a:off x="918457" y="1535164"/>
            <a:ext cx="10355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Mean Time to Detect (MTTD) for high-severity incidents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critical systems not covered by continuous monitoring / SIEM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Number of high-severity alerts not triaged within target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8A87A9-E79C-21E3-311E-71BF8617026B}"/>
              </a:ext>
            </a:extLst>
          </p:cNvPr>
          <p:cNvSpPr/>
          <p:nvPr/>
        </p:nvSpPr>
        <p:spPr>
          <a:xfrm>
            <a:off x="0" y="0"/>
            <a:ext cx="2808111" cy="869244"/>
          </a:xfrm>
          <a:prstGeom prst="rect">
            <a:avLst/>
          </a:prstGeom>
          <a:solidFill>
            <a:srgbClr val="FAB7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Detect</a:t>
            </a:r>
          </a:p>
        </p:txBody>
      </p:sp>
    </p:spTree>
    <p:extLst>
      <p:ext uri="{BB962C8B-B14F-4D97-AF65-F5344CB8AC3E}">
        <p14:creationId xmlns:p14="http://schemas.microsoft.com/office/powerpoint/2010/main" val="833102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B3AA-112D-BF1E-3711-7930FF2F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B6A3B0FA-D455-3169-9623-9E8FBD15FB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977B44-CCD3-146F-B9FB-581505AD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6E1262D-1035-2796-67CF-B9DD0AC24ED2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Risk Indicators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(Response)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9B4649-1E0D-6BC7-DDB1-7CFA32416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BE0F24D-85B4-C4B7-16CB-944F7191C31D}"/>
              </a:ext>
            </a:extLst>
          </p:cNvPr>
          <p:cNvSpPr txBox="1"/>
          <p:nvPr/>
        </p:nvSpPr>
        <p:spPr>
          <a:xfrm>
            <a:off x="918457" y="1535164"/>
            <a:ext cx="1035508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Mean Time to Respond / Contain (MTTR) for high-severity incidents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incidents without a documented root-cause analysis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Number of incidents where communication plan was not followed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AE134D-862E-68BE-2735-5B0242DEE979}"/>
              </a:ext>
            </a:extLst>
          </p:cNvPr>
          <p:cNvSpPr/>
          <p:nvPr/>
        </p:nvSpPr>
        <p:spPr>
          <a:xfrm>
            <a:off x="0" y="0"/>
            <a:ext cx="2808111" cy="869244"/>
          </a:xfrm>
          <a:prstGeom prst="rect">
            <a:avLst/>
          </a:prstGeom>
          <a:solidFill>
            <a:srgbClr val="E576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63752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B0E5-6C7A-BC76-9A84-E5555E40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6344D80-906D-13F0-F46A-518B1870B5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851AF1-ABDA-0505-7812-03F8C743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7A9F2EF9-AC0A-4584-808F-53D265A0DED2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Risk Indicators</a:t>
            </a: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(Recover)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58101B-509D-FEC5-2DBF-CFE8E3962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09C5184-FD75-A0DE-F1D2-14426D005021}"/>
              </a:ext>
            </a:extLst>
          </p:cNvPr>
          <p:cNvSpPr txBox="1"/>
          <p:nvPr/>
        </p:nvSpPr>
        <p:spPr>
          <a:xfrm>
            <a:off x="918457" y="1535164"/>
            <a:ext cx="10355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critical systems without a tested recovery plan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Time to restore critical systems vs target RTO in the last exercise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3000" b="0" i="0" dirty="0">
              <a:effectLst/>
              <a:latin typeface="+mn-lt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3000" b="0" i="0" dirty="0">
                <a:effectLst/>
                <a:latin typeface="+mn-lt"/>
              </a:rPr>
              <a:t>% of backups that failed the latest restoration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178F6-D985-90B9-283C-7602EAAE9445}"/>
              </a:ext>
            </a:extLst>
          </p:cNvPr>
          <p:cNvSpPr/>
          <p:nvPr/>
        </p:nvSpPr>
        <p:spPr>
          <a:xfrm>
            <a:off x="0" y="0"/>
            <a:ext cx="2808111" cy="869244"/>
          </a:xfrm>
          <a:prstGeom prst="rect">
            <a:avLst/>
          </a:prstGeom>
          <a:solidFill>
            <a:srgbClr val="7DF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Recover</a:t>
            </a:r>
          </a:p>
        </p:txBody>
      </p:sp>
    </p:spTree>
    <p:extLst>
      <p:ext uri="{BB962C8B-B14F-4D97-AF65-F5344CB8AC3E}">
        <p14:creationId xmlns:p14="http://schemas.microsoft.com/office/powerpoint/2010/main" val="3693529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06EF-A286-BE1E-6763-0CB41775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8B4BB95A-F86F-7DC0-9569-101524C807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3AA124-77B8-C149-516D-32134A3C0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E2F16AC-EE65-4138-EDD1-50B016068AC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Putting it together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2B503D-8EBE-E2AB-0F22-C09DA37F5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2376769-6B3C-0433-9E52-1DC0AA9A3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668300"/>
              </p:ext>
            </p:extLst>
          </p:nvPr>
        </p:nvGraphicFramePr>
        <p:xfrm>
          <a:off x="3817408" y="910696"/>
          <a:ext cx="8576733" cy="6002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9E8552E-A759-E2BC-4E60-7F78056519A1}"/>
              </a:ext>
            </a:extLst>
          </p:cNvPr>
          <p:cNvSpPr/>
          <p:nvPr/>
        </p:nvSpPr>
        <p:spPr>
          <a:xfrm>
            <a:off x="104422" y="584886"/>
            <a:ext cx="5359400" cy="721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Status : Red (&lt;90%), </a:t>
            </a: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escalation to Tech Risk Committee is required</a:t>
            </a:r>
            <a:endParaRPr lang="en-GB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84049-D43C-3AE1-57AE-3CB0EA0BCE2F}"/>
              </a:ext>
            </a:extLst>
          </p:cNvPr>
          <p:cNvSpPr/>
          <p:nvPr/>
        </p:nvSpPr>
        <p:spPr>
          <a:xfrm>
            <a:off x="9572977" y="3228622"/>
            <a:ext cx="2390423" cy="1049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On-going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Ensure new server is onboarded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F33B55-F910-B189-8E08-62DD64A92527}"/>
              </a:ext>
            </a:extLst>
          </p:cNvPr>
          <p:cNvSpPr/>
          <p:nvPr/>
        </p:nvSpPr>
        <p:spPr>
          <a:xfrm>
            <a:off x="3705577" y="3666066"/>
            <a:ext cx="2390423" cy="12671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Document the reason for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Get business users buy-in to expedite the onboarding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246F9-476F-0FEC-EAF4-AABDC813F408}"/>
              </a:ext>
            </a:extLst>
          </p:cNvPr>
          <p:cNvSpPr/>
          <p:nvPr/>
        </p:nvSpPr>
        <p:spPr>
          <a:xfrm>
            <a:off x="8105774" y="781396"/>
            <a:ext cx="2697693" cy="1049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Documented the compensating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Proceed to risk acceptance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5B0CCF-5794-96CB-A6CE-92FCA7E04618}"/>
              </a:ext>
            </a:extLst>
          </p:cNvPr>
          <p:cNvSpPr/>
          <p:nvPr/>
        </p:nvSpPr>
        <p:spPr>
          <a:xfrm>
            <a:off x="104422" y="1616954"/>
            <a:ext cx="2808111" cy="8692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Identify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8B4086-8B96-3343-1396-DFA9FAE2A015}"/>
              </a:ext>
            </a:extLst>
          </p:cNvPr>
          <p:cNvSpPr/>
          <p:nvPr/>
        </p:nvSpPr>
        <p:spPr>
          <a:xfrm>
            <a:off x="104422" y="2649888"/>
            <a:ext cx="2808111" cy="86924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Protect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C34AFD-8419-8533-CDF6-DBD612F3D53A}"/>
              </a:ext>
            </a:extLst>
          </p:cNvPr>
          <p:cNvSpPr/>
          <p:nvPr/>
        </p:nvSpPr>
        <p:spPr>
          <a:xfrm>
            <a:off x="104245" y="3682822"/>
            <a:ext cx="2808111" cy="86924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Detect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BD3FD2-102D-2E24-3EFA-2F185E3E0C71}"/>
              </a:ext>
            </a:extLst>
          </p:cNvPr>
          <p:cNvSpPr/>
          <p:nvPr/>
        </p:nvSpPr>
        <p:spPr>
          <a:xfrm>
            <a:off x="104245" y="4715756"/>
            <a:ext cx="2808111" cy="8692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Response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7C7267-AD7B-9ADA-4C4F-C41A2B211513}"/>
              </a:ext>
            </a:extLst>
          </p:cNvPr>
          <p:cNvSpPr/>
          <p:nvPr/>
        </p:nvSpPr>
        <p:spPr>
          <a:xfrm>
            <a:off x="104244" y="5748690"/>
            <a:ext cx="2808111" cy="8692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Recover</a:t>
            </a:r>
          </a:p>
        </p:txBody>
      </p:sp>
      <p:pic>
        <p:nvPicPr>
          <p:cNvPr id="26" name="Graphic 25" descr="Warning with solid fill">
            <a:extLst>
              <a:ext uri="{FF2B5EF4-FFF2-40B4-BE49-F238E27FC236}">
                <a16:creationId xmlns:a16="http://schemas.microsoft.com/office/drawing/2014/main" id="{6FC54A2B-0CA2-76DE-4EEF-4036BDA1A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344256"/>
            <a:ext cx="750533" cy="750533"/>
          </a:xfrm>
          <a:prstGeom prst="rect">
            <a:avLst/>
          </a:prstGeom>
        </p:spPr>
      </p:pic>
      <p:sp>
        <p:nvSpPr>
          <p:cNvPr id="27" name="Arrow: Down 26">
            <a:extLst>
              <a:ext uri="{FF2B5EF4-FFF2-40B4-BE49-F238E27FC236}">
                <a16:creationId xmlns:a16="http://schemas.microsoft.com/office/drawing/2014/main" id="{DE37D0C6-AD29-DF54-9FBB-00D9B5B19F62}"/>
              </a:ext>
            </a:extLst>
          </p:cNvPr>
          <p:cNvSpPr/>
          <p:nvPr/>
        </p:nvSpPr>
        <p:spPr>
          <a:xfrm rot="5400000">
            <a:off x="2845688" y="1657956"/>
            <a:ext cx="598311" cy="721444"/>
          </a:xfrm>
          <a:prstGeom prst="downArrow">
            <a:avLst/>
          </a:prstGeom>
          <a:solidFill>
            <a:srgbClr val="918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38963-2162-167A-49C5-53FB919CF7BA}"/>
              </a:ext>
            </a:extLst>
          </p:cNvPr>
          <p:cNvSpPr txBox="1"/>
          <p:nvPr/>
        </p:nvSpPr>
        <p:spPr>
          <a:xfrm>
            <a:off x="3634843" y="1543744"/>
            <a:ext cx="2808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% of Servers onboarded to vulnerability Scan</a:t>
            </a:r>
          </a:p>
        </p:txBody>
      </p:sp>
    </p:spTree>
    <p:extLst>
      <p:ext uri="{BB962C8B-B14F-4D97-AF65-F5344CB8AC3E}">
        <p14:creationId xmlns:p14="http://schemas.microsoft.com/office/powerpoint/2010/main" val="2864833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04EAB-5603-D919-79A0-95E07BF9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BE194D9F-44B9-8D36-1193-B19B5E8F36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6F5050-6D9E-01E6-9D7F-716904839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27F7232E-3F85-83C8-F785-463F2ED6141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 Verdict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CFBDAA-5500-FCE2-E731-E7BC0A3DA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0E91A2-F08E-F52A-4F6E-375BE1CFA6B9}"/>
              </a:ext>
            </a:extLst>
          </p:cNvPr>
          <p:cNvSpPr txBox="1"/>
          <p:nvPr/>
        </p:nvSpPr>
        <p:spPr>
          <a:xfrm>
            <a:off x="406048" y="855297"/>
            <a:ext cx="4809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Cyber Security is simply….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DD13E-E37A-09ED-B212-902216B23EC0}"/>
              </a:ext>
            </a:extLst>
          </p:cNvPr>
          <p:cNvSpPr txBox="1"/>
          <p:nvPr/>
        </p:nvSpPr>
        <p:spPr>
          <a:xfrm>
            <a:off x="406048" y="1625176"/>
            <a:ext cx="5227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Identify your</a:t>
            </a:r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business-critical asset /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03D6A-1D00-98DD-7F02-0DBA22FF3206}"/>
              </a:ext>
            </a:extLst>
          </p:cNvPr>
          <p:cNvSpPr txBox="1"/>
          <p:nvPr/>
        </p:nvSpPr>
        <p:spPr>
          <a:xfrm>
            <a:off x="406048" y="2998633"/>
            <a:ext cx="52271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Apply appropriate controls / tools </a:t>
            </a:r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to enable defence-in-depth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People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Technology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F46EF-B616-67BA-1C62-28CE27EFB147}"/>
              </a:ext>
            </a:extLst>
          </p:cNvPr>
          <p:cNvSpPr/>
          <p:nvPr/>
        </p:nvSpPr>
        <p:spPr>
          <a:xfrm>
            <a:off x="5768620" y="1586929"/>
            <a:ext cx="2808111" cy="869244"/>
          </a:xfrm>
          <a:prstGeom prst="rect">
            <a:avLst/>
          </a:prstGeom>
          <a:solidFill>
            <a:srgbClr val="4BB2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Identify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35E62-ECF3-7D86-8A1F-270AD469DA6E}"/>
              </a:ext>
            </a:extLst>
          </p:cNvPr>
          <p:cNvSpPr/>
          <p:nvPr/>
        </p:nvSpPr>
        <p:spPr>
          <a:xfrm>
            <a:off x="5768620" y="2998633"/>
            <a:ext cx="2808111" cy="869244"/>
          </a:xfrm>
          <a:prstGeom prst="rect">
            <a:avLst/>
          </a:prstGeom>
          <a:solidFill>
            <a:srgbClr val="918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Protect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0BF224-DC86-6356-355A-1C02DDB2078A}"/>
              </a:ext>
            </a:extLst>
          </p:cNvPr>
          <p:cNvSpPr/>
          <p:nvPr/>
        </p:nvSpPr>
        <p:spPr>
          <a:xfrm>
            <a:off x="5768620" y="3964426"/>
            <a:ext cx="2808111" cy="869244"/>
          </a:xfrm>
          <a:prstGeom prst="rect">
            <a:avLst/>
          </a:prstGeom>
          <a:solidFill>
            <a:srgbClr val="FAB7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Detect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A8D6F4-08F1-7B0C-5D23-6C1397A57B86}"/>
              </a:ext>
            </a:extLst>
          </p:cNvPr>
          <p:cNvSpPr/>
          <p:nvPr/>
        </p:nvSpPr>
        <p:spPr>
          <a:xfrm>
            <a:off x="5768620" y="4908141"/>
            <a:ext cx="2808111" cy="869244"/>
          </a:xfrm>
          <a:prstGeom prst="rect">
            <a:avLst/>
          </a:prstGeom>
          <a:solidFill>
            <a:srgbClr val="E576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Response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FC984A-D89B-7B69-8B47-AE9B5336082B}"/>
              </a:ext>
            </a:extLst>
          </p:cNvPr>
          <p:cNvSpPr/>
          <p:nvPr/>
        </p:nvSpPr>
        <p:spPr>
          <a:xfrm>
            <a:off x="5768620" y="5851856"/>
            <a:ext cx="2808111" cy="869244"/>
          </a:xfrm>
          <a:prstGeom prst="rect">
            <a:avLst/>
          </a:prstGeom>
          <a:solidFill>
            <a:srgbClr val="7DF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Recover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208C53-6045-25E6-8A7A-E6ECBCC6A1DE}"/>
              </a:ext>
            </a:extLst>
          </p:cNvPr>
          <p:cNvSpPr txBox="1"/>
          <p:nvPr/>
        </p:nvSpPr>
        <p:spPr>
          <a:xfrm>
            <a:off x="406048" y="5390191"/>
            <a:ext cx="5227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Reduce</a:t>
            </a: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</a:t>
            </a:r>
            <a:r>
              <a:rPr lang="en-GB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the risk level </a:t>
            </a:r>
            <a:r>
              <a:rPr lang="en-GB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that the top management willing to accept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32E664-FDB8-CB45-33A8-C0E5C408437A}"/>
              </a:ext>
            </a:extLst>
          </p:cNvPr>
          <p:cNvSpPr/>
          <p:nvPr/>
        </p:nvSpPr>
        <p:spPr>
          <a:xfrm>
            <a:off x="8737598" y="1586929"/>
            <a:ext cx="756357" cy="5134171"/>
          </a:xfrm>
          <a:prstGeom prst="rect">
            <a:avLst/>
          </a:prstGeom>
          <a:solidFill>
            <a:srgbClr val="F9F4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Governance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91EFE9-94CA-49F8-1215-40D082B05AB2}"/>
              </a:ext>
            </a:extLst>
          </p:cNvPr>
          <p:cNvSpPr txBox="1"/>
          <p:nvPr/>
        </p:nvSpPr>
        <p:spPr>
          <a:xfrm>
            <a:off x="9654822" y="2529297"/>
            <a:ext cx="24468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sz="2400" b="1" i="0" dirty="0"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Establish accountability and risk ownership </a:t>
            </a:r>
            <a:r>
              <a:rPr lang="en-GB" sz="2400" b="0" i="0" dirty="0"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to guide all cybersecurity activities</a:t>
            </a:r>
          </a:p>
        </p:txBody>
      </p:sp>
    </p:spTree>
    <p:extLst>
      <p:ext uri="{BB962C8B-B14F-4D97-AF65-F5344CB8AC3E}">
        <p14:creationId xmlns:p14="http://schemas.microsoft.com/office/powerpoint/2010/main" val="1799821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pic>
        <p:nvPicPr>
          <p:cNvPr id="6" name="Picture 5" descr="This image is an icon that says &quot;24Slides.&quot;">
            <a:hlinkClick r:id="rId3"/>
            <a:extLst>
              <a:ext uri="{FF2B5EF4-FFF2-40B4-BE49-F238E27FC236}">
                <a16:creationId xmlns:a16="http://schemas.microsoft.com/office/drawing/2014/main" id="{A86744F2-5246-4A0A-B119-35E7FB76A0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332" y="5919419"/>
            <a:ext cx="1471335" cy="42036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1632-6C9D-729A-37A1-BC755C39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087040CE-7712-1C6D-2B6A-D6F0840A95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8E2E65-E442-F84E-FFD3-CBD6C33E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3D23CE4-A766-1346-CA01-BB44493B56CA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Appendix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4830B3-34EB-16E5-7811-20D4A4400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BDB9E2-108D-A1E8-D81E-8578539BE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60201"/>
              </p:ext>
            </p:extLst>
          </p:nvPr>
        </p:nvGraphicFramePr>
        <p:xfrm>
          <a:off x="392435" y="750273"/>
          <a:ext cx="11127015" cy="5847594"/>
        </p:xfrm>
        <a:graphic>
          <a:graphicData uri="http://schemas.openxmlformats.org/drawingml/2006/table">
            <a:tbl>
              <a:tblPr/>
              <a:tblGrid>
                <a:gridCol w="1873686">
                  <a:extLst>
                    <a:ext uri="{9D8B030D-6E8A-4147-A177-3AD203B41FA5}">
                      <a16:colId xmlns:a16="http://schemas.microsoft.com/office/drawing/2014/main" val="2765062345"/>
                    </a:ext>
                  </a:extLst>
                </a:gridCol>
                <a:gridCol w="2007704">
                  <a:extLst>
                    <a:ext uri="{9D8B030D-6E8A-4147-A177-3AD203B41FA5}">
                      <a16:colId xmlns:a16="http://schemas.microsoft.com/office/drawing/2014/main" val="3883940516"/>
                    </a:ext>
                  </a:extLst>
                </a:gridCol>
                <a:gridCol w="7245625">
                  <a:extLst>
                    <a:ext uri="{9D8B030D-6E8A-4147-A177-3AD203B41FA5}">
                      <a16:colId xmlns:a16="http://schemas.microsoft.com/office/drawing/2014/main" val="4069247991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Function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Category Code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Category Name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2762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Govern (GV)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GV.OC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Organizational Context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675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GV.RM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Risk Management Strategy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02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GV.RR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Roles, Responsibilities, and Authorities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32356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GV.PO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Policy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5391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GV.OV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Oversight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435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GV.SC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Cybersecurity Supply Chain Risk Management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4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771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Identify (ID)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ID.AM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Asset Management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4169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ID.RA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Risk Assessment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464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ID.IM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Improvement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B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87254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Protect (PR)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PR.AA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Identity Management, Authentication, and Access Control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081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PR.AT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Awareness and Training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7482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PR.DS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Data Security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2134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PR.PS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Platform Security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57645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PR.IR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Technology Infrastructure Resilience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18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4196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Detect (DE)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DE.CM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Continuous Monitoring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7169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DE.AE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Adverse Event Analysis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999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Respond (RS)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RS.MA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Management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917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RS.AN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Analysis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8255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RS.CO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Response Reporting and Communication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3959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RS.MI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Mitigation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5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0118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Recover (RC)</a:t>
                      </a: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RC.RP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Recovery Plan Execution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89968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 dirty="0"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RC.CO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Incident Recovery Communication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F4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26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37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>
  <clbl:label id="{0b8d31e2-9f8d-4a22-95d0-dad2d3a98df1}" enabled="1" method="Standard" siteId="{ec216e11-92ba-4e65-83db-e661714f591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624</TotalTime>
  <Words>1027</Words>
  <Application>Microsoft Office PowerPoint</Application>
  <PresentationFormat>Widescreen</PresentationFormat>
  <Paragraphs>274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Red Hat Text</vt:lpstr>
      <vt:lpstr>Segoe UI Light</vt:lpstr>
      <vt:lpstr>Office Theme</vt:lpstr>
      <vt:lpstr>NIST CSF 2.0</vt:lpstr>
      <vt:lpstr>Project analysis slide 2</vt:lpstr>
      <vt:lpstr>Project analysis slide 3</vt:lpstr>
      <vt:lpstr>Project analysis slide 4</vt:lpstr>
      <vt:lpstr>Project analysis slide 5</vt:lpstr>
      <vt:lpstr>Project analysis slide 5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Project analysis slide 6</vt:lpstr>
      <vt:lpstr>Thank You</vt:lpstr>
      <vt:lpstr>Project analysis 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Sin, Herman H N</dc:creator>
  <cp:lastModifiedBy>Sin, Herman H N</cp:lastModifiedBy>
  <cp:revision>4</cp:revision>
  <dcterms:created xsi:type="dcterms:W3CDTF">2026-10-06T13:44:31Z</dcterms:created>
  <dcterms:modified xsi:type="dcterms:W3CDTF">2026-10-07T02:04:18Z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